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529" r:id="rId2"/>
    <p:sldId id="639" r:id="rId3"/>
    <p:sldId id="684" r:id="rId4"/>
    <p:sldId id="735" r:id="rId5"/>
    <p:sldId id="736" r:id="rId6"/>
    <p:sldId id="737" r:id="rId7"/>
    <p:sldId id="738" r:id="rId8"/>
    <p:sldId id="733" r:id="rId9"/>
    <p:sldId id="673" r:id="rId10"/>
    <p:sldId id="674" r:id="rId11"/>
    <p:sldId id="647" r:id="rId12"/>
    <p:sldId id="648" r:id="rId13"/>
    <p:sldId id="649" r:id="rId14"/>
    <p:sldId id="676" r:id="rId15"/>
    <p:sldId id="677" r:id="rId16"/>
    <p:sldId id="678" r:id="rId17"/>
    <p:sldId id="679" r:id="rId18"/>
    <p:sldId id="680" r:id="rId19"/>
    <p:sldId id="681" r:id="rId20"/>
    <p:sldId id="650" r:id="rId21"/>
    <p:sldId id="651" r:id="rId22"/>
    <p:sldId id="652" r:id="rId23"/>
    <p:sldId id="653" r:id="rId24"/>
    <p:sldId id="659" r:id="rId25"/>
    <p:sldId id="682" r:id="rId26"/>
    <p:sldId id="660" r:id="rId27"/>
    <p:sldId id="661" r:id="rId28"/>
    <p:sldId id="665" r:id="rId29"/>
    <p:sldId id="669" r:id="rId30"/>
    <p:sldId id="685" r:id="rId31"/>
    <p:sldId id="686" r:id="rId32"/>
    <p:sldId id="687" r:id="rId33"/>
    <p:sldId id="688" r:id="rId34"/>
    <p:sldId id="689" r:id="rId35"/>
    <p:sldId id="690" r:id="rId36"/>
    <p:sldId id="691" r:id="rId37"/>
    <p:sldId id="692" r:id="rId38"/>
    <p:sldId id="693" r:id="rId39"/>
    <p:sldId id="694" r:id="rId40"/>
    <p:sldId id="695" r:id="rId41"/>
    <p:sldId id="696" r:id="rId42"/>
    <p:sldId id="697" r:id="rId43"/>
    <p:sldId id="698" r:id="rId44"/>
    <p:sldId id="699" r:id="rId45"/>
    <p:sldId id="700" r:id="rId46"/>
    <p:sldId id="701" r:id="rId47"/>
    <p:sldId id="702" r:id="rId48"/>
    <p:sldId id="703" r:id="rId49"/>
    <p:sldId id="704" r:id="rId50"/>
    <p:sldId id="705" r:id="rId51"/>
    <p:sldId id="706" r:id="rId52"/>
    <p:sldId id="707" r:id="rId53"/>
    <p:sldId id="708" r:id="rId54"/>
    <p:sldId id="709" r:id="rId55"/>
    <p:sldId id="711" r:id="rId56"/>
    <p:sldId id="712" r:id="rId57"/>
    <p:sldId id="713" r:id="rId58"/>
    <p:sldId id="714" r:id="rId59"/>
    <p:sldId id="715" r:id="rId60"/>
    <p:sldId id="716" r:id="rId61"/>
    <p:sldId id="717" r:id="rId62"/>
    <p:sldId id="718" r:id="rId63"/>
    <p:sldId id="719" r:id="rId64"/>
    <p:sldId id="720" r:id="rId65"/>
    <p:sldId id="721" r:id="rId66"/>
    <p:sldId id="722" r:id="rId67"/>
    <p:sldId id="723" r:id="rId68"/>
    <p:sldId id="724" r:id="rId69"/>
    <p:sldId id="725" r:id="rId70"/>
    <p:sldId id="726" r:id="rId71"/>
    <p:sldId id="727" r:id="rId72"/>
    <p:sldId id="728" r:id="rId73"/>
    <p:sldId id="729" r:id="rId74"/>
    <p:sldId id="730" r:id="rId75"/>
    <p:sldId id="731" r:id="rId7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300"/>
    <a:srgbClr val="0000D6"/>
    <a:srgbClr val="660066"/>
    <a:srgbClr val="000002"/>
    <a:srgbClr val="000066"/>
    <a:srgbClr val="FF0000"/>
    <a:srgbClr val="EC8334"/>
    <a:srgbClr val="F8A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59" autoAdjust="0"/>
    <p:restoredTop sz="90929"/>
  </p:normalViewPr>
  <p:slideViewPr>
    <p:cSldViewPr>
      <p:cViewPr varScale="1">
        <p:scale>
          <a:sx n="74" d="100"/>
          <a:sy n="74" d="100"/>
        </p:scale>
        <p:origin x="1166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7FE33F76-EFB2-4A2C-B925-91C2B5EE38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同济</a:t>
            </a:r>
            <a:endParaRPr lang="en-US" altLang="zh-CN"/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91258BCD-A35E-412A-9B14-AC95136B3C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4" name="Rectangle 4">
            <a:extLst>
              <a:ext uri="{FF2B5EF4-FFF2-40B4-BE49-F238E27FC236}">
                <a16:creationId xmlns:a16="http://schemas.microsoft.com/office/drawing/2014/main" id="{43D86F12-0B6A-4E26-A3D8-6E09A2E90CC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5" name="Rectangle 5">
            <a:extLst>
              <a:ext uri="{FF2B5EF4-FFF2-40B4-BE49-F238E27FC236}">
                <a16:creationId xmlns:a16="http://schemas.microsoft.com/office/drawing/2014/main" id="{EECB19D2-7B58-4DF8-897A-C274ED0976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9F82134-8E5A-4D4C-96BB-971D6D6931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47FAD13-41F8-4837-9049-D9218BB1F1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同济</a:t>
            </a:r>
            <a:endParaRPr lang="en-US" altLang="zh-CN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BC7996F-57CF-4056-9F4F-22E6A863A6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FB35730-2E21-463D-903F-27F66744961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FC54147F-F14B-419B-819A-2515545434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C6F6EC9-43F2-42D8-A2D6-64AC3290E1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94488AB-D1B6-4D36-91B3-621B316CF8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AF706F2-C100-429F-B490-6CD228CD38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FC11FE4E-473E-4819-96E3-4E8494D4EE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DD5A5828-3479-452B-ABB1-64BB92787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34F226AA-4872-4F15-969B-63297CBCC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D8244755-3053-48B5-8006-8C67AE45A3BB}" type="slidenum">
              <a:rPr lang="en-US" altLang="zh-CN" sz="1200" b="0" smtClean="0">
                <a:ea typeface="宋体" panose="02010600030101010101" pitchFamily="2" charset="-122"/>
              </a:rPr>
              <a:pPr/>
              <a:t>1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6D9ABE9A-0638-48D6-951E-C2E82C5CB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1CDFB746-FB13-43D1-B937-3DC8C4278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27457890-2495-40A3-929D-BF1A34401C5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88619F8-47F6-4663-A0C9-720C5FAF227C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E7F3022-A8B9-43C2-A8ED-6BC5602777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268C479C-E544-4B29-A709-6FA9D918D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F6C30F85-D802-4228-A9A9-D9992568879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5AEFCDB-C9A9-407C-9D03-4202E6CEF10C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3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E7F3022-A8B9-43C2-A8ED-6BC5602777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268C479C-E544-4B29-A709-6FA9D918D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F6C30F85-D802-4228-A9A9-D9992568879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5AEFCDB-C9A9-407C-9D03-4202E6CEF10C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4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500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E7F3022-A8B9-43C2-A8ED-6BC5602777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268C479C-E544-4B29-A709-6FA9D918D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F6C30F85-D802-4228-A9A9-D9992568879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5AEFCDB-C9A9-407C-9D03-4202E6CEF10C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5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115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32595619-DDE2-4B9C-9AA5-59B311CC6A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3538EC48-51F5-47B5-A994-3CBA22854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57480D13-C588-452B-8EC5-7B85A7E6CC5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3BC94046-DB93-4FE9-809A-0D916213A679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8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66DA2235-D27B-4F76-9D59-64DF4B877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608B7293-FC0A-45E1-9B5A-8A4F8551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36FE94F7-692D-4BEB-B4EF-267777C40E4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4B22BA2-BE3D-4139-96F5-C75ECD283E35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9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C2FAB62F-1788-4B71-A074-4490B4AD0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C77CC870-4D7C-421F-8C61-BA2E2AB08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F35FF37F-2ED4-4201-B83C-E38C1D38847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D4F0893-4AD5-42FE-879C-307EE6DB34D2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10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4E2CB54F-C997-4684-A018-7C8AE0D01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22E69D8A-F17A-46FD-A7F3-6382CFA3D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0FE75820-BA0D-4311-945F-CE9963F29B2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3CD85C0-2D67-4503-901E-0B3E5D7F831E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11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E3A2DB6E-6B6F-4BB9-972E-8D4A7249F2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0F5A19C2-B123-4991-B043-B840D978D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C518DD3E-716C-482F-8C42-EC8FAEEB12A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7DD24B7-1152-44A0-92C3-338BBB38C6E8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12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026F69AD-EF71-4FF0-B676-0B461DABD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1B4A35B9-8913-496A-B2C8-24502DA11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DAADE27A-854B-4B04-A7DD-2AA1D05DF22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3457D706-04FF-4FC0-B22E-D6F6AD6417FD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13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B3B1CEEF-1768-4CA3-B8C7-4836742E9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D527D472-2FE3-4B16-A981-AA59CEC9D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6D3D7595-16F5-4E4E-868E-2930878832A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6BD257B-D27F-4D23-B99F-8A2983939B17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14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8B18AFDA-62FF-4ECA-87EA-3599CB7EE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00E3CB2F-A97B-4288-919C-D9C98D571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2D16A86-CE25-46C4-AA1E-7CE2B8D003CE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04FC594-E821-4462-BE5E-BF67140108EB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15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2D45CCFC-0654-471E-830A-2422FD926B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9C05D127-C35B-4B7B-A088-8C6EDC755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C7BE8458-AEA9-4C8A-A171-3CC0266674F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CB5BCEB-82C6-41A3-8F4B-A001D8F18BD7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16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33503987-C2E1-41CE-95CF-BB910CBE63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8C234E33-3A59-4F8F-8E23-AC2489F67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5C332EEB-433D-4B9A-8019-64718E436A7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93378B3-9D9A-4AB4-9451-62507AD1B0A9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17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48213AA8-7747-4E90-B31E-4677332AC6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8C5FC95E-36DC-4BB7-A182-8A745DF28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EC0365B3-38AA-45D0-972D-C80FE33091A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BF94314-5AE9-4736-8AF9-136EB5D9074E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18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4893CDC4-87F3-4803-A931-A74BFE3DE4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B483F758-0BC0-450B-B355-3D4C1678E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4D9C59B3-479C-4F55-9237-29D95CCDE66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5EDC637-4D67-4561-A3AF-AACDEC2DD2B9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19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976B43C2-E8AF-4537-8CBE-7A2FC1D70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FAF67AC5-1591-4420-9B31-0C04730B2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7AD7BE68-24D3-44E3-A6E2-40C97FFC550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9074905-B62E-485D-8F23-69ECAC92A5E4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20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93014820-59C7-4C49-8D7C-97E1E823C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64151F4D-D9C3-4B3A-822F-DCC33235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4523B28A-9E48-449F-B66A-D599CBDE8E5E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4523901-B766-47E9-BB26-66DD2D896B13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21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182F441A-756E-411E-80EC-6C93D3F0D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C2DF9064-F152-4EA6-B3F8-2FDCCAF30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8C0CA9E2-5957-4FB0-AB72-4175F64224B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1E9F4FC-3F1F-4B2D-8E69-8247959AB4AB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22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8B3A88FC-B4B7-48C9-A74A-2F349FCE2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E1CB0E3C-212B-4EE0-B45B-ECE048E7C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AAB1634A-98A1-474A-88F5-92B5F44E033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37D72C7D-5B38-4563-BA3F-3E7F057CAF01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23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52AE1CD9-E17E-403D-8934-9E01E9F91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34B9ED14-B80D-40C7-9513-9132526F3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11C8612A-ECCD-4CCB-B03E-30DB590603D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C014D7B-7465-4407-96D7-96D9C6EFB041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24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97EA3FB6-7187-4894-9499-C399E0C8B6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FE2A878E-4C81-4662-87F3-D7FBDC782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840C4F54-AED5-4BBE-80E7-EFDEC9B25F2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849CBB9-A3AF-4C70-AB70-E883CECEE9BF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25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0642C904-296A-42B2-B32A-6293EC40F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EC32EF8-9F33-4B1B-B502-510B9B532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2EF9919-BAF0-47F3-ADEA-924AD94EE7C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37D7734-496A-45B0-AD8F-825D3D01680F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26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F90CA3CA-FDBC-4AC5-B02D-6A4B571A86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117C629B-91A6-44F0-BDD9-5D56AEC4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1F470C6B-731A-4FB9-8EA7-C67D42121B5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AC41CE6-6744-44A0-A1DF-C189492C30E3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27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EC2A2658-729F-45BF-AB59-D23494598E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F0020551-CD26-4E37-8BBC-97FDCA49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3A9AA9C2-A2F6-4DF0-8E1F-BC9CF057B75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08EA2AF-84EA-434A-892F-5B25BE47D8DA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28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C960D0BA-2275-4610-BD37-3BAFDFE039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16FC89A-1878-4CA0-B034-A9342E35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C4E5351D-03A7-4BCF-9144-D95C6F57507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6188668-EEDC-47DB-9B5F-706E8CF402C8}" type="slidenum">
              <a:rPr lang="en-US" altLang="zh-CN" sz="1200" b="0">
                <a:ea typeface="宋体" panose="02010600030101010101" pitchFamily="2" charset="-122"/>
              </a:rPr>
              <a:pPr algn="r" eaLnBrk="1" hangingPunct="1"/>
              <a:t>29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9C4D4CE7-79A9-4D7E-8290-7A4D043732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B97C868C-B592-489B-8414-205595561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1525C3BD-6FC8-4997-8D14-0B3E44E4ABD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632EBD8-21F9-47A8-B8DA-095FCB9E2CED}" type="slidenum">
              <a:rPr lang="en-US" altLang="zh-CN" sz="1200" b="0"/>
              <a:pPr algn="r" eaLnBrk="1" hangingPunct="1"/>
              <a:t>30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E3B0B8D4-44B4-4BA3-A15C-17D35E09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7A9C1349-B2F7-4E0A-9190-0FA903EE8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E12669D8-469C-4044-9976-7BC09F02D59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78563CC-ACDD-4FB4-B395-BBEF577F5D95}" type="slidenum">
              <a:rPr lang="en-US" altLang="zh-CN" sz="1200" b="0"/>
              <a:pPr algn="r" eaLnBrk="1" hangingPunct="1"/>
              <a:t>31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8E2F76CD-11D5-4B1D-9A9C-36307686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7AD7409A-8239-4CE3-BDC7-0210CC86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C93B8E62-2C74-4B3A-8D33-7A55F5C1F0F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5F83576-8E2C-4B82-A5C3-25D0359BA98A}" type="slidenum">
              <a:rPr lang="en-US" altLang="zh-CN" sz="1200" b="0"/>
              <a:pPr algn="r" eaLnBrk="1" hangingPunct="1"/>
              <a:t>32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0C5ADD68-B30C-41A0-B163-68765A25D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1217689C-A844-4B40-B5B9-6E9657487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F212FE03-2DB4-4933-A805-98A046D1980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EB2776D-8D44-4F3B-9693-BC1FB6ECCB65}" type="slidenum">
              <a:rPr lang="en-US" altLang="zh-CN" sz="1200" b="0"/>
              <a:pPr algn="r" eaLnBrk="1" hangingPunct="1"/>
              <a:t>33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9773CE83-F885-4D81-8D00-5792B2997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302E97FB-6EB5-4DEE-B5FB-61DA1707C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72331C79-9ECC-407E-80A8-5BAC36A1579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6CA5309-6A60-4F14-841B-D97F8355AA63}" type="slidenum">
              <a:rPr lang="en-US" altLang="zh-CN" sz="1200" b="0"/>
              <a:pPr algn="r" eaLnBrk="1" hangingPunct="1"/>
              <a:t>34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DA916575-84A4-4BC7-A75D-75A2B848A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ED77EC91-B45A-4505-AFA6-75313CA5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A95219DA-9ADB-49C0-868A-0C46DDBB78C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D84136E-1B0D-4511-A887-3A9929534439}" type="slidenum">
              <a:rPr lang="en-US" altLang="zh-CN" sz="1200" b="0"/>
              <a:pPr algn="r" eaLnBrk="1" hangingPunct="1"/>
              <a:t>35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979696F2-2C3F-4B24-8F4B-CE1E0D8EC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47427DE7-6DCD-4982-9BB7-D09800728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BA26F948-07F5-419E-8CBE-FB250E1BCAA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EB4DF84-64B8-4464-8BA9-5F4A29FA46E7}" type="slidenum">
              <a:rPr lang="en-US" altLang="zh-CN" sz="1200" b="0"/>
              <a:pPr algn="r" eaLnBrk="1" hangingPunct="1"/>
              <a:t>36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824D86C9-CCDE-4361-971C-D03B17A8A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66CF994F-400D-4064-B92E-745DF3EB3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500AD5A9-2738-4139-A088-CCB2F10578D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61FF024-8449-4667-81FD-B667B9DA7D62}" type="slidenum">
              <a:rPr lang="en-US" altLang="zh-CN" sz="1200" b="0"/>
              <a:pPr algn="r" eaLnBrk="1" hangingPunct="1"/>
              <a:t>37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270B2469-8163-48AE-B6AB-F121FBE3D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54779474-E1CE-4339-9E55-B882CCC1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53349DFC-CFBE-48B6-BEFA-860B386205F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454B5F6-2BFA-4B8B-840B-7B6A285225BB}" type="slidenum">
              <a:rPr lang="en-US" altLang="zh-CN" sz="1200" b="0"/>
              <a:pPr algn="r" eaLnBrk="1" hangingPunct="1"/>
              <a:t>38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>
            <a:extLst>
              <a:ext uri="{FF2B5EF4-FFF2-40B4-BE49-F238E27FC236}">
                <a16:creationId xmlns:a16="http://schemas.microsoft.com/office/drawing/2014/main" id="{104662CF-7B12-4D0B-9815-94F9E365EC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>
            <a:extLst>
              <a:ext uri="{FF2B5EF4-FFF2-40B4-BE49-F238E27FC236}">
                <a16:creationId xmlns:a16="http://schemas.microsoft.com/office/drawing/2014/main" id="{71F1337B-79FD-43E1-86BF-5434169A2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CF278396-DDDF-4B73-B4DD-C2DC43AAFA4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F8E2949-DFDD-4A84-A646-350792663358}" type="slidenum">
              <a:rPr lang="en-US" altLang="zh-CN" sz="1200" b="0"/>
              <a:pPr algn="r" eaLnBrk="1" hangingPunct="1"/>
              <a:t>39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>
            <a:extLst>
              <a:ext uri="{FF2B5EF4-FFF2-40B4-BE49-F238E27FC236}">
                <a16:creationId xmlns:a16="http://schemas.microsoft.com/office/drawing/2014/main" id="{2187F729-0D6C-479A-8635-C6AACEFC0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>
            <a:extLst>
              <a:ext uri="{FF2B5EF4-FFF2-40B4-BE49-F238E27FC236}">
                <a16:creationId xmlns:a16="http://schemas.microsoft.com/office/drawing/2014/main" id="{302FD365-DA0E-4F4B-83A0-9B5D232FB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>
            <a:extLst>
              <a:ext uri="{FF2B5EF4-FFF2-40B4-BE49-F238E27FC236}">
                <a16:creationId xmlns:a16="http://schemas.microsoft.com/office/drawing/2014/main" id="{0D478A86-EE78-46D1-A006-992B7A26C08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D068461-6F9C-46AE-9E6A-6041BA96E99A}" type="slidenum">
              <a:rPr lang="en-US" altLang="zh-CN" sz="1200" b="0"/>
              <a:pPr algn="r" eaLnBrk="1" hangingPunct="1"/>
              <a:t>40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id="{178CEB0D-F1D0-4561-B53F-BDE8437A7D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id="{065D26E4-0449-42D2-B445-7B6E0185C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C6451FF2-2767-4966-B2A6-CC0CBF979D2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672894A-A368-4178-9940-DC47403C16E6}" type="slidenum">
              <a:rPr lang="en-US" altLang="zh-CN" sz="1200" b="0"/>
              <a:pPr algn="r" eaLnBrk="1" hangingPunct="1"/>
              <a:t>41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>
            <a:extLst>
              <a:ext uri="{FF2B5EF4-FFF2-40B4-BE49-F238E27FC236}">
                <a16:creationId xmlns:a16="http://schemas.microsoft.com/office/drawing/2014/main" id="{738FAEAF-E5E9-42E1-92E7-121FF01F05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备注占位符 2">
            <a:extLst>
              <a:ext uri="{FF2B5EF4-FFF2-40B4-BE49-F238E27FC236}">
                <a16:creationId xmlns:a16="http://schemas.microsoft.com/office/drawing/2014/main" id="{AF2E95B3-8213-47ED-8882-7F9128584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灯片编号占位符 3">
            <a:extLst>
              <a:ext uri="{FF2B5EF4-FFF2-40B4-BE49-F238E27FC236}">
                <a16:creationId xmlns:a16="http://schemas.microsoft.com/office/drawing/2014/main" id="{92E5F975-BEB5-4511-8337-7B7D218D77D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2D6663A-63D7-4E7A-BE0E-5CC349CB9F69}" type="slidenum">
              <a:rPr lang="en-US" altLang="zh-CN" sz="1200" b="0"/>
              <a:pPr algn="r" eaLnBrk="1" hangingPunct="1"/>
              <a:t>42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6695AEC1-FA88-44D0-9FA3-24A545356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1DED7D8E-566E-45B9-9026-522371BB0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B414DF89-C3E8-4CE2-9C2A-B8E4B94A7DE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ED09CBC-FDAB-4A6D-A2E4-F2F05D725FEC}" type="slidenum">
              <a:rPr lang="en-US" altLang="zh-CN" sz="1200" b="0"/>
              <a:pPr algn="r" eaLnBrk="1" hangingPunct="1"/>
              <a:t>43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>
            <a:extLst>
              <a:ext uri="{FF2B5EF4-FFF2-40B4-BE49-F238E27FC236}">
                <a16:creationId xmlns:a16="http://schemas.microsoft.com/office/drawing/2014/main" id="{0483FD4E-2EB2-4181-BE68-63015AED63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>
            <a:extLst>
              <a:ext uri="{FF2B5EF4-FFF2-40B4-BE49-F238E27FC236}">
                <a16:creationId xmlns:a16="http://schemas.microsoft.com/office/drawing/2014/main" id="{D0B81E68-BDA3-49BC-B8E6-38A64012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>
            <a:extLst>
              <a:ext uri="{FF2B5EF4-FFF2-40B4-BE49-F238E27FC236}">
                <a16:creationId xmlns:a16="http://schemas.microsoft.com/office/drawing/2014/main" id="{088145FE-2E1A-4A87-B1FF-B779456A046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1EA73F8-3A96-4C75-B824-29B6BC5B704A}" type="slidenum">
              <a:rPr lang="en-US" altLang="zh-CN" sz="1200" b="0"/>
              <a:pPr algn="r" eaLnBrk="1" hangingPunct="1"/>
              <a:t>44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>
            <a:extLst>
              <a:ext uri="{FF2B5EF4-FFF2-40B4-BE49-F238E27FC236}">
                <a16:creationId xmlns:a16="http://schemas.microsoft.com/office/drawing/2014/main" id="{C8CCDD2A-F01B-4C30-AB9C-CDDBDEB8C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>
            <a:extLst>
              <a:ext uri="{FF2B5EF4-FFF2-40B4-BE49-F238E27FC236}">
                <a16:creationId xmlns:a16="http://schemas.microsoft.com/office/drawing/2014/main" id="{9EBAF42D-D3AA-4A81-B425-1419F0779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灯片编号占位符 3">
            <a:extLst>
              <a:ext uri="{FF2B5EF4-FFF2-40B4-BE49-F238E27FC236}">
                <a16:creationId xmlns:a16="http://schemas.microsoft.com/office/drawing/2014/main" id="{CFB11623-0D52-42DD-B033-1C6A09EEBD1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4710DFE-7E6A-4F30-A044-F5EA70696CE2}" type="slidenum">
              <a:rPr lang="en-US" altLang="zh-CN" sz="1200" b="0"/>
              <a:pPr algn="r" eaLnBrk="1" hangingPunct="1"/>
              <a:t>45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>
            <a:extLst>
              <a:ext uri="{FF2B5EF4-FFF2-40B4-BE49-F238E27FC236}">
                <a16:creationId xmlns:a16="http://schemas.microsoft.com/office/drawing/2014/main" id="{2219FE23-7FAE-456D-B16E-FEC9C4EBB6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>
            <a:extLst>
              <a:ext uri="{FF2B5EF4-FFF2-40B4-BE49-F238E27FC236}">
                <a16:creationId xmlns:a16="http://schemas.microsoft.com/office/drawing/2014/main" id="{74104579-1B1F-48FB-868E-C04DAD30A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灯片编号占位符 3">
            <a:extLst>
              <a:ext uri="{FF2B5EF4-FFF2-40B4-BE49-F238E27FC236}">
                <a16:creationId xmlns:a16="http://schemas.microsoft.com/office/drawing/2014/main" id="{1A0DDF38-486E-4AF7-87D9-C51F0C276B6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C66B63D-C568-44B8-8E66-184872915C20}" type="slidenum">
              <a:rPr lang="en-US" altLang="zh-CN" sz="1200" b="0"/>
              <a:pPr algn="r" eaLnBrk="1" hangingPunct="1"/>
              <a:t>46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1B26D438-720E-4364-A495-DC7423A526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0788E24D-37B2-4CE9-9605-1A3FBCBF9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97C9634F-F425-4574-865B-9C2AC1CE43A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71F6BD7-F158-4251-80DD-0FC1339C7106}" type="slidenum">
              <a:rPr lang="en-US" altLang="zh-CN" sz="1200" b="0"/>
              <a:pPr algn="r" eaLnBrk="1" hangingPunct="1"/>
              <a:t>47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9A209F7D-6E74-4C7E-8EE2-9C86DBE4EB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B4C019F1-7548-46F3-A25F-A3BA0A7ED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63B377EA-4788-4D4B-B75E-13C10D02383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BC7EF39-BF7B-4E73-9522-734E66BE6478}" type="slidenum">
              <a:rPr lang="en-US" altLang="zh-CN" sz="1200" b="0"/>
              <a:pPr algn="r" eaLnBrk="1" hangingPunct="1"/>
              <a:t>48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7DB6CDA8-8497-4E43-859E-1A134AAF99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DE7F0CA1-44DE-4195-B4AE-7A649CA39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687D7A27-9F84-46A5-8389-494901A6324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9326D16-1464-42DD-9A9C-C9D2E5AEC869}" type="slidenum">
              <a:rPr lang="en-US" altLang="zh-CN" sz="1200" b="0"/>
              <a:pPr algn="r" eaLnBrk="1" hangingPunct="1"/>
              <a:t>49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EAABF014-E52D-4251-A313-7522C81CEF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113E2A26-50BA-4E6C-87A4-53ECA2CB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4133C7E4-6F9E-491E-81F8-476C9157B1A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C449A58-9ACC-47B1-91AE-BAB4BB8CAF78}" type="slidenum">
              <a:rPr lang="en-US" altLang="zh-CN" sz="1200" b="0"/>
              <a:pPr algn="r" eaLnBrk="1" hangingPunct="1"/>
              <a:t>50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>
            <a:extLst>
              <a:ext uri="{FF2B5EF4-FFF2-40B4-BE49-F238E27FC236}">
                <a16:creationId xmlns:a16="http://schemas.microsoft.com/office/drawing/2014/main" id="{FDC30F99-F97C-4D77-B42C-4B3CA7261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备注占位符 2">
            <a:extLst>
              <a:ext uri="{FF2B5EF4-FFF2-40B4-BE49-F238E27FC236}">
                <a16:creationId xmlns:a16="http://schemas.microsoft.com/office/drawing/2014/main" id="{E1DD96C8-E3CA-4D9D-90BE-8D5987B5B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0" name="灯片编号占位符 3">
            <a:extLst>
              <a:ext uri="{FF2B5EF4-FFF2-40B4-BE49-F238E27FC236}">
                <a16:creationId xmlns:a16="http://schemas.microsoft.com/office/drawing/2014/main" id="{694FE0A6-8F17-443D-ABCC-2F7980FEF1A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F2FF4D6-5781-4963-8419-168F33C5589C}" type="slidenum">
              <a:rPr lang="en-US" altLang="zh-CN" sz="1200" b="0"/>
              <a:pPr algn="r" eaLnBrk="1" hangingPunct="1"/>
              <a:t>51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>
            <a:extLst>
              <a:ext uri="{FF2B5EF4-FFF2-40B4-BE49-F238E27FC236}">
                <a16:creationId xmlns:a16="http://schemas.microsoft.com/office/drawing/2014/main" id="{5860FA3B-C0C3-482F-B5BB-59240B076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>
            <a:extLst>
              <a:ext uri="{FF2B5EF4-FFF2-40B4-BE49-F238E27FC236}">
                <a16:creationId xmlns:a16="http://schemas.microsoft.com/office/drawing/2014/main" id="{233E73EE-2795-40F6-8CA0-52784DE3E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灯片编号占位符 3">
            <a:extLst>
              <a:ext uri="{FF2B5EF4-FFF2-40B4-BE49-F238E27FC236}">
                <a16:creationId xmlns:a16="http://schemas.microsoft.com/office/drawing/2014/main" id="{6A1F3A6C-6879-452E-B150-AF1FED99EF3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D2730DA-9BA3-4CFB-9F88-FBD07A1F617F}" type="slidenum">
              <a:rPr lang="en-US" altLang="zh-CN" sz="1200" b="0"/>
              <a:pPr algn="r" eaLnBrk="1" hangingPunct="1"/>
              <a:t>52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>
            <a:extLst>
              <a:ext uri="{FF2B5EF4-FFF2-40B4-BE49-F238E27FC236}">
                <a16:creationId xmlns:a16="http://schemas.microsoft.com/office/drawing/2014/main" id="{E58335EF-E77A-435F-8779-EDA97CCDF8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>
            <a:extLst>
              <a:ext uri="{FF2B5EF4-FFF2-40B4-BE49-F238E27FC236}">
                <a16:creationId xmlns:a16="http://schemas.microsoft.com/office/drawing/2014/main" id="{9EEC499B-EC60-40DA-9CB7-D31C46993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>
            <a:extLst>
              <a:ext uri="{FF2B5EF4-FFF2-40B4-BE49-F238E27FC236}">
                <a16:creationId xmlns:a16="http://schemas.microsoft.com/office/drawing/2014/main" id="{3015E49B-9345-4884-8367-2EB3A748865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E8008D2-56D7-431E-A6B8-026B86E2EA4F}" type="slidenum">
              <a:rPr lang="en-US" altLang="zh-CN" sz="1200" b="0"/>
              <a:pPr algn="r" eaLnBrk="1" hangingPunct="1"/>
              <a:t>53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>
            <a:extLst>
              <a:ext uri="{FF2B5EF4-FFF2-40B4-BE49-F238E27FC236}">
                <a16:creationId xmlns:a16="http://schemas.microsoft.com/office/drawing/2014/main" id="{B165FC08-92E7-46A0-801A-A34C3D7C7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>
            <a:extLst>
              <a:ext uri="{FF2B5EF4-FFF2-40B4-BE49-F238E27FC236}">
                <a16:creationId xmlns:a16="http://schemas.microsoft.com/office/drawing/2014/main" id="{90ACE7AB-FEF8-47A0-A61A-41FD67CDA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4" name="灯片编号占位符 3">
            <a:extLst>
              <a:ext uri="{FF2B5EF4-FFF2-40B4-BE49-F238E27FC236}">
                <a16:creationId xmlns:a16="http://schemas.microsoft.com/office/drawing/2014/main" id="{8E1E33DB-B26A-4AEB-AB0B-1F4F313DA2E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AB266D4-87B7-4051-8421-3946F76E4345}" type="slidenum">
              <a:rPr lang="en-US" altLang="zh-CN" sz="1200" b="0"/>
              <a:pPr algn="r" eaLnBrk="1" hangingPunct="1"/>
              <a:t>54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A9AB5F95-E397-4F15-9AF8-4A2E726F5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53EFFFA0-B344-4367-877C-D191E8822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2024B676-DE14-4786-887B-E97AE579766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A447FAC-DDE4-4CA7-833B-D2B45C11B9D4}" type="slidenum">
              <a:rPr lang="en-US" altLang="zh-CN" sz="1200" b="0"/>
              <a:pPr algn="r" eaLnBrk="1" hangingPunct="1"/>
              <a:t>55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>
            <a:extLst>
              <a:ext uri="{FF2B5EF4-FFF2-40B4-BE49-F238E27FC236}">
                <a16:creationId xmlns:a16="http://schemas.microsoft.com/office/drawing/2014/main" id="{404D2301-BC66-4C75-BA02-50D87EF50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>
            <a:extLst>
              <a:ext uri="{FF2B5EF4-FFF2-40B4-BE49-F238E27FC236}">
                <a16:creationId xmlns:a16="http://schemas.microsoft.com/office/drawing/2014/main" id="{3F5B8D4E-C956-4474-98A9-A3860853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B86B101B-A6FD-40F4-B8A2-31295DAAF71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FB9A9AA-B19C-439D-A667-B5F1F2EDCB6D}" type="slidenum">
              <a:rPr lang="en-US" altLang="zh-CN" sz="1200" b="0"/>
              <a:pPr algn="r" eaLnBrk="1" hangingPunct="1"/>
              <a:t>56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>
            <a:extLst>
              <a:ext uri="{FF2B5EF4-FFF2-40B4-BE49-F238E27FC236}">
                <a16:creationId xmlns:a16="http://schemas.microsoft.com/office/drawing/2014/main" id="{8F8C0F8F-5880-4A59-8114-FC38860E8E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备注占位符 2">
            <a:extLst>
              <a:ext uri="{FF2B5EF4-FFF2-40B4-BE49-F238E27FC236}">
                <a16:creationId xmlns:a16="http://schemas.microsoft.com/office/drawing/2014/main" id="{92DFE4D5-58B0-439B-AA44-8627045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8" name="灯片编号占位符 3">
            <a:extLst>
              <a:ext uri="{FF2B5EF4-FFF2-40B4-BE49-F238E27FC236}">
                <a16:creationId xmlns:a16="http://schemas.microsoft.com/office/drawing/2014/main" id="{4049ABE8-FBBD-4AD6-ADCE-5547DDBD011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A23EDDB-B7D2-4D08-934F-F3518E651828}" type="slidenum">
              <a:rPr lang="en-US" altLang="zh-CN" sz="1200" b="0"/>
              <a:pPr algn="r" eaLnBrk="1" hangingPunct="1"/>
              <a:t>57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>
            <a:extLst>
              <a:ext uri="{FF2B5EF4-FFF2-40B4-BE49-F238E27FC236}">
                <a16:creationId xmlns:a16="http://schemas.microsoft.com/office/drawing/2014/main" id="{1CC5FFEA-132B-43ED-B278-FA01F03B97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备注占位符 2">
            <a:extLst>
              <a:ext uri="{FF2B5EF4-FFF2-40B4-BE49-F238E27FC236}">
                <a16:creationId xmlns:a16="http://schemas.microsoft.com/office/drawing/2014/main" id="{8BACF195-9287-4AA5-9F96-77F88B02F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6" name="灯片编号占位符 3">
            <a:extLst>
              <a:ext uri="{FF2B5EF4-FFF2-40B4-BE49-F238E27FC236}">
                <a16:creationId xmlns:a16="http://schemas.microsoft.com/office/drawing/2014/main" id="{5C1BA1F6-4414-4256-BA39-098F32E6A14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CD1C4D0-E366-4363-B61F-B189444074C8}" type="slidenum">
              <a:rPr lang="en-US" altLang="zh-CN" sz="1200" b="0"/>
              <a:pPr algn="r" eaLnBrk="1" hangingPunct="1"/>
              <a:t>58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>
            <a:extLst>
              <a:ext uri="{FF2B5EF4-FFF2-40B4-BE49-F238E27FC236}">
                <a16:creationId xmlns:a16="http://schemas.microsoft.com/office/drawing/2014/main" id="{640137E9-F358-4FAE-AE98-DA57CF8A5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备注占位符 2">
            <a:extLst>
              <a:ext uri="{FF2B5EF4-FFF2-40B4-BE49-F238E27FC236}">
                <a16:creationId xmlns:a16="http://schemas.microsoft.com/office/drawing/2014/main" id="{720F7A23-F4D4-4EBE-A647-B7301F048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4" name="灯片编号占位符 3">
            <a:extLst>
              <a:ext uri="{FF2B5EF4-FFF2-40B4-BE49-F238E27FC236}">
                <a16:creationId xmlns:a16="http://schemas.microsoft.com/office/drawing/2014/main" id="{C37CC66D-590C-4DA2-9627-4133D414AB5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2A03F65-2824-41B8-BC47-8C227F07490F}" type="slidenum">
              <a:rPr lang="en-US" altLang="zh-CN" sz="1200" b="0"/>
              <a:pPr algn="r" eaLnBrk="1" hangingPunct="1"/>
              <a:t>59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>
            <a:extLst>
              <a:ext uri="{FF2B5EF4-FFF2-40B4-BE49-F238E27FC236}">
                <a16:creationId xmlns:a16="http://schemas.microsoft.com/office/drawing/2014/main" id="{EBC1F3AB-409E-43BD-A74D-D5B2780D9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备注占位符 2">
            <a:extLst>
              <a:ext uri="{FF2B5EF4-FFF2-40B4-BE49-F238E27FC236}">
                <a16:creationId xmlns:a16="http://schemas.microsoft.com/office/drawing/2014/main" id="{996BE94D-4DD7-416D-87FA-965231AEC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2" name="灯片编号占位符 3">
            <a:extLst>
              <a:ext uri="{FF2B5EF4-FFF2-40B4-BE49-F238E27FC236}">
                <a16:creationId xmlns:a16="http://schemas.microsoft.com/office/drawing/2014/main" id="{F5818AAD-1F1F-4896-9303-B6696E28DDE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72D5EDD-2FC9-4A35-8D2E-E3597C27C17A}" type="slidenum">
              <a:rPr lang="en-US" altLang="zh-CN" sz="1200" b="0"/>
              <a:pPr algn="r" eaLnBrk="1" hangingPunct="1"/>
              <a:t>60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>
            <a:extLst>
              <a:ext uri="{FF2B5EF4-FFF2-40B4-BE49-F238E27FC236}">
                <a16:creationId xmlns:a16="http://schemas.microsoft.com/office/drawing/2014/main" id="{749D59D8-A08C-4F7D-AF1F-7ABE68B3FE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备注占位符 2">
            <a:extLst>
              <a:ext uri="{FF2B5EF4-FFF2-40B4-BE49-F238E27FC236}">
                <a16:creationId xmlns:a16="http://schemas.microsoft.com/office/drawing/2014/main" id="{6DDFB9C0-6086-4B8E-B4C0-896F319B9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0" name="灯片编号占位符 3">
            <a:extLst>
              <a:ext uri="{FF2B5EF4-FFF2-40B4-BE49-F238E27FC236}">
                <a16:creationId xmlns:a16="http://schemas.microsoft.com/office/drawing/2014/main" id="{D0376C69-C1B4-44C7-AD2A-82B2CF67141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166605B-384C-411B-B441-1ECBDB7378B0}" type="slidenum">
              <a:rPr lang="en-US" altLang="zh-CN" sz="1200" b="0"/>
              <a:pPr algn="r" eaLnBrk="1" hangingPunct="1"/>
              <a:t>61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>
            <a:extLst>
              <a:ext uri="{FF2B5EF4-FFF2-40B4-BE49-F238E27FC236}">
                <a16:creationId xmlns:a16="http://schemas.microsoft.com/office/drawing/2014/main" id="{582EE06E-CE98-4133-B776-12072C100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备注占位符 2">
            <a:extLst>
              <a:ext uri="{FF2B5EF4-FFF2-40B4-BE49-F238E27FC236}">
                <a16:creationId xmlns:a16="http://schemas.microsoft.com/office/drawing/2014/main" id="{3EF56AE6-1799-4344-8021-47934E973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28" name="灯片编号占位符 3">
            <a:extLst>
              <a:ext uri="{FF2B5EF4-FFF2-40B4-BE49-F238E27FC236}">
                <a16:creationId xmlns:a16="http://schemas.microsoft.com/office/drawing/2014/main" id="{56A161B1-94D1-43AB-8319-0E638A29FA0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0104D5D-473F-4507-B2B7-41C25F1A9F3C}" type="slidenum">
              <a:rPr lang="en-US" altLang="zh-CN" sz="1200" b="0"/>
              <a:pPr algn="r" eaLnBrk="1" hangingPunct="1"/>
              <a:t>62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>
            <a:extLst>
              <a:ext uri="{FF2B5EF4-FFF2-40B4-BE49-F238E27FC236}">
                <a16:creationId xmlns:a16="http://schemas.microsoft.com/office/drawing/2014/main" id="{CFEC1B94-AD4A-4165-AF28-AABFD3D4C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备注占位符 2">
            <a:extLst>
              <a:ext uri="{FF2B5EF4-FFF2-40B4-BE49-F238E27FC236}">
                <a16:creationId xmlns:a16="http://schemas.microsoft.com/office/drawing/2014/main" id="{2BDCF110-2F30-426F-897E-C74C5667E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6" name="灯片编号占位符 3">
            <a:extLst>
              <a:ext uri="{FF2B5EF4-FFF2-40B4-BE49-F238E27FC236}">
                <a16:creationId xmlns:a16="http://schemas.microsoft.com/office/drawing/2014/main" id="{A7078D62-B004-43FE-B8C2-2B505F7D171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F0B5D1B-9660-4DDA-BFF0-FA78B3A8F23D}" type="slidenum">
              <a:rPr lang="en-US" altLang="zh-CN" sz="1200" b="0"/>
              <a:pPr algn="r" eaLnBrk="1" hangingPunct="1"/>
              <a:t>63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>
            <a:extLst>
              <a:ext uri="{FF2B5EF4-FFF2-40B4-BE49-F238E27FC236}">
                <a16:creationId xmlns:a16="http://schemas.microsoft.com/office/drawing/2014/main" id="{8425A4DE-7D71-4691-9BEF-4A1D063206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备注占位符 2">
            <a:extLst>
              <a:ext uri="{FF2B5EF4-FFF2-40B4-BE49-F238E27FC236}">
                <a16:creationId xmlns:a16="http://schemas.microsoft.com/office/drawing/2014/main" id="{0C5E03EE-7EA2-497B-8C4D-33EA659EC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4" name="灯片编号占位符 3">
            <a:extLst>
              <a:ext uri="{FF2B5EF4-FFF2-40B4-BE49-F238E27FC236}">
                <a16:creationId xmlns:a16="http://schemas.microsoft.com/office/drawing/2014/main" id="{F866E9ED-179A-4B66-BBCD-AE195A690F1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A795AD0-0E31-48A8-99F2-24620BC1E72C}" type="slidenum">
              <a:rPr lang="en-US" altLang="zh-CN" sz="1200" b="0"/>
              <a:pPr algn="r" eaLnBrk="1" hangingPunct="1"/>
              <a:t>64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>
            <a:extLst>
              <a:ext uri="{FF2B5EF4-FFF2-40B4-BE49-F238E27FC236}">
                <a16:creationId xmlns:a16="http://schemas.microsoft.com/office/drawing/2014/main" id="{85BEA229-F9D5-49FC-BA7E-0FE9C3E654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备注占位符 2">
            <a:extLst>
              <a:ext uri="{FF2B5EF4-FFF2-40B4-BE49-F238E27FC236}">
                <a16:creationId xmlns:a16="http://schemas.microsoft.com/office/drawing/2014/main" id="{ED2D30C5-91A5-4B82-A3EF-64F3E07AC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2" name="灯片编号占位符 3">
            <a:extLst>
              <a:ext uri="{FF2B5EF4-FFF2-40B4-BE49-F238E27FC236}">
                <a16:creationId xmlns:a16="http://schemas.microsoft.com/office/drawing/2014/main" id="{8EC95B37-133A-48D9-8BEE-D476B271A45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B426397-36E8-4CCE-9C2D-884C895B90E2}" type="slidenum">
              <a:rPr lang="en-US" altLang="zh-CN" sz="1200" b="0"/>
              <a:pPr algn="r" eaLnBrk="1" hangingPunct="1"/>
              <a:t>65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>
            <a:extLst>
              <a:ext uri="{FF2B5EF4-FFF2-40B4-BE49-F238E27FC236}">
                <a16:creationId xmlns:a16="http://schemas.microsoft.com/office/drawing/2014/main" id="{C58A572B-8FB6-45D9-B031-05C887FFC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备注占位符 2">
            <a:extLst>
              <a:ext uri="{FF2B5EF4-FFF2-40B4-BE49-F238E27FC236}">
                <a16:creationId xmlns:a16="http://schemas.microsoft.com/office/drawing/2014/main" id="{538CB484-7CB6-46A7-8D50-A7304CF7E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0" name="灯片编号占位符 3">
            <a:extLst>
              <a:ext uri="{FF2B5EF4-FFF2-40B4-BE49-F238E27FC236}">
                <a16:creationId xmlns:a16="http://schemas.microsoft.com/office/drawing/2014/main" id="{4A995343-D187-44A1-BC85-58EC9720825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AFB77A6-DF96-4226-91C0-7C0AFF99534C}" type="slidenum">
              <a:rPr lang="en-US" altLang="zh-CN" sz="1200" b="0"/>
              <a:pPr algn="r" eaLnBrk="1" hangingPunct="1"/>
              <a:t>66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>
            <a:extLst>
              <a:ext uri="{FF2B5EF4-FFF2-40B4-BE49-F238E27FC236}">
                <a16:creationId xmlns:a16="http://schemas.microsoft.com/office/drawing/2014/main" id="{D4BB2584-E5D4-496F-838B-ACF4431B0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备注占位符 2">
            <a:extLst>
              <a:ext uri="{FF2B5EF4-FFF2-40B4-BE49-F238E27FC236}">
                <a16:creationId xmlns:a16="http://schemas.microsoft.com/office/drawing/2014/main" id="{537E2E61-372C-4335-955C-8501127B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8" name="灯片编号占位符 3">
            <a:extLst>
              <a:ext uri="{FF2B5EF4-FFF2-40B4-BE49-F238E27FC236}">
                <a16:creationId xmlns:a16="http://schemas.microsoft.com/office/drawing/2014/main" id="{E256A509-FDAB-4B72-B15A-3BF635F8A32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47719CF-C7C4-4EC5-BAC7-D962D7C726FF}" type="slidenum">
              <a:rPr lang="en-US" altLang="zh-CN" sz="1200" b="0"/>
              <a:pPr algn="r" eaLnBrk="1" hangingPunct="1"/>
              <a:t>67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>
            <a:extLst>
              <a:ext uri="{FF2B5EF4-FFF2-40B4-BE49-F238E27FC236}">
                <a16:creationId xmlns:a16="http://schemas.microsoft.com/office/drawing/2014/main" id="{DC0F7231-E4E2-463F-B135-36F2E46FC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备注占位符 2">
            <a:extLst>
              <a:ext uri="{FF2B5EF4-FFF2-40B4-BE49-F238E27FC236}">
                <a16:creationId xmlns:a16="http://schemas.microsoft.com/office/drawing/2014/main" id="{55D6F6D4-A719-41A4-9EFC-463A3E6DC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6" name="灯片编号占位符 3">
            <a:extLst>
              <a:ext uri="{FF2B5EF4-FFF2-40B4-BE49-F238E27FC236}">
                <a16:creationId xmlns:a16="http://schemas.microsoft.com/office/drawing/2014/main" id="{EBE1A217-3B9A-481C-99AA-A209EF00749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174748D-2EBB-4433-B8FA-6D3837AF7019}" type="slidenum">
              <a:rPr lang="en-US" altLang="zh-CN" sz="1200" b="0"/>
              <a:pPr algn="r" eaLnBrk="1" hangingPunct="1"/>
              <a:t>68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>
            <a:extLst>
              <a:ext uri="{FF2B5EF4-FFF2-40B4-BE49-F238E27FC236}">
                <a16:creationId xmlns:a16="http://schemas.microsoft.com/office/drawing/2014/main" id="{923971C5-6CF0-4DE7-9D72-D17B59BC4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备注占位符 2">
            <a:extLst>
              <a:ext uri="{FF2B5EF4-FFF2-40B4-BE49-F238E27FC236}">
                <a16:creationId xmlns:a16="http://schemas.microsoft.com/office/drawing/2014/main" id="{90EC0267-EC3C-41BC-9EEE-AADD59BAA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4" name="灯片编号占位符 3">
            <a:extLst>
              <a:ext uri="{FF2B5EF4-FFF2-40B4-BE49-F238E27FC236}">
                <a16:creationId xmlns:a16="http://schemas.microsoft.com/office/drawing/2014/main" id="{A8084CF9-0EF6-48F3-BA57-82154E49BB6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2A6F2D6-C847-4B9F-9D83-963285B2DB83}" type="slidenum">
              <a:rPr lang="en-US" altLang="zh-CN" sz="1200" b="0"/>
              <a:pPr algn="r" eaLnBrk="1" hangingPunct="1"/>
              <a:t>69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>
            <a:extLst>
              <a:ext uri="{FF2B5EF4-FFF2-40B4-BE49-F238E27FC236}">
                <a16:creationId xmlns:a16="http://schemas.microsoft.com/office/drawing/2014/main" id="{26429B22-292A-41CB-AFEC-A9F954740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备注占位符 2">
            <a:extLst>
              <a:ext uri="{FF2B5EF4-FFF2-40B4-BE49-F238E27FC236}">
                <a16:creationId xmlns:a16="http://schemas.microsoft.com/office/drawing/2014/main" id="{0135B7C7-314B-4B51-962E-5F380234F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2" name="灯片编号占位符 3">
            <a:extLst>
              <a:ext uri="{FF2B5EF4-FFF2-40B4-BE49-F238E27FC236}">
                <a16:creationId xmlns:a16="http://schemas.microsoft.com/office/drawing/2014/main" id="{B8F2B542-EFD8-4391-89BB-1F6FDA1CF9C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E9D5093-DFA9-421C-89E2-6DCF134F313D}" type="slidenum">
              <a:rPr lang="en-US" altLang="zh-CN" sz="1200" b="0"/>
              <a:pPr algn="r" eaLnBrk="1" hangingPunct="1"/>
              <a:t>70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>
            <a:extLst>
              <a:ext uri="{FF2B5EF4-FFF2-40B4-BE49-F238E27FC236}">
                <a16:creationId xmlns:a16="http://schemas.microsoft.com/office/drawing/2014/main" id="{4B3C2ABA-3382-4604-A958-437FE66EC5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备注占位符 2">
            <a:extLst>
              <a:ext uri="{FF2B5EF4-FFF2-40B4-BE49-F238E27FC236}">
                <a16:creationId xmlns:a16="http://schemas.microsoft.com/office/drawing/2014/main" id="{2C212AD0-B142-4DCF-A1DC-E10047A2A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0" name="灯片编号占位符 3">
            <a:extLst>
              <a:ext uri="{FF2B5EF4-FFF2-40B4-BE49-F238E27FC236}">
                <a16:creationId xmlns:a16="http://schemas.microsoft.com/office/drawing/2014/main" id="{E7D8F8F5-1882-47A5-9E8D-82AADC38F6E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5D9FB6D-4FAC-4BB7-9EE8-906A212FF86C}" type="slidenum">
              <a:rPr lang="en-US" altLang="zh-CN" sz="1200" b="0"/>
              <a:pPr algn="r" eaLnBrk="1" hangingPunct="1"/>
              <a:t>71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>
            <a:extLst>
              <a:ext uri="{FF2B5EF4-FFF2-40B4-BE49-F238E27FC236}">
                <a16:creationId xmlns:a16="http://schemas.microsoft.com/office/drawing/2014/main" id="{4A4E0EDC-A80D-4D19-AA8E-63E001869F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备注占位符 2">
            <a:extLst>
              <a:ext uri="{FF2B5EF4-FFF2-40B4-BE49-F238E27FC236}">
                <a16:creationId xmlns:a16="http://schemas.microsoft.com/office/drawing/2014/main" id="{1F4F0CDC-E3C9-4438-BD26-CEE99AA5D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08" name="灯片编号占位符 3">
            <a:extLst>
              <a:ext uri="{FF2B5EF4-FFF2-40B4-BE49-F238E27FC236}">
                <a16:creationId xmlns:a16="http://schemas.microsoft.com/office/drawing/2014/main" id="{80D9B654-DCE1-43CD-B316-C1A0E475065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418E375-75CE-4E4A-9EEB-4D3C896217B3}" type="slidenum">
              <a:rPr lang="en-US" altLang="zh-CN" sz="1200" b="0"/>
              <a:pPr algn="r" eaLnBrk="1" hangingPunct="1"/>
              <a:t>72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>
            <a:extLst>
              <a:ext uri="{FF2B5EF4-FFF2-40B4-BE49-F238E27FC236}">
                <a16:creationId xmlns:a16="http://schemas.microsoft.com/office/drawing/2014/main" id="{EC039A10-3BB1-4C55-ADDF-C9230E217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备注占位符 2">
            <a:extLst>
              <a:ext uri="{FF2B5EF4-FFF2-40B4-BE49-F238E27FC236}">
                <a16:creationId xmlns:a16="http://schemas.microsoft.com/office/drawing/2014/main" id="{C54881B4-63D5-4546-8709-81092583D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6" name="灯片编号占位符 3">
            <a:extLst>
              <a:ext uri="{FF2B5EF4-FFF2-40B4-BE49-F238E27FC236}">
                <a16:creationId xmlns:a16="http://schemas.microsoft.com/office/drawing/2014/main" id="{55F2FE2B-B00D-4E32-8F8B-09AEA90643A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710EDDD-73C3-4D0F-A9D6-7EE50B6BDB7F}" type="slidenum">
              <a:rPr lang="en-US" altLang="zh-CN" sz="1200" b="0"/>
              <a:pPr algn="r" eaLnBrk="1" hangingPunct="1"/>
              <a:t>73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>
            <a:extLst>
              <a:ext uri="{FF2B5EF4-FFF2-40B4-BE49-F238E27FC236}">
                <a16:creationId xmlns:a16="http://schemas.microsoft.com/office/drawing/2014/main" id="{DCAE0846-7C09-468A-BE21-4857CC73EA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备注占位符 2">
            <a:extLst>
              <a:ext uri="{FF2B5EF4-FFF2-40B4-BE49-F238E27FC236}">
                <a16:creationId xmlns:a16="http://schemas.microsoft.com/office/drawing/2014/main" id="{AEEE5A54-2D64-4610-85B2-C41C1DBC3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04" name="灯片编号占位符 3">
            <a:extLst>
              <a:ext uri="{FF2B5EF4-FFF2-40B4-BE49-F238E27FC236}">
                <a16:creationId xmlns:a16="http://schemas.microsoft.com/office/drawing/2014/main" id="{130564DF-EE23-4778-809F-6F67561BA85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C432AA3-D56B-47F3-AEA4-072A7795D11B}" type="slidenum">
              <a:rPr lang="en-US" altLang="zh-CN" sz="1200" b="0"/>
              <a:pPr algn="r" eaLnBrk="1" hangingPunct="1"/>
              <a:t>74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>
            <a:extLst>
              <a:ext uri="{FF2B5EF4-FFF2-40B4-BE49-F238E27FC236}">
                <a16:creationId xmlns:a16="http://schemas.microsoft.com/office/drawing/2014/main" id="{DEC49E17-C477-46D7-BB04-88165CABC0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备注占位符 2">
            <a:extLst>
              <a:ext uri="{FF2B5EF4-FFF2-40B4-BE49-F238E27FC236}">
                <a16:creationId xmlns:a16="http://schemas.microsoft.com/office/drawing/2014/main" id="{0B15CC6F-4E69-4AD7-8FE7-F227B4180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2" name="灯片编号占位符 3">
            <a:extLst>
              <a:ext uri="{FF2B5EF4-FFF2-40B4-BE49-F238E27FC236}">
                <a16:creationId xmlns:a16="http://schemas.microsoft.com/office/drawing/2014/main" id="{A02C73F3-9AD5-4CE1-A0E2-595BF9D05669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03A032B-5313-4B2D-BA9B-D740B3037633}" type="slidenum">
              <a:rPr lang="en-US" altLang="zh-CN" sz="1200" b="0"/>
              <a:pPr algn="r" eaLnBrk="1" hangingPunct="1"/>
              <a:t>75</a:t>
            </a:fld>
            <a:endParaRPr lang="en-US" altLang="zh-CN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A3A9342A-C4C1-440A-9618-7D18C7FA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40859-CC11-4A74-A65E-063E558057ED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4C33D6FC-763C-448A-8048-4C67C8BA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EA873F6A-8983-4B19-9AFB-813E8722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45814-B3C7-48F7-96B9-9A144F0567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23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08D21DA4-AAF4-4C4D-ABC1-F346EE33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9AD9B-0071-4E58-A1F4-B67A913CA9FA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E85C826-6933-4812-90D2-8F1EEEB4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AAC206BE-5132-48BA-A3CE-878949A0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62D25-9AFF-4956-B0A3-FCE7EF2BF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42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319C5AD7-27FE-45BD-B73F-46C44767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8C8B4-968D-47F1-BC33-90D339D65FE3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B4A142C-A8D3-40D3-BFB2-F9D07462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D2530D1D-7968-4F6A-83B8-EAC2063C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2310-E3D3-4C27-B38A-FE06195965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464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8FEE6E45-1CBD-44EE-B6A0-A30C8BE3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7ABFE-16F7-41E9-A17A-3F29A043C735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95682A7A-5AF8-471C-9100-2D366933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BFC643C4-5905-47E2-9613-D09DC320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B05FC-5A4C-41DA-9842-536EF30B83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094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80A5ACFD-867A-4367-A645-838E868B8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2BBD1-3740-4BC1-8578-AEC04F540B84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05E72234-223A-49F8-8CDB-B700F421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5F2068DB-48E9-4CF4-9284-07141986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6A91A-EAAC-4AF0-A8F4-556407A7E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13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53B0A6CF-481E-4BF0-9AD7-7F874A48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98824-B160-4390-946A-84AC1CD76629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B98F88A7-8700-43A3-897B-98608992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5555BD2C-A1DC-4939-9A03-13757269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119C4-DB7B-4F30-8FFC-31B554F1C5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35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BBEB9AC-AD18-4EA0-B512-E72E2CCD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390E7-9C24-4403-B97E-57526C7DE56E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F0683A3F-A209-484B-B9EA-63403C0B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B8956A70-9BE3-4C28-A17E-879F9D73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6A200-6C46-409F-9D9E-7A239256D7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745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4D22E83D-9162-479E-8561-64CA65B6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ECFA7-021B-4BC3-BB32-9CD56C7960A5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25D32D30-367D-48F3-A33F-0B4FF711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45E36926-01D2-46C5-ADD1-02628DBA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5BB8C-BEAF-44DE-B4BA-619C53DA0C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35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675DBF04-33A1-46F7-920E-88F01FB3438F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1D7FF934-F3A4-4BE3-8E3B-457525A81821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任意多边形 15">
            <a:extLst>
              <a:ext uri="{FF2B5EF4-FFF2-40B4-BE49-F238E27FC236}">
                <a16:creationId xmlns:a16="http://schemas.microsoft.com/office/drawing/2014/main" id="{ACC631E6-12D5-47B3-9DAE-30B136CB89A9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16">
            <a:extLst>
              <a:ext uri="{FF2B5EF4-FFF2-40B4-BE49-F238E27FC236}">
                <a16:creationId xmlns:a16="http://schemas.microsoft.com/office/drawing/2014/main" id="{87EDD372-EE80-4C3F-835D-459818EFDE12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B9A0DBC5-19CE-4272-BF76-7CECB074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9C208-B54F-4C38-AD77-1EA411B80ED3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14E9F892-6AA7-4121-8724-6181207B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768759D9-AF46-4765-BD42-34F2D165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00BA6-ADE6-4D25-B9B9-BF1430253A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02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09A7757D-F13C-495C-9A7E-E497F968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B79B7-4349-4536-AF95-9B24C2CB6566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DEC7E3B7-3088-4484-8A3A-49142100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24A520C3-EDCC-4054-9A4C-73A669C2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BD1DD-ACD8-46C7-8366-F332FA6916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20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860AEFE-9357-49E2-B712-6F94DBD5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CFF4D-7C88-4E27-931E-87FAA2C4BEF0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92403E99-CF64-46F0-A1E2-CC148FC8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1B299C6D-C49C-48F5-8091-A686D496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D1BFB-99E3-4F39-ACA9-35990CA53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8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3A454E60-661E-4B2D-AF3C-2EF5D62702B7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3A861A54-BB7D-44F3-AA91-D757A0F057B4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33840E39-6084-4684-A488-D1A3EFCE9BB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9CD731CE-3B13-41C3-9809-19C6DD9841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F8A1D410-A015-46AD-9560-457B00C68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spcBef>
                <a:spcPct val="0"/>
              </a:spcBef>
              <a:defRPr kumimoji="0" sz="1200">
                <a:solidFill>
                  <a:schemeClr val="tx2">
                    <a:shade val="9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E37FE273-B80A-4B32-B371-B046289E98D8}" type="datetime1">
              <a:rPr lang="zh-CN" altLang="en-US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CCB7B755-9562-452C-9091-6B3E5DC39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spcBef>
                <a:spcPct val="0"/>
              </a:spcBef>
              <a:defRPr kumimoji="0" sz="1200">
                <a:solidFill>
                  <a:schemeClr val="tx2">
                    <a:shade val="9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E120EBC5-D7C0-42E9-B935-F9C1291BB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045C75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B202B3-15BD-4030-A2C2-515FE2E58B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D22C6020-DDC5-44A2-82AE-0034F5C87949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DEFD1B84-1CEF-4F34-974D-A7C5297F52E9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kumimoji="0" lang="en-US">
                <a:ea typeface="宋体" pitchFamily="2" charset="-122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8011CF14-FF46-48F1-B1FA-E83C17B8B21B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kumimoji="0" lang="en-US">
                <a:ea typeface="宋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7" r:id="rId9"/>
    <p:sldLayoutId id="2147484005" r:id="rId10"/>
    <p:sldLayoutId id="2147484006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eeee.com/encode/radi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tjopenlab/computer_tech/tree/master/emu8086v40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NEWep/EP102.AS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1027">
            <a:extLst>
              <a:ext uri="{FF2B5EF4-FFF2-40B4-BE49-F238E27FC236}">
                <a16:creationId xmlns:a16="http://schemas.microsoft.com/office/drawing/2014/main" id="{5EA0636B-20A3-427C-859C-225C2956C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Line 1031">
            <a:extLst>
              <a:ext uri="{FF2B5EF4-FFF2-40B4-BE49-F238E27FC236}">
                <a16:creationId xmlns:a16="http://schemas.microsoft.com/office/drawing/2014/main" id="{F5BA46F2-764D-49E8-A233-698C9F13F8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4" name="AutoShape 1032">
            <a:extLst>
              <a:ext uri="{FF2B5EF4-FFF2-40B4-BE49-F238E27FC236}">
                <a16:creationId xmlns:a16="http://schemas.microsoft.com/office/drawing/2014/main" id="{02259EE4-FBA5-4235-A7FF-C2B26107B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5" name="AutoShape 1033">
            <a:extLst>
              <a:ext uri="{FF2B5EF4-FFF2-40B4-BE49-F238E27FC236}">
                <a16:creationId xmlns:a16="http://schemas.microsoft.com/office/drawing/2014/main" id="{C4DB74E2-EAB8-4855-B0AA-E713EF6C7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6" name="日期占位符 12">
            <a:extLst>
              <a:ext uri="{FF2B5EF4-FFF2-40B4-BE49-F238E27FC236}">
                <a16:creationId xmlns:a16="http://schemas.microsoft.com/office/drawing/2014/main" id="{4A487810-FA25-43AA-BBE6-B6763F811A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457200" y="6356350"/>
            <a:ext cx="5410944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kumimoji="0" lang="zh-CN" altLang="en-US" sz="2400" b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根据同济大学朱珏、贺向东讲义改编</a:t>
            </a:r>
            <a:endParaRPr kumimoji="0" lang="en-US" altLang="zh-CN" sz="2400" b="0">
              <a:solidFill>
                <a:schemeClr val="accent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031C545-D5C5-481D-8238-E339259CC161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125538"/>
            <a:ext cx="7920037" cy="1008062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30" name="图片 14" descr="logo.jpg">
            <a:extLst>
              <a:ext uri="{FF2B5EF4-FFF2-40B4-BE49-F238E27FC236}">
                <a16:creationId xmlns:a16="http://schemas.microsoft.com/office/drawing/2014/main" id="{C792371B-361D-4B9A-8B87-9B8783265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693738"/>
            <a:ext cx="1752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" name="Text Box 2">
            <a:extLst>
              <a:ext uri="{FF2B5EF4-FFF2-40B4-BE49-F238E27FC236}">
                <a16:creationId xmlns:a16="http://schemas.microsoft.com/office/drawing/2014/main" id="{9BAB7B0D-E718-434A-9643-DE07F69FB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746250"/>
            <a:ext cx="91440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800">
                <a:solidFill>
                  <a:srgbClr val="FF0000"/>
                </a:solidFill>
                <a:ea typeface="楷体" panose="02010609060101010101" pitchFamily="49" charset="-122"/>
              </a:rPr>
              <a:t>汇编语言程序设计</a:t>
            </a:r>
            <a:endParaRPr lang="zh-CN" altLang="en-US" sz="4800" b="0">
              <a:ea typeface="楷体" panose="02010609060101010101" pitchFamily="49" charset="-122"/>
            </a:endParaRPr>
          </a:p>
        </p:txBody>
      </p:sp>
      <p:sp>
        <p:nvSpPr>
          <p:cNvPr id="5132" name="Text Box 3">
            <a:extLst>
              <a:ext uri="{FF2B5EF4-FFF2-40B4-BE49-F238E27FC236}">
                <a16:creationId xmlns:a16="http://schemas.microsoft.com/office/drawing/2014/main" id="{3D0C0A1F-3F88-439F-9A54-1954FF218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1663"/>
            <a:ext cx="9143999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zh-CN" altLang="en-US" sz="3600">
                <a:ea typeface="楷体_GB2312"/>
                <a:cs typeface="楷体_GB2312"/>
              </a:rPr>
              <a:t>主讲：</a:t>
            </a:r>
            <a:r>
              <a:rPr lang="zh-CN" altLang="en-US" sz="4000" b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裴喜龙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800">
                <a:ea typeface="楷体_GB2312"/>
                <a:cs typeface="楷体_GB2312"/>
              </a:rPr>
              <a:t> 	</a:t>
            </a:r>
            <a:endParaRPr lang="en-US" altLang="zh-CN" sz="4000">
              <a:ea typeface="楷体_GB2312"/>
              <a:cs typeface="楷体_GB2312"/>
            </a:endParaRPr>
          </a:p>
        </p:txBody>
      </p:sp>
      <p:sp>
        <p:nvSpPr>
          <p:cNvPr id="5133" name="Text Box 3">
            <a:extLst>
              <a:ext uri="{FF2B5EF4-FFF2-40B4-BE49-F238E27FC236}">
                <a16:creationId xmlns:a16="http://schemas.microsoft.com/office/drawing/2014/main" id="{EA14E6D0-A8E8-4E75-80F7-84B2F4BF3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941888"/>
            <a:ext cx="7319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zh-CN" altLang="en-US" sz="3200">
                <a:ea typeface="仿宋" panose="02010609060101010101" pitchFamily="49" charset="-122"/>
              </a:rPr>
              <a:t>电子与信息工程学院实验中心</a:t>
            </a:r>
            <a:endParaRPr lang="en-US" altLang="zh-CN" sz="3200"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1027">
            <a:extLst>
              <a:ext uri="{FF2B5EF4-FFF2-40B4-BE49-F238E27FC236}">
                <a16:creationId xmlns:a16="http://schemas.microsoft.com/office/drawing/2014/main" id="{D76C3B42-509A-410A-99B5-2D074FF8B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Line 1031">
            <a:extLst>
              <a:ext uri="{FF2B5EF4-FFF2-40B4-BE49-F238E27FC236}">
                <a16:creationId xmlns:a16="http://schemas.microsoft.com/office/drawing/2014/main" id="{70D0FB2C-5AFA-4394-AC9C-07B5FD431B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2" name="AutoShape 1032">
            <a:extLst>
              <a:ext uri="{FF2B5EF4-FFF2-40B4-BE49-F238E27FC236}">
                <a16:creationId xmlns:a16="http://schemas.microsoft.com/office/drawing/2014/main" id="{C465C449-7B1D-490E-9AAD-AC7A1E757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3" name="AutoShape 1033">
            <a:extLst>
              <a:ext uri="{FF2B5EF4-FFF2-40B4-BE49-F238E27FC236}">
                <a16:creationId xmlns:a16="http://schemas.microsoft.com/office/drawing/2014/main" id="{388AC226-B47C-4E30-9789-947E67127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5454E64A-8BA4-4802-8EC3-9FA27E6A293E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125538"/>
            <a:ext cx="7920037" cy="1008062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175" name="图片 14" descr="logo.jpg">
            <a:extLst>
              <a:ext uri="{FF2B5EF4-FFF2-40B4-BE49-F238E27FC236}">
                <a16:creationId xmlns:a16="http://schemas.microsoft.com/office/drawing/2014/main" id="{618ED7A5-980A-4ADA-9CC8-313C63577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76250"/>
            <a:ext cx="1752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Rectangle 7">
            <a:extLst>
              <a:ext uri="{FF2B5EF4-FFF2-40B4-BE49-F238E27FC236}">
                <a16:creationId xmlns:a16="http://schemas.microsoft.com/office/drawing/2014/main" id="{DF8FE247-74C8-4F57-9419-E4561F6CB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052513"/>
            <a:ext cx="55451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4400">
                <a:solidFill>
                  <a:srgbClr val="FF3300"/>
                </a:solidFill>
                <a:latin typeface="隶书" panose="02010509060101010101" pitchFamily="49" charset="-122"/>
              </a:rPr>
              <a:t>第</a:t>
            </a:r>
            <a:r>
              <a:rPr kumimoji="0" lang="en-US" altLang="zh-CN" sz="4400">
                <a:solidFill>
                  <a:srgbClr val="FF3300"/>
                </a:solidFill>
                <a:latin typeface="隶书" panose="02010509060101010101" pitchFamily="49" charset="-122"/>
              </a:rPr>
              <a:t>1</a:t>
            </a:r>
            <a:r>
              <a:rPr kumimoji="0" lang="zh-CN" altLang="en-US" sz="4400">
                <a:solidFill>
                  <a:srgbClr val="FF3300"/>
                </a:solidFill>
                <a:latin typeface="隶书" panose="02010509060101010101" pitchFamily="49" charset="-122"/>
              </a:rPr>
              <a:t>章   基础知识</a:t>
            </a:r>
          </a:p>
        </p:txBody>
      </p:sp>
      <p:sp>
        <p:nvSpPr>
          <p:cNvPr id="7177" name="Text Box 6">
            <a:extLst>
              <a:ext uri="{FF2B5EF4-FFF2-40B4-BE49-F238E27FC236}">
                <a16:creationId xmlns:a16="http://schemas.microsoft.com/office/drawing/2014/main" id="{33B496CE-0BAC-4F45-85D8-5328E83F3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492375"/>
            <a:ext cx="4608513" cy="31400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600">
                <a:ea typeface="宋体" panose="02010600030101010101" pitchFamily="2" charset="-122"/>
              </a:rPr>
              <a:t>1.1  </a:t>
            </a:r>
            <a:r>
              <a:rPr lang="zh-CN" altLang="en-US" sz="3600">
                <a:ea typeface="宋体" panose="02010600030101010101" pitchFamily="2" charset="-122"/>
              </a:rPr>
              <a:t>汇编语言概述</a:t>
            </a:r>
          </a:p>
          <a:p>
            <a:pPr>
              <a:spcBef>
                <a:spcPct val="50000"/>
              </a:spcBef>
            </a:pPr>
            <a:r>
              <a:rPr lang="en-US" altLang="zh-CN" sz="3600">
                <a:ea typeface="宋体" panose="02010600030101010101" pitchFamily="2" charset="-122"/>
              </a:rPr>
              <a:t>1.2  </a:t>
            </a:r>
            <a:r>
              <a:rPr lang="zh-CN" altLang="en-US" sz="3600">
                <a:ea typeface="宋体" panose="02010600030101010101" pitchFamily="2" charset="-122"/>
              </a:rPr>
              <a:t>数制及其转换</a:t>
            </a:r>
          </a:p>
          <a:p>
            <a:pPr>
              <a:spcBef>
                <a:spcPct val="50000"/>
              </a:spcBef>
            </a:pPr>
            <a:r>
              <a:rPr lang="en-US" altLang="zh-CN" sz="3600">
                <a:ea typeface="宋体" panose="02010600030101010101" pitchFamily="2" charset="-122"/>
              </a:rPr>
              <a:t>1.3  </a:t>
            </a:r>
            <a:r>
              <a:rPr lang="zh-CN" altLang="en-US" sz="3600">
                <a:ea typeface="宋体" panose="02010600030101010101" pitchFamily="2" charset="-122"/>
              </a:rPr>
              <a:t>数与字符的表示</a:t>
            </a:r>
            <a:endParaRPr lang="en-US" altLang="zh-CN" sz="36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600">
                <a:ea typeface="宋体" panose="02010600030101010101" pitchFamily="2" charset="-122"/>
              </a:rPr>
              <a:t>1.4  </a:t>
            </a:r>
            <a:r>
              <a:rPr lang="zh-CN" altLang="en-US" sz="3600">
                <a:ea typeface="宋体" panose="02010600030101010101" pitchFamily="2" charset="-122"/>
              </a:rPr>
              <a:t>基本逻辑运算</a:t>
            </a:r>
          </a:p>
        </p:txBody>
      </p:sp>
      <p:sp>
        <p:nvSpPr>
          <p:cNvPr id="7178" name="日期占位符 12">
            <a:extLst>
              <a:ext uri="{FF2B5EF4-FFF2-40B4-BE49-F238E27FC236}">
                <a16:creationId xmlns:a16="http://schemas.microsoft.com/office/drawing/2014/main" id="{6F733C3A-55C7-465A-998C-09D159E55D8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45ABBED-48C9-4D7B-A6FB-05A5606F41B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9" name="灯片编号占位符 13">
            <a:extLst>
              <a:ext uri="{FF2B5EF4-FFF2-40B4-BE49-F238E27FC236}">
                <a16:creationId xmlns:a16="http://schemas.microsoft.com/office/drawing/2014/main" id="{ADBC50FB-5AB9-4926-92A3-B50359A2E75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D9A54AE-9577-4985-B94A-575A6B769BC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80" name="页脚占位符 14">
            <a:extLst>
              <a:ext uri="{FF2B5EF4-FFF2-40B4-BE49-F238E27FC236}">
                <a16:creationId xmlns:a16="http://schemas.microsoft.com/office/drawing/2014/main" id="{FCD1C38F-9148-4451-B8AA-8BC5100AFDBC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1027">
            <a:extLst>
              <a:ext uri="{FF2B5EF4-FFF2-40B4-BE49-F238E27FC236}">
                <a16:creationId xmlns:a16="http://schemas.microsoft.com/office/drawing/2014/main" id="{AA44152F-AAD6-4307-8BB8-3AB9A387C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Line 1031">
            <a:extLst>
              <a:ext uri="{FF2B5EF4-FFF2-40B4-BE49-F238E27FC236}">
                <a16:creationId xmlns:a16="http://schemas.microsoft.com/office/drawing/2014/main" id="{8EA53189-B461-447E-A486-E0B7FD5DD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0" name="AutoShape 1032">
            <a:extLst>
              <a:ext uri="{FF2B5EF4-FFF2-40B4-BE49-F238E27FC236}">
                <a16:creationId xmlns:a16="http://schemas.microsoft.com/office/drawing/2014/main" id="{F531AB41-CC6E-4DC4-80F6-65AD2AB3A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1" name="AutoShape 1033">
            <a:extLst>
              <a:ext uri="{FF2B5EF4-FFF2-40B4-BE49-F238E27FC236}">
                <a16:creationId xmlns:a16="http://schemas.microsoft.com/office/drawing/2014/main" id="{2252CFCF-3C14-4629-A6F6-B42A1564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2" name="日期占位符 12">
            <a:extLst>
              <a:ext uri="{FF2B5EF4-FFF2-40B4-BE49-F238E27FC236}">
                <a16:creationId xmlns:a16="http://schemas.microsoft.com/office/drawing/2014/main" id="{09D49F39-5E4B-4CC6-A33C-60A5747DE36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F733BE5-6ED6-4C09-BFB9-BF75D4A3138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3" name="灯片编号占位符 13">
            <a:extLst>
              <a:ext uri="{FF2B5EF4-FFF2-40B4-BE49-F238E27FC236}">
                <a16:creationId xmlns:a16="http://schemas.microsoft.com/office/drawing/2014/main" id="{7C3A1370-43CB-4DCC-AA88-6BEEAC8F528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2372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71F5948-1829-4940-8DC2-A45CA956903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4" name="页脚占位符 14">
            <a:extLst>
              <a:ext uri="{FF2B5EF4-FFF2-40B4-BE49-F238E27FC236}">
                <a16:creationId xmlns:a16="http://schemas.microsoft.com/office/drawing/2014/main" id="{376D7D7A-202A-47F4-94DB-6B2376311A40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5" name="Text Box 17">
            <a:extLst>
              <a:ext uri="{FF2B5EF4-FFF2-40B4-BE49-F238E27FC236}">
                <a16:creationId xmlns:a16="http://schemas.microsoft.com/office/drawing/2014/main" id="{0FDA45AF-5DAB-4683-95B8-223EEAC3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916113"/>
            <a:ext cx="7561262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600">
                <a:ea typeface="楷体" panose="02010609060101010101" pitchFamily="49" charset="-122"/>
              </a:rPr>
              <a:t>1. </a:t>
            </a:r>
            <a:r>
              <a:rPr lang="zh-CN" altLang="en-US" sz="3600">
                <a:ea typeface="楷体" panose="02010609060101010101" pitchFamily="49" charset="-122"/>
              </a:rPr>
              <a:t>了解汇编语言的特点和应用场合，明确学习汇编语言的目的和方法。</a:t>
            </a:r>
            <a:endParaRPr lang="en-US" altLang="zh-CN" sz="3600"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600">
                <a:ea typeface="楷体" panose="02010609060101010101" pitchFamily="49" charset="-122"/>
              </a:rPr>
              <a:t>2. </a:t>
            </a:r>
            <a:r>
              <a:rPr lang="zh-CN" altLang="en-US" sz="3600">
                <a:solidFill>
                  <a:srgbClr val="FF0000"/>
                </a:solidFill>
                <a:ea typeface="楷体" panose="02010609060101010101" pitchFamily="49" charset="-122"/>
              </a:rPr>
              <a:t>熟练掌握</a:t>
            </a:r>
            <a:r>
              <a:rPr lang="zh-CN" altLang="en-US" sz="3600">
                <a:ea typeface="楷体" panose="02010609060101010101" pitchFamily="49" charset="-122"/>
              </a:rPr>
              <a:t>数制及其转换</a:t>
            </a:r>
            <a:endParaRPr lang="en-US" altLang="zh-CN" sz="3600"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600">
                <a:ea typeface="楷体" panose="02010609060101010101" pitchFamily="49" charset="-122"/>
              </a:rPr>
              <a:t>3. </a:t>
            </a:r>
            <a:r>
              <a:rPr lang="zh-CN" altLang="en-US" sz="3600">
                <a:solidFill>
                  <a:srgbClr val="FF0000"/>
                </a:solidFill>
                <a:ea typeface="楷体" panose="02010609060101010101" pitchFamily="49" charset="-122"/>
              </a:rPr>
              <a:t>掌握</a:t>
            </a:r>
            <a:r>
              <a:rPr lang="zh-CN" altLang="en-US" sz="3600">
                <a:ea typeface="楷体" panose="02010609060101010101" pitchFamily="49" charset="-122"/>
              </a:rPr>
              <a:t>计算机中数和字符的表示</a:t>
            </a:r>
            <a:endParaRPr lang="en-US" altLang="zh-CN" sz="3600"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600">
                <a:ea typeface="楷体" panose="02010609060101010101" pitchFamily="49" charset="-122"/>
              </a:rPr>
              <a:t>4. </a:t>
            </a:r>
            <a:r>
              <a:rPr lang="zh-CN" altLang="en-US" sz="3600">
                <a:ea typeface="楷体" panose="02010609060101010101" pitchFamily="49" charset="-122"/>
              </a:rPr>
              <a:t>基本逻辑运算的运用</a:t>
            </a:r>
          </a:p>
        </p:txBody>
      </p:sp>
      <p:sp>
        <p:nvSpPr>
          <p:cNvPr id="9226" name="TextBox 10">
            <a:extLst>
              <a:ext uri="{FF2B5EF4-FFF2-40B4-BE49-F238E27FC236}">
                <a16:creationId xmlns:a16="http://schemas.microsoft.com/office/drawing/2014/main" id="{BAC99A1B-9FAB-4738-8E84-3FE9D75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31686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400">
                <a:solidFill>
                  <a:srgbClr val="0000D6"/>
                </a:solidFill>
              </a:rPr>
              <a:t>本章要点</a:t>
            </a:r>
          </a:p>
        </p:txBody>
      </p:sp>
      <p:sp>
        <p:nvSpPr>
          <p:cNvPr id="9227" name="Text Box 1029">
            <a:extLst>
              <a:ext uri="{FF2B5EF4-FFF2-40B4-BE49-F238E27FC236}">
                <a16:creationId xmlns:a16="http://schemas.microsoft.com/office/drawing/2014/main" id="{52541C36-FE02-4448-A6C1-41B3D8F1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 基础知识</a:t>
            </a:r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1027">
            <a:extLst>
              <a:ext uri="{FF2B5EF4-FFF2-40B4-BE49-F238E27FC236}">
                <a16:creationId xmlns:a16="http://schemas.microsoft.com/office/drawing/2014/main" id="{AA44152F-AAD6-4307-8BB8-3AB9A387C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Line 1031">
            <a:extLst>
              <a:ext uri="{FF2B5EF4-FFF2-40B4-BE49-F238E27FC236}">
                <a16:creationId xmlns:a16="http://schemas.microsoft.com/office/drawing/2014/main" id="{8EA53189-B461-447E-A486-E0B7FD5DD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0" name="AutoShape 1032">
            <a:extLst>
              <a:ext uri="{FF2B5EF4-FFF2-40B4-BE49-F238E27FC236}">
                <a16:creationId xmlns:a16="http://schemas.microsoft.com/office/drawing/2014/main" id="{F531AB41-CC6E-4DC4-80F6-65AD2AB3A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1" name="AutoShape 1033">
            <a:extLst>
              <a:ext uri="{FF2B5EF4-FFF2-40B4-BE49-F238E27FC236}">
                <a16:creationId xmlns:a16="http://schemas.microsoft.com/office/drawing/2014/main" id="{2252CFCF-3C14-4629-A6F6-B42A1564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2" name="日期占位符 12">
            <a:extLst>
              <a:ext uri="{FF2B5EF4-FFF2-40B4-BE49-F238E27FC236}">
                <a16:creationId xmlns:a16="http://schemas.microsoft.com/office/drawing/2014/main" id="{09D49F39-5E4B-4CC6-A33C-60A5747DE36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F733BE5-6ED6-4C09-BFB9-BF75D4A3138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3" name="灯片编号占位符 13">
            <a:extLst>
              <a:ext uri="{FF2B5EF4-FFF2-40B4-BE49-F238E27FC236}">
                <a16:creationId xmlns:a16="http://schemas.microsoft.com/office/drawing/2014/main" id="{7C3A1370-43CB-4DCC-AA88-6BEEAC8F528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2372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71F5948-1829-4940-8DC2-A45CA956903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4" name="页脚占位符 14">
            <a:extLst>
              <a:ext uri="{FF2B5EF4-FFF2-40B4-BE49-F238E27FC236}">
                <a16:creationId xmlns:a16="http://schemas.microsoft.com/office/drawing/2014/main" id="{376D7D7A-202A-47F4-94DB-6B2376311A40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5" name="Text Box 17">
            <a:extLst>
              <a:ext uri="{FF2B5EF4-FFF2-40B4-BE49-F238E27FC236}">
                <a16:creationId xmlns:a16="http://schemas.microsoft.com/office/drawing/2014/main" id="{0FDA45AF-5DAB-4683-95B8-223EEAC3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916113"/>
            <a:ext cx="756126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楷体" panose="02010609060101010101" pitchFamily="49" charset="-122"/>
              </a:rPr>
              <a:t>进制转换 </a:t>
            </a:r>
            <a:r>
              <a:rPr lang="en-US" altLang="zh-CN" sz="3600">
                <a:ea typeface="楷体" panose="02010609060101010101" pitchFamily="49" charset="-122"/>
                <a:hlinkClick r:id="rId3"/>
              </a:rPr>
              <a:t>https://www.codeeeee.com/encode/radix.html</a:t>
            </a:r>
            <a:r>
              <a:rPr lang="en-US" altLang="zh-CN" sz="3600"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9226" name="TextBox 10">
            <a:extLst>
              <a:ext uri="{FF2B5EF4-FFF2-40B4-BE49-F238E27FC236}">
                <a16:creationId xmlns:a16="http://schemas.microsoft.com/office/drawing/2014/main" id="{BAC99A1B-9FAB-4738-8E84-3FE9D75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31686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400">
                <a:solidFill>
                  <a:srgbClr val="0000D6"/>
                </a:solidFill>
              </a:rPr>
              <a:t>行知行</a:t>
            </a:r>
          </a:p>
        </p:txBody>
      </p:sp>
      <p:sp>
        <p:nvSpPr>
          <p:cNvPr id="9227" name="Text Box 1029">
            <a:extLst>
              <a:ext uri="{FF2B5EF4-FFF2-40B4-BE49-F238E27FC236}">
                <a16:creationId xmlns:a16="http://schemas.microsoft.com/office/drawing/2014/main" id="{52541C36-FE02-4448-A6C1-41B3D8F1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 基础知识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82A4D7-4B72-41DF-9B3F-63016DD5A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014" y="3154363"/>
            <a:ext cx="4161456" cy="37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1682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1027">
            <a:extLst>
              <a:ext uri="{FF2B5EF4-FFF2-40B4-BE49-F238E27FC236}">
                <a16:creationId xmlns:a16="http://schemas.microsoft.com/office/drawing/2014/main" id="{AA44152F-AAD6-4307-8BB8-3AB9A387C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Line 1031">
            <a:extLst>
              <a:ext uri="{FF2B5EF4-FFF2-40B4-BE49-F238E27FC236}">
                <a16:creationId xmlns:a16="http://schemas.microsoft.com/office/drawing/2014/main" id="{8EA53189-B461-447E-A486-E0B7FD5DD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0" name="AutoShape 1032">
            <a:extLst>
              <a:ext uri="{FF2B5EF4-FFF2-40B4-BE49-F238E27FC236}">
                <a16:creationId xmlns:a16="http://schemas.microsoft.com/office/drawing/2014/main" id="{F531AB41-CC6E-4DC4-80F6-65AD2AB3A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1" name="AutoShape 1033">
            <a:extLst>
              <a:ext uri="{FF2B5EF4-FFF2-40B4-BE49-F238E27FC236}">
                <a16:creationId xmlns:a16="http://schemas.microsoft.com/office/drawing/2014/main" id="{2252CFCF-3C14-4629-A6F6-B42A1564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2" name="日期占位符 12">
            <a:extLst>
              <a:ext uri="{FF2B5EF4-FFF2-40B4-BE49-F238E27FC236}">
                <a16:creationId xmlns:a16="http://schemas.microsoft.com/office/drawing/2014/main" id="{09D49F39-5E4B-4CC6-A33C-60A5747DE36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F733BE5-6ED6-4C09-BFB9-BF75D4A3138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3" name="灯片编号占位符 13">
            <a:extLst>
              <a:ext uri="{FF2B5EF4-FFF2-40B4-BE49-F238E27FC236}">
                <a16:creationId xmlns:a16="http://schemas.microsoft.com/office/drawing/2014/main" id="{7C3A1370-43CB-4DCC-AA88-6BEEAC8F528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2372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71F5948-1829-4940-8DC2-A45CA956903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4" name="页脚占位符 14">
            <a:extLst>
              <a:ext uri="{FF2B5EF4-FFF2-40B4-BE49-F238E27FC236}">
                <a16:creationId xmlns:a16="http://schemas.microsoft.com/office/drawing/2014/main" id="{376D7D7A-202A-47F4-94DB-6B2376311A40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5" name="Text Box 17">
            <a:extLst>
              <a:ext uri="{FF2B5EF4-FFF2-40B4-BE49-F238E27FC236}">
                <a16:creationId xmlns:a16="http://schemas.microsoft.com/office/drawing/2014/main" id="{0FDA45AF-5DAB-4683-95B8-223EEAC3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32" y="1003161"/>
            <a:ext cx="75612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ea typeface="楷体" panose="02010609060101010101" pitchFamily="49" charset="-122"/>
              </a:rPr>
              <a:t>仿真器（</a:t>
            </a:r>
            <a:r>
              <a:rPr lang="en-US" altLang="zh-CN" sz="1800">
                <a:ea typeface="楷体" panose="02010609060101010101" pitchFamily="49" charset="-122"/>
              </a:rPr>
              <a:t>Emulator</a:t>
            </a:r>
            <a:r>
              <a:rPr lang="zh-CN" altLang="en-US" sz="1800">
                <a:ea typeface="楷体" panose="02010609060101010101" pitchFamily="49" charset="-122"/>
              </a:rPr>
              <a:t>） </a:t>
            </a:r>
            <a:r>
              <a:rPr lang="en-US" altLang="zh-CN" sz="1800">
                <a:ea typeface="楷体" panose="02010609060101010101" pitchFamily="49" charset="-122"/>
                <a:hlinkClick r:id="rId3"/>
              </a:rPr>
              <a:t>https://gitee.com/tjopenlab/computer_tech/tree/master/emu8086v408</a:t>
            </a:r>
            <a:r>
              <a:rPr lang="en-US" altLang="zh-CN" sz="1800"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9226" name="TextBox 10">
            <a:extLst>
              <a:ext uri="{FF2B5EF4-FFF2-40B4-BE49-F238E27FC236}">
                <a16:creationId xmlns:a16="http://schemas.microsoft.com/office/drawing/2014/main" id="{BAC99A1B-9FAB-4738-8E84-3FE9D755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66737" y="-4764"/>
            <a:ext cx="31686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400">
                <a:solidFill>
                  <a:srgbClr val="0000D6"/>
                </a:solidFill>
              </a:rPr>
              <a:t>行知行</a:t>
            </a:r>
          </a:p>
        </p:txBody>
      </p:sp>
      <p:sp>
        <p:nvSpPr>
          <p:cNvPr id="9227" name="Text Box 1029">
            <a:extLst>
              <a:ext uri="{FF2B5EF4-FFF2-40B4-BE49-F238E27FC236}">
                <a16:creationId xmlns:a16="http://schemas.microsoft.com/office/drawing/2014/main" id="{52541C36-FE02-4448-A6C1-41B3D8F1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 基础知识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5AC812-3629-4AFA-8405-FF66F561E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711" y="1613334"/>
            <a:ext cx="6670383" cy="471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22121"/>
      </p:ext>
    </p:extLst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7A46DF-9D3F-4A25-B94F-36E4FCBB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7390E7-9C24-4403-B97E-57526C7DE56E}" type="datetime1">
              <a:rPr lang="zh-CN" altLang="en-US" smtClean="0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BB5262-6D28-4AC0-9684-1D8555AE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0CF6E-1791-4ABC-8612-01CD3285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6A200-6C46-409F-9D9E-7A239256D7B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900C1-835E-4175-8798-8724068B3788}"/>
              </a:ext>
            </a:extLst>
          </p:cNvPr>
          <p:cNvSpPr txBox="1"/>
          <p:nvPr/>
        </p:nvSpPr>
        <p:spPr>
          <a:xfrm>
            <a:off x="457200" y="1628800"/>
            <a:ext cx="8435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>
                <a:effectLst/>
                <a:latin typeface="华文细黑" panose="02010600040101010101" pitchFamily="2" charset="-122"/>
                <a:ea typeface="华文细黑" panose="02010600040101010101" pitchFamily="2" charset="-122"/>
              </a:rPr>
              <a:t>浮点数玩具</a:t>
            </a:r>
            <a:endParaRPr lang="en-US" altLang="zh-CN" b="1" i="0">
              <a:effectLst/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l"/>
            <a:r>
              <a:rPr lang="en-US" altLang="zh-CN" b="1" i="0">
                <a:effectLst/>
                <a:latin typeface="华文细黑" panose="02010600040101010101" pitchFamily="2" charset="-122"/>
                <a:ea typeface="华文细黑" panose="02010600040101010101" pitchFamily="2" charset="-122"/>
              </a:rPr>
              <a:t>https://gitee.com/tjopenlab/computer_tech/issues/I781RJ</a:t>
            </a:r>
            <a:endParaRPr lang="zh-CN" altLang="en-US" b="1" i="0">
              <a:effectLst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D752A1-BD90-4A20-A739-CFECBCAD0687}"/>
              </a:ext>
            </a:extLst>
          </p:cNvPr>
          <p:cNvSpPr txBox="1"/>
          <p:nvPr/>
        </p:nvSpPr>
        <p:spPr>
          <a:xfrm>
            <a:off x="507503" y="3020726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华文细黑" panose="02010600040101010101" pitchFamily="2" charset="-122"/>
                <a:ea typeface="华文细黑" panose="02010600040101010101" pitchFamily="2" charset="-122"/>
              </a:rPr>
              <a:t>Intel 8086 CPU</a:t>
            </a:r>
            <a:r>
              <a:rPr lang="zh-CN" altLang="en-US">
                <a:latin typeface="华文细黑" panose="02010600040101010101" pitchFamily="2" charset="-122"/>
                <a:ea typeface="华文细黑" panose="02010600040101010101" pitchFamily="2" charset="-122"/>
              </a:rPr>
              <a:t>在线模拟器</a:t>
            </a:r>
            <a:endParaRPr lang="en-US" altLang="zh-CN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CN">
                <a:latin typeface="华文细黑" panose="02010600040101010101" pitchFamily="2" charset="-122"/>
                <a:ea typeface="华文细黑" panose="02010600040101010101" pitchFamily="2" charset="-122"/>
              </a:rPr>
              <a:t>https://gitee.com/tjopenlab/computer_tech/issues/I7DW7Q</a:t>
            </a:r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02378C-E680-4494-B69A-B3A6D7E5FCE7}"/>
              </a:ext>
            </a:extLst>
          </p:cNvPr>
          <p:cNvSpPr txBox="1"/>
          <p:nvPr/>
        </p:nvSpPr>
        <p:spPr>
          <a:xfrm>
            <a:off x="507503" y="4412652"/>
            <a:ext cx="80395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华文细黑" panose="02010600040101010101" pitchFamily="2" charset="-122"/>
                <a:ea typeface="华文细黑" panose="02010600040101010101" pitchFamily="2" charset="-122"/>
              </a:rPr>
              <a:t>安装客户端仿真器</a:t>
            </a:r>
            <a:endParaRPr lang="en-US" altLang="zh-CN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>
                <a:latin typeface="华文细黑" panose="02010600040101010101" pitchFamily="2" charset="-122"/>
                <a:ea typeface="华文细黑" panose="02010600040101010101" pitchFamily="2" charset="-122"/>
              </a:rPr>
              <a:t>https://gitee.com/tjopenlab/computer_tech/tree/master/emu8086v408</a:t>
            </a:r>
          </a:p>
        </p:txBody>
      </p:sp>
    </p:spTree>
    <p:extLst>
      <p:ext uri="{BB962C8B-B14F-4D97-AF65-F5344CB8AC3E}">
        <p14:creationId xmlns:p14="http://schemas.microsoft.com/office/powerpoint/2010/main" val="268614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7A46DF-9D3F-4A25-B94F-36E4FCBB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7390E7-9C24-4403-B97E-57526C7DE56E}" type="datetime1">
              <a:rPr lang="zh-CN" altLang="en-US" smtClean="0"/>
              <a:pPr>
                <a:defRPr/>
              </a:pPr>
              <a:t>2023/6/21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BB5262-6D28-4AC0-9684-1D8555AE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0CF6E-1791-4ABC-8612-01CD3285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6A200-6C46-409F-9D9E-7A239256D7B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4ACCBB-55D1-4963-93D0-66DB059A43C2}"/>
              </a:ext>
            </a:extLst>
          </p:cNvPr>
          <p:cNvSpPr txBox="1"/>
          <p:nvPr/>
        </p:nvSpPr>
        <p:spPr>
          <a:xfrm>
            <a:off x="457200" y="2276872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</a:rPr>
              <a:t>WebAssembly或称wasm是一个低级编程语言。WebAssembly是便携式的抽象语法树，被设计来提供比JavaScript更快速的编译及执行。WebAssembly将让开发者能运用自己熟悉的编程语言编译，再藉虚拟机引擎在浏览器内执行。</a:t>
            </a:r>
            <a:endParaRPr lang="en-US" altLang="zh-CN" sz="240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0000"/>
                </a:solidFill>
                <a:ea typeface="楷体" panose="02010609060101010101" pitchFamily="49" charset="-122"/>
              </a:rPr>
              <a:t>LLVM</a:t>
            </a:r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</a:rPr>
              <a:t>是一套编译器基础设施项目，为自由软件，以</a:t>
            </a:r>
            <a:r>
              <a:rPr lang="en-US" altLang="zh-CN" sz="2400">
                <a:solidFill>
                  <a:srgbClr val="000000"/>
                </a:solidFill>
                <a:ea typeface="楷体" panose="02010609060101010101" pitchFamily="49" charset="-122"/>
              </a:rPr>
              <a:t>C++</a:t>
            </a:r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</a:rPr>
              <a:t>写成，包含一系列模块化的编译器组件和工具链，用来开发编译器前端和后端。它是为了任意一种编程语言而写成的程序，利用虚拟技术创造出编译时期、链接时期、执行时期以及“闲置时期”的优化。</a:t>
            </a:r>
          </a:p>
        </p:txBody>
      </p:sp>
      <p:sp>
        <p:nvSpPr>
          <p:cNvPr id="7" name="Text Box 1029">
            <a:extLst>
              <a:ext uri="{FF2B5EF4-FFF2-40B4-BE49-F238E27FC236}">
                <a16:creationId xmlns:a16="http://schemas.microsoft.com/office/drawing/2014/main" id="{E7DB641F-16F6-4113-B893-A150E0B03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4704"/>
            <a:ext cx="74279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rgbClr val="FF0000"/>
                </a:solidFill>
                <a:ea typeface="宋体" panose="02010600030101010101" pitchFamily="2" charset="-122"/>
              </a:rPr>
              <a:t>汇编语言不是没用了，而是只有高手才用了</a:t>
            </a:r>
            <a:endParaRPr lang="en-US" altLang="zh-CN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7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1027">
            <a:extLst>
              <a:ext uri="{FF2B5EF4-FFF2-40B4-BE49-F238E27FC236}">
                <a16:creationId xmlns:a16="http://schemas.microsoft.com/office/drawing/2014/main" id="{A631646D-2BB9-4FD7-A94D-F222DDA8D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Line 1031">
            <a:extLst>
              <a:ext uri="{FF2B5EF4-FFF2-40B4-BE49-F238E27FC236}">
                <a16:creationId xmlns:a16="http://schemas.microsoft.com/office/drawing/2014/main" id="{A31646B3-5509-4654-989D-724F2681C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8" name="AutoShape 1032">
            <a:extLst>
              <a:ext uri="{FF2B5EF4-FFF2-40B4-BE49-F238E27FC236}">
                <a16:creationId xmlns:a16="http://schemas.microsoft.com/office/drawing/2014/main" id="{33EA3013-10C5-472C-BD92-129080BBA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9" name="AutoShape 1033">
            <a:extLst>
              <a:ext uri="{FF2B5EF4-FFF2-40B4-BE49-F238E27FC236}">
                <a16:creationId xmlns:a16="http://schemas.microsoft.com/office/drawing/2014/main" id="{78D47AEC-77E3-45EA-99C5-45094D4A1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70" name="日期占位符 12">
            <a:extLst>
              <a:ext uri="{FF2B5EF4-FFF2-40B4-BE49-F238E27FC236}">
                <a16:creationId xmlns:a16="http://schemas.microsoft.com/office/drawing/2014/main" id="{DC2A0B01-C881-4297-AA28-97AA1718306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9F1500A-0FE5-4CAE-B3DB-404ADB0C57E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271" name="灯片编号占位符 13">
            <a:extLst>
              <a:ext uri="{FF2B5EF4-FFF2-40B4-BE49-F238E27FC236}">
                <a16:creationId xmlns:a16="http://schemas.microsoft.com/office/drawing/2014/main" id="{7A0E14B0-68FD-4FBE-BE97-0070EDD66C2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74123CE-D4A1-4A84-B1B0-DD005DBA92E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B5BB741-AC5A-41AD-A25B-2711B7E8E37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73" name="页脚占位符 14">
            <a:extLst>
              <a:ext uri="{FF2B5EF4-FFF2-40B4-BE49-F238E27FC236}">
                <a16:creationId xmlns:a16="http://schemas.microsoft.com/office/drawing/2014/main" id="{94481835-9D07-44E1-A08C-B4BF2B65F07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7513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</a:t>
            </a:r>
          </a:p>
        </p:txBody>
      </p:sp>
      <p:sp>
        <p:nvSpPr>
          <p:cNvPr id="11274" name="Text Box 1029">
            <a:extLst>
              <a:ext uri="{FF2B5EF4-FFF2-40B4-BE49-F238E27FC236}">
                <a16:creationId xmlns:a16="http://schemas.microsoft.com/office/drawing/2014/main" id="{1A9295FC-F0FE-4A7C-A57A-4C1E3D85A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196975"/>
            <a:ext cx="50403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40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  <a:endParaRPr lang="en-US" altLang="zh-CN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1275" name="Text Box 1029">
            <a:extLst>
              <a:ext uri="{FF2B5EF4-FFF2-40B4-BE49-F238E27FC236}">
                <a16:creationId xmlns:a16="http://schemas.microsoft.com/office/drawing/2014/main" id="{B74EF346-5BD0-47A3-BAEF-25D073E52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 基础知识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795E88C9-D4F4-4488-A72C-F6C20AFDE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05038"/>
            <a:ext cx="7488238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一、机器语言与汇编语言</a:t>
            </a:r>
            <a:endParaRPr lang="en-US" altLang="zh-CN" sz="4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二、汇编语言与高级语言比较</a:t>
            </a:r>
            <a:endParaRPr lang="en-US" altLang="zh-CN" sz="4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三、汇编语言特点与应用场合</a:t>
            </a:r>
            <a:endParaRPr lang="en-US" altLang="zh-CN" sz="4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四、学习汇编语言的目的和方法</a:t>
            </a:r>
            <a:endParaRPr lang="en-US" altLang="zh-CN" sz="4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五、关于课程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027">
            <a:extLst>
              <a:ext uri="{FF2B5EF4-FFF2-40B4-BE49-F238E27FC236}">
                <a16:creationId xmlns:a16="http://schemas.microsoft.com/office/drawing/2014/main" id="{61CEB189-3974-425A-BC24-3D666AF59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Line 1031">
            <a:extLst>
              <a:ext uri="{FF2B5EF4-FFF2-40B4-BE49-F238E27FC236}">
                <a16:creationId xmlns:a16="http://schemas.microsoft.com/office/drawing/2014/main" id="{3F9F1D39-63D1-4D3C-9E42-D0C9976ECC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AutoShape 1032">
            <a:extLst>
              <a:ext uri="{FF2B5EF4-FFF2-40B4-BE49-F238E27FC236}">
                <a16:creationId xmlns:a16="http://schemas.microsoft.com/office/drawing/2014/main" id="{48E845B8-EEE8-47CB-BA84-7663239BA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7" name="AutoShape 1033">
            <a:extLst>
              <a:ext uri="{FF2B5EF4-FFF2-40B4-BE49-F238E27FC236}">
                <a16:creationId xmlns:a16="http://schemas.microsoft.com/office/drawing/2014/main" id="{36FA399B-8820-4CA2-B8E7-EC32F1CF2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8" name="日期占位符 12">
            <a:extLst>
              <a:ext uri="{FF2B5EF4-FFF2-40B4-BE49-F238E27FC236}">
                <a16:creationId xmlns:a16="http://schemas.microsoft.com/office/drawing/2014/main" id="{CE6B5B3E-AFF2-4FBB-8F3B-729BA172511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A209035-7D98-4A20-8C6C-E43962F4FCAC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9" name="灯片编号占位符 13">
            <a:extLst>
              <a:ext uri="{FF2B5EF4-FFF2-40B4-BE49-F238E27FC236}">
                <a16:creationId xmlns:a16="http://schemas.microsoft.com/office/drawing/2014/main" id="{3FCAE0E0-37B9-4F32-BA2A-248B5F9FF9D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41C4E3B-026F-4381-A066-1F798434C1A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2061B23-DCF4-49D0-856F-7578D696179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CC9B6798-5379-4666-A185-9AA0D8C8C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196975"/>
            <a:ext cx="5832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一、机器语言与汇编语言</a:t>
            </a:r>
            <a:r>
              <a:rPr lang="zh-CN" altLang="en-US" sz="3200"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13322" name="Text Box 12">
            <a:extLst>
              <a:ext uri="{FF2B5EF4-FFF2-40B4-BE49-F238E27FC236}">
                <a16:creationId xmlns:a16="http://schemas.microsoft.com/office/drawing/2014/main" id="{658F9093-E77A-4468-B53B-0570F6D9F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08500"/>
            <a:ext cx="7743825" cy="12493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编程枯燥繁琐</a:t>
            </a:r>
            <a:r>
              <a:rPr lang="zh-CN" altLang="en-US" sz="440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3200">
                <a:ea typeface="楷体" panose="02010609060101010101" pitchFamily="49" charset="-122"/>
              </a:rPr>
              <a:t>程序无可读性，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调试、修改都很困难。</a:t>
            </a:r>
            <a:endParaRPr lang="zh-CN" altLang="en-US" sz="32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323" name="Text Box 15">
            <a:extLst>
              <a:ext uri="{FF2B5EF4-FFF2-40B4-BE49-F238E27FC236}">
                <a16:creationId xmlns:a16="http://schemas.microsoft.com/office/drawing/2014/main" id="{751C835A-970B-4368-8B6A-705A0345C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565400"/>
            <a:ext cx="72009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0000"/>
                </a:solidFill>
                <a:ea typeface="楷体" panose="02010609060101010101" pitchFamily="49" charset="-122"/>
              </a:rPr>
              <a:t>机器语言</a:t>
            </a:r>
            <a:r>
              <a:rPr lang="zh-CN" altLang="en-US" sz="3200">
                <a:solidFill>
                  <a:srgbClr val="000000"/>
                </a:solidFill>
                <a:ea typeface="楷体" panose="02010609060101010101" pitchFamily="49" charset="-122"/>
              </a:rPr>
              <a:t>是最早使用的编程语言，指令都由</a:t>
            </a:r>
            <a:r>
              <a:rPr lang="zh-CN" altLang="en-US" sz="3200">
                <a:solidFill>
                  <a:srgbClr val="0000D6"/>
                </a:solidFill>
                <a:ea typeface="楷体" panose="02010609060101010101" pitchFamily="49" charset="-122"/>
              </a:rPr>
              <a:t>二进制</a:t>
            </a:r>
            <a:r>
              <a:rPr lang="zh-CN" altLang="en-US" sz="3200">
                <a:solidFill>
                  <a:srgbClr val="000000"/>
                </a:solidFill>
                <a:ea typeface="楷体" panose="02010609060101010101" pitchFamily="49" charset="-122"/>
              </a:rPr>
              <a:t>编码组成，</a:t>
            </a:r>
            <a:r>
              <a:rPr lang="zh-CN" altLang="en-US" sz="3200">
                <a:solidFill>
                  <a:srgbClr val="0000D6"/>
                </a:solidFill>
                <a:ea typeface="楷体" panose="02010609060101010101" pitchFamily="49" charset="-122"/>
              </a:rPr>
              <a:t>是计算机唯一可以直接识别和执行的语言</a:t>
            </a:r>
            <a:r>
              <a:rPr lang="zh-CN" altLang="en-US" sz="3200">
                <a:solidFill>
                  <a:srgbClr val="000000"/>
                </a:solidFill>
                <a:ea typeface="楷体" panose="02010609060101010101" pitchFamily="49" charset="-122"/>
              </a:rPr>
              <a:t>。</a:t>
            </a:r>
            <a:endParaRPr lang="zh-CN" altLang="en-US" sz="3200">
              <a:ea typeface="楷体" panose="02010609060101010101" pitchFamily="49" charset="-122"/>
            </a:endParaRPr>
          </a:p>
        </p:txBody>
      </p:sp>
      <p:sp>
        <p:nvSpPr>
          <p:cNvPr id="13324" name="Text Box 17">
            <a:extLst>
              <a:ext uri="{FF2B5EF4-FFF2-40B4-BE49-F238E27FC236}">
                <a16:creationId xmlns:a16="http://schemas.microsoft.com/office/drawing/2014/main" id="{8F56C821-68D7-4693-ACA2-68F3DF574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420938"/>
            <a:ext cx="671513" cy="18716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华文行楷" panose="02010800040101010101" pitchFamily="2" charset="-122"/>
              </a:rPr>
              <a:t>机器语言</a:t>
            </a:r>
          </a:p>
        </p:txBody>
      </p:sp>
      <p:sp>
        <p:nvSpPr>
          <p:cNvPr id="13325" name="Text Box 1029">
            <a:extLst>
              <a:ext uri="{FF2B5EF4-FFF2-40B4-BE49-F238E27FC236}">
                <a16:creationId xmlns:a16="http://schemas.microsoft.com/office/drawing/2014/main" id="{3471C83F-C100-4AD1-AFAE-75E753C84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13326" name="页脚占位符 14">
            <a:extLst>
              <a:ext uri="{FF2B5EF4-FFF2-40B4-BE49-F238E27FC236}">
                <a16:creationId xmlns:a16="http://schemas.microsoft.com/office/drawing/2014/main" id="{55B50950-3CB1-4A48-96C4-763172AA002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1027">
            <a:extLst>
              <a:ext uri="{FF2B5EF4-FFF2-40B4-BE49-F238E27FC236}">
                <a16:creationId xmlns:a16="http://schemas.microsoft.com/office/drawing/2014/main" id="{298B843B-D8A7-4D14-B69F-377FC2EEA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Line 1031">
            <a:extLst>
              <a:ext uri="{FF2B5EF4-FFF2-40B4-BE49-F238E27FC236}">
                <a16:creationId xmlns:a16="http://schemas.microsoft.com/office/drawing/2014/main" id="{74A1003B-2FF9-45A4-A296-A7F7C546A8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4" name="AutoShape 1032">
            <a:extLst>
              <a:ext uri="{FF2B5EF4-FFF2-40B4-BE49-F238E27FC236}">
                <a16:creationId xmlns:a16="http://schemas.microsoft.com/office/drawing/2014/main" id="{728F0B87-2F62-4CD4-BE07-C7A992CB1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65" name="AutoShape 1033">
            <a:extLst>
              <a:ext uri="{FF2B5EF4-FFF2-40B4-BE49-F238E27FC236}">
                <a16:creationId xmlns:a16="http://schemas.microsoft.com/office/drawing/2014/main" id="{01A8F250-6EFF-46B9-9648-2C77FAA4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9651B00E-55D8-4ECB-AFAD-3E0AD210892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67" name="Text Box 9">
            <a:extLst>
              <a:ext uri="{FF2B5EF4-FFF2-40B4-BE49-F238E27FC236}">
                <a16:creationId xmlns:a16="http://schemas.microsoft.com/office/drawing/2014/main" id="{3920C27B-B938-4D0D-8E2A-5D4382D66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28775"/>
            <a:ext cx="8388350" cy="15541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</a:rPr>
              <a:t>	汇编语言</a:t>
            </a:r>
            <a:r>
              <a:rPr lang="zh-CN" altLang="en-US" sz="3200">
                <a:solidFill>
                  <a:srgbClr val="000000"/>
                </a:solidFill>
              </a:rPr>
              <a:t>是机器语言的符号表示，与机器语言无本质区别。也可以说是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机器语言的符号化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与机器语言一一对应。</a:t>
            </a:r>
          </a:p>
        </p:txBody>
      </p:sp>
      <p:sp>
        <p:nvSpPr>
          <p:cNvPr id="15368" name="Text Box 12">
            <a:extLst>
              <a:ext uri="{FF2B5EF4-FFF2-40B4-BE49-F238E27FC236}">
                <a16:creationId xmlns:a16="http://schemas.microsoft.com/office/drawing/2014/main" id="{AA77BF96-4C14-4758-BA80-0954A50F9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868863"/>
            <a:ext cx="8424862" cy="10668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：有一定的可读性，也较易调试和修改，但是仍然与硬件密切相关，移植性差。</a:t>
            </a:r>
          </a:p>
        </p:txBody>
      </p:sp>
      <p:sp>
        <p:nvSpPr>
          <p:cNvPr id="15369" name="Text Box 15">
            <a:extLst>
              <a:ext uri="{FF2B5EF4-FFF2-40B4-BE49-F238E27FC236}">
                <a16:creationId xmlns:a16="http://schemas.microsoft.com/office/drawing/2014/main" id="{D9230AA8-923C-4EAA-AD8F-11C91AAE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765175"/>
            <a:ext cx="2952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000">
                <a:solidFill>
                  <a:srgbClr val="0000D6"/>
                </a:solidFill>
                <a:ea typeface="楷体" panose="02010609060101010101" pitchFamily="49" charset="-122"/>
              </a:rPr>
              <a:t>汇编语言</a:t>
            </a:r>
            <a:endParaRPr lang="en-US" altLang="zh-CN" sz="4000">
              <a:solidFill>
                <a:srgbClr val="0000D6"/>
              </a:solidFill>
              <a:ea typeface="楷体" panose="02010609060101010101" pitchFamily="49" charset="-122"/>
            </a:endParaRPr>
          </a:p>
        </p:txBody>
      </p:sp>
      <p:sp>
        <p:nvSpPr>
          <p:cNvPr id="15370" name="Text Box 16">
            <a:extLst>
              <a:ext uri="{FF2B5EF4-FFF2-40B4-BE49-F238E27FC236}">
                <a16:creationId xmlns:a16="http://schemas.microsoft.com/office/drawing/2014/main" id="{02E57DBD-5A45-4964-BEE4-75F6BBFC7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573463"/>
            <a:ext cx="504031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机器指令：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1000100111011000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汇编指令：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MOV  AX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BX</a:t>
            </a:r>
          </a:p>
        </p:txBody>
      </p:sp>
      <p:sp>
        <p:nvSpPr>
          <p:cNvPr id="15371" name="Text Box 17">
            <a:extLst>
              <a:ext uri="{FF2B5EF4-FFF2-40B4-BE49-F238E27FC236}">
                <a16:creationId xmlns:a16="http://schemas.microsoft.com/office/drawing/2014/main" id="{BE347269-61EC-4D68-9670-AEA6DD735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644900"/>
            <a:ext cx="67151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ea typeface="楷体" panose="02010609060101010101" pitchFamily="49" charset="-122"/>
              </a:rPr>
              <a:t>例如</a:t>
            </a:r>
          </a:p>
        </p:txBody>
      </p:sp>
      <p:sp>
        <p:nvSpPr>
          <p:cNvPr id="15372" name="Text Box 1029">
            <a:extLst>
              <a:ext uri="{FF2B5EF4-FFF2-40B4-BE49-F238E27FC236}">
                <a16:creationId xmlns:a16="http://schemas.microsoft.com/office/drawing/2014/main" id="{EB5E4DA4-3AE8-46C7-8762-9FC4A32B7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15373" name="日期占位符 12">
            <a:extLst>
              <a:ext uri="{FF2B5EF4-FFF2-40B4-BE49-F238E27FC236}">
                <a16:creationId xmlns:a16="http://schemas.microsoft.com/office/drawing/2014/main" id="{2F0D61C0-D6AA-4DA7-AB71-BF8E3E6E968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0AC9BB0-9C2C-493C-A935-F8180291DBA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74" name="灯片编号占位符 13">
            <a:extLst>
              <a:ext uri="{FF2B5EF4-FFF2-40B4-BE49-F238E27FC236}">
                <a16:creationId xmlns:a16="http://schemas.microsoft.com/office/drawing/2014/main" id="{A41C41F5-0D22-4591-8DA7-CF564A467D6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67EA6F3-B725-4CE6-936C-3FF7D732C24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75" name="页脚占位符 14">
            <a:extLst>
              <a:ext uri="{FF2B5EF4-FFF2-40B4-BE49-F238E27FC236}">
                <a16:creationId xmlns:a16="http://schemas.microsoft.com/office/drawing/2014/main" id="{59B6F85A-2E72-41DF-943D-42FF14F1796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1027">
            <a:extLst>
              <a:ext uri="{FF2B5EF4-FFF2-40B4-BE49-F238E27FC236}">
                <a16:creationId xmlns:a16="http://schemas.microsoft.com/office/drawing/2014/main" id="{1337BF4B-06A9-4F6E-88E5-78D2EB450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1" name="Line 1031">
            <a:extLst>
              <a:ext uri="{FF2B5EF4-FFF2-40B4-BE49-F238E27FC236}">
                <a16:creationId xmlns:a16="http://schemas.microsoft.com/office/drawing/2014/main" id="{FB154650-ECDD-4786-A56B-250FE5402C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2" name="AutoShape 1032">
            <a:extLst>
              <a:ext uri="{FF2B5EF4-FFF2-40B4-BE49-F238E27FC236}">
                <a16:creationId xmlns:a16="http://schemas.microsoft.com/office/drawing/2014/main" id="{FB0F1C99-4A1B-4834-8485-2FA36B07E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3" name="AutoShape 1033">
            <a:extLst>
              <a:ext uri="{FF2B5EF4-FFF2-40B4-BE49-F238E27FC236}">
                <a16:creationId xmlns:a16="http://schemas.microsoft.com/office/drawing/2014/main" id="{C69DA6E7-16D0-4D0E-951D-72F4723CA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04DBA49-C154-47CC-ADBD-04E94A3A4B49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415" name="Text Box 1029">
            <a:extLst>
              <a:ext uri="{FF2B5EF4-FFF2-40B4-BE49-F238E27FC236}">
                <a16:creationId xmlns:a16="http://schemas.microsoft.com/office/drawing/2014/main" id="{7B234149-782C-4BFD-94BF-3DDE934EA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3B534C17-E4AB-4359-BA23-FDF36DBB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4313"/>
            <a:ext cx="7162800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600">
                <a:latin typeface="楷体_GB2312"/>
                <a:ea typeface="楷体_GB2312"/>
                <a:cs typeface="楷体_GB2312"/>
              </a:rPr>
              <a:t>[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3600">
                <a:latin typeface="楷体_GB2312"/>
                <a:ea typeface="楷体_GB2312"/>
                <a:cs typeface="楷体_GB2312"/>
              </a:rPr>
              <a:t>1] 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分别以</a:t>
            </a:r>
            <a:r>
              <a:rPr lang="en-US" altLang="zh-CN" sz="3600">
                <a:latin typeface="楷体_GB2312"/>
                <a:ea typeface="楷体_GB2312"/>
                <a:cs typeface="楷体_GB2312"/>
              </a:rPr>
              <a:t>8088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的机器语言、</a:t>
            </a:r>
            <a:r>
              <a:rPr lang="en-US" altLang="zh-CN" sz="3600">
                <a:latin typeface="楷体_GB2312"/>
                <a:ea typeface="楷体_GB2312"/>
                <a:cs typeface="楷体_GB2312"/>
              </a:rPr>
              <a:t>8088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的汇编语言以及高级语言编写的两数之和的程序段：</a:t>
            </a:r>
          </a:p>
        </p:txBody>
      </p:sp>
      <p:sp>
        <p:nvSpPr>
          <p:cNvPr id="17417" name="Text Box 10">
            <a:extLst>
              <a:ext uri="{FF2B5EF4-FFF2-40B4-BE49-F238E27FC236}">
                <a16:creationId xmlns:a16="http://schemas.microsoft.com/office/drawing/2014/main" id="{E11BEBE5-87A3-4AD2-B851-68152BA2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005263"/>
            <a:ext cx="61722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>
                <a:latin typeface="楷体_GB2312"/>
                <a:ea typeface="楷体_GB2312"/>
                <a:cs typeface="楷体_GB2312"/>
              </a:rPr>
              <a:t>注意机器语言与汇编语言一一对应关系</a:t>
            </a:r>
          </a:p>
        </p:txBody>
      </p:sp>
      <p:sp>
        <p:nvSpPr>
          <p:cNvPr id="17418" name="日期占位符 12">
            <a:extLst>
              <a:ext uri="{FF2B5EF4-FFF2-40B4-BE49-F238E27FC236}">
                <a16:creationId xmlns:a16="http://schemas.microsoft.com/office/drawing/2014/main" id="{FD19BBCA-AF62-4ED2-985D-8A901730439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A670AC4-2E58-406B-9D93-703C5EAB79C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9" name="灯片编号占位符 13">
            <a:extLst>
              <a:ext uri="{FF2B5EF4-FFF2-40B4-BE49-F238E27FC236}">
                <a16:creationId xmlns:a16="http://schemas.microsoft.com/office/drawing/2014/main" id="{64F958D7-AB93-4C31-A9D0-B2EBF5BB1C0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E0034AB-50DC-468B-A818-6ADFF3EA936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20" name="页脚占位符 14">
            <a:extLst>
              <a:ext uri="{FF2B5EF4-FFF2-40B4-BE49-F238E27FC236}">
                <a16:creationId xmlns:a16="http://schemas.microsoft.com/office/drawing/2014/main" id="{32AB3259-E13B-472B-9829-D10FACA146FA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027">
            <a:extLst>
              <a:ext uri="{FF2B5EF4-FFF2-40B4-BE49-F238E27FC236}">
                <a16:creationId xmlns:a16="http://schemas.microsoft.com/office/drawing/2014/main" id="{FD6B7830-364B-4CE1-8168-132B15B72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" name="Line 1031">
            <a:extLst>
              <a:ext uri="{FF2B5EF4-FFF2-40B4-BE49-F238E27FC236}">
                <a16:creationId xmlns:a16="http://schemas.microsoft.com/office/drawing/2014/main" id="{BE0C1008-F5E3-4C9C-89A0-56B4F1FB1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60" name="AutoShape 1032">
            <a:extLst>
              <a:ext uri="{FF2B5EF4-FFF2-40B4-BE49-F238E27FC236}">
                <a16:creationId xmlns:a16="http://schemas.microsoft.com/office/drawing/2014/main" id="{8ECD5057-135E-43DB-B073-03EED9451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61" name="AutoShape 1033">
            <a:extLst>
              <a:ext uri="{FF2B5EF4-FFF2-40B4-BE49-F238E27FC236}">
                <a16:creationId xmlns:a16="http://schemas.microsoft.com/office/drawing/2014/main" id="{B06A0A62-5EFD-472F-9B4A-C6A1C3CAB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0130A94-B66C-49C4-A02A-DF4D85C58AA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463" name="Text Box 10">
            <a:extLst>
              <a:ext uri="{FF2B5EF4-FFF2-40B4-BE49-F238E27FC236}">
                <a16:creationId xmlns:a16="http://schemas.microsoft.com/office/drawing/2014/main" id="{4B770020-F79A-4354-B3F4-8237C2105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1075"/>
            <a:ext cx="807085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400">
                <a:ea typeface="宋体" panose="02010600030101010101" pitchFamily="2" charset="-122"/>
              </a:rPr>
              <a:t>1010 0000						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0000 0001</a:t>
            </a:r>
            <a:r>
              <a:rPr lang="en-US" altLang="zh-CN" sz="2400">
                <a:ea typeface="宋体" panose="02010600030101010101" pitchFamily="2" charset="-122"/>
              </a:rPr>
              <a:t>		1</a:t>
            </a:r>
            <a:r>
              <a:rPr lang="en-US" altLang="zh-CN" sz="2400" baseline="30000">
                <a:ea typeface="宋体" panose="02010600030101010101" pitchFamily="2" charset="-122"/>
              </a:rPr>
              <a:t>#</a:t>
            </a:r>
            <a:r>
              <a:rPr lang="zh-CN" altLang="en-US" sz="2400">
                <a:ea typeface="宋体" panose="02010600030101010101" pitchFamily="2" charset="-122"/>
              </a:rPr>
              <a:t>单元内容取入</a:t>
            </a:r>
            <a:r>
              <a:rPr lang="en-US" altLang="zh-CN" sz="2400">
                <a:ea typeface="宋体" panose="02010600030101010101" pitchFamily="2" charset="-122"/>
              </a:rPr>
              <a:t>AL</a:t>
            </a:r>
            <a:r>
              <a:rPr lang="zh-CN" altLang="en-US" sz="2400">
                <a:ea typeface="宋体" panose="02010600030101010101" pitchFamily="2" charset="-122"/>
              </a:rPr>
              <a:t>寄存器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0000 0000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1000 1010						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0010 0110		 2</a:t>
            </a:r>
            <a:r>
              <a:rPr lang="en-US" altLang="zh-CN" sz="2400" baseline="30000">
                <a:ea typeface="宋体" panose="02010600030101010101" pitchFamily="2" charset="-122"/>
              </a:rPr>
              <a:t>#</a:t>
            </a:r>
            <a:r>
              <a:rPr lang="zh-CN" altLang="en-US" sz="2400">
                <a:ea typeface="宋体" panose="02010600030101010101" pitchFamily="2" charset="-122"/>
              </a:rPr>
              <a:t>单元内容取入</a:t>
            </a:r>
            <a:r>
              <a:rPr lang="en-US" altLang="zh-CN" sz="2400">
                <a:ea typeface="宋体" panose="02010600030101010101" pitchFamily="2" charset="-122"/>
              </a:rPr>
              <a:t>AH</a:t>
            </a:r>
            <a:r>
              <a:rPr lang="zh-CN" altLang="en-US" sz="2400">
                <a:ea typeface="宋体" panose="02010600030101010101" pitchFamily="2" charset="-122"/>
              </a:rPr>
              <a:t>寄存器	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0000 0010</a:t>
            </a:r>
            <a:r>
              <a:rPr lang="en-US" altLang="zh-CN" sz="2400">
                <a:ea typeface="宋体" panose="02010600030101010101" pitchFamily="2" charset="-122"/>
              </a:rPr>
              <a:t>							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0000 0000</a:t>
            </a:r>
            <a:r>
              <a:rPr lang="en-US" altLang="zh-CN" sz="2400">
                <a:ea typeface="宋体" panose="02010600030101010101" pitchFamily="2" charset="-122"/>
              </a:rPr>
              <a:t>							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0000 0000		AL</a:t>
            </a:r>
            <a:r>
              <a:rPr lang="zh-CN" altLang="en-US" sz="2400">
                <a:ea typeface="宋体" panose="02010600030101010101" pitchFamily="2" charset="-122"/>
              </a:rPr>
              <a:t>与</a:t>
            </a:r>
            <a:r>
              <a:rPr lang="en-US" altLang="zh-CN" sz="2400">
                <a:ea typeface="宋体" panose="02010600030101010101" pitchFamily="2" charset="-122"/>
              </a:rPr>
              <a:t>AH</a:t>
            </a:r>
            <a:r>
              <a:rPr lang="zh-CN" altLang="en-US" sz="2400">
                <a:ea typeface="宋体" panose="02010600030101010101" pitchFamily="2" charset="-122"/>
              </a:rPr>
              <a:t>的内容相加，结果存入</a:t>
            </a:r>
            <a:r>
              <a:rPr lang="en-US" altLang="zh-CN" sz="2400">
                <a:ea typeface="宋体" panose="02010600030101010101" pitchFamily="2" charset="-122"/>
              </a:rPr>
              <a:t>AL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1110 0000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1010 0010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0000 0011</a:t>
            </a:r>
            <a:r>
              <a:rPr lang="en-US" altLang="zh-CN" sz="2400">
                <a:ea typeface="宋体" panose="02010600030101010101" pitchFamily="2" charset="-122"/>
              </a:rPr>
              <a:t>		AL</a:t>
            </a:r>
            <a:r>
              <a:rPr lang="zh-CN" altLang="en-US" sz="2400">
                <a:ea typeface="宋体" panose="02010600030101010101" pitchFamily="2" charset="-122"/>
              </a:rPr>
              <a:t>的内容存入</a:t>
            </a:r>
            <a:r>
              <a:rPr lang="en-US" altLang="zh-CN" sz="2400">
                <a:ea typeface="宋体" panose="02010600030101010101" pitchFamily="2" charset="-122"/>
              </a:rPr>
              <a:t>3</a:t>
            </a:r>
            <a:r>
              <a:rPr lang="en-US" altLang="zh-CN" sz="2400" baseline="30000">
                <a:ea typeface="宋体" panose="02010600030101010101" pitchFamily="2" charset="-122"/>
              </a:rPr>
              <a:t>#</a:t>
            </a:r>
            <a:r>
              <a:rPr lang="zh-CN" altLang="en-US" sz="2400">
                <a:ea typeface="宋体" panose="02010600030101010101" pitchFamily="2" charset="-122"/>
              </a:rPr>
              <a:t>单元	</a:t>
            </a:r>
          </a:p>
          <a:p>
            <a:pPr algn="just"/>
            <a:r>
              <a:rPr lang="en-US" altLang="zh-CN" sz="2400">
                <a:solidFill>
                  <a:srgbClr val="7878DE"/>
                </a:solidFill>
                <a:ea typeface="宋体" panose="02010600030101010101" pitchFamily="2" charset="-122"/>
              </a:rPr>
              <a:t>0000 0000</a:t>
            </a:r>
            <a:r>
              <a:rPr lang="en-US" altLang="zh-CN" sz="2400">
                <a:ea typeface="宋体" panose="02010600030101010101" pitchFamily="2" charset="-122"/>
              </a:rPr>
              <a:t>							</a:t>
            </a:r>
          </a:p>
          <a:p>
            <a:pPr algn="just"/>
            <a:r>
              <a:rPr lang="en-US" altLang="zh-CN" sz="2400">
                <a:ea typeface="宋体" panose="02010600030101010101" pitchFamily="2" charset="-122"/>
              </a:rPr>
              <a:t>1111 0100		</a:t>
            </a:r>
            <a:r>
              <a:rPr lang="zh-CN" altLang="en-US" sz="2400">
                <a:ea typeface="宋体" panose="02010600030101010101" pitchFamily="2" charset="-122"/>
              </a:rPr>
              <a:t>停机</a:t>
            </a:r>
          </a:p>
        </p:txBody>
      </p:sp>
      <p:sp>
        <p:nvSpPr>
          <p:cNvPr id="19464" name="AutoShape 12">
            <a:extLst>
              <a:ext uri="{FF2B5EF4-FFF2-40B4-BE49-F238E27FC236}">
                <a16:creationId xmlns:a16="http://schemas.microsoft.com/office/drawing/2014/main" id="{16B6246A-41B5-4536-B7C7-82F4217C5509}"/>
              </a:ext>
            </a:extLst>
          </p:cNvPr>
          <p:cNvSpPr>
            <a:spLocks/>
          </p:cNvSpPr>
          <p:nvPr/>
        </p:nvSpPr>
        <p:spPr bwMode="auto">
          <a:xfrm>
            <a:off x="2195513" y="1268413"/>
            <a:ext cx="157162" cy="720725"/>
          </a:xfrm>
          <a:prstGeom prst="rightBrace">
            <a:avLst>
              <a:gd name="adj1" fmla="val 382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9465" name="AutoShape 12">
            <a:extLst>
              <a:ext uri="{FF2B5EF4-FFF2-40B4-BE49-F238E27FC236}">
                <a16:creationId xmlns:a16="http://schemas.microsoft.com/office/drawing/2014/main" id="{5F346266-5DCB-4EB4-9D03-296CE7B068FC}"/>
              </a:ext>
            </a:extLst>
          </p:cNvPr>
          <p:cNvSpPr>
            <a:spLocks/>
          </p:cNvSpPr>
          <p:nvPr/>
        </p:nvSpPr>
        <p:spPr bwMode="auto">
          <a:xfrm>
            <a:off x="2195513" y="3789363"/>
            <a:ext cx="155575" cy="504825"/>
          </a:xfrm>
          <a:prstGeom prst="rightBrace">
            <a:avLst>
              <a:gd name="adj1" fmla="val 2704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9466" name="AutoShape 12">
            <a:extLst>
              <a:ext uri="{FF2B5EF4-FFF2-40B4-BE49-F238E27FC236}">
                <a16:creationId xmlns:a16="http://schemas.microsoft.com/office/drawing/2014/main" id="{5E614F0E-FEB5-4CDA-A875-57F1C9B513E5}"/>
              </a:ext>
            </a:extLst>
          </p:cNvPr>
          <p:cNvSpPr>
            <a:spLocks/>
          </p:cNvSpPr>
          <p:nvPr/>
        </p:nvSpPr>
        <p:spPr bwMode="auto">
          <a:xfrm>
            <a:off x="2195513" y="2349500"/>
            <a:ext cx="228600" cy="1223963"/>
          </a:xfrm>
          <a:prstGeom prst="rightBrace">
            <a:avLst>
              <a:gd name="adj1" fmla="val 446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9467" name="AutoShape 12">
            <a:extLst>
              <a:ext uri="{FF2B5EF4-FFF2-40B4-BE49-F238E27FC236}">
                <a16:creationId xmlns:a16="http://schemas.microsoft.com/office/drawing/2014/main" id="{9D08BE55-22D6-47A4-90F9-6DA515B9F131}"/>
              </a:ext>
            </a:extLst>
          </p:cNvPr>
          <p:cNvSpPr>
            <a:spLocks/>
          </p:cNvSpPr>
          <p:nvPr/>
        </p:nvSpPr>
        <p:spPr bwMode="auto">
          <a:xfrm>
            <a:off x="2195513" y="4508500"/>
            <a:ext cx="157162" cy="720725"/>
          </a:xfrm>
          <a:prstGeom prst="rightBrace">
            <a:avLst>
              <a:gd name="adj1" fmla="val 382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9468" name="Text Box 18">
            <a:extLst>
              <a:ext uri="{FF2B5EF4-FFF2-40B4-BE49-F238E27FC236}">
                <a16:creationId xmlns:a16="http://schemas.microsoft.com/office/drawing/2014/main" id="{4DD9F552-E79D-407B-AA6F-48330C9F4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125538"/>
            <a:ext cx="671513" cy="18716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华文行楷" panose="02010800040101010101" pitchFamily="2" charset="-122"/>
              </a:rPr>
              <a:t>机器语言</a:t>
            </a:r>
          </a:p>
        </p:txBody>
      </p:sp>
      <p:sp>
        <p:nvSpPr>
          <p:cNvPr id="19469" name="Text Box 1029">
            <a:extLst>
              <a:ext uri="{FF2B5EF4-FFF2-40B4-BE49-F238E27FC236}">
                <a16:creationId xmlns:a16="http://schemas.microsoft.com/office/drawing/2014/main" id="{02909185-2721-4FFE-AF89-60EA511AE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19470" name="日期占位符 12">
            <a:extLst>
              <a:ext uri="{FF2B5EF4-FFF2-40B4-BE49-F238E27FC236}">
                <a16:creationId xmlns:a16="http://schemas.microsoft.com/office/drawing/2014/main" id="{BC4E4848-0583-4C92-BCE8-F66B862C480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8104854-1B6E-49BC-97B3-04DB08A5CE9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71" name="灯片编号占位符 13">
            <a:extLst>
              <a:ext uri="{FF2B5EF4-FFF2-40B4-BE49-F238E27FC236}">
                <a16:creationId xmlns:a16="http://schemas.microsoft.com/office/drawing/2014/main" id="{4438FC15-551A-4184-884A-D0F87C8E85B5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E65B8AD-7AC1-4CD6-BD09-4402749F9A4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72" name="页脚占位符 14">
            <a:extLst>
              <a:ext uri="{FF2B5EF4-FFF2-40B4-BE49-F238E27FC236}">
                <a16:creationId xmlns:a16="http://schemas.microsoft.com/office/drawing/2014/main" id="{ADD3D31E-D57C-437B-9806-FDABF6C0A7F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9473" name="AutoShape 12">
            <a:extLst>
              <a:ext uri="{FF2B5EF4-FFF2-40B4-BE49-F238E27FC236}">
                <a16:creationId xmlns:a16="http://schemas.microsoft.com/office/drawing/2014/main" id="{A74E73FB-EB37-4267-B025-C9B42BDCF0E1}"/>
              </a:ext>
            </a:extLst>
          </p:cNvPr>
          <p:cNvSpPr>
            <a:spLocks/>
          </p:cNvSpPr>
          <p:nvPr/>
        </p:nvSpPr>
        <p:spPr bwMode="auto">
          <a:xfrm>
            <a:off x="2174875" y="5502275"/>
            <a:ext cx="157163" cy="236538"/>
          </a:xfrm>
          <a:prstGeom prst="rightBrace">
            <a:avLst>
              <a:gd name="adj1" fmla="val 270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1027">
            <a:extLst>
              <a:ext uri="{FF2B5EF4-FFF2-40B4-BE49-F238E27FC236}">
                <a16:creationId xmlns:a16="http://schemas.microsoft.com/office/drawing/2014/main" id="{A478F89D-8DE3-423A-ABBB-DFC735B45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" name="Line 1031">
            <a:extLst>
              <a:ext uri="{FF2B5EF4-FFF2-40B4-BE49-F238E27FC236}">
                <a16:creationId xmlns:a16="http://schemas.microsoft.com/office/drawing/2014/main" id="{4288DD18-E51B-4701-911F-00597BE4A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8" name="AutoShape 1032">
            <a:extLst>
              <a:ext uri="{FF2B5EF4-FFF2-40B4-BE49-F238E27FC236}">
                <a16:creationId xmlns:a16="http://schemas.microsoft.com/office/drawing/2014/main" id="{92B46504-DC4E-4E8D-8FDA-53C1232E6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9" name="AutoShape 1033">
            <a:extLst>
              <a:ext uri="{FF2B5EF4-FFF2-40B4-BE49-F238E27FC236}">
                <a16:creationId xmlns:a16="http://schemas.microsoft.com/office/drawing/2014/main" id="{9A78B383-E6EF-4EE4-9404-EE152DA1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A17B4A8-1B29-4FCB-B04F-FED5725D39A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511" name="Text Box 7">
            <a:extLst>
              <a:ext uri="{FF2B5EF4-FFF2-40B4-BE49-F238E27FC236}">
                <a16:creationId xmlns:a16="http://schemas.microsoft.com/office/drawing/2014/main" id="{920CC025-7494-4C4E-85B3-D63379CF1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836613"/>
            <a:ext cx="73914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汇编语言：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MOV	AL, DATA1	;</a:t>
            </a:r>
            <a:r>
              <a:rPr lang="zh-CN" altLang="en-US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取第一个数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MOV	AH, DATA2	;</a:t>
            </a:r>
            <a:r>
              <a:rPr lang="zh-CN" altLang="en-US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取第二个数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ADD	AL, AH		;</a:t>
            </a:r>
            <a:r>
              <a:rPr lang="zh-CN" altLang="en-US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相加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MOV	RLT, AL		;</a:t>
            </a:r>
            <a:r>
              <a:rPr lang="zh-CN" altLang="en-US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送结果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HLT				;</a:t>
            </a:r>
            <a:r>
              <a:rPr lang="zh-CN" altLang="en-US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停机</a:t>
            </a:r>
          </a:p>
          <a:p>
            <a:pPr algn="just"/>
            <a:endParaRPr lang="zh-CN" altLang="en-US" sz="3600">
              <a:latin typeface="仿宋" panose="02010609060101010101" pitchFamily="49" charset="-122"/>
              <a:ea typeface="仿宋" panose="02010609060101010101" pitchFamily="49" charset="-122"/>
              <a:cs typeface="楷体_GB2312"/>
            </a:endParaRPr>
          </a:p>
          <a:p>
            <a:pPr algn="just"/>
            <a:r>
              <a:rPr lang="zh-CN" altLang="en-US" sz="3600">
                <a:solidFill>
                  <a:srgbClr val="0000D6"/>
                </a:solidFill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高级语言：</a:t>
            </a:r>
          </a:p>
          <a:p>
            <a:pPr algn="just"/>
            <a:r>
              <a:rPr lang="en-US" altLang="zh-CN" sz="3600">
                <a:latin typeface="仿宋" panose="02010609060101010101" pitchFamily="49" charset="-122"/>
                <a:ea typeface="仿宋" panose="02010609060101010101" pitchFamily="49" charset="-122"/>
                <a:cs typeface="楷体_GB2312"/>
              </a:rPr>
              <a:t>RLT:=DATA1+DATA2;</a:t>
            </a:r>
          </a:p>
        </p:txBody>
      </p:sp>
      <p:sp>
        <p:nvSpPr>
          <p:cNvPr id="21512" name="Text Box 1029">
            <a:extLst>
              <a:ext uri="{FF2B5EF4-FFF2-40B4-BE49-F238E27FC236}">
                <a16:creationId xmlns:a16="http://schemas.microsoft.com/office/drawing/2014/main" id="{2EE82937-1027-4C94-BA3A-3663C7871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21513" name="日期占位符 12">
            <a:extLst>
              <a:ext uri="{FF2B5EF4-FFF2-40B4-BE49-F238E27FC236}">
                <a16:creationId xmlns:a16="http://schemas.microsoft.com/office/drawing/2014/main" id="{7174EB8B-4D3A-4E22-991F-13D54F9B23C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99D4F5E-1159-4CB5-814D-5FFA5288653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4" name="灯片编号占位符 13">
            <a:extLst>
              <a:ext uri="{FF2B5EF4-FFF2-40B4-BE49-F238E27FC236}">
                <a16:creationId xmlns:a16="http://schemas.microsoft.com/office/drawing/2014/main" id="{396C4848-DD0E-4ADF-A04E-C9984073459B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44C4AF1-0663-4935-ADF5-984E709DCAE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5" name="页脚占位符 14">
            <a:extLst>
              <a:ext uri="{FF2B5EF4-FFF2-40B4-BE49-F238E27FC236}">
                <a16:creationId xmlns:a16="http://schemas.microsoft.com/office/drawing/2014/main" id="{505B5DA2-E029-4F24-AAEE-9118E999501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2BD99-3992-41C9-BC50-5E66743DBA06}"/>
              </a:ext>
            </a:extLst>
          </p:cNvPr>
          <p:cNvSpPr txBox="1"/>
          <p:nvPr/>
        </p:nvSpPr>
        <p:spPr>
          <a:xfrm>
            <a:off x="7494588" y="2636838"/>
            <a:ext cx="677862" cy="29527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660066"/>
                </a:solidFill>
              </a:rPr>
              <a:t>引入变量的概念</a:t>
            </a:r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027">
            <a:extLst>
              <a:ext uri="{FF2B5EF4-FFF2-40B4-BE49-F238E27FC236}">
                <a16:creationId xmlns:a16="http://schemas.microsoft.com/office/drawing/2014/main" id="{377DD2E2-AFAB-4D85-9E18-947EAC344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" name="Line 1031">
            <a:extLst>
              <a:ext uri="{FF2B5EF4-FFF2-40B4-BE49-F238E27FC236}">
                <a16:creationId xmlns:a16="http://schemas.microsoft.com/office/drawing/2014/main" id="{12708518-312D-4839-AC6F-E734A2D5B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6" name="AutoShape 1032">
            <a:extLst>
              <a:ext uri="{FF2B5EF4-FFF2-40B4-BE49-F238E27FC236}">
                <a16:creationId xmlns:a16="http://schemas.microsoft.com/office/drawing/2014/main" id="{0C89CEE4-ADD2-416F-A391-B68B0E506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7" name="AutoShape 1033">
            <a:extLst>
              <a:ext uri="{FF2B5EF4-FFF2-40B4-BE49-F238E27FC236}">
                <a16:creationId xmlns:a16="http://schemas.microsoft.com/office/drawing/2014/main" id="{4BA37BDD-F3CF-4E44-9931-B906773EE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D06A5EF-517C-47D0-B922-0D280202344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07299B8C-1D8F-4A80-9096-41A511257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44675"/>
            <a:ext cx="6667500" cy="94615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800">
                <a:ea typeface="楷体_GB2312" pitchFamily="49" charset="-122"/>
              </a:rPr>
              <a:t>[</a:t>
            </a:r>
            <a:r>
              <a:rPr lang="zh-CN" altLang="en-US" sz="2800">
                <a:ea typeface="楷体_GB2312" pitchFamily="49" charset="-122"/>
              </a:rPr>
              <a:t>例</a:t>
            </a:r>
            <a:r>
              <a:rPr lang="en-US" altLang="zh-CN" sz="2800">
                <a:ea typeface="楷体_GB2312" pitchFamily="49" charset="-122"/>
              </a:rPr>
              <a:t>2] 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编程实现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c =a+b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，并在屏幕上显示出结果</a:t>
            </a:r>
            <a:r>
              <a:rPr lang="zh-CN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。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23560" name="Text Box 2">
            <a:extLst>
              <a:ext uri="{FF2B5EF4-FFF2-40B4-BE49-F238E27FC236}">
                <a16:creationId xmlns:a16="http://schemas.microsoft.com/office/drawing/2014/main" id="{36B7F108-1810-4E41-B19A-31B02054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852738"/>
            <a:ext cx="4814887" cy="307657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ts val="1800"/>
              </a:lnSpc>
              <a:spcBef>
                <a:spcPts val="600"/>
              </a:spcBef>
            </a:pPr>
            <a:endParaRPr lang="en-US" altLang="zh-CN" sz="28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#include “stdio.h”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void main(  )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     {   int a,b,c;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         a=1; 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	b=2;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	c=a+b;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	printf(“c=%d\n",c);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	return 0;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     }</a:t>
            </a:r>
          </a:p>
        </p:txBody>
      </p:sp>
      <p:sp>
        <p:nvSpPr>
          <p:cNvPr id="23561" name="Oval 7">
            <a:extLst>
              <a:ext uri="{FF2B5EF4-FFF2-40B4-BE49-F238E27FC236}">
                <a16:creationId xmlns:a16="http://schemas.microsoft.com/office/drawing/2014/main" id="{ABAFECA3-3E1E-4740-B303-5572385EC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357563"/>
            <a:ext cx="2743200" cy="1381125"/>
          </a:xfrm>
          <a:prstGeom prst="ellips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23562" name="矩形 12">
            <a:extLst>
              <a:ext uri="{FF2B5EF4-FFF2-40B4-BE49-F238E27FC236}">
                <a16:creationId xmlns:a16="http://schemas.microsoft.com/office/drawing/2014/main" id="{BD95AA78-8134-46D9-8EF1-918ED1643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500438"/>
            <a:ext cx="24161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ea typeface="宋体" panose="02010600030101010101" pitchFamily="2" charset="-122"/>
              </a:rPr>
              <a:t>编译后的目标文件达到</a:t>
            </a: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</a:rPr>
              <a:t>2KB,</a:t>
            </a:r>
            <a:r>
              <a:rPr lang="zh-CN" altLang="en-US" sz="2400">
                <a:solidFill>
                  <a:srgbClr val="000000"/>
                </a:solidFill>
                <a:ea typeface="宋体" panose="02010600030101010101" pitchFamily="2" charset="-122"/>
              </a:rPr>
              <a:t>可执行文件</a:t>
            </a: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</a:rPr>
              <a:t>11.2KB</a:t>
            </a:r>
            <a:r>
              <a:rPr lang="zh-CN" altLang="en-US" sz="240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5484FBEC-5E52-41DB-A9EC-3F6746179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052513"/>
            <a:ext cx="7200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二、汇编语言与高级语言的比较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grpSp>
        <p:nvGrpSpPr>
          <p:cNvPr id="23564" name="Group 20">
            <a:extLst>
              <a:ext uri="{FF2B5EF4-FFF2-40B4-BE49-F238E27FC236}">
                <a16:creationId xmlns:a16="http://schemas.microsoft.com/office/drawing/2014/main" id="{254A8E3D-D3D2-44E4-BB8B-22B4322FE440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3357563"/>
            <a:ext cx="2743200" cy="1381125"/>
            <a:chOff x="3470" y="2115"/>
            <a:chExt cx="1728" cy="870"/>
          </a:xfrm>
        </p:grpSpPr>
        <p:sp>
          <p:nvSpPr>
            <p:cNvPr id="23569" name="Oval 7">
              <a:extLst>
                <a:ext uri="{FF2B5EF4-FFF2-40B4-BE49-F238E27FC236}">
                  <a16:creationId xmlns:a16="http://schemas.microsoft.com/office/drawing/2014/main" id="{5F98E793-238C-47FC-BC80-542571650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115"/>
              <a:ext cx="1728" cy="870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3570" name="矩形 12">
              <a:extLst>
                <a:ext uri="{FF2B5EF4-FFF2-40B4-BE49-F238E27FC236}">
                  <a16:creationId xmlns:a16="http://schemas.microsoft.com/office/drawing/2014/main" id="{0E8A4850-CF09-410C-B322-D57CFA9A7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05"/>
              <a:ext cx="152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编译后的目标文件达到</a:t>
              </a: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2KB,</a:t>
              </a: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可执行文件</a:t>
              </a: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11.2KB</a:t>
              </a: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。</a:t>
              </a:r>
              <a:endParaRPr lang="zh-CN" altLang="en-US" sz="2400" b="0">
                <a:ea typeface="宋体" panose="02010600030101010101" pitchFamily="2" charset="-122"/>
              </a:endParaRPr>
            </a:p>
          </p:txBody>
        </p:sp>
      </p:grpSp>
      <p:sp>
        <p:nvSpPr>
          <p:cNvPr id="23565" name="Text Box 1029">
            <a:extLst>
              <a:ext uri="{FF2B5EF4-FFF2-40B4-BE49-F238E27FC236}">
                <a16:creationId xmlns:a16="http://schemas.microsoft.com/office/drawing/2014/main" id="{856344AE-1EF2-477F-95C8-9E605076E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23566" name="日期占位符 12">
            <a:extLst>
              <a:ext uri="{FF2B5EF4-FFF2-40B4-BE49-F238E27FC236}">
                <a16:creationId xmlns:a16="http://schemas.microsoft.com/office/drawing/2014/main" id="{F61D1FD4-492E-44A0-9FC4-DE7454EACFE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13FE649-292E-4EF8-91ED-BF081B18C01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67" name="灯片编号占位符 13">
            <a:extLst>
              <a:ext uri="{FF2B5EF4-FFF2-40B4-BE49-F238E27FC236}">
                <a16:creationId xmlns:a16="http://schemas.microsoft.com/office/drawing/2014/main" id="{38F88CAE-494A-44F8-B9D7-47F3DC8F49C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0C2BDBE-34E1-4A40-BF96-1927C74AD19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68" name="页脚占位符 14">
            <a:extLst>
              <a:ext uri="{FF2B5EF4-FFF2-40B4-BE49-F238E27FC236}">
                <a16:creationId xmlns:a16="http://schemas.microsoft.com/office/drawing/2014/main" id="{75ABBF0A-B3D9-4AA8-BE34-0EED19D4C04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1027">
            <a:extLst>
              <a:ext uri="{FF2B5EF4-FFF2-40B4-BE49-F238E27FC236}">
                <a16:creationId xmlns:a16="http://schemas.microsoft.com/office/drawing/2014/main" id="{A6D29C70-084C-4564-8DB8-7C12ED1F7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" name="Line 1031">
            <a:extLst>
              <a:ext uri="{FF2B5EF4-FFF2-40B4-BE49-F238E27FC236}">
                <a16:creationId xmlns:a16="http://schemas.microsoft.com/office/drawing/2014/main" id="{29CA68F7-97A2-405B-8E23-4017B0A6C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4" name="AutoShape 1032">
            <a:extLst>
              <a:ext uri="{FF2B5EF4-FFF2-40B4-BE49-F238E27FC236}">
                <a16:creationId xmlns:a16="http://schemas.microsoft.com/office/drawing/2014/main" id="{8B1E0332-4728-4F23-B38A-E95205E0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605" name="AutoShape 1033">
            <a:extLst>
              <a:ext uri="{FF2B5EF4-FFF2-40B4-BE49-F238E27FC236}">
                <a16:creationId xmlns:a16="http://schemas.microsoft.com/office/drawing/2014/main" id="{5619D31E-1302-4ACD-B5FA-5C233C0E7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E779765-8C87-4910-A25A-D13DC56B3E4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607" name="Text Box 10">
            <a:extLst>
              <a:ext uri="{FF2B5EF4-FFF2-40B4-BE49-F238E27FC236}">
                <a16:creationId xmlns:a16="http://schemas.microsoft.com/office/drawing/2014/main" id="{D53CC2C1-9DC5-4733-BE35-20DA89A56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0805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楷体_GB2312"/>
                <a:cs typeface="楷体_GB2312"/>
              </a:rPr>
              <a:t>汇编语言：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E7EF702F-0ECF-45A7-A067-D8A556388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1416050"/>
            <a:ext cx="3810000" cy="4543425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tIns="82800" bIns="82800">
            <a:spAutoFit/>
          </a:bodyPr>
          <a:lstStyle/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data   segment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a      </a:t>
            </a:r>
            <a:r>
              <a:rPr lang="en-US" altLang="zh-CN" sz="24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db</a:t>
            </a: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b      </a:t>
            </a:r>
            <a:r>
              <a:rPr lang="en-US" altLang="zh-CN" sz="24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db</a:t>
            </a: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      </a:t>
            </a:r>
            <a:r>
              <a:rPr lang="en-US" altLang="zh-CN" sz="24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db</a:t>
            </a: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?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String </a:t>
            </a:r>
            <a:r>
              <a:rPr lang="en-US" altLang="zh-CN" sz="24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db</a:t>
            </a:r>
            <a:r>
              <a:rPr lang="en-US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'c=$'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data   ends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code   segment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main   proc far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assume </a:t>
            </a:r>
            <a:r>
              <a:rPr lang="en-US" altLang="zh-CN" sz="2400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cs:code</a:t>
            </a: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	 assume</a:t>
            </a:r>
            <a:r>
              <a:rPr lang="zh-CN" altLang="en-US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ds:data</a:t>
            </a: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Start: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push    ds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sub     </a:t>
            </a:r>
            <a:r>
              <a:rPr lang="en-US" altLang="zh-CN" sz="2400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ax,ax</a:t>
            </a:r>
            <a:endParaRPr lang="en-US" altLang="zh-CN" sz="240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push    ax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zh-CN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mov     </a:t>
            </a:r>
            <a:r>
              <a:rPr lang="en-US" altLang="zh-CN" sz="2400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ax,data</a:t>
            </a:r>
            <a:endParaRPr lang="en-US" altLang="zh-CN" sz="240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mov     </a:t>
            </a:r>
            <a:r>
              <a:rPr lang="en-US" altLang="zh-CN" sz="2400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ds,ax</a:t>
            </a:r>
            <a:endParaRPr lang="en-US" altLang="zh-CN" sz="240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	 mov	   a,1</a:t>
            </a:r>
          </a:p>
          <a:p>
            <a:pPr>
              <a:lnSpc>
                <a:spcPct val="5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	 mov	   b,2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endParaRPr lang="en-US" altLang="zh-CN" sz="2400" dirty="0">
              <a:effectLst>
                <a:outerShdw blurRad="38100" dist="38100" dir="2700000" algn="tl">
                  <a:srgbClr val="FFFFFF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609" name="Text Box 9">
            <a:extLst>
              <a:ext uri="{FF2B5EF4-FFF2-40B4-BE49-F238E27FC236}">
                <a16:creationId xmlns:a16="http://schemas.microsoft.com/office/drawing/2014/main" id="{A46A610C-16B4-49A6-99B3-F426566B5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0" y="1654175"/>
            <a:ext cx="4171950" cy="43053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mov   al,a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add   al,b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c,al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lea   dx,string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ah,09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int   21h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   c,30h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dl,c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ah,2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int   21h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dl,0ah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int   21h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mov   dl,0dh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int   21h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ret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    endp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code   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ends</a:t>
            </a:r>
          </a:p>
          <a:p>
            <a:pPr>
              <a:lnSpc>
                <a:spcPct val="40000"/>
              </a:lnSpc>
              <a:spcBef>
                <a:spcPts val="600"/>
              </a:spcBef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   start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E39934B4-EB05-4126-A7F0-431E312A2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76250"/>
            <a:ext cx="2665412" cy="1295400"/>
          </a:xfrm>
          <a:prstGeom prst="ellips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611" name="矩形 13">
            <a:extLst>
              <a:ext uri="{FF2B5EF4-FFF2-40B4-BE49-F238E27FC236}">
                <a16:creationId xmlns:a16="http://schemas.microsoft.com/office/drawing/2014/main" id="{F0CFDDF8-E3DE-4607-998D-50E3EB5C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692150"/>
            <a:ext cx="22320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汇编后的目标文件只有</a:t>
            </a:r>
            <a:r>
              <a:rPr lang="en-US" altLang="zh-CN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209</a:t>
            </a:r>
            <a:r>
              <a:rPr lang="zh-CN" altLang="en-US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字节，可执行文件</a:t>
            </a:r>
            <a:r>
              <a:rPr lang="en-US" altLang="zh-CN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588</a:t>
            </a:r>
            <a:r>
              <a:rPr lang="zh-CN" altLang="en-US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字节</a:t>
            </a:r>
          </a:p>
        </p:txBody>
      </p:sp>
      <p:sp>
        <p:nvSpPr>
          <p:cNvPr id="25612" name="Text Box 18">
            <a:extLst>
              <a:ext uri="{FF2B5EF4-FFF2-40B4-BE49-F238E27FC236}">
                <a16:creationId xmlns:a16="http://schemas.microsoft.com/office/drawing/2014/main" id="{212B57CD-99A4-4674-95AA-93791EA08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836613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hlinkClick r:id="rId3" action="ppaction://hlinkfile"/>
              </a:rPr>
              <a:t>ep102.asm</a:t>
            </a:r>
            <a:endParaRPr lang="en-US" altLang="zh-CN" sz="2400"/>
          </a:p>
        </p:txBody>
      </p:sp>
      <p:sp>
        <p:nvSpPr>
          <p:cNvPr id="25613" name="Text Box 1029">
            <a:extLst>
              <a:ext uri="{FF2B5EF4-FFF2-40B4-BE49-F238E27FC236}">
                <a16:creationId xmlns:a16="http://schemas.microsoft.com/office/drawing/2014/main" id="{7D3A87EA-0925-4DEF-A657-A10DC5F4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25614" name="日期占位符 12">
            <a:extLst>
              <a:ext uri="{FF2B5EF4-FFF2-40B4-BE49-F238E27FC236}">
                <a16:creationId xmlns:a16="http://schemas.microsoft.com/office/drawing/2014/main" id="{72E88FBE-30EE-429D-932B-E04499B907D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2DF6FCA-EE6B-407C-B7CA-7C0904846A5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15" name="灯片编号占位符 13">
            <a:extLst>
              <a:ext uri="{FF2B5EF4-FFF2-40B4-BE49-F238E27FC236}">
                <a16:creationId xmlns:a16="http://schemas.microsoft.com/office/drawing/2014/main" id="{1A8880D7-5B6D-4750-911F-3326D7856AA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51800D8-6E6F-4D40-9EBD-A9FDAA4FA9C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16" name="页脚占位符 14">
            <a:extLst>
              <a:ext uri="{FF2B5EF4-FFF2-40B4-BE49-F238E27FC236}">
                <a16:creationId xmlns:a16="http://schemas.microsoft.com/office/drawing/2014/main" id="{3CAFD707-7E25-42CC-9697-515595B17ED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1027">
            <a:extLst>
              <a:ext uri="{FF2B5EF4-FFF2-40B4-BE49-F238E27FC236}">
                <a16:creationId xmlns:a16="http://schemas.microsoft.com/office/drawing/2014/main" id="{5B02FB42-01F5-4152-8AAD-993F47169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1" name="Line 1031">
            <a:extLst>
              <a:ext uri="{FF2B5EF4-FFF2-40B4-BE49-F238E27FC236}">
                <a16:creationId xmlns:a16="http://schemas.microsoft.com/office/drawing/2014/main" id="{F5815FBC-D455-4A1F-9723-A4FD21BCC2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AutoShape 1032">
            <a:extLst>
              <a:ext uri="{FF2B5EF4-FFF2-40B4-BE49-F238E27FC236}">
                <a16:creationId xmlns:a16="http://schemas.microsoft.com/office/drawing/2014/main" id="{29B23A92-F9DA-42ED-9A06-F7E26C690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653" name="AutoShape 1033">
            <a:extLst>
              <a:ext uri="{FF2B5EF4-FFF2-40B4-BE49-F238E27FC236}">
                <a16:creationId xmlns:a16="http://schemas.microsoft.com/office/drawing/2014/main" id="{75367529-A934-4734-AD9C-F89A36BE5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8CDCA3D-06A3-48A2-A0CE-14DE2E3D71C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655" name="Text Box 9">
            <a:extLst>
              <a:ext uri="{FF2B5EF4-FFF2-40B4-BE49-F238E27FC236}">
                <a16:creationId xmlns:a16="http://schemas.microsoft.com/office/drawing/2014/main" id="{C0E4EC69-A760-43BC-99CB-17CBA64CF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885825"/>
            <a:ext cx="7386638" cy="1066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ea typeface="楷体_GB2312"/>
                <a:cs typeface="楷体_GB2312"/>
              </a:rPr>
              <a:t>[</a:t>
            </a:r>
            <a:r>
              <a:rPr lang="zh-CN" altLang="en-US" sz="3200">
                <a:ea typeface="楷体_GB2312"/>
                <a:cs typeface="楷体_GB2312"/>
              </a:rPr>
              <a:t>例</a:t>
            </a:r>
            <a:r>
              <a:rPr lang="en-US" altLang="zh-CN" sz="3200">
                <a:ea typeface="楷体_GB2312"/>
                <a:cs typeface="楷体_GB2312"/>
              </a:rPr>
              <a:t>3]  </a:t>
            </a:r>
            <a:r>
              <a:rPr lang="zh-CN" altLang="en-US" sz="3200">
                <a:ea typeface="楷体_GB2312"/>
                <a:cs typeface="楷体_GB2312"/>
              </a:rPr>
              <a:t>有</a:t>
            </a:r>
            <a:r>
              <a:rPr lang="en-US" altLang="zh-CN" sz="3200">
                <a:ea typeface="楷体_GB2312"/>
                <a:cs typeface="楷体_GB2312"/>
              </a:rPr>
              <a:t>A</a:t>
            </a:r>
            <a:r>
              <a:rPr lang="zh-CN" altLang="en-US" sz="3200">
                <a:ea typeface="楷体_GB2312"/>
                <a:cs typeface="楷体_GB2312"/>
              </a:rPr>
              <a:t>、</a:t>
            </a:r>
            <a:r>
              <a:rPr lang="en-US" altLang="zh-CN" sz="3200">
                <a:ea typeface="楷体_GB2312"/>
                <a:cs typeface="楷体_GB2312"/>
              </a:rPr>
              <a:t>B</a:t>
            </a:r>
            <a:r>
              <a:rPr lang="zh-CN" altLang="en-US" sz="3200">
                <a:ea typeface="楷体_GB2312"/>
                <a:cs typeface="楷体_GB2312"/>
              </a:rPr>
              <a:t>、</a:t>
            </a:r>
            <a:r>
              <a:rPr lang="en-US" altLang="zh-CN" sz="3200">
                <a:ea typeface="楷体_GB2312"/>
                <a:cs typeface="楷体_GB2312"/>
              </a:rPr>
              <a:t>C</a:t>
            </a:r>
            <a:r>
              <a:rPr lang="zh-CN" altLang="en-US" sz="3200">
                <a:ea typeface="楷体_GB2312"/>
                <a:cs typeface="楷体_GB2312"/>
              </a:rPr>
              <a:t>三单元各有一整数，求（</a:t>
            </a:r>
            <a:r>
              <a:rPr lang="en-US" altLang="zh-CN" sz="3200">
                <a:ea typeface="楷体_GB2312"/>
                <a:cs typeface="楷体_GB2312"/>
              </a:rPr>
              <a:t>A+B</a:t>
            </a:r>
            <a:r>
              <a:rPr lang="zh-CN" altLang="en-US" sz="3200">
                <a:ea typeface="楷体_GB2312"/>
                <a:cs typeface="楷体_GB2312"/>
              </a:rPr>
              <a:t>）*</a:t>
            </a:r>
            <a:r>
              <a:rPr lang="en-US" altLang="zh-CN" sz="3200">
                <a:ea typeface="楷体_GB2312"/>
                <a:cs typeface="楷体_GB2312"/>
              </a:rPr>
              <a:t>C</a:t>
            </a:r>
            <a:r>
              <a:rPr lang="zh-CN" altLang="en-US" sz="3200">
                <a:ea typeface="楷体_GB2312"/>
                <a:cs typeface="楷体_GB2312"/>
              </a:rPr>
              <a:t>，结果存入</a:t>
            </a:r>
            <a:r>
              <a:rPr lang="en-US" altLang="zh-CN" sz="3200">
                <a:ea typeface="楷体_GB2312"/>
                <a:cs typeface="楷体_GB2312"/>
              </a:rPr>
              <a:t>D</a:t>
            </a:r>
            <a:r>
              <a:rPr lang="zh-CN" altLang="en-US" sz="3200">
                <a:ea typeface="楷体_GB2312"/>
                <a:cs typeface="楷体_GB2312"/>
              </a:rPr>
              <a:t>单元。</a:t>
            </a:r>
            <a:r>
              <a:rPr lang="zh-CN" altLang="en-US" sz="2800">
                <a:ea typeface="楷体_GB2312"/>
                <a:cs typeface="楷体_GB2312"/>
              </a:rPr>
              <a:t>	</a:t>
            </a:r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8B66589F-6C34-450F-A39B-79B0B4597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133600"/>
            <a:ext cx="83058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600">
                <a:solidFill>
                  <a:srgbClr val="0000D6"/>
                </a:solidFill>
                <a:ea typeface="楷体_GB2312"/>
                <a:cs typeface="楷体_GB2312"/>
              </a:rPr>
              <a:t>C</a:t>
            </a:r>
            <a:r>
              <a:rPr lang="zh-CN" altLang="en-US" sz="3600">
                <a:solidFill>
                  <a:srgbClr val="0000D6"/>
                </a:solidFill>
                <a:ea typeface="楷体_GB2312"/>
                <a:cs typeface="楷体_GB2312"/>
              </a:rPr>
              <a:t>语言：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main( )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{	int a,b,c,d;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	scanf("%d%d%d",&amp;a,&amp;b,&amp;c);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	d=(a+b)*c;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	printf("%d\n",d);</a:t>
            </a:r>
          </a:p>
          <a:p>
            <a:pPr algn="just"/>
            <a:r>
              <a:rPr lang="en-US" altLang="zh-CN" sz="3600">
                <a:ea typeface="楷体_GB2312"/>
                <a:cs typeface="楷体_GB2312"/>
              </a:rPr>
              <a:t>}</a:t>
            </a:r>
          </a:p>
        </p:txBody>
      </p:sp>
      <p:sp>
        <p:nvSpPr>
          <p:cNvPr id="27657" name="Text Box 1029">
            <a:extLst>
              <a:ext uri="{FF2B5EF4-FFF2-40B4-BE49-F238E27FC236}">
                <a16:creationId xmlns:a16="http://schemas.microsoft.com/office/drawing/2014/main" id="{5D02BC2D-EE5E-4B89-ABA8-EA32F997A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27658" name="日期占位符 12">
            <a:extLst>
              <a:ext uri="{FF2B5EF4-FFF2-40B4-BE49-F238E27FC236}">
                <a16:creationId xmlns:a16="http://schemas.microsoft.com/office/drawing/2014/main" id="{4FACBF06-BC48-438E-B334-2B9BC4504DD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97B07F5-6DE5-4029-B1FE-9FB732987F8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59" name="灯片编号占位符 13">
            <a:extLst>
              <a:ext uri="{FF2B5EF4-FFF2-40B4-BE49-F238E27FC236}">
                <a16:creationId xmlns:a16="http://schemas.microsoft.com/office/drawing/2014/main" id="{11620006-63B4-4471-A105-74F6F2227C7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C5E3714-F7D6-461D-9B34-128586F1C42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60" name="页脚占位符 14">
            <a:extLst>
              <a:ext uri="{FF2B5EF4-FFF2-40B4-BE49-F238E27FC236}">
                <a16:creationId xmlns:a16="http://schemas.microsoft.com/office/drawing/2014/main" id="{A49EBD09-4989-4150-AAFE-89C29490BD9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1027">
            <a:extLst>
              <a:ext uri="{FF2B5EF4-FFF2-40B4-BE49-F238E27FC236}">
                <a16:creationId xmlns:a16="http://schemas.microsoft.com/office/drawing/2014/main" id="{C82B3134-92CE-433D-B51B-EA2F15C23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Line 1031">
            <a:extLst>
              <a:ext uri="{FF2B5EF4-FFF2-40B4-BE49-F238E27FC236}">
                <a16:creationId xmlns:a16="http://schemas.microsoft.com/office/drawing/2014/main" id="{9C4D81D6-6679-49C5-9EB7-38FA7902AB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0" name="AutoShape 1032">
            <a:extLst>
              <a:ext uri="{FF2B5EF4-FFF2-40B4-BE49-F238E27FC236}">
                <a16:creationId xmlns:a16="http://schemas.microsoft.com/office/drawing/2014/main" id="{E3EECB64-3E85-4296-B3AD-1F355F417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1" name="AutoShape 1033">
            <a:extLst>
              <a:ext uri="{FF2B5EF4-FFF2-40B4-BE49-F238E27FC236}">
                <a16:creationId xmlns:a16="http://schemas.microsoft.com/office/drawing/2014/main" id="{9A2D02C1-4056-4F16-A565-D9A5343CD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56FBC79C-C616-4956-9903-0A866889517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703" name="Text Box 10">
            <a:extLst>
              <a:ext uri="{FF2B5EF4-FFF2-40B4-BE49-F238E27FC236}">
                <a16:creationId xmlns:a16="http://schemas.microsoft.com/office/drawing/2014/main" id="{4FFE62EF-4576-44D4-B421-9F8661ACD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38200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汇编语言：</a:t>
            </a:r>
          </a:p>
        </p:txBody>
      </p:sp>
      <p:sp>
        <p:nvSpPr>
          <p:cNvPr id="29704" name="Text Box 7">
            <a:extLst>
              <a:ext uri="{FF2B5EF4-FFF2-40B4-BE49-F238E27FC236}">
                <a16:creationId xmlns:a16="http://schemas.microsoft.com/office/drawing/2014/main" id="{8764A677-0721-4355-8F2A-EF846BB71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76400"/>
            <a:ext cx="3810000" cy="228282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400">
                <a:ea typeface="楷体_GB2312"/>
                <a:cs typeface="楷体_GB2312"/>
              </a:rPr>
              <a:t>DATA 	SEGMENT </a:t>
            </a: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A		DB	5</a:t>
            </a: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B		DB	7</a:t>
            </a: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C		DB	0AH</a:t>
            </a: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D		DW	?</a:t>
            </a: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DATA		ENDS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CB47B8A3-F1CE-4FE9-B3C9-4D27EB82A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765175"/>
            <a:ext cx="4953000" cy="48387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2400">
                <a:ea typeface="楷体_GB2312"/>
                <a:cs typeface="楷体_GB2312"/>
              </a:rPr>
              <a:t>CODE		SEGMENT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ASSUME CS:CODE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ASSUME DS:DATA</a:t>
            </a:r>
          </a:p>
          <a:p>
            <a:r>
              <a:rPr lang="en-US" altLang="zh-CN" sz="2400">
                <a:ea typeface="楷体_GB2312"/>
                <a:cs typeface="楷体_GB2312"/>
              </a:rPr>
              <a:t>ST:		MOV	AX,DATA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MOV	DS,AX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</a:t>
            </a:r>
            <a:r>
              <a:rPr lang="en-US" altLang="zh-CN" sz="2400">
                <a:solidFill>
                  <a:srgbClr val="FF0000"/>
                </a:solidFill>
                <a:ea typeface="楷体_GB2312"/>
                <a:cs typeface="楷体_GB2312"/>
              </a:rPr>
              <a:t>MOV	AL,A</a:t>
            </a:r>
          </a:p>
          <a:p>
            <a:r>
              <a:rPr lang="en-US" altLang="zh-CN" sz="2400">
                <a:solidFill>
                  <a:srgbClr val="FF0000"/>
                </a:solidFill>
                <a:ea typeface="楷体_GB2312"/>
                <a:cs typeface="楷体_GB2312"/>
              </a:rPr>
              <a:t>		ADD	AL,B</a:t>
            </a:r>
          </a:p>
          <a:p>
            <a:r>
              <a:rPr lang="en-US" altLang="zh-CN" sz="2400">
                <a:solidFill>
                  <a:srgbClr val="FF0000"/>
                </a:solidFill>
                <a:ea typeface="楷体_GB2312"/>
                <a:cs typeface="楷体_GB2312"/>
              </a:rPr>
              <a:t>		MUL	C</a:t>
            </a:r>
          </a:p>
          <a:p>
            <a:r>
              <a:rPr lang="en-US" altLang="zh-CN" sz="2400">
                <a:solidFill>
                  <a:srgbClr val="FF0000"/>
                </a:solidFill>
                <a:ea typeface="楷体_GB2312"/>
                <a:cs typeface="楷体_GB2312"/>
              </a:rPr>
              <a:t>		MOV	D,AX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MOV	AH,4CH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INT	21H</a:t>
            </a:r>
          </a:p>
          <a:p>
            <a:r>
              <a:rPr lang="en-US" altLang="zh-CN" sz="2400">
                <a:ea typeface="楷体_GB2312"/>
                <a:cs typeface="楷体_GB2312"/>
              </a:rPr>
              <a:t>CODE		ENDS</a:t>
            </a:r>
          </a:p>
          <a:p>
            <a:r>
              <a:rPr lang="en-US" altLang="zh-CN" sz="2400">
                <a:ea typeface="楷体_GB2312"/>
                <a:cs typeface="楷体_GB2312"/>
              </a:rPr>
              <a:t>		END	ST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29706" name="AutoShape 12">
            <a:extLst>
              <a:ext uri="{FF2B5EF4-FFF2-40B4-BE49-F238E27FC236}">
                <a16:creationId xmlns:a16="http://schemas.microsoft.com/office/drawing/2014/main" id="{597EFDD3-9D09-4411-AFE4-FEC776074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4191000"/>
            <a:ext cx="2286000" cy="1371600"/>
          </a:xfrm>
          <a:prstGeom prst="curvedUpArrow">
            <a:avLst>
              <a:gd name="adj1" fmla="val 33333"/>
              <a:gd name="adj2" fmla="val 66667"/>
              <a:gd name="adj3" fmla="val 33333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29707" name="Text Box 11">
            <a:extLst>
              <a:ext uri="{FF2B5EF4-FFF2-40B4-BE49-F238E27FC236}">
                <a16:creationId xmlns:a16="http://schemas.microsoft.com/office/drawing/2014/main" id="{B6B36120-8B77-4898-A575-A3F901B6C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516563"/>
            <a:ext cx="754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ea typeface="楷体_GB2312"/>
                <a:cs typeface="楷体_GB2312"/>
              </a:rPr>
              <a:t>注意</a:t>
            </a:r>
            <a:r>
              <a:rPr lang="en-US" altLang="zh-CN" sz="2800">
                <a:solidFill>
                  <a:srgbClr val="FF0000"/>
                </a:solidFill>
                <a:ea typeface="楷体_GB2312"/>
                <a:cs typeface="楷体_GB2312"/>
              </a:rPr>
              <a:t>:</a:t>
            </a:r>
            <a:r>
              <a:rPr lang="zh-CN" altLang="en-US" sz="2800">
                <a:solidFill>
                  <a:srgbClr val="FF0000"/>
                </a:solidFill>
                <a:ea typeface="楷体_GB2312"/>
                <a:cs typeface="楷体_GB2312"/>
              </a:rPr>
              <a:t>程序中不包括输入和输出。</a:t>
            </a:r>
            <a:endParaRPr lang="zh-CN" altLang="en-US" sz="2400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708" name="Text Box 1029">
            <a:extLst>
              <a:ext uri="{FF2B5EF4-FFF2-40B4-BE49-F238E27FC236}">
                <a16:creationId xmlns:a16="http://schemas.microsoft.com/office/drawing/2014/main" id="{8491812E-3404-4F83-BCF0-E87ECB2D2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29709" name="日期占位符 12">
            <a:extLst>
              <a:ext uri="{FF2B5EF4-FFF2-40B4-BE49-F238E27FC236}">
                <a16:creationId xmlns:a16="http://schemas.microsoft.com/office/drawing/2014/main" id="{133FA7BC-05DF-4AB3-A67F-EF4C4B6C071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AED24C8-BFE2-4847-8AD1-8AEEC181F49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10" name="灯片编号占位符 13">
            <a:extLst>
              <a:ext uri="{FF2B5EF4-FFF2-40B4-BE49-F238E27FC236}">
                <a16:creationId xmlns:a16="http://schemas.microsoft.com/office/drawing/2014/main" id="{6DCDDD49-80B0-49CF-958F-D91F78543DE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9FE39B57-B9E8-46F3-B7EC-24349176E18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11" name="页脚占位符 14">
            <a:extLst>
              <a:ext uri="{FF2B5EF4-FFF2-40B4-BE49-F238E27FC236}">
                <a16:creationId xmlns:a16="http://schemas.microsoft.com/office/drawing/2014/main" id="{05B3199B-FB38-40E9-88D2-57B020493C6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1027">
            <a:extLst>
              <a:ext uri="{FF2B5EF4-FFF2-40B4-BE49-F238E27FC236}">
                <a16:creationId xmlns:a16="http://schemas.microsoft.com/office/drawing/2014/main" id="{9AC21DC5-A678-47A8-821B-0D9D1A337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7" name="Line 1031">
            <a:extLst>
              <a:ext uri="{FF2B5EF4-FFF2-40B4-BE49-F238E27FC236}">
                <a16:creationId xmlns:a16="http://schemas.microsoft.com/office/drawing/2014/main" id="{6E077707-8CB5-4FE6-9549-0F2A1B9D38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8" name="AutoShape 1032">
            <a:extLst>
              <a:ext uri="{FF2B5EF4-FFF2-40B4-BE49-F238E27FC236}">
                <a16:creationId xmlns:a16="http://schemas.microsoft.com/office/drawing/2014/main" id="{7ADE0C35-C42A-4D32-AA24-92ADB0EC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49" name="AutoShape 1033">
            <a:extLst>
              <a:ext uri="{FF2B5EF4-FFF2-40B4-BE49-F238E27FC236}">
                <a16:creationId xmlns:a16="http://schemas.microsoft.com/office/drawing/2014/main" id="{35C8F9CB-A28B-41D0-9A17-DEBE6F04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72E5854-21CD-4CD0-9953-166DBB60D6E8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751" name="Text Box 10">
            <a:extLst>
              <a:ext uri="{FF2B5EF4-FFF2-40B4-BE49-F238E27FC236}">
                <a16:creationId xmlns:a16="http://schemas.microsoft.com/office/drawing/2014/main" id="{EF1E7EE7-6020-4D5B-B226-C06E66D1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196975"/>
            <a:ext cx="6696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楷体_GB2312"/>
                <a:cs typeface="楷体_GB2312"/>
              </a:rPr>
              <a:t>由比较可以看到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汇编语言的缺点</a:t>
            </a:r>
            <a:r>
              <a:rPr lang="zh-CN" altLang="en-US" sz="3200">
                <a:ea typeface="楷体_GB2312"/>
                <a:cs typeface="楷体_GB2312"/>
              </a:rPr>
              <a:t>：</a:t>
            </a:r>
          </a:p>
        </p:txBody>
      </p:sp>
      <p:sp>
        <p:nvSpPr>
          <p:cNvPr id="31752" name="Text Box 7">
            <a:extLst>
              <a:ext uri="{FF2B5EF4-FFF2-40B4-BE49-F238E27FC236}">
                <a16:creationId xmlns:a16="http://schemas.microsoft.com/office/drawing/2014/main" id="{F824026F-AAA7-4E95-9535-629F4B32D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492375"/>
            <a:ext cx="6337300" cy="10668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ea typeface="楷体_GB2312"/>
                <a:cs typeface="楷体_GB2312"/>
              </a:rPr>
              <a:t>	</a:t>
            </a:r>
            <a:r>
              <a:rPr lang="zh-CN" altLang="en-US" sz="3200">
                <a:ea typeface="楷体_GB2312"/>
                <a:cs typeface="楷体_GB2312"/>
              </a:rPr>
              <a:t>编程</a:t>
            </a:r>
            <a:r>
              <a:rPr lang="zh-CN" altLang="en-US" sz="3200">
                <a:solidFill>
                  <a:srgbClr val="FF0000"/>
                </a:solidFill>
                <a:ea typeface="楷体_GB2312"/>
                <a:cs typeface="楷体_GB2312"/>
              </a:rPr>
              <a:t>繁</a:t>
            </a:r>
            <a:r>
              <a:rPr lang="zh-CN" altLang="en-US" sz="3200">
                <a:ea typeface="楷体_GB2312"/>
                <a:cs typeface="楷体_GB2312"/>
              </a:rPr>
              <a:t>、思路</a:t>
            </a:r>
            <a:r>
              <a:rPr lang="zh-CN" altLang="en-US" sz="3200">
                <a:solidFill>
                  <a:srgbClr val="FF0000"/>
                </a:solidFill>
                <a:ea typeface="楷体_GB2312"/>
                <a:cs typeface="楷体_GB2312"/>
              </a:rPr>
              <a:t>不直观</a:t>
            </a:r>
            <a:r>
              <a:rPr lang="zh-CN" altLang="en-US" sz="3200">
                <a:ea typeface="楷体_GB2312"/>
                <a:cs typeface="楷体_GB2312"/>
              </a:rPr>
              <a:t>、讲究技巧、需要熟悉机器内部结构。</a:t>
            </a:r>
          </a:p>
        </p:txBody>
      </p:sp>
      <p:sp>
        <p:nvSpPr>
          <p:cNvPr id="31753" name="Text Box 1029">
            <a:extLst>
              <a:ext uri="{FF2B5EF4-FFF2-40B4-BE49-F238E27FC236}">
                <a16:creationId xmlns:a16="http://schemas.microsoft.com/office/drawing/2014/main" id="{6128F4BC-2B50-46A5-BFFC-B2FAFDEBA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31754" name="日期占位符 12">
            <a:extLst>
              <a:ext uri="{FF2B5EF4-FFF2-40B4-BE49-F238E27FC236}">
                <a16:creationId xmlns:a16="http://schemas.microsoft.com/office/drawing/2014/main" id="{F60C134D-B401-4FBA-BB24-1EE86FBF9DC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1D23CF0-4C29-4B9A-9D44-86308F17822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55" name="灯片编号占位符 13">
            <a:extLst>
              <a:ext uri="{FF2B5EF4-FFF2-40B4-BE49-F238E27FC236}">
                <a16:creationId xmlns:a16="http://schemas.microsoft.com/office/drawing/2014/main" id="{FD7C5E64-8882-4C3A-8786-CAB4369BC07C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9843A64-B436-49BB-B899-AA54666F6CB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56" name="Text Box 17">
            <a:extLst>
              <a:ext uri="{FF2B5EF4-FFF2-40B4-BE49-F238E27FC236}">
                <a16:creationId xmlns:a16="http://schemas.microsoft.com/office/drawing/2014/main" id="{CF88C6F9-4222-40E4-8F28-6FB054AC6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149725"/>
            <a:ext cx="6551613" cy="1554163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ea typeface="楷体_GB2312"/>
                <a:cs typeface="楷体_GB2312"/>
              </a:rPr>
              <a:t>而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汇编语言的优点</a:t>
            </a:r>
            <a:r>
              <a:rPr lang="zh-CN" altLang="en-US" sz="3200">
                <a:ea typeface="楷体_GB2312"/>
                <a:cs typeface="楷体_GB2312"/>
              </a:rPr>
              <a:t>：发挥系统功能、</a:t>
            </a:r>
            <a:r>
              <a:rPr lang="zh-CN" altLang="en-US" sz="3200">
                <a:solidFill>
                  <a:srgbClr val="FF0000"/>
                </a:solidFill>
                <a:ea typeface="楷体_GB2312"/>
                <a:cs typeface="楷体_GB2312"/>
              </a:rPr>
              <a:t>空间少</a:t>
            </a:r>
            <a:r>
              <a:rPr lang="zh-CN" altLang="en-US" sz="3200">
                <a:ea typeface="楷体_GB2312"/>
                <a:cs typeface="楷体_GB2312"/>
              </a:rPr>
              <a:t>、速度快（虽然在上述两例中还不能完全看到）。</a:t>
            </a:r>
          </a:p>
        </p:txBody>
      </p:sp>
      <p:sp>
        <p:nvSpPr>
          <p:cNvPr id="31757" name="页脚占位符 14">
            <a:extLst>
              <a:ext uri="{FF2B5EF4-FFF2-40B4-BE49-F238E27FC236}">
                <a16:creationId xmlns:a16="http://schemas.microsoft.com/office/drawing/2014/main" id="{DEC24A95-09BD-43DF-B9A3-40763114467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1027">
            <a:extLst>
              <a:ext uri="{FF2B5EF4-FFF2-40B4-BE49-F238E27FC236}">
                <a16:creationId xmlns:a16="http://schemas.microsoft.com/office/drawing/2014/main" id="{99719DF5-FD00-461F-8D2A-06D8EFC88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5" name="Line 1031">
            <a:extLst>
              <a:ext uri="{FF2B5EF4-FFF2-40B4-BE49-F238E27FC236}">
                <a16:creationId xmlns:a16="http://schemas.microsoft.com/office/drawing/2014/main" id="{836331CA-B942-4178-9748-8B2A5A46C5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796" name="AutoShape 1032">
            <a:extLst>
              <a:ext uri="{FF2B5EF4-FFF2-40B4-BE49-F238E27FC236}">
                <a16:creationId xmlns:a16="http://schemas.microsoft.com/office/drawing/2014/main" id="{26C71417-6405-45F3-A515-D2DBEA3D7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797" name="AutoShape 1033">
            <a:extLst>
              <a:ext uri="{FF2B5EF4-FFF2-40B4-BE49-F238E27FC236}">
                <a16:creationId xmlns:a16="http://schemas.microsoft.com/office/drawing/2014/main" id="{F2E71F70-6358-4789-ADA0-1D3EF637B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CEBCE7B-255C-406B-8A5C-E99FA96C2CB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799" name="Text Box 12">
            <a:extLst>
              <a:ext uri="{FF2B5EF4-FFF2-40B4-BE49-F238E27FC236}">
                <a16:creationId xmlns:a16="http://schemas.microsoft.com/office/drawing/2014/main" id="{1C6BF687-D8A8-4C6A-A62E-CCF88A22C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28775"/>
            <a:ext cx="7743825" cy="173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高级语言的优点：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编程高级语言程序的可读性、可移植</a:t>
            </a:r>
            <a:r>
              <a:rPr lang="zh-CN" altLang="en-US" sz="3600">
                <a:ea typeface="楷体" panose="02010609060101010101" pitchFamily="49" charset="-122"/>
              </a:rPr>
              <a:t>性好，编写和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调试相对容易，编程效率高。</a:t>
            </a:r>
            <a:endParaRPr lang="zh-CN" altLang="en-US" sz="36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800" name="Text Box 9">
            <a:extLst>
              <a:ext uri="{FF2B5EF4-FFF2-40B4-BE49-F238E27FC236}">
                <a16:creationId xmlns:a16="http://schemas.microsoft.com/office/drawing/2014/main" id="{C3E96E14-FA71-4C41-94DD-4DDEE3662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933825"/>
            <a:ext cx="6667500" cy="15541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缺点：</a:t>
            </a:r>
            <a:r>
              <a:rPr lang="zh-CN" altLang="en-US" sz="3200">
                <a:ea typeface="楷体_GB2312"/>
                <a:cs typeface="楷体_GB2312"/>
              </a:rPr>
              <a:t>目标程序占用更大的存储空间、要运行更长的时间。对硬件的控制能力不如汇编语言。</a:t>
            </a:r>
          </a:p>
        </p:txBody>
      </p:sp>
      <p:sp>
        <p:nvSpPr>
          <p:cNvPr id="33801" name="Text Box 1029">
            <a:extLst>
              <a:ext uri="{FF2B5EF4-FFF2-40B4-BE49-F238E27FC236}">
                <a16:creationId xmlns:a16="http://schemas.microsoft.com/office/drawing/2014/main" id="{2826423F-C785-4F2B-8720-983F32498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33802" name="日期占位符 12">
            <a:extLst>
              <a:ext uri="{FF2B5EF4-FFF2-40B4-BE49-F238E27FC236}">
                <a16:creationId xmlns:a16="http://schemas.microsoft.com/office/drawing/2014/main" id="{6881B8A4-A000-4F35-85D1-3EDF22DD3BD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4557C11-E518-4903-A820-36D1F9FBB5E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803" name="灯片编号占位符 13">
            <a:extLst>
              <a:ext uri="{FF2B5EF4-FFF2-40B4-BE49-F238E27FC236}">
                <a16:creationId xmlns:a16="http://schemas.microsoft.com/office/drawing/2014/main" id="{0F42FDB8-A814-4A51-B29E-38BEBE81E7F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368E9FA3-4E72-44EE-8887-2C436760779D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804" name="页脚占位符 14">
            <a:extLst>
              <a:ext uri="{FF2B5EF4-FFF2-40B4-BE49-F238E27FC236}">
                <a16:creationId xmlns:a16="http://schemas.microsoft.com/office/drawing/2014/main" id="{816EB676-EF20-4EDA-B514-CC4A14EA2D4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1027">
            <a:extLst>
              <a:ext uri="{FF2B5EF4-FFF2-40B4-BE49-F238E27FC236}">
                <a16:creationId xmlns:a16="http://schemas.microsoft.com/office/drawing/2014/main" id="{C312978E-49FC-4674-AF98-73437593F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3" name="Line 1031">
            <a:extLst>
              <a:ext uri="{FF2B5EF4-FFF2-40B4-BE49-F238E27FC236}">
                <a16:creationId xmlns:a16="http://schemas.microsoft.com/office/drawing/2014/main" id="{64CE328D-1E35-4779-9EC4-62EAD2524E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4" name="AutoShape 1032">
            <a:extLst>
              <a:ext uri="{FF2B5EF4-FFF2-40B4-BE49-F238E27FC236}">
                <a16:creationId xmlns:a16="http://schemas.microsoft.com/office/drawing/2014/main" id="{089328B8-68FB-466B-9B2A-D4996E34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5" name="AutoShape 1033">
            <a:extLst>
              <a:ext uri="{FF2B5EF4-FFF2-40B4-BE49-F238E27FC236}">
                <a16:creationId xmlns:a16="http://schemas.microsoft.com/office/drawing/2014/main" id="{0298DE4B-D40B-41F4-AF02-810332094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ACF2F65-FCDB-4FA1-B5FB-6D0848F96CD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847" name="Text Box 10">
            <a:extLst>
              <a:ext uri="{FF2B5EF4-FFF2-40B4-BE49-F238E27FC236}">
                <a16:creationId xmlns:a16="http://schemas.microsoft.com/office/drawing/2014/main" id="{29A8D2BB-C605-47BE-AC16-964ED9B1D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628775"/>
            <a:ext cx="6324600" cy="22891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3600">
                <a:latin typeface="楷体_GB2312"/>
                <a:ea typeface="楷体_GB2312"/>
                <a:cs typeface="楷体_GB2312"/>
              </a:rPr>
              <a:t>用助记符表示的</a:t>
            </a:r>
            <a:r>
              <a:rPr lang="zh-CN" altLang="en-US" sz="36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面向机器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的语言，即用助记符代替操作码、用符号代替地址，与硬件有密切联系的汇编指令的集合。</a:t>
            </a:r>
            <a:endParaRPr lang="zh-CN" altLang="en-US" sz="3600">
              <a:ea typeface="楷体_GB2312"/>
              <a:cs typeface="楷体_GB2312"/>
            </a:endParaRPr>
          </a:p>
        </p:txBody>
      </p:sp>
      <p:sp>
        <p:nvSpPr>
          <p:cNvPr id="35848" name="Text Box 9">
            <a:extLst>
              <a:ext uri="{FF2B5EF4-FFF2-40B4-BE49-F238E27FC236}">
                <a16:creationId xmlns:a16="http://schemas.microsoft.com/office/drawing/2014/main" id="{322E53F0-DB4F-4A70-A8EB-1D0183C0A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149725"/>
            <a:ext cx="6335712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400" b="0">
                <a:ea typeface="宋体" panose="02010600030101010101" pitchFamily="2" charset="-122"/>
              </a:rPr>
              <a:t>	</a:t>
            </a:r>
            <a:r>
              <a:rPr lang="zh-CN" altLang="en-US" sz="3600">
                <a:ea typeface="楷体_GB2312"/>
                <a:cs typeface="楷体_GB2312"/>
              </a:rPr>
              <a:t>由汇编指令、标识符，按一定的语法规则（伪指令）构成的</a:t>
            </a:r>
            <a:r>
              <a:rPr lang="zh-CN" altLang="en-US" sz="3600">
                <a:solidFill>
                  <a:srgbClr val="FF0000"/>
                </a:solidFill>
                <a:ea typeface="楷体_GB2312"/>
                <a:cs typeface="楷体_GB2312"/>
              </a:rPr>
              <a:t>面向机器</a:t>
            </a:r>
            <a:r>
              <a:rPr lang="zh-CN" altLang="en-US" sz="3600">
                <a:ea typeface="楷体_GB2312"/>
                <a:cs typeface="楷体_GB2312"/>
              </a:rPr>
              <a:t>的语言。	</a:t>
            </a:r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35849" name="Text Box 1029">
            <a:extLst>
              <a:ext uri="{FF2B5EF4-FFF2-40B4-BE49-F238E27FC236}">
                <a16:creationId xmlns:a16="http://schemas.microsoft.com/office/drawing/2014/main" id="{8B764149-87F5-43D8-B582-979B82242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42A9F189-9E92-4F3B-BC3F-F5F62E14F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69135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r>
              <a:rPr lang="en-US" altLang="zh-CN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汇编语言的特点及应用场合</a:t>
            </a:r>
          </a:p>
        </p:txBody>
      </p:sp>
      <p:sp>
        <p:nvSpPr>
          <p:cNvPr id="35851" name="Text Box 19">
            <a:extLst>
              <a:ext uri="{FF2B5EF4-FFF2-40B4-BE49-F238E27FC236}">
                <a16:creationId xmlns:a16="http://schemas.microsoft.com/office/drawing/2014/main" id="{8CD1E0BE-3C3F-4A81-86BA-7D8D88F8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2420938"/>
            <a:ext cx="733425" cy="22320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bg1"/>
                </a:solidFill>
                <a:ea typeface="楷体" panose="02010609060101010101" pitchFamily="49" charset="-122"/>
              </a:rPr>
              <a:t>汇编语言</a:t>
            </a:r>
          </a:p>
        </p:txBody>
      </p:sp>
      <p:sp>
        <p:nvSpPr>
          <p:cNvPr id="35852" name="日期占位符 12">
            <a:extLst>
              <a:ext uri="{FF2B5EF4-FFF2-40B4-BE49-F238E27FC236}">
                <a16:creationId xmlns:a16="http://schemas.microsoft.com/office/drawing/2014/main" id="{CC8E249E-7B95-43BF-A09C-19F7CAC8DF3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7054986-B39B-403B-9EF7-9D7148268CD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853" name="灯片编号占位符 13">
            <a:extLst>
              <a:ext uri="{FF2B5EF4-FFF2-40B4-BE49-F238E27FC236}">
                <a16:creationId xmlns:a16="http://schemas.microsoft.com/office/drawing/2014/main" id="{98C08456-495B-4DE2-AB46-E8214B23962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CDB8323-7A49-410B-B334-871049C8A33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854" name="页脚占位符 14">
            <a:extLst>
              <a:ext uri="{FF2B5EF4-FFF2-40B4-BE49-F238E27FC236}">
                <a16:creationId xmlns:a16="http://schemas.microsoft.com/office/drawing/2014/main" id="{43935CA7-AF53-4DCE-92DE-DD547E6C59E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1027">
            <a:extLst>
              <a:ext uri="{FF2B5EF4-FFF2-40B4-BE49-F238E27FC236}">
                <a16:creationId xmlns:a16="http://schemas.microsoft.com/office/drawing/2014/main" id="{F2217014-12CA-4347-B7ED-4D67802AB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1" name="Line 1031">
            <a:extLst>
              <a:ext uri="{FF2B5EF4-FFF2-40B4-BE49-F238E27FC236}">
                <a16:creationId xmlns:a16="http://schemas.microsoft.com/office/drawing/2014/main" id="{11613FDD-C22B-4D6E-8823-8CD41C32D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2" name="AutoShape 1032">
            <a:extLst>
              <a:ext uri="{FF2B5EF4-FFF2-40B4-BE49-F238E27FC236}">
                <a16:creationId xmlns:a16="http://schemas.microsoft.com/office/drawing/2014/main" id="{B481302B-A583-4C83-9C09-0CB866303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3" name="AutoShape 1033">
            <a:extLst>
              <a:ext uri="{FF2B5EF4-FFF2-40B4-BE49-F238E27FC236}">
                <a16:creationId xmlns:a16="http://schemas.microsoft.com/office/drawing/2014/main" id="{FD6CC274-D4DE-458F-BA7E-669C9393A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F939902-7FC8-47E3-A56E-FF4598BF1FB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CE7CBC86-FFB1-4CAB-B34E-034026E7D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284538"/>
            <a:ext cx="770572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3600">
                <a:ea typeface="楷体_GB2312"/>
                <a:cs typeface="楷体_GB2312"/>
              </a:rPr>
              <a:t>	</a:t>
            </a:r>
            <a:r>
              <a:rPr lang="zh-CN" altLang="en-US" sz="4000">
                <a:solidFill>
                  <a:srgbClr val="EC8334"/>
                </a:solidFill>
                <a:ea typeface="楷体" panose="02010609060101010101" pitchFamily="49" charset="-122"/>
              </a:rPr>
              <a:t>几个概念：</a:t>
            </a:r>
          </a:p>
          <a:p>
            <a:pPr algn="just"/>
            <a:r>
              <a:rPr lang="zh-CN" altLang="en-US" sz="4000">
                <a:ea typeface="楷体_GB2312"/>
                <a:cs typeface="楷体_GB2312"/>
              </a:rPr>
              <a:t>机器指令、机器指令程序</a:t>
            </a:r>
          </a:p>
          <a:p>
            <a:pPr algn="just"/>
            <a:r>
              <a:rPr lang="zh-CN" altLang="en-US" sz="4000">
                <a:ea typeface="楷体_GB2312"/>
                <a:cs typeface="楷体_GB2312"/>
              </a:rPr>
              <a:t>汇编指令、汇编语言程序</a:t>
            </a:r>
          </a:p>
          <a:p>
            <a:pPr algn="just"/>
            <a:r>
              <a:rPr lang="zh-CN" altLang="en-US" sz="4000">
                <a:ea typeface="楷体_GB2312"/>
                <a:cs typeface="楷体_GB2312"/>
              </a:rPr>
              <a:t>汇编程序、编译程序、解释程序</a:t>
            </a:r>
          </a:p>
        </p:txBody>
      </p:sp>
      <p:sp>
        <p:nvSpPr>
          <p:cNvPr id="37896" name="Text Box 1029">
            <a:extLst>
              <a:ext uri="{FF2B5EF4-FFF2-40B4-BE49-F238E27FC236}">
                <a16:creationId xmlns:a16="http://schemas.microsoft.com/office/drawing/2014/main" id="{87133495-E7A0-4E85-8AEC-3BB8AA7FA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37897" name="日期占位符 12">
            <a:extLst>
              <a:ext uri="{FF2B5EF4-FFF2-40B4-BE49-F238E27FC236}">
                <a16:creationId xmlns:a16="http://schemas.microsoft.com/office/drawing/2014/main" id="{9DA556ED-FB07-47F6-88D3-1EC4DEC7C3F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2195E80-9C10-4855-9801-6018B7C6BB4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8" name="灯片编号占位符 13">
            <a:extLst>
              <a:ext uri="{FF2B5EF4-FFF2-40B4-BE49-F238E27FC236}">
                <a16:creationId xmlns:a16="http://schemas.microsoft.com/office/drawing/2014/main" id="{346A0FA7-3102-4391-B3D6-5B2233C4AAA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01FCACAA-8567-4746-88CD-A24096AFA7C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9" name="页脚占位符 14">
            <a:extLst>
              <a:ext uri="{FF2B5EF4-FFF2-40B4-BE49-F238E27FC236}">
                <a16:creationId xmlns:a16="http://schemas.microsoft.com/office/drawing/2014/main" id="{62259A3C-8455-496D-A5D5-A12A333EBD2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37900" name="Text Box 9">
            <a:extLst>
              <a:ext uri="{FF2B5EF4-FFF2-40B4-BE49-F238E27FC236}">
                <a16:creationId xmlns:a16="http://schemas.microsoft.com/office/drawing/2014/main" id="{3342EA46-400B-480B-84AE-EEE4A1D7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268413"/>
            <a:ext cx="6769100" cy="17541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400" b="0">
                <a:ea typeface="宋体" panose="02010600030101010101" pitchFamily="2" charset="-122"/>
              </a:rPr>
              <a:t>	</a:t>
            </a:r>
            <a:r>
              <a:rPr lang="zh-CN" altLang="en-US" sz="3600">
                <a:ea typeface="楷体_GB2312"/>
                <a:cs typeface="楷体_GB2312"/>
              </a:rPr>
              <a:t>用汇编语言编写的程序，称为</a:t>
            </a:r>
            <a:r>
              <a:rPr lang="zh-CN" altLang="en-US" sz="3600">
                <a:solidFill>
                  <a:srgbClr val="0000D6"/>
                </a:solidFill>
                <a:ea typeface="楷体_GB2312"/>
                <a:cs typeface="楷体_GB2312"/>
              </a:rPr>
              <a:t>汇编语言程序</a:t>
            </a:r>
            <a:r>
              <a:rPr lang="zh-CN" altLang="en-US" sz="3600">
                <a:ea typeface="楷体_GB2312"/>
                <a:cs typeface="楷体_GB2312"/>
              </a:rPr>
              <a:t>，需经</a:t>
            </a:r>
            <a:r>
              <a:rPr lang="zh-CN" altLang="en-US" sz="3600">
                <a:solidFill>
                  <a:srgbClr val="0000D6"/>
                </a:solidFill>
                <a:ea typeface="楷体_GB2312"/>
                <a:cs typeface="楷体_GB2312"/>
              </a:rPr>
              <a:t>汇编程序</a:t>
            </a:r>
            <a:r>
              <a:rPr lang="zh-CN" altLang="en-US" sz="3600">
                <a:ea typeface="楷体_GB2312"/>
                <a:cs typeface="楷体_GB2312"/>
              </a:rPr>
              <a:t>汇编成机器语言后，才能执行。</a:t>
            </a:r>
            <a:endParaRPr lang="zh-CN" altLang="en-US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1027">
            <a:extLst>
              <a:ext uri="{FF2B5EF4-FFF2-40B4-BE49-F238E27FC236}">
                <a16:creationId xmlns:a16="http://schemas.microsoft.com/office/drawing/2014/main" id="{11797376-DB89-48A6-8ADF-9B498B869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39" name="Line 1031">
            <a:extLst>
              <a:ext uri="{FF2B5EF4-FFF2-40B4-BE49-F238E27FC236}">
                <a16:creationId xmlns:a16="http://schemas.microsoft.com/office/drawing/2014/main" id="{0AE4021D-D342-4EC4-84DA-1590AD8D75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0" name="AutoShape 1032">
            <a:extLst>
              <a:ext uri="{FF2B5EF4-FFF2-40B4-BE49-F238E27FC236}">
                <a16:creationId xmlns:a16="http://schemas.microsoft.com/office/drawing/2014/main" id="{1D4C220E-01DE-4AF5-AC0E-5EC79200F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1" name="AutoShape 1033">
            <a:extLst>
              <a:ext uri="{FF2B5EF4-FFF2-40B4-BE49-F238E27FC236}">
                <a16:creationId xmlns:a16="http://schemas.microsoft.com/office/drawing/2014/main" id="{C3F8D755-7F70-48C8-AEF1-A623B863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B81B2B5-46D2-4368-BEDB-75CAEA91DA6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55C43673-A46F-414F-A813-18790F85F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908050"/>
            <a:ext cx="449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lvl="2">
              <a:buFont typeface="Wingdings" panose="05000000000000000000" pitchFamily="2" charset="2"/>
              <a:buNone/>
            </a:pPr>
            <a:r>
              <a:rPr lang="zh-CN" altLang="en-US" sz="3600">
                <a:ea typeface="楷体_GB2312"/>
                <a:cs typeface="楷体_GB2312"/>
              </a:rPr>
              <a:t>汇编语言的特点</a:t>
            </a:r>
          </a:p>
        </p:txBody>
      </p:sp>
      <p:sp>
        <p:nvSpPr>
          <p:cNvPr id="39944" name="Text Box 9">
            <a:extLst>
              <a:ext uri="{FF2B5EF4-FFF2-40B4-BE49-F238E27FC236}">
                <a16:creationId xmlns:a16="http://schemas.microsoft.com/office/drawing/2014/main" id="{B9C6787F-B7B2-4C0D-AE64-53EBBA369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801813"/>
            <a:ext cx="7673975" cy="39370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）汇编语言与处理器密切相关。</a:t>
            </a:r>
          </a:p>
          <a:p>
            <a:pPr algn="just"/>
            <a:r>
              <a:rPr lang="en-US" altLang="zh-CN" sz="3600">
                <a:solidFill>
                  <a:srgbClr val="FF0000"/>
                </a:solidFill>
                <a:ea typeface="宋体" panose="02010600030101010101" pitchFamily="2" charset="-122"/>
              </a:rPr>
              <a:t>		</a:t>
            </a:r>
            <a:r>
              <a:rPr lang="zh-CN" altLang="en-US" sz="3200">
                <a:solidFill>
                  <a:srgbClr val="EC8334"/>
                </a:solidFill>
                <a:ea typeface="宋体" panose="02010600030101010101" pitchFamily="2" charset="-122"/>
              </a:rPr>
              <a:t>移植性差</a:t>
            </a:r>
            <a:endParaRPr lang="en-US" altLang="zh-CN" sz="3200">
              <a:solidFill>
                <a:srgbClr val="EC8334"/>
              </a:solidFill>
              <a:ea typeface="宋体" panose="02010600030101010101" pitchFamily="2" charset="-122"/>
            </a:endParaRPr>
          </a:p>
          <a:p>
            <a:pPr algn="just"/>
            <a:r>
              <a:rPr lang="zh-CN" altLang="en-US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sz="36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）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优</a:t>
            </a:r>
            <a:r>
              <a:rPr lang="zh-CN" altLang="en-US" sz="3600">
                <a:ea typeface="楷体_GB2312"/>
                <a:cs typeface="楷体_GB2312"/>
              </a:rPr>
              <a:t>  点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zh-CN" altLang="en-US" sz="3600">
                <a:ea typeface="楷体_GB2312"/>
                <a:cs typeface="楷体_GB2312"/>
              </a:rPr>
              <a:t>充分发挥系统资源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功能强</a:t>
            </a:r>
            <a:r>
              <a:rPr lang="zh-CN" altLang="en-US" sz="3600">
                <a:ea typeface="楷体_GB2312"/>
                <a:cs typeface="楷体_GB2312"/>
              </a:rPr>
              <a:t>	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600">
                <a:ea typeface="楷体_GB2312"/>
                <a:cs typeface="楷体_GB2312"/>
              </a:rPr>
              <a:t>编程质量高（效率高）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600" b="0">
                <a:solidFill>
                  <a:srgbClr val="000000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速度快、空间少</a:t>
            </a:r>
          </a:p>
        </p:txBody>
      </p:sp>
      <p:sp>
        <p:nvSpPr>
          <p:cNvPr id="39945" name="Text Box 1029">
            <a:extLst>
              <a:ext uri="{FF2B5EF4-FFF2-40B4-BE49-F238E27FC236}">
                <a16:creationId xmlns:a16="http://schemas.microsoft.com/office/drawing/2014/main" id="{739122C2-C55A-432B-A571-44BAD6067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39946" name="日期占位符 12">
            <a:extLst>
              <a:ext uri="{FF2B5EF4-FFF2-40B4-BE49-F238E27FC236}">
                <a16:creationId xmlns:a16="http://schemas.microsoft.com/office/drawing/2014/main" id="{2A6BACD6-ABE1-4F3F-8BD7-5F27E6045EE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D9DCAFC-31E8-4330-A7F7-1DFFCB39B9B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7" name="灯片编号占位符 13">
            <a:extLst>
              <a:ext uri="{FF2B5EF4-FFF2-40B4-BE49-F238E27FC236}">
                <a16:creationId xmlns:a16="http://schemas.microsoft.com/office/drawing/2014/main" id="{FF943648-824E-40F9-815F-8CAC4413BF17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6559243-1910-469B-BA17-5BDA4A203CB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8" name="页脚占位符 14">
            <a:extLst>
              <a:ext uri="{FF2B5EF4-FFF2-40B4-BE49-F238E27FC236}">
                <a16:creationId xmlns:a16="http://schemas.microsoft.com/office/drawing/2014/main" id="{603BBA72-F3FD-4715-9DD6-7DBACAC3861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1027">
            <a:extLst>
              <a:ext uri="{FF2B5EF4-FFF2-40B4-BE49-F238E27FC236}">
                <a16:creationId xmlns:a16="http://schemas.microsoft.com/office/drawing/2014/main" id="{818D0400-6438-4F5B-9D30-BDECB470D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" name="Line 1031">
            <a:extLst>
              <a:ext uri="{FF2B5EF4-FFF2-40B4-BE49-F238E27FC236}">
                <a16:creationId xmlns:a16="http://schemas.microsoft.com/office/drawing/2014/main" id="{715194E8-090B-4905-B540-FE34EB85AD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8" name="AutoShape 1032">
            <a:extLst>
              <a:ext uri="{FF2B5EF4-FFF2-40B4-BE49-F238E27FC236}">
                <a16:creationId xmlns:a16="http://schemas.microsoft.com/office/drawing/2014/main" id="{F1284126-2467-45B5-947D-C8C754AE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9" name="AutoShape 1033">
            <a:extLst>
              <a:ext uri="{FF2B5EF4-FFF2-40B4-BE49-F238E27FC236}">
                <a16:creationId xmlns:a16="http://schemas.microsoft.com/office/drawing/2014/main" id="{63D2D4A6-564A-4624-845A-ED50D5053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B5191F5-F275-4FEA-97E4-57BF0D47734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991" name="Text Box 11">
            <a:extLst>
              <a:ext uri="{FF2B5EF4-FFF2-40B4-BE49-F238E27FC236}">
                <a16:creationId xmlns:a16="http://schemas.microsoft.com/office/drawing/2014/main" id="{7A6E8FF7-CC26-4024-9009-8F5D528FD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25538"/>
            <a:ext cx="6985000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36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汇编语言的特点：</a:t>
            </a:r>
            <a:endParaRPr lang="en-US" altLang="zh-CN" sz="3600">
              <a:solidFill>
                <a:srgbClr val="0000D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600"/>
              </a:spcBef>
            </a:pPr>
            <a:endParaRPr lang="zh-CN" altLang="en-US" sz="3600">
              <a:solidFill>
                <a:srgbClr val="0000D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面向计算机“硬件”进行程序设计</a:t>
            </a:r>
          </a:p>
          <a:p>
            <a:pPr>
              <a:spcBef>
                <a:spcPts val="600"/>
              </a:spcBef>
            </a:pPr>
            <a:r>
              <a:rPr lang="en-US" altLang="zh-CN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使用与机器指令同级的符号指令编写程序</a:t>
            </a:r>
          </a:p>
          <a:p>
            <a:pPr>
              <a:spcBef>
                <a:spcPts val="600"/>
              </a:spcBef>
            </a:pPr>
            <a:r>
              <a:rPr lang="en-US" altLang="zh-CN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程序短小、运行速度快、发挥计算机的全部性能。</a:t>
            </a:r>
            <a:endParaRPr lang="en-US" altLang="zh-CN" sz="36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992" name="Text Box 1029">
            <a:extLst>
              <a:ext uri="{FF2B5EF4-FFF2-40B4-BE49-F238E27FC236}">
                <a16:creationId xmlns:a16="http://schemas.microsoft.com/office/drawing/2014/main" id="{5CD2548B-64C6-4292-8794-0B0E514BA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41993" name="日期占位符 12">
            <a:extLst>
              <a:ext uri="{FF2B5EF4-FFF2-40B4-BE49-F238E27FC236}">
                <a16:creationId xmlns:a16="http://schemas.microsoft.com/office/drawing/2014/main" id="{F0D1F8E2-9D59-4734-B447-842C0054117B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AD0B000-79A8-43B1-BAB2-93F95739B034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94" name="灯片编号占位符 13">
            <a:extLst>
              <a:ext uri="{FF2B5EF4-FFF2-40B4-BE49-F238E27FC236}">
                <a16:creationId xmlns:a16="http://schemas.microsoft.com/office/drawing/2014/main" id="{33268E73-7000-49DF-9FDB-A4D88D26B29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E3ADD7C-7F96-4BC3-91D8-C5C998708E9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95" name="页脚占位符 14">
            <a:extLst>
              <a:ext uri="{FF2B5EF4-FFF2-40B4-BE49-F238E27FC236}">
                <a16:creationId xmlns:a16="http://schemas.microsoft.com/office/drawing/2014/main" id="{A08648E7-A511-454F-9A4C-542C1419818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027">
            <a:extLst>
              <a:ext uri="{FF2B5EF4-FFF2-40B4-BE49-F238E27FC236}">
                <a16:creationId xmlns:a16="http://schemas.microsoft.com/office/drawing/2014/main" id="{D458C300-43EF-420E-92F1-995695D50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" name="Line 1031">
            <a:extLst>
              <a:ext uri="{FF2B5EF4-FFF2-40B4-BE49-F238E27FC236}">
                <a16:creationId xmlns:a16="http://schemas.microsoft.com/office/drawing/2014/main" id="{2FFE062B-BCD8-4505-85DC-C50966425B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6" name="AutoShape 1032">
            <a:extLst>
              <a:ext uri="{FF2B5EF4-FFF2-40B4-BE49-F238E27FC236}">
                <a16:creationId xmlns:a16="http://schemas.microsoft.com/office/drawing/2014/main" id="{9B004F26-7367-4651-91E5-964FA4351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37" name="AutoShape 1033">
            <a:extLst>
              <a:ext uri="{FF2B5EF4-FFF2-40B4-BE49-F238E27FC236}">
                <a16:creationId xmlns:a16="http://schemas.microsoft.com/office/drawing/2014/main" id="{3AD74C9C-7EA2-4AFF-9576-46C487FA4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2673D66-1B48-48E7-85DD-EE1CA3C1624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039" name="Text Box 9">
            <a:extLst>
              <a:ext uri="{FF2B5EF4-FFF2-40B4-BE49-F238E27FC236}">
                <a16:creationId xmlns:a16="http://schemas.microsoft.com/office/drawing/2014/main" id="{703C0949-DA37-46FA-93BF-F8519BCA3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268413"/>
            <a:ext cx="59039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600">
                <a:solidFill>
                  <a:schemeClr val="tx2"/>
                </a:solidFill>
                <a:ea typeface="宋体" panose="02010600030101010101" pitchFamily="2" charset="-122"/>
              </a:rPr>
              <a:t>汇编语言的主要应用场合：</a:t>
            </a:r>
          </a:p>
        </p:txBody>
      </p:sp>
      <p:sp>
        <p:nvSpPr>
          <p:cNvPr id="44040" name="Text Box 7">
            <a:extLst>
              <a:ext uri="{FF2B5EF4-FFF2-40B4-BE49-F238E27FC236}">
                <a16:creationId xmlns:a16="http://schemas.microsoft.com/office/drawing/2014/main" id="{3F489998-C09C-4EEA-85E6-38408CC9B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2393950"/>
            <a:ext cx="6781800" cy="32575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1</a:t>
            </a:r>
            <a:r>
              <a:rPr lang="zh-CN" altLang="en-US" sz="3200">
                <a:ea typeface="宋体" panose="02010600030101010101" pitchFamily="2" charset="-122"/>
              </a:rPr>
              <a:t>）要求程序执行速度很快，或者占用较小存储容量的场合。 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3200"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2</a:t>
            </a:r>
            <a:r>
              <a:rPr lang="zh-CN" altLang="en-US" sz="3200">
                <a:ea typeface="宋体" panose="02010600030101010101" pitchFamily="2" charset="-122"/>
              </a:rPr>
              <a:t>）与计算机硬件密切相关的场合。 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3200"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3</a:t>
            </a:r>
            <a:r>
              <a:rPr lang="zh-CN" altLang="en-US" sz="3200">
                <a:ea typeface="宋体" panose="02010600030101010101" pitchFamily="2" charset="-122"/>
              </a:rPr>
              <a:t>）系统软件的核心部分。 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3200"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4</a:t>
            </a:r>
            <a:r>
              <a:rPr lang="zh-CN" altLang="en-US" sz="3200">
                <a:ea typeface="宋体" panose="02010600030101010101" pitchFamily="2" charset="-122"/>
              </a:rPr>
              <a:t>）没有合适的高级语言的场合。</a:t>
            </a:r>
          </a:p>
        </p:txBody>
      </p:sp>
      <p:sp>
        <p:nvSpPr>
          <p:cNvPr id="44041" name="Text Box 1029">
            <a:extLst>
              <a:ext uri="{FF2B5EF4-FFF2-40B4-BE49-F238E27FC236}">
                <a16:creationId xmlns:a16="http://schemas.microsoft.com/office/drawing/2014/main" id="{0CC65F11-C286-4F9E-83CC-7E9F2EC82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  <p:sp>
        <p:nvSpPr>
          <p:cNvPr id="44042" name="日期占位符 12">
            <a:extLst>
              <a:ext uri="{FF2B5EF4-FFF2-40B4-BE49-F238E27FC236}">
                <a16:creationId xmlns:a16="http://schemas.microsoft.com/office/drawing/2014/main" id="{457D93D0-7393-48D5-8CB9-D34EBB41166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3314720-0736-4777-97EA-280675F3635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3" name="灯片编号占位符 13">
            <a:extLst>
              <a:ext uri="{FF2B5EF4-FFF2-40B4-BE49-F238E27FC236}">
                <a16:creationId xmlns:a16="http://schemas.microsoft.com/office/drawing/2014/main" id="{4F567ADC-4631-4A2A-A0F8-044FC440BC3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15B2205-B11C-4E50-83F3-CD198658EB7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4" name="页脚占位符 14">
            <a:extLst>
              <a:ext uri="{FF2B5EF4-FFF2-40B4-BE49-F238E27FC236}">
                <a16:creationId xmlns:a16="http://schemas.microsoft.com/office/drawing/2014/main" id="{1872F74B-411C-4AAE-935A-68B2E2CAC93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1027">
            <a:extLst>
              <a:ext uri="{FF2B5EF4-FFF2-40B4-BE49-F238E27FC236}">
                <a16:creationId xmlns:a16="http://schemas.microsoft.com/office/drawing/2014/main" id="{FF5B4EA2-DCC7-44DD-B539-24F44F2B9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3" name="Line 1031">
            <a:extLst>
              <a:ext uri="{FF2B5EF4-FFF2-40B4-BE49-F238E27FC236}">
                <a16:creationId xmlns:a16="http://schemas.microsoft.com/office/drawing/2014/main" id="{D6286928-830E-453C-93F2-BDC6BCAEBC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4" name="AutoShape 1032">
            <a:extLst>
              <a:ext uri="{FF2B5EF4-FFF2-40B4-BE49-F238E27FC236}">
                <a16:creationId xmlns:a16="http://schemas.microsoft.com/office/drawing/2014/main" id="{17817D11-1A5A-483F-A78F-D9A3F2D32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5" name="AutoShape 1033">
            <a:extLst>
              <a:ext uri="{FF2B5EF4-FFF2-40B4-BE49-F238E27FC236}">
                <a16:creationId xmlns:a16="http://schemas.microsoft.com/office/drawing/2014/main" id="{CD5F87D0-9C63-47D0-8BA2-FC112BBDD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1CEDCA2-B6B0-48BE-9547-2A34ABA0171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6087" name="Text Box 1029">
            <a:extLst>
              <a:ext uri="{FF2B5EF4-FFF2-40B4-BE49-F238E27FC236}">
                <a16:creationId xmlns:a16="http://schemas.microsoft.com/office/drawing/2014/main" id="{011761EC-1EB1-4283-9309-9146144FC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908050"/>
            <a:ext cx="7200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0000D6"/>
                </a:solidFill>
                <a:ea typeface="宋体" panose="02010600030101010101" pitchFamily="2" charset="-122"/>
              </a:rPr>
              <a:t>四、</a:t>
            </a:r>
            <a:r>
              <a:rPr lang="en-US" altLang="zh-CN" sz="3600">
                <a:solidFill>
                  <a:srgbClr val="0000D6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600">
                <a:solidFill>
                  <a:srgbClr val="0000D6"/>
                </a:solidFill>
                <a:ea typeface="宋体" panose="02010600030101010101" pitchFamily="2" charset="-122"/>
              </a:rPr>
              <a:t>学习汇编语言的目的和方法</a:t>
            </a:r>
          </a:p>
        </p:txBody>
      </p:sp>
      <p:sp>
        <p:nvSpPr>
          <p:cNvPr id="46088" name="Text Box 9">
            <a:extLst>
              <a:ext uri="{FF2B5EF4-FFF2-40B4-BE49-F238E27FC236}">
                <a16:creationId xmlns:a16="http://schemas.microsoft.com/office/drawing/2014/main" id="{BC426557-8149-4AA2-A011-C98FF2ED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844675"/>
            <a:ext cx="7416800" cy="40322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）掌握汇编本身在直接控制硬件和高效时空方面的优势。编写出运行速度快、代码量小的高效程序。</a:t>
            </a:r>
          </a:p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）感知计算机的运行过程和原理。</a:t>
            </a:r>
          </a:p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）加深理解高级语言语句的执行过程，即使使用高级语言编程，也有助于有意识地编写更高效、健壮的程序代码。</a:t>
            </a:r>
          </a:p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4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）嵌入式编程使用汇编语言。</a:t>
            </a:r>
          </a:p>
        </p:txBody>
      </p:sp>
      <p:sp>
        <p:nvSpPr>
          <p:cNvPr id="46089" name="Text Box 15">
            <a:extLst>
              <a:ext uri="{FF2B5EF4-FFF2-40B4-BE49-F238E27FC236}">
                <a16:creationId xmlns:a16="http://schemas.microsoft.com/office/drawing/2014/main" id="{CB816F93-B9F0-4278-BE4F-DDBA5805C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349500"/>
            <a:ext cx="854075" cy="18002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400">
                <a:solidFill>
                  <a:schemeClr val="bg1"/>
                </a:solidFill>
                <a:ea typeface="楷体" panose="02010609060101010101" pitchFamily="49" charset="-122"/>
              </a:rPr>
              <a:t>  目的</a:t>
            </a:r>
          </a:p>
        </p:txBody>
      </p:sp>
      <p:sp>
        <p:nvSpPr>
          <p:cNvPr id="46090" name="日期占位符 12">
            <a:extLst>
              <a:ext uri="{FF2B5EF4-FFF2-40B4-BE49-F238E27FC236}">
                <a16:creationId xmlns:a16="http://schemas.microsoft.com/office/drawing/2014/main" id="{5F143F08-44C4-4668-91B1-7028EE0BBD1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EA5E7B7-9549-46BC-8985-9A5F28223EF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91" name="灯片编号占位符 13">
            <a:extLst>
              <a:ext uri="{FF2B5EF4-FFF2-40B4-BE49-F238E27FC236}">
                <a16:creationId xmlns:a16="http://schemas.microsoft.com/office/drawing/2014/main" id="{CE51C2C5-47DF-473B-A641-B5508E060AF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71C9CDD-E169-412A-8D58-8FE773165AD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92" name="页脚占位符 14">
            <a:extLst>
              <a:ext uri="{FF2B5EF4-FFF2-40B4-BE49-F238E27FC236}">
                <a16:creationId xmlns:a16="http://schemas.microsoft.com/office/drawing/2014/main" id="{4C7957F1-CF3E-4CD6-8986-C2A1EBAB756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46093" name="Text Box 1029">
            <a:extLst>
              <a:ext uri="{FF2B5EF4-FFF2-40B4-BE49-F238E27FC236}">
                <a16:creationId xmlns:a16="http://schemas.microsoft.com/office/drawing/2014/main" id="{F057C32C-BA34-49D7-B158-EAD8949C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08D0DDD2-EE96-4240-8C77-824F329C3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1" name="Line 1031">
            <a:extLst>
              <a:ext uri="{FF2B5EF4-FFF2-40B4-BE49-F238E27FC236}">
                <a16:creationId xmlns:a16="http://schemas.microsoft.com/office/drawing/2014/main" id="{0E19C772-81B1-402D-A5BF-9269965514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2" name="AutoShape 1032">
            <a:extLst>
              <a:ext uri="{FF2B5EF4-FFF2-40B4-BE49-F238E27FC236}">
                <a16:creationId xmlns:a16="http://schemas.microsoft.com/office/drawing/2014/main" id="{6939EC44-F68C-4F2D-8F4F-ABB16F9B1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9F60D3F1-C71B-411B-89C0-5DC3389D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ED6C314-8999-4458-BF25-A2A1247221E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5" name="Text Box 7">
            <a:extLst>
              <a:ext uri="{FF2B5EF4-FFF2-40B4-BE49-F238E27FC236}">
                <a16:creationId xmlns:a16="http://schemas.microsoft.com/office/drawing/2014/main" id="{3F451282-831E-4ED4-BC3F-A7D153666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12875"/>
            <a:ext cx="6067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2"/>
                </a:solidFill>
                <a:ea typeface="宋体" panose="02010600030101010101" pitchFamily="2" charset="-122"/>
              </a:rPr>
              <a:t>学习目的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2F1A77-B8BC-46FE-8287-5056DACAE680}"/>
              </a:ext>
            </a:extLst>
          </p:cNvPr>
          <p:cNvSpPr/>
          <p:nvPr/>
        </p:nvSpPr>
        <p:spPr>
          <a:xfrm>
            <a:off x="1331913" y="2708275"/>
            <a:ext cx="6335712" cy="2289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altLang="zh-CN" sz="32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6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学习汇编语言，有助于对计算机系统的理解、写出更好的程序。经常与高级语言配合使用，应用十分广泛。</a:t>
            </a:r>
          </a:p>
        </p:txBody>
      </p:sp>
      <p:sp>
        <p:nvSpPr>
          <p:cNvPr id="48137" name="日期占位符 12">
            <a:extLst>
              <a:ext uri="{FF2B5EF4-FFF2-40B4-BE49-F238E27FC236}">
                <a16:creationId xmlns:a16="http://schemas.microsoft.com/office/drawing/2014/main" id="{CCCC8885-722D-4585-B875-237186A0945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524CE79-4C28-48CD-B7A4-933ECACD33D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B5C2317-E6ED-45B5-A433-DDB1CA9FFABD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07AFFA8-13B5-469A-B6BA-BA1450D99C4D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页脚占位符 14">
            <a:extLst>
              <a:ext uri="{FF2B5EF4-FFF2-40B4-BE49-F238E27FC236}">
                <a16:creationId xmlns:a16="http://schemas.microsoft.com/office/drawing/2014/main" id="{05D42ED7-A9DA-418D-8308-6AE9C122A71C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48140" name="Text Box 1029">
            <a:extLst>
              <a:ext uri="{FF2B5EF4-FFF2-40B4-BE49-F238E27FC236}">
                <a16:creationId xmlns:a16="http://schemas.microsoft.com/office/drawing/2014/main" id="{483B5362-22B7-4C97-B46E-52146D094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1027">
            <a:extLst>
              <a:ext uri="{FF2B5EF4-FFF2-40B4-BE49-F238E27FC236}">
                <a16:creationId xmlns:a16="http://schemas.microsoft.com/office/drawing/2014/main" id="{744BB54E-CB1A-4B6C-A4B0-536402D09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Line 1031">
            <a:extLst>
              <a:ext uri="{FF2B5EF4-FFF2-40B4-BE49-F238E27FC236}">
                <a16:creationId xmlns:a16="http://schemas.microsoft.com/office/drawing/2014/main" id="{60505A55-13A3-45AE-B58F-84C654020E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180" name="AutoShape 1032">
            <a:extLst>
              <a:ext uri="{FF2B5EF4-FFF2-40B4-BE49-F238E27FC236}">
                <a16:creationId xmlns:a16="http://schemas.microsoft.com/office/drawing/2014/main" id="{898B3542-423C-4EDB-ACD1-56A8C85A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1" name="AutoShape 1033">
            <a:extLst>
              <a:ext uri="{FF2B5EF4-FFF2-40B4-BE49-F238E27FC236}">
                <a16:creationId xmlns:a16="http://schemas.microsoft.com/office/drawing/2014/main" id="{C373A521-5F56-412E-9669-5A53751D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11C44874-86D1-4B73-952F-4ED6523CA52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183" name="Text Box 7">
            <a:extLst>
              <a:ext uri="{FF2B5EF4-FFF2-40B4-BE49-F238E27FC236}">
                <a16:creationId xmlns:a16="http://schemas.microsoft.com/office/drawing/2014/main" id="{4C40F08D-DD88-4188-B0C1-1324B1BC9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838200"/>
            <a:ext cx="601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chemeClr val="tx2"/>
                </a:solidFill>
                <a:ea typeface="宋体" panose="02010600030101010101" pitchFamily="2" charset="-122"/>
              </a:rPr>
              <a:t>学习方法（注意事项）</a:t>
            </a:r>
          </a:p>
        </p:txBody>
      </p:sp>
      <p:sp>
        <p:nvSpPr>
          <p:cNvPr id="50184" name="Text Box 9">
            <a:extLst>
              <a:ext uri="{FF2B5EF4-FFF2-40B4-BE49-F238E27FC236}">
                <a16:creationId xmlns:a16="http://schemas.microsoft.com/office/drawing/2014/main" id="{F97B3D8C-22B9-4D2A-AEF1-8503D83E5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543050"/>
            <a:ext cx="7324725" cy="45243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）要了解处理器的结构及相关接口电路，掌握编程所必要的</a:t>
            </a:r>
            <a:r>
              <a:rPr lang="zh-CN" altLang="en-US" sz="3200">
                <a:solidFill>
                  <a:srgbClr val="0000D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汇编指令和</a:t>
            </a:r>
            <a:r>
              <a:rPr lang="en-US" altLang="zh-CN" sz="3200">
                <a:solidFill>
                  <a:srgbClr val="0000D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CPU</a:t>
            </a:r>
            <a:r>
              <a:rPr lang="zh-CN" altLang="en-US" sz="3200">
                <a:solidFill>
                  <a:srgbClr val="0000D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资源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。</a:t>
            </a:r>
          </a:p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lang="zh-CN" altLang="en-US" sz="3200">
                <a:solidFill>
                  <a:srgbClr val="0000D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循序渐进学习伪指令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，掌握汇编语言程序的基本编程要素和基本框架结构，以及养成良好的程序设计风格。</a:t>
            </a:r>
          </a:p>
          <a:p>
            <a:pPr algn="just"/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3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）要通过</a:t>
            </a:r>
            <a:r>
              <a:rPr lang="zh-CN" altLang="en-US" sz="32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上机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运行程序，检查程序的正确性。评价学习好坏的标准不是“知道不知道”，而是“会用不会用”。</a:t>
            </a:r>
            <a:endParaRPr lang="zh-CN" altLang="en-US" b="0"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50185" name="日期占位符 12">
            <a:extLst>
              <a:ext uri="{FF2B5EF4-FFF2-40B4-BE49-F238E27FC236}">
                <a16:creationId xmlns:a16="http://schemas.microsoft.com/office/drawing/2014/main" id="{B419FB5D-3E29-4FA9-AD4A-F23496C4AE9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AA2C532-8FEF-441F-BDF5-021D50B6BD6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86" name="灯片编号占位符 13">
            <a:extLst>
              <a:ext uri="{FF2B5EF4-FFF2-40B4-BE49-F238E27FC236}">
                <a16:creationId xmlns:a16="http://schemas.microsoft.com/office/drawing/2014/main" id="{F447DA2B-FEA7-4B31-BF3C-FE134DA77A2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3A0FB7C-AB51-4894-B330-6600096DA98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87" name="页脚占位符 14">
            <a:extLst>
              <a:ext uri="{FF2B5EF4-FFF2-40B4-BE49-F238E27FC236}">
                <a16:creationId xmlns:a16="http://schemas.microsoft.com/office/drawing/2014/main" id="{4AF8F1A1-EF8E-46F2-ADC2-5558D3F92CE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50188" name="Text Box 1029">
            <a:extLst>
              <a:ext uri="{FF2B5EF4-FFF2-40B4-BE49-F238E27FC236}">
                <a16:creationId xmlns:a16="http://schemas.microsoft.com/office/drawing/2014/main" id="{5661F35C-DA5C-4FEF-A513-C5C403F2B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1027">
            <a:extLst>
              <a:ext uri="{FF2B5EF4-FFF2-40B4-BE49-F238E27FC236}">
                <a16:creationId xmlns:a16="http://schemas.microsoft.com/office/drawing/2014/main" id="{540F90B0-19D0-4106-866D-31C12F522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7" name="Line 1031">
            <a:extLst>
              <a:ext uri="{FF2B5EF4-FFF2-40B4-BE49-F238E27FC236}">
                <a16:creationId xmlns:a16="http://schemas.microsoft.com/office/drawing/2014/main" id="{09802033-C24B-4C9B-915C-A178570A2C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28" name="AutoShape 1032">
            <a:extLst>
              <a:ext uri="{FF2B5EF4-FFF2-40B4-BE49-F238E27FC236}">
                <a16:creationId xmlns:a16="http://schemas.microsoft.com/office/drawing/2014/main" id="{D8D46FFE-D948-4C20-B081-83B27A7EC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9" name="AutoShape 1033">
            <a:extLst>
              <a:ext uri="{FF2B5EF4-FFF2-40B4-BE49-F238E27FC236}">
                <a16:creationId xmlns:a16="http://schemas.microsoft.com/office/drawing/2014/main" id="{3D3FDE04-6C5A-43B5-BF72-0E814AEBA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10ACF48-9AC8-44D7-A30B-27941146194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42" name="Text Box 6">
            <a:extLst>
              <a:ext uri="{FF2B5EF4-FFF2-40B4-BE49-F238E27FC236}">
                <a16:creationId xmlns:a16="http://schemas.microsoft.com/office/drawing/2014/main" id="{E7DCBF9A-617B-4BDA-B5AE-4DC7F6A9E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484313"/>
            <a:ext cx="68405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（</a:t>
            </a:r>
            <a:r>
              <a:rPr lang="en-US" altLang="zh-CN" sz="32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32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）课程的性质、目的与要求</a:t>
            </a:r>
            <a:r>
              <a:rPr lang="zh-CN" altLang="en-US" sz="3600">
                <a:latin typeface="楷体_GB2312"/>
                <a:ea typeface="楷体_GB2312"/>
                <a:cs typeface="楷体_GB2312"/>
              </a:rPr>
              <a:t>	</a:t>
            </a:r>
            <a:endParaRPr lang="en-US" altLang="zh-CN" sz="3600"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en-US" altLang="zh-CN" sz="3600">
                <a:latin typeface="宋体" panose="02010600030101010101" pitchFamily="2" charset="-122"/>
                <a:ea typeface="楷体_GB2312"/>
                <a:cs typeface="楷体_GB2312"/>
              </a:rPr>
              <a:t>	  </a:t>
            </a:r>
            <a:r>
              <a:rPr lang="zh-CN" altLang="en-US" sz="3200">
                <a:solidFill>
                  <a:srgbClr val="0000D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专业基础课，必修课</a:t>
            </a:r>
            <a:r>
              <a:rPr lang="en-US" altLang="zh-CN" sz="32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ea typeface="宋体" panose="02010600030101010101" pitchFamily="2" charset="-122"/>
              </a:rPr>
              <a:t>	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sp>
        <p:nvSpPr>
          <p:cNvPr id="52232" name="矩形 12">
            <a:extLst>
              <a:ext uri="{FF2B5EF4-FFF2-40B4-BE49-F238E27FC236}">
                <a16:creationId xmlns:a16="http://schemas.microsoft.com/office/drawing/2014/main" id="{E3A46351-D756-45BE-9153-298A9C280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24175"/>
            <a:ext cx="6429375" cy="3046413"/>
          </a:xfrm>
          <a:prstGeom prst="rect">
            <a:avLst/>
          </a:prstGeom>
          <a:solidFill>
            <a:srgbClr val="D1E1FF"/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lvl="1"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       </a:t>
            </a:r>
            <a:r>
              <a:rPr lang="zh-CN" altLang="en-US" sz="3200" dirty="0">
                <a:latin typeface="+mn-ea"/>
                <a:ea typeface="+mn-ea"/>
                <a:cs typeface="楷体_GB2312"/>
              </a:rPr>
              <a:t>本课程以</a:t>
            </a:r>
            <a:r>
              <a:rPr lang="en-US" altLang="zh-CN" sz="3200" dirty="0">
                <a:latin typeface="+mn-ea"/>
                <a:ea typeface="+mn-ea"/>
                <a:cs typeface="楷体_GB2312"/>
              </a:rPr>
              <a:t>80x86</a:t>
            </a:r>
            <a:r>
              <a:rPr lang="zh-CN" altLang="en-US" sz="3200" dirty="0">
                <a:latin typeface="+mn-ea"/>
                <a:ea typeface="+mn-ea"/>
                <a:cs typeface="楷体_GB2312"/>
              </a:rPr>
              <a:t>系列微型计算机为特定对象，系统地介绍了汇编语言程序设计的基本知识、基本原理和程序设计技术。</a:t>
            </a:r>
            <a:endParaRPr lang="en-US" altLang="zh-CN" sz="3200" dirty="0">
              <a:latin typeface="+mn-ea"/>
              <a:ea typeface="+mn-ea"/>
              <a:cs typeface="楷体_GB2312"/>
            </a:endParaRPr>
          </a:p>
          <a:p>
            <a:pPr marL="0" lvl="1">
              <a:defRPr/>
            </a:pPr>
            <a:r>
              <a:rPr lang="en-US" altLang="zh-CN" sz="3200" dirty="0">
                <a:latin typeface="+mn-ea"/>
                <a:ea typeface="+mn-ea"/>
                <a:cs typeface="楷体_GB2312"/>
              </a:rPr>
              <a:t>    </a:t>
            </a:r>
            <a:r>
              <a:rPr lang="zh-CN" altLang="en-US" sz="3200" dirty="0">
                <a:latin typeface="+mn-ea"/>
                <a:ea typeface="+mn-ea"/>
                <a:cs typeface="楷体_GB2312"/>
              </a:rPr>
              <a:t>课程要求掌握汇编语言及程序设计的基本方法和基本技能。</a:t>
            </a:r>
          </a:p>
        </p:txBody>
      </p:sp>
      <p:sp>
        <p:nvSpPr>
          <p:cNvPr id="52233" name="Text Box 1029">
            <a:extLst>
              <a:ext uri="{FF2B5EF4-FFF2-40B4-BE49-F238E27FC236}">
                <a16:creationId xmlns:a16="http://schemas.microsoft.com/office/drawing/2014/main" id="{E5923E1F-C479-420F-A144-069CA7B98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765175"/>
            <a:ext cx="4464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0000D6"/>
                </a:solidFill>
                <a:ea typeface="宋体" panose="02010600030101010101" pitchFamily="2" charset="-122"/>
              </a:rPr>
              <a:t>五、</a:t>
            </a:r>
            <a:r>
              <a:rPr lang="en-US" altLang="zh-CN" sz="3600">
                <a:solidFill>
                  <a:srgbClr val="0000D6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600">
                <a:solidFill>
                  <a:srgbClr val="0000D6"/>
                </a:solidFill>
                <a:ea typeface="宋体" panose="02010600030101010101" pitchFamily="2" charset="-122"/>
              </a:rPr>
              <a:t>关于课程</a:t>
            </a:r>
          </a:p>
        </p:txBody>
      </p:sp>
      <p:sp>
        <p:nvSpPr>
          <p:cNvPr id="52234" name="日期占位符 12">
            <a:extLst>
              <a:ext uri="{FF2B5EF4-FFF2-40B4-BE49-F238E27FC236}">
                <a16:creationId xmlns:a16="http://schemas.microsoft.com/office/drawing/2014/main" id="{F7C19023-0804-4D78-9754-5DFE8529A57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91FC228-A45E-4CA5-92E1-C44F8A29403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35" name="灯片编号占位符 13">
            <a:extLst>
              <a:ext uri="{FF2B5EF4-FFF2-40B4-BE49-F238E27FC236}">
                <a16:creationId xmlns:a16="http://schemas.microsoft.com/office/drawing/2014/main" id="{77367060-0B14-4A6B-9878-76F9947A5FD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4A2F9349-A4D2-4868-9A15-A3ADE857A25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36" name="页脚占位符 14">
            <a:extLst>
              <a:ext uri="{FF2B5EF4-FFF2-40B4-BE49-F238E27FC236}">
                <a16:creationId xmlns:a16="http://schemas.microsoft.com/office/drawing/2014/main" id="{0152FD75-7257-45FF-BB36-EFEC75ABA4B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52237" name="Text Box 1029">
            <a:extLst>
              <a:ext uri="{FF2B5EF4-FFF2-40B4-BE49-F238E27FC236}">
                <a16:creationId xmlns:a16="http://schemas.microsoft.com/office/drawing/2014/main" id="{54FF8E04-3C3F-40EA-AB52-A347B9BE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1027">
            <a:extLst>
              <a:ext uri="{FF2B5EF4-FFF2-40B4-BE49-F238E27FC236}">
                <a16:creationId xmlns:a16="http://schemas.microsoft.com/office/drawing/2014/main" id="{22765F30-58AD-443E-A014-6DC2063A0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5" name="Line 1031">
            <a:extLst>
              <a:ext uri="{FF2B5EF4-FFF2-40B4-BE49-F238E27FC236}">
                <a16:creationId xmlns:a16="http://schemas.microsoft.com/office/drawing/2014/main" id="{D47DBCB1-1839-445B-89C1-7D46CCF062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76" name="AutoShape 1032">
            <a:extLst>
              <a:ext uri="{FF2B5EF4-FFF2-40B4-BE49-F238E27FC236}">
                <a16:creationId xmlns:a16="http://schemas.microsoft.com/office/drawing/2014/main" id="{EEECC7EF-147F-481F-B8AE-C855903EF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7" name="AutoShape 1033">
            <a:extLst>
              <a:ext uri="{FF2B5EF4-FFF2-40B4-BE49-F238E27FC236}">
                <a16:creationId xmlns:a16="http://schemas.microsoft.com/office/drawing/2014/main" id="{140EA7B6-2F1E-4D26-BF54-E3DBB721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5F066A7-09FE-4CAA-8398-0EA8BDC1368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065ED072-A337-4D72-9DBD-B845E40F5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20938"/>
            <a:ext cx="6381750" cy="301625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</a:rPr>
              <a:t>（一）汇编语言编程的硬件基础</a:t>
            </a:r>
          </a:p>
          <a:p>
            <a:pPr algn="just"/>
            <a:r>
              <a:rPr lang="zh-CN" altLang="en-US" sz="3200">
                <a:ea typeface="宋体" panose="02010600030101010101" pitchFamily="2" charset="-122"/>
              </a:rPr>
              <a:t>（二）寻址方式和指令系统</a:t>
            </a:r>
          </a:p>
          <a:p>
            <a:pPr algn="just"/>
            <a:r>
              <a:rPr lang="zh-CN" altLang="en-US" sz="3200">
                <a:ea typeface="宋体" panose="02010600030101010101" pitchFamily="2" charset="-122"/>
              </a:rPr>
              <a:t>（三）汇编语言程序格式</a:t>
            </a:r>
          </a:p>
          <a:p>
            <a:pPr algn="just"/>
            <a:r>
              <a:rPr lang="zh-CN" altLang="en-US" sz="3200">
                <a:ea typeface="宋体" panose="02010600030101010101" pitchFamily="2" charset="-122"/>
              </a:rPr>
              <a:t>（四）基本程序设计技术</a:t>
            </a:r>
          </a:p>
          <a:p>
            <a:pPr algn="just"/>
            <a:r>
              <a:rPr lang="zh-CN" altLang="en-US" sz="3200">
                <a:ea typeface="宋体" panose="02010600030101010101" pitchFamily="2" charset="-122"/>
              </a:rPr>
              <a:t>（五）子程序设计</a:t>
            </a:r>
          </a:p>
          <a:p>
            <a:pPr algn="just"/>
            <a:r>
              <a:rPr lang="zh-CN" altLang="en-US" sz="3200">
                <a:ea typeface="宋体" panose="02010600030101010101" pitchFamily="2" charset="-122"/>
              </a:rPr>
              <a:t>（六）输入输出程序设计</a:t>
            </a:r>
          </a:p>
        </p:txBody>
      </p:sp>
      <p:sp>
        <p:nvSpPr>
          <p:cNvPr id="54280" name="Rectangle 12">
            <a:extLst>
              <a:ext uri="{FF2B5EF4-FFF2-40B4-BE49-F238E27FC236}">
                <a16:creationId xmlns:a16="http://schemas.microsoft.com/office/drawing/2014/main" id="{49197D7E-B951-42A5-9068-0D1CF31C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268413"/>
            <a:ext cx="446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宋体" panose="02010600030101010101" pitchFamily="2" charset="-122"/>
              </a:rPr>
              <a:t>课程教学的基本内容</a:t>
            </a:r>
          </a:p>
        </p:txBody>
      </p:sp>
      <p:sp>
        <p:nvSpPr>
          <p:cNvPr id="54281" name="日期占位符 12">
            <a:extLst>
              <a:ext uri="{FF2B5EF4-FFF2-40B4-BE49-F238E27FC236}">
                <a16:creationId xmlns:a16="http://schemas.microsoft.com/office/drawing/2014/main" id="{20DF4484-1BEB-440D-9738-61623F8FE9F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73F46DB-2FB9-4B04-AC35-D3F75C2E4F0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82" name="灯片编号占位符 13">
            <a:extLst>
              <a:ext uri="{FF2B5EF4-FFF2-40B4-BE49-F238E27FC236}">
                <a16:creationId xmlns:a16="http://schemas.microsoft.com/office/drawing/2014/main" id="{EE4CB45D-DD6A-4C69-9738-AF878E1054CD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EAF1550-3CA2-4299-A61C-6EE142D9085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83" name="页脚占位符 14">
            <a:extLst>
              <a:ext uri="{FF2B5EF4-FFF2-40B4-BE49-F238E27FC236}">
                <a16:creationId xmlns:a16="http://schemas.microsoft.com/office/drawing/2014/main" id="{5DE8E46D-6AC7-4BA6-8BE2-A2286CD4F90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54284" name="Text Box 1029">
            <a:extLst>
              <a:ext uri="{FF2B5EF4-FFF2-40B4-BE49-F238E27FC236}">
                <a16:creationId xmlns:a16="http://schemas.microsoft.com/office/drawing/2014/main" id="{DD827CA6-EC2B-482B-A026-20E62E513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1.1 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汇编语言概述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1027">
            <a:extLst>
              <a:ext uri="{FF2B5EF4-FFF2-40B4-BE49-F238E27FC236}">
                <a16:creationId xmlns:a16="http://schemas.microsoft.com/office/drawing/2014/main" id="{945C17D9-E2D1-4CA0-8532-489E3E1D3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7" name="Text Box 1029">
            <a:extLst>
              <a:ext uri="{FF2B5EF4-FFF2-40B4-BE49-F238E27FC236}">
                <a16:creationId xmlns:a16="http://schemas.microsoft.com/office/drawing/2014/main" id="{6EC69B1C-BE5C-4E52-80DC-FD868680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188913"/>
            <a:ext cx="2808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</a:rPr>
              <a:t>章 基础知识</a:t>
            </a:r>
          </a:p>
        </p:txBody>
      </p:sp>
      <p:sp>
        <p:nvSpPr>
          <p:cNvPr id="62468" name="Line 1031">
            <a:extLst>
              <a:ext uri="{FF2B5EF4-FFF2-40B4-BE49-F238E27FC236}">
                <a16:creationId xmlns:a16="http://schemas.microsoft.com/office/drawing/2014/main" id="{18DE497D-FC70-40E7-9F74-D4838BAA72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469" name="AutoShape 1032">
            <a:extLst>
              <a:ext uri="{FF2B5EF4-FFF2-40B4-BE49-F238E27FC236}">
                <a16:creationId xmlns:a16="http://schemas.microsoft.com/office/drawing/2014/main" id="{BAA27F6D-1A68-4971-8C55-B4E07D6A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2470" name="AutoShape 1033">
            <a:extLst>
              <a:ext uri="{FF2B5EF4-FFF2-40B4-BE49-F238E27FC236}">
                <a16:creationId xmlns:a16="http://schemas.microsoft.com/office/drawing/2014/main" id="{6CF428B9-87E1-40CA-9D45-0355AF84A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2471" name="日期占位符 12">
            <a:extLst>
              <a:ext uri="{FF2B5EF4-FFF2-40B4-BE49-F238E27FC236}">
                <a16:creationId xmlns:a16="http://schemas.microsoft.com/office/drawing/2014/main" id="{98C53504-3101-40FC-A51D-9A8C05B291F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24BBB82-0C7C-4523-959E-DA505EA2462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472" name="灯片编号占位符 13">
            <a:extLst>
              <a:ext uri="{FF2B5EF4-FFF2-40B4-BE49-F238E27FC236}">
                <a16:creationId xmlns:a16="http://schemas.microsoft.com/office/drawing/2014/main" id="{0978A0C8-7F25-44A9-85ED-66885DFECF0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0AE63EF-3286-4324-8A68-4571DD5A0E7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3ED6AEF-0BD3-46ED-B8FC-5AFD6C6CC0D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2474" name="Rectangle 7">
            <a:extLst>
              <a:ext uri="{FF2B5EF4-FFF2-40B4-BE49-F238E27FC236}">
                <a16:creationId xmlns:a16="http://schemas.microsoft.com/office/drawing/2014/main" id="{A2D99D0A-359B-4D63-9E67-12D21BAD7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20713"/>
            <a:ext cx="54721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FF3300"/>
                </a:solidFill>
                <a:ea typeface="楷体_GB2312"/>
                <a:cs typeface="楷体_GB2312"/>
              </a:rPr>
              <a:t>1.2  </a:t>
            </a:r>
            <a:r>
              <a:rPr lang="zh-CN" altLang="en-US" sz="4000">
                <a:solidFill>
                  <a:srgbClr val="FF3300"/>
                </a:solidFill>
                <a:ea typeface="楷体_GB2312"/>
                <a:cs typeface="楷体_GB2312"/>
              </a:rPr>
              <a:t>数制及其转换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AB3A194F-1069-4F5F-8CCF-A2FFA2C1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700213"/>
            <a:ext cx="48958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一、常用数制</a:t>
            </a:r>
          </a:p>
        </p:txBody>
      </p:sp>
      <p:sp>
        <p:nvSpPr>
          <p:cNvPr id="62476" name="页脚占位符 14">
            <a:extLst>
              <a:ext uri="{FF2B5EF4-FFF2-40B4-BE49-F238E27FC236}">
                <a16:creationId xmlns:a16="http://schemas.microsoft.com/office/drawing/2014/main" id="{CCCD1617-7802-42D2-A9BF-1D4E50B327F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3276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  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F637687A-59FD-4C05-BFCB-AEF4254F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565400"/>
            <a:ext cx="7129462" cy="25542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accent2"/>
                </a:solidFill>
              </a:rPr>
              <a:t>	</a:t>
            </a:r>
            <a:r>
              <a:rPr lang="zh-CN" altLang="en-US" sz="3200">
                <a:latin typeface="仿宋" panose="02010609060101010101" pitchFamily="49" charset="-122"/>
                <a:ea typeface="仿宋" panose="02010609060101010101" pitchFamily="49" charset="-122"/>
              </a:rPr>
              <a:t>数制也称计数制，是指用一组固定的符号和统一的规则来表示数值的方法。</a:t>
            </a:r>
          </a:p>
          <a:p>
            <a:pPr algn="just"/>
            <a:r>
              <a:rPr lang="zh-CN" altLang="en-US" sz="3200">
                <a:latin typeface="仿宋" panose="02010609060101010101" pitchFamily="49" charset="-122"/>
                <a:ea typeface="仿宋" panose="02010609060101010101" pitchFamily="49" charset="-122"/>
              </a:rPr>
              <a:t>	按进位的原则进行计数的方法称为</a:t>
            </a:r>
            <a:r>
              <a:rPr lang="zh-CN" altLang="en-US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进位计数制</a:t>
            </a:r>
            <a:r>
              <a:rPr lang="zh-CN" altLang="en-US" sz="320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r>
              <a:rPr lang="en-US" altLang="zh-CN" sz="3200"/>
              <a:t>	</a:t>
            </a:r>
            <a:endParaRPr lang="en-US" altLang="zh-CN" sz="32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63A3D5D7-5E44-4ECB-B5C9-835A6A4B9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300663"/>
            <a:ext cx="5184775" cy="646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dirty="0">
                <a:latin typeface="楷体" pitchFamily="49" charset="-122"/>
                <a:ea typeface="楷体" pitchFamily="49" charset="-122"/>
              </a:rPr>
              <a:t>常用二、十、十六进制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  <p:bldP spid="13" grpId="0" animBg="1" autoUpdateAnimBg="0"/>
      <p:bldP spid="1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1027">
            <a:extLst>
              <a:ext uri="{FF2B5EF4-FFF2-40B4-BE49-F238E27FC236}">
                <a16:creationId xmlns:a16="http://schemas.microsoft.com/office/drawing/2014/main" id="{998CDA75-C50E-4F0F-963A-5C60C08CD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5" name="Line 1031">
            <a:extLst>
              <a:ext uri="{FF2B5EF4-FFF2-40B4-BE49-F238E27FC236}">
                <a16:creationId xmlns:a16="http://schemas.microsoft.com/office/drawing/2014/main" id="{D93F18CD-0612-4506-AD5D-15DDA91FC1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6" name="AutoShape 1032">
            <a:extLst>
              <a:ext uri="{FF2B5EF4-FFF2-40B4-BE49-F238E27FC236}">
                <a16:creationId xmlns:a16="http://schemas.microsoft.com/office/drawing/2014/main" id="{0C3D51A2-3B65-474A-9BD7-EF0AE015A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4517" name="AutoShape 1033">
            <a:extLst>
              <a:ext uri="{FF2B5EF4-FFF2-40B4-BE49-F238E27FC236}">
                <a16:creationId xmlns:a16="http://schemas.microsoft.com/office/drawing/2014/main" id="{18ACF274-8AB1-4498-8755-65FE57068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4518" name="日期占位符 12">
            <a:extLst>
              <a:ext uri="{FF2B5EF4-FFF2-40B4-BE49-F238E27FC236}">
                <a16:creationId xmlns:a16="http://schemas.microsoft.com/office/drawing/2014/main" id="{AFC48DD5-2D3D-470C-BE6A-702A446444A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E29CA37-8BC1-4A18-9819-0EC078D27174}" type="datetime1">
              <a:rPr kumimoji="0" lang="zh-CN" altLang="en-US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9" name="灯片编号占位符 13">
            <a:extLst>
              <a:ext uri="{FF2B5EF4-FFF2-40B4-BE49-F238E27FC236}">
                <a16:creationId xmlns:a16="http://schemas.microsoft.com/office/drawing/2014/main" id="{DFEF5D22-83F8-45F2-B29C-503278E78EFA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B67F742-0578-407F-9B15-21A1E27861A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6A096C1-8832-461B-A4FE-F60A0F5EBE9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4521" name="Text Box 14">
            <a:extLst>
              <a:ext uri="{FF2B5EF4-FFF2-40B4-BE49-F238E27FC236}">
                <a16:creationId xmlns:a16="http://schemas.microsoft.com/office/drawing/2014/main" id="{1779C93D-2E4B-41FB-8891-6C013C3DC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28775"/>
            <a:ext cx="7345362" cy="175418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accent2"/>
                </a:solidFill>
              </a:rPr>
              <a:t>	</a:t>
            </a:r>
            <a:r>
              <a:rPr lang="zh-CN" altLang="en-US" sz="3600">
                <a:solidFill>
                  <a:srgbClr val="0000D6"/>
                </a:solidFill>
              </a:rPr>
              <a:t>计算机内的全部信息，如数值、图形、文字、程序等都用二进制表示。</a:t>
            </a:r>
            <a:endParaRPr lang="zh-CN" altLang="en-US" sz="2800">
              <a:solidFill>
                <a:srgbClr val="0000D6"/>
              </a:solidFill>
            </a:endParaRPr>
          </a:p>
        </p:txBody>
      </p:sp>
      <p:sp>
        <p:nvSpPr>
          <p:cNvPr id="64522" name="Text Box 15">
            <a:extLst>
              <a:ext uri="{FF2B5EF4-FFF2-40B4-BE49-F238E27FC236}">
                <a16:creationId xmlns:a16="http://schemas.microsoft.com/office/drawing/2014/main" id="{D9C4FA74-EF1C-476F-8BE7-DC3FC7FB8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860800"/>
            <a:ext cx="748823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ea typeface="楷体" panose="02010609060101010101" pitchFamily="49" charset="-122"/>
              </a:rPr>
              <a:t>	</a:t>
            </a:r>
            <a:r>
              <a:rPr lang="zh-CN" altLang="en-US" sz="3200">
                <a:ea typeface="楷体" panose="02010609060101010101" pitchFamily="49" charset="-122"/>
              </a:rPr>
              <a:t>采用二进制的优势：电子器件的实现容易、二进制运算简单、便于进行逻辑运算、可靠性高。</a:t>
            </a:r>
          </a:p>
        </p:txBody>
      </p:sp>
      <p:sp>
        <p:nvSpPr>
          <p:cNvPr id="64523" name="Text Box 1029">
            <a:extLst>
              <a:ext uri="{FF2B5EF4-FFF2-40B4-BE49-F238E27FC236}">
                <a16:creationId xmlns:a16="http://schemas.microsoft.com/office/drawing/2014/main" id="{654C866E-CBB5-494D-92BF-8161F5F22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64524" name="页脚占位符 14">
            <a:extLst>
              <a:ext uri="{FF2B5EF4-FFF2-40B4-BE49-F238E27FC236}">
                <a16:creationId xmlns:a16="http://schemas.microsoft.com/office/drawing/2014/main" id="{1792DE4A-8BF4-4433-A8EA-AB1BBE4EE2C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64525" name="TextBox 14">
            <a:extLst>
              <a:ext uri="{FF2B5EF4-FFF2-40B4-BE49-F238E27FC236}">
                <a16:creationId xmlns:a16="http://schemas.microsoft.com/office/drawing/2014/main" id="{C932C5D3-CF93-4B7D-8EE6-092948B81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1341438"/>
            <a:ext cx="6762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>
              <a:spcBef>
                <a:spcPct val="50000"/>
              </a:spcBef>
            </a:pPr>
            <a:endParaRPr lang="zh-CN" altLang="en-US" sz="3200">
              <a:solidFill>
                <a:srgbClr val="660066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1027">
            <a:extLst>
              <a:ext uri="{FF2B5EF4-FFF2-40B4-BE49-F238E27FC236}">
                <a16:creationId xmlns:a16="http://schemas.microsoft.com/office/drawing/2014/main" id="{7EFB8CDD-9F6B-4AAC-8218-BD712CA6E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3" name="Line 1031">
            <a:extLst>
              <a:ext uri="{FF2B5EF4-FFF2-40B4-BE49-F238E27FC236}">
                <a16:creationId xmlns:a16="http://schemas.microsoft.com/office/drawing/2014/main" id="{40E776E8-9364-4F31-8E3A-0A0E1352D4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4" name="AutoShape 1032">
            <a:extLst>
              <a:ext uri="{FF2B5EF4-FFF2-40B4-BE49-F238E27FC236}">
                <a16:creationId xmlns:a16="http://schemas.microsoft.com/office/drawing/2014/main" id="{0849C1FA-B91E-4DE6-85B4-A9F54866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6565" name="AutoShape 1033">
            <a:extLst>
              <a:ext uri="{FF2B5EF4-FFF2-40B4-BE49-F238E27FC236}">
                <a16:creationId xmlns:a16="http://schemas.microsoft.com/office/drawing/2014/main" id="{7D9BFEFD-6679-40D3-8978-ED8EC1E1E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6566" name="日期占位符 12">
            <a:extLst>
              <a:ext uri="{FF2B5EF4-FFF2-40B4-BE49-F238E27FC236}">
                <a16:creationId xmlns:a16="http://schemas.microsoft.com/office/drawing/2014/main" id="{75AA9387-48A1-45B6-B3F5-2B465B9FCE4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69AEB05-07E4-4659-9D0C-419B1847518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7" name="灯片编号占位符 13">
            <a:extLst>
              <a:ext uri="{FF2B5EF4-FFF2-40B4-BE49-F238E27FC236}">
                <a16:creationId xmlns:a16="http://schemas.microsoft.com/office/drawing/2014/main" id="{EB30BFE4-0C57-4BB6-8B2E-B7C1E93039F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A934CC9-BBA1-40AE-9889-A2DBE5AC0F2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AD1A358-B7A0-481A-830E-55D1D5F5911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7A94AB53-7999-4F8D-89BA-09A4E2648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1075"/>
            <a:ext cx="8280400" cy="353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solidFill>
                  <a:schemeClr val="accent2"/>
                </a:solidFill>
              </a:rPr>
              <a:t>	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十进制</a:t>
            </a:r>
            <a:r>
              <a:rPr lang="zh-CN" altLang="en-US" sz="3200" dirty="0">
                <a:ea typeface="楷体_GB2312"/>
              </a:rPr>
              <a:t>是</a:t>
            </a:r>
            <a:r>
              <a:rPr lang="zh-CN" altLang="en-US" sz="3200" u="sng" dirty="0">
                <a:solidFill>
                  <a:srgbClr val="0000D6"/>
                </a:solidFill>
                <a:ea typeface="楷体_GB2312"/>
              </a:rPr>
              <a:t>人</a:t>
            </a:r>
            <a:r>
              <a:rPr lang="zh-CN" altLang="en-US" sz="3200" dirty="0">
                <a:ea typeface="楷体_GB2312"/>
              </a:rPr>
              <a:t>最熟悉、最</a:t>
            </a:r>
            <a:r>
              <a:rPr lang="zh-CN" altLang="en-US" sz="3200" u="sng" dirty="0">
                <a:ea typeface="楷体_GB2312"/>
              </a:rPr>
              <a:t>常用</a:t>
            </a:r>
            <a:r>
              <a:rPr lang="zh-CN" altLang="en-US" sz="3200" dirty="0">
                <a:ea typeface="楷体_GB2312"/>
              </a:rPr>
              <a:t>的数制，它的基数为</a:t>
            </a:r>
            <a:r>
              <a:rPr lang="en-US" altLang="zh-CN" sz="3200" dirty="0">
                <a:ea typeface="楷体_GB2312"/>
              </a:rPr>
              <a:t>10</a:t>
            </a:r>
            <a:r>
              <a:rPr lang="zh-CN" altLang="en-US" sz="3200" dirty="0">
                <a:ea typeface="楷体_GB2312"/>
              </a:rPr>
              <a:t>，数码为</a:t>
            </a:r>
            <a:r>
              <a:rPr lang="en-US" altLang="zh-CN" sz="3200" dirty="0">
                <a:ea typeface="楷体_GB2312"/>
              </a:rPr>
              <a:t>0~9</a:t>
            </a:r>
            <a:r>
              <a:rPr lang="zh-CN" altLang="en-US" sz="3200" dirty="0">
                <a:ea typeface="楷体_GB2312"/>
              </a:rPr>
              <a:t>，</a:t>
            </a:r>
            <a:r>
              <a:rPr lang="zh-CN" altLang="en-US" sz="3200" i="1" dirty="0">
                <a:solidFill>
                  <a:srgbClr val="FF9900"/>
                </a:solidFill>
                <a:ea typeface="楷体_GB2312"/>
              </a:rPr>
              <a:t>逢十进一</a:t>
            </a:r>
            <a:r>
              <a:rPr lang="zh-CN" altLang="en-US" sz="3200" dirty="0">
                <a:ea typeface="楷体_GB2312"/>
              </a:rPr>
              <a:t>。</a:t>
            </a:r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</a:rPr>
              <a:t>	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二进制</a:t>
            </a:r>
            <a:r>
              <a:rPr lang="zh-CN" altLang="en-US" sz="3200" dirty="0">
                <a:ea typeface="楷体_GB2312"/>
              </a:rPr>
              <a:t>是</a:t>
            </a:r>
            <a:r>
              <a:rPr lang="zh-CN" altLang="en-US" sz="3200" u="sng" dirty="0">
                <a:solidFill>
                  <a:srgbClr val="0000D6"/>
                </a:solidFill>
                <a:ea typeface="楷体_GB2312"/>
              </a:rPr>
              <a:t>计算机</a:t>
            </a:r>
            <a:r>
              <a:rPr lang="zh-CN" altLang="en-US" sz="3200" dirty="0">
                <a:ea typeface="楷体_GB2312"/>
              </a:rPr>
              <a:t>中采用的计数法，它的基数为</a:t>
            </a:r>
            <a:r>
              <a:rPr lang="en-US" altLang="zh-CN" sz="3200" dirty="0">
                <a:ea typeface="楷体_GB2312"/>
              </a:rPr>
              <a:t>2</a:t>
            </a:r>
            <a:r>
              <a:rPr lang="zh-CN" altLang="en-US" sz="3200" dirty="0">
                <a:ea typeface="楷体_GB2312"/>
              </a:rPr>
              <a:t>，数码个数为</a:t>
            </a:r>
            <a:r>
              <a:rPr lang="en-US" altLang="zh-CN" sz="3200" dirty="0">
                <a:ea typeface="楷体_GB2312"/>
              </a:rPr>
              <a:t>0</a:t>
            </a:r>
            <a:r>
              <a:rPr lang="zh-CN" altLang="en-US" sz="3200" dirty="0">
                <a:ea typeface="楷体_GB2312"/>
              </a:rPr>
              <a:t>、</a:t>
            </a:r>
            <a:r>
              <a:rPr lang="en-US" altLang="zh-CN" sz="3200" dirty="0">
                <a:ea typeface="楷体_GB2312"/>
              </a:rPr>
              <a:t>1</a:t>
            </a:r>
            <a:r>
              <a:rPr lang="zh-CN" altLang="en-US" sz="3200" dirty="0">
                <a:ea typeface="楷体_GB2312"/>
              </a:rPr>
              <a:t>，</a:t>
            </a:r>
            <a:r>
              <a:rPr lang="zh-CN" altLang="en-US" sz="3200" i="1" dirty="0">
                <a:solidFill>
                  <a:srgbClr val="FF9900"/>
                </a:solidFill>
                <a:ea typeface="楷体_GB2312"/>
              </a:rPr>
              <a:t>逢二进一</a:t>
            </a:r>
            <a:r>
              <a:rPr lang="zh-CN" altLang="en-US" sz="3200" dirty="0">
                <a:ea typeface="楷体_GB2312"/>
              </a:rPr>
              <a:t>。</a:t>
            </a:r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/>
              </a:rPr>
              <a:t>	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十六进制</a:t>
            </a:r>
            <a:r>
              <a:rPr lang="zh-CN" altLang="en-US" sz="3200" dirty="0">
                <a:ea typeface="楷体_GB2312"/>
              </a:rPr>
              <a:t>是为了</a:t>
            </a:r>
            <a:r>
              <a:rPr lang="zh-CN" altLang="en-US" sz="3200" u="sng" dirty="0">
                <a:solidFill>
                  <a:srgbClr val="0000D6"/>
                </a:solidFill>
                <a:ea typeface="楷体_GB2312"/>
              </a:rPr>
              <a:t>书写的方便</a:t>
            </a:r>
            <a:r>
              <a:rPr lang="zh-CN" altLang="en-US" sz="3200" dirty="0">
                <a:ea typeface="楷体_GB2312"/>
              </a:rPr>
              <a:t>而采用的计数法，它的基数为</a:t>
            </a:r>
            <a:r>
              <a:rPr lang="en-US" altLang="zh-CN" sz="3200" dirty="0">
                <a:ea typeface="楷体_GB2312"/>
              </a:rPr>
              <a:t>16</a:t>
            </a:r>
            <a:r>
              <a:rPr lang="zh-CN" altLang="en-US" sz="3200" dirty="0">
                <a:ea typeface="楷体_GB2312"/>
              </a:rPr>
              <a:t>，数码为</a:t>
            </a:r>
            <a:r>
              <a:rPr lang="en-US" altLang="zh-CN" sz="3200" dirty="0">
                <a:ea typeface="楷体_GB2312"/>
              </a:rPr>
              <a:t>0~9</a:t>
            </a:r>
            <a:r>
              <a:rPr lang="zh-CN" altLang="en-US" sz="3200" dirty="0">
                <a:ea typeface="楷体_GB2312"/>
              </a:rPr>
              <a:t>和</a:t>
            </a:r>
            <a:r>
              <a:rPr lang="en-US" altLang="zh-CN" sz="3200" dirty="0" err="1">
                <a:ea typeface="楷体_GB2312"/>
              </a:rPr>
              <a:t>a~f</a:t>
            </a:r>
            <a:r>
              <a:rPr lang="zh-CN" altLang="en-US" sz="3200" dirty="0">
                <a:ea typeface="楷体_GB2312"/>
              </a:rPr>
              <a:t>（或</a:t>
            </a:r>
            <a:r>
              <a:rPr lang="en-US" altLang="zh-CN" sz="3200" dirty="0">
                <a:ea typeface="楷体_GB2312"/>
              </a:rPr>
              <a:t>A ~ F</a:t>
            </a:r>
            <a:r>
              <a:rPr lang="zh-CN" altLang="en-US" sz="3200" dirty="0">
                <a:ea typeface="楷体_GB2312"/>
              </a:rPr>
              <a:t>），</a:t>
            </a:r>
            <a:r>
              <a:rPr lang="zh-CN" altLang="en-US" sz="3200" i="1" dirty="0">
                <a:solidFill>
                  <a:srgbClr val="FF9900"/>
                </a:solidFill>
                <a:ea typeface="楷体_GB2312"/>
              </a:rPr>
              <a:t>逢十六进一</a:t>
            </a:r>
            <a:r>
              <a:rPr lang="zh-CN" altLang="en-US" sz="3200" dirty="0">
                <a:ea typeface="楷体_GB2312"/>
              </a:rPr>
              <a:t>。	</a:t>
            </a:r>
            <a:endParaRPr lang="en-US" altLang="zh-CN" sz="3200" dirty="0">
              <a:latin typeface="楷体_GB2312" pitchFamily="49" charset="-122"/>
              <a:ea typeface="楷体_GB2312"/>
            </a:endParaRPr>
          </a:p>
        </p:txBody>
      </p:sp>
      <p:sp>
        <p:nvSpPr>
          <p:cNvPr id="66570" name="Text Box 13">
            <a:extLst>
              <a:ext uri="{FF2B5EF4-FFF2-40B4-BE49-F238E27FC236}">
                <a16:creationId xmlns:a16="http://schemas.microsoft.com/office/drawing/2014/main" id="{252209DF-3FEF-4079-BECA-70BB51668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7993062" cy="12207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基数为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进制数的值可以表示为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algn="ctr">
              <a:spcBef>
                <a:spcPct val="50000"/>
              </a:spcBef>
            </a:pPr>
            <a:r>
              <a:rPr lang="en-US" altLang="zh-CN" sz="2400"/>
              <a:t>     </a:t>
            </a:r>
            <a:r>
              <a:rPr lang="en-US" altLang="zh-CN" sz="2800"/>
              <a:t>a</a:t>
            </a:r>
            <a:r>
              <a:rPr lang="en-US" altLang="zh-CN" sz="2800" baseline="-25000"/>
              <a:t>n</a:t>
            </a:r>
            <a:r>
              <a:rPr lang="en-US" altLang="zh-CN" sz="2800"/>
              <a:t>·r</a:t>
            </a:r>
            <a:r>
              <a:rPr lang="en-US" altLang="zh-CN" sz="2800" baseline="30000"/>
              <a:t>n</a:t>
            </a:r>
            <a:r>
              <a:rPr lang="en-US" altLang="zh-CN" sz="2800"/>
              <a:t>+a</a:t>
            </a:r>
            <a:r>
              <a:rPr lang="en-US" altLang="zh-CN" sz="2800" baseline="-25000"/>
              <a:t>n-1</a:t>
            </a:r>
            <a:r>
              <a:rPr lang="en-US" altLang="zh-CN" sz="2800"/>
              <a:t>·r</a:t>
            </a:r>
            <a:r>
              <a:rPr lang="en-US" altLang="zh-CN" sz="2800" baseline="30000"/>
              <a:t>n-1</a:t>
            </a:r>
            <a:r>
              <a:rPr lang="en-US" altLang="zh-CN" sz="2800"/>
              <a:t>+…+a</a:t>
            </a:r>
            <a:r>
              <a:rPr lang="en-US" altLang="zh-CN" sz="2800" baseline="-25000"/>
              <a:t>0</a:t>
            </a:r>
            <a:r>
              <a:rPr lang="en-US" altLang="zh-CN" sz="2800"/>
              <a:t>·r</a:t>
            </a:r>
            <a:r>
              <a:rPr lang="en-US" altLang="zh-CN" sz="2800" baseline="30000"/>
              <a:t>0</a:t>
            </a:r>
            <a:r>
              <a:rPr lang="en-US" altLang="zh-CN" sz="2800"/>
              <a:t>+b</a:t>
            </a:r>
            <a:r>
              <a:rPr lang="en-US" altLang="zh-CN" sz="2800" baseline="-25000"/>
              <a:t>1</a:t>
            </a:r>
            <a:r>
              <a:rPr lang="en-US" altLang="zh-CN" sz="2800"/>
              <a:t>·r</a:t>
            </a:r>
            <a:r>
              <a:rPr lang="en-US" altLang="zh-CN" sz="2800" baseline="30000"/>
              <a:t>-1</a:t>
            </a:r>
            <a:r>
              <a:rPr lang="en-US" altLang="zh-CN" sz="2800"/>
              <a:t>+b</a:t>
            </a:r>
            <a:r>
              <a:rPr lang="en-US" altLang="zh-CN" sz="2800" baseline="-25000"/>
              <a:t>2</a:t>
            </a:r>
            <a:r>
              <a:rPr lang="en-US" altLang="zh-CN" sz="2800"/>
              <a:t>·r</a:t>
            </a:r>
            <a:r>
              <a:rPr lang="en-US" altLang="zh-CN" sz="2800" baseline="30000"/>
              <a:t>-2</a:t>
            </a:r>
            <a:r>
              <a:rPr lang="en-US" altLang="zh-CN" sz="2800"/>
              <a:t>+…+b</a:t>
            </a:r>
            <a:r>
              <a:rPr lang="en-US" altLang="zh-CN" sz="2800" baseline="-25000"/>
              <a:t>m</a:t>
            </a:r>
            <a:r>
              <a:rPr lang="en-US" altLang="zh-CN" sz="2800"/>
              <a:t>·r</a:t>
            </a:r>
            <a:r>
              <a:rPr lang="en-US" altLang="zh-CN" sz="2800" baseline="30000"/>
              <a:t>-m</a:t>
            </a:r>
            <a:endParaRPr lang="zh-CN" altLang="en-US" sz="2800" baseline="30000"/>
          </a:p>
        </p:txBody>
      </p:sp>
      <p:sp>
        <p:nvSpPr>
          <p:cNvPr id="66571" name="页脚占位符 14">
            <a:extLst>
              <a:ext uri="{FF2B5EF4-FFF2-40B4-BE49-F238E27FC236}">
                <a16:creationId xmlns:a16="http://schemas.microsoft.com/office/drawing/2014/main" id="{330C96F4-ECA8-4530-AEE7-C68E39B5648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66572" name="Text Box 1029">
            <a:extLst>
              <a:ext uri="{FF2B5EF4-FFF2-40B4-BE49-F238E27FC236}">
                <a16:creationId xmlns:a16="http://schemas.microsoft.com/office/drawing/2014/main" id="{C392CB68-5F86-4930-B64D-503EE7889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1027">
            <a:extLst>
              <a:ext uri="{FF2B5EF4-FFF2-40B4-BE49-F238E27FC236}">
                <a16:creationId xmlns:a16="http://schemas.microsoft.com/office/drawing/2014/main" id="{5EF41509-78DF-402C-A2FC-BE502E4CA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1" name="Line 1031">
            <a:extLst>
              <a:ext uri="{FF2B5EF4-FFF2-40B4-BE49-F238E27FC236}">
                <a16:creationId xmlns:a16="http://schemas.microsoft.com/office/drawing/2014/main" id="{F187DE34-0C56-4DFB-B7E5-C0D717CAA9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AutoShape 1032">
            <a:extLst>
              <a:ext uri="{FF2B5EF4-FFF2-40B4-BE49-F238E27FC236}">
                <a16:creationId xmlns:a16="http://schemas.microsoft.com/office/drawing/2014/main" id="{2DE14B96-3FCE-40DC-9A49-82D493FA3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8613" name="AutoShape 1033">
            <a:extLst>
              <a:ext uri="{FF2B5EF4-FFF2-40B4-BE49-F238E27FC236}">
                <a16:creationId xmlns:a16="http://schemas.microsoft.com/office/drawing/2014/main" id="{DD658500-AFF7-40D8-B1A0-D1B6BDC3F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8614" name="日期占位符 12">
            <a:extLst>
              <a:ext uri="{FF2B5EF4-FFF2-40B4-BE49-F238E27FC236}">
                <a16:creationId xmlns:a16="http://schemas.microsoft.com/office/drawing/2014/main" id="{6E798F2F-04B0-4199-B810-9D1033BF86D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83C2D090-5E9F-4D8E-821A-E9231190C88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8615" name="灯片编号占位符 13">
            <a:extLst>
              <a:ext uri="{FF2B5EF4-FFF2-40B4-BE49-F238E27FC236}">
                <a16:creationId xmlns:a16="http://schemas.microsoft.com/office/drawing/2014/main" id="{B7E54629-8E21-44B2-BB28-45CA7515684B}"/>
              </a:ext>
            </a:extLst>
          </p:cNvPr>
          <p:cNvSpPr txBox="1">
            <a:spLocks noGrp="1"/>
          </p:cNvSpPr>
          <p:nvPr/>
        </p:nvSpPr>
        <p:spPr bwMode="auto">
          <a:xfrm>
            <a:off x="8027988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D5521C4-F703-4C56-8910-D2AF54B1136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4211EA6-1F35-4970-B5AE-9176980A769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718850C1-DEF2-41D9-AE1F-344A20FEF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5"/>
            <a:ext cx="8534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[</a:t>
            </a:r>
            <a:r>
              <a:rPr lang="zh-CN" altLang="en-US" sz="32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32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1.1]</a:t>
            </a:r>
          </a:p>
          <a:p>
            <a:pPr algn="just"/>
            <a:endParaRPr lang="en-US" altLang="zh-CN" sz="3200">
              <a:latin typeface="楷体_GB2312"/>
              <a:ea typeface="楷体_GB2312"/>
              <a:cs typeface="楷体_GB2312"/>
            </a:endParaRPr>
          </a:p>
          <a:p>
            <a:pPr algn="just"/>
            <a:endParaRPr lang="en-US" altLang="zh-CN" sz="3200"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en-US" altLang="zh-CN" sz="2400">
                <a:ea typeface="楷体_GB2312"/>
                <a:cs typeface="楷体_GB2312"/>
              </a:rPr>
              <a:t>(1234.56)</a:t>
            </a:r>
            <a:r>
              <a:rPr lang="en-US" altLang="zh-CN" sz="2400" baseline="-25000">
                <a:ea typeface="楷体_GB2312"/>
                <a:cs typeface="楷体_GB2312"/>
              </a:rPr>
              <a:t>10</a:t>
            </a:r>
            <a:r>
              <a:rPr lang="en-US" altLang="zh-CN" sz="2400">
                <a:ea typeface="楷体_GB2312"/>
                <a:cs typeface="楷体_GB2312"/>
              </a:rPr>
              <a:t>=1×10</a:t>
            </a:r>
            <a:r>
              <a:rPr lang="en-US" altLang="zh-CN" sz="2400" baseline="30000">
                <a:ea typeface="楷体_GB2312"/>
                <a:cs typeface="楷体_GB2312"/>
              </a:rPr>
              <a:t>3</a:t>
            </a:r>
            <a:r>
              <a:rPr lang="en-US" altLang="zh-CN" sz="2400">
                <a:ea typeface="楷体_GB2312"/>
                <a:cs typeface="楷体_GB2312"/>
              </a:rPr>
              <a:t>+2×10</a:t>
            </a:r>
            <a:r>
              <a:rPr lang="en-US" altLang="zh-CN" sz="2400" baseline="30000">
                <a:ea typeface="楷体_GB2312"/>
                <a:cs typeface="楷体_GB2312"/>
              </a:rPr>
              <a:t>2</a:t>
            </a:r>
            <a:r>
              <a:rPr lang="en-US" altLang="zh-CN" sz="2400">
                <a:ea typeface="楷体_GB2312"/>
                <a:cs typeface="楷体_GB2312"/>
              </a:rPr>
              <a:t>+3×10</a:t>
            </a:r>
            <a:r>
              <a:rPr lang="en-US" altLang="zh-CN" sz="2400" baseline="30000">
                <a:ea typeface="楷体_GB2312"/>
                <a:cs typeface="楷体_GB2312"/>
              </a:rPr>
              <a:t>1</a:t>
            </a:r>
            <a:r>
              <a:rPr lang="en-US" altLang="zh-CN" sz="2400">
                <a:ea typeface="楷体_GB2312"/>
                <a:cs typeface="楷体_GB2312"/>
              </a:rPr>
              <a:t>+4×10</a:t>
            </a:r>
            <a:r>
              <a:rPr lang="en-US" altLang="zh-CN" sz="2400" baseline="30000">
                <a:ea typeface="楷体_GB2312"/>
                <a:cs typeface="楷体_GB2312"/>
              </a:rPr>
              <a:t>0</a:t>
            </a:r>
            <a:r>
              <a:rPr lang="en-US" altLang="zh-CN" sz="2400">
                <a:ea typeface="楷体_GB2312"/>
                <a:cs typeface="楷体_GB2312"/>
              </a:rPr>
              <a:t>+5×10</a:t>
            </a:r>
            <a:r>
              <a:rPr lang="en-US" altLang="zh-CN" sz="2400" baseline="30000">
                <a:ea typeface="楷体_GB2312"/>
                <a:cs typeface="楷体_GB2312"/>
              </a:rPr>
              <a:t>-1</a:t>
            </a:r>
            <a:r>
              <a:rPr lang="en-US" altLang="zh-CN" sz="2400">
                <a:ea typeface="楷体_GB2312"/>
                <a:cs typeface="楷体_GB2312"/>
              </a:rPr>
              <a:t>+6×10</a:t>
            </a:r>
            <a:r>
              <a:rPr lang="en-US" altLang="zh-CN" sz="2400" baseline="30000">
                <a:ea typeface="楷体_GB2312"/>
                <a:cs typeface="楷体_GB2312"/>
              </a:rPr>
              <a:t>-2</a:t>
            </a:r>
          </a:p>
          <a:p>
            <a:pPr algn="just"/>
            <a:endParaRPr lang="en-US" altLang="zh-CN" sz="2400" baseline="30000">
              <a:ea typeface="楷体_GB2312"/>
              <a:cs typeface="楷体_GB2312"/>
            </a:endParaRPr>
          </a:p>
          <a:p>
            <a:pPr algn="just"/>
            <a:endParaRPr lang="en-US" altLang="zh-CN" sz="2400">
              <a:ea typeface="楷体_GB2312"/>
              <a:cs typeface="楷体_GB2312"/>
            </a:endParaRPr>
          </a:p>
          <a:p>
            <a:pPr algn="just"/>
            <a:r>
              <a:rPr lang="en-US" altLang="zh-CN" sz="2400"/>
              <a:t>(101101.11)</a:t>
            </a:r>
            <a:r>
              <a:rPr lang="en-US" altLang="zh-CN" sz="2400" baseline="-25000"/>
              <a:t>2</a:t>
            </a:r>
            <a:r>
              <a:rPr lang="en-US" altLang="zh-CN" sz="2400"/>
              <a:t>=1×2</a:t>
            </a:r>
            <a:r>
              <a:rPr lang="en-US" altLang="zh-CN" sz="2400" baseline="30000"/>
              <a:t>5</a:t>
            </a:r>
            <a:r>
              <a:rPr lang="en-US" altLang="zh-CN" sz="2400"/>
              <a:t>+1×2</a:t>
            </a:r>
            <a:r>
              <a:rPr lang="en-US" altLang="zh-CN" sz="2400" baseline="30000"/>
              <a:t>3</a:t>
            </a:r>
            <a:r>
              <a:rPr lang="en-US" altLang="zh-CN" sz="2400"/>
              <a:t>+1×2</a:t>
            </a:r>
            <a:r>
              <a:rPr lang="en-US" altLang="zh-CN" sz="2400" baseline="30000"/>
              <a:t>2</a:t>
            </a:r>
            <a:r>
              <a:rPr lang="en-US" altLang="zh-CN" sz="2400"/>
              <a:t>+1×2</a:t>
            </a:r>
            <a:r>
              <a:rPr lang="en-US" altLang="zh-CN" sz="2400" baseline="30000"/>
              <a:t>0</a:t>
            </a:r>
            <a:r>
              <a:rPr lang="en-US" altLang="zh-CN" sz="2400"/>
              <a:t>+1×2</a:t>
            </a:r>
            <a:r>
              <a:rPr lang="en-US" altLang="zh-CN" sz="2400" baseline="30000"/>
              <a:t>-1</a:t>
            </a:r>
            <a:r>
              <a:rPr lang="en-US" altLang="zh-CN" sz="2400"/>
              <a:t>+1×2</a:t>
            </a:r>
            <a:r>
              <a:rPr lang="en-US" altLang="zh-CN" sz="2400" baseline="30000"/>
              <a:t>-2</a:t>
            </a:r>
            <a:r>
              <a:rPr lang="en-US" altLang="zh-CN" sz="2400"/>
              <a:t>=(45.75)</a:t>
            </a:r>
            <a:r>
              <a:rPr lang="en-US" altLang="zh-CN" sz="2400" baseline="-25000"/>
              <a:t>10</a:t>
            </a:r>
          </a:p>
          <a:p>
            <a:pPr algn="just"/>
            <a:endParaRPr lang="en-US" altLang="zh-CN" sz="2400" baseline="-25000"/>
          </a:p>
          <a:p>
            <a:pPr algn="just"/>
            <a:endParaRPr lang="en-US" altLang="zh-CN" sz="2400"/>
          </a:p>
          <a:p>
            <a:pPr algn="just"/>
            <a:r>
              <a:rPr lang="en-US" altLang="zh-CN" sz="2400"/>
              <a:t>(3BF)</a:t>
            </a:r>
            <a:r>
              <a:rPr lang="en-US" altLang="zh-CN" sz="2400" baseline="-25000"/>
              <a:t>16</a:t>
            </a:r>
            <a:r>
              <a:rPr lang="en-US" altLang="zh-CN" sz="2400"/>
              <a:t>=3×16</a:t>
            </a:r>
            <a:r>
              <a:rPr lang="en-US" altLang="zh-CN" sz="2400" baseline="30000"/>
              <a:t>2</a:t>
            </a:r>
            <a:r>
              <a:rPr lang="en-US" altLang="zh-CN" sz="2400"/>
              <a:t>+11×16</a:t>
            </a:r>
            <a:r>
              <a:rPr lang="en-US" altLang="zh-CN" sz="2400" baseline="30000"/>
              <a:t>1</a:t>
            </a:r>
            <a:r>
              <a:rPr lang="en-US" altLang="zh-CN" sz="2400"/>
              <a:t>+15=(959)</a:t>
            </a:r>
            <a:r>
              <a:rPr lang="en-US" altLang="zh-CN" sz="2400" baseline="-25000"/>
              <a:t>10</a:t>
            </a:r>
          </a:p>
          <a:p>
            <a:pPr algn="just"/>
            <a:endParaRPr lang="en-US" altLang="zh-CN" sz="2400" baseline="-25000"/>
          </a:p>
          <a:p>
            <a:pPr algn="just"/>
            <a:endParaRPr lang="en-US" altLang="zh-CN" sz="2400" baseline="-25000"/>
          </a:p>
        </p:txBody>
      </p:sp>
      <p:sp>
        <p:nvSpPr>
          <p:cNvPr id="68618" name="页脚占位符 14">
            <a:extLst>
              <a:ext uri="{FF2B5EF4-FFF2-40B4-BE49-F238E27FC236}">
                <a16:creationId xmlns:a16="http://schemas.microsoft.com/office/drawing/2014/main" id="{566F3C0C-CAEC-4C89-A4F8-F0FFA8DCC98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68619" name="Text Box 1029">
            <a:extLst>
              <a:ext uri="{FF2B5EF4-FFF2-40B4-BE49-F238E27FC236}">
                <a16:creationId xmlns:a16="http://schemas.microsoft.com/office/drawing/2014/main" id="{A391A83B-BD75-49F0-B28B-750E7436E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1027">
            <a:extLst>
              <a:ext uri="{FF2B5EF4-FFF2-40B4-BE49-F238E27FC236}">
                <a16:creationId xmlns:a16="http://schemas.microsoft.com/office/drawing/2014/main" id="{59754D25-9738-4D1D-B48F-54FE3413C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59" name="Line 1031">
            <a:extLst>
              <a:ext uri="{FF2B5EF4-FFF2-40B4-BE49-F238E27FC236}">
                <a16:creationId xmlns:a16="http://schemas.microsoft.com/office/drawing/2014/main" id="{2861D603-5E2F-4578-9458-96DF7C23E7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0" name="AutoShape 1032">
            <a:extLst>
              <a:ext uri="{FF2B5EF4-FFF2-40B4-BE49-F238E27FC236}">
                <a16:creationId xmlns:a16="http://schemas.microsoft.com/office/drawing/2014/main" id="{CC615FD8-BCE1-4910-845F-A7D65A8AD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0661" name="AutoShape 1033">
            <a:extLst>
              <a:ext uri="{FF2B5EF4-FFF2-40B4-BE49-F238E27FC236}">
                <a16:creationId xmlns:a16="http://schemas.microsoft.com/office/drawing/2014/main" id="{EDD0052F-0F6B-465C-95C6-BD6BD9D61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0662" name="日期占位符 12">
            <a:extLst>
              <a:ext uri="{FF2B5EF4-FFF2-40B4-BE49-F238E27FC236}">
                <a16:creationId xmlns:a16="http://schemas.microsoft.com/office/drawing/2014/main" id="{972BEB00-8462-42FC-B50E-7BF390E7B00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E1EAE47-6012-4B69-AF7D-95396C4C568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3" name="灯片编号占位符 13">
            <a:extLst>
              <a:ext uri="{FF2B5EF4-FFF2-40B4-BE49-F238E27FC236}">
                <a16:creationId xmlns:a16="http://schemas.microsoft.com/office/drawing/2014/main" id="{D65251A9-B27C-4A6E-99BE-19EE2E6C65C0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120CAA3-555A-4431-B3C1-23375ECFC49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97EC900-82DF-4B26-A2C3-67FC7DF85F6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4CDB60D3-43F3-48B1-A876-A7F28B0DB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276475"/>
            <a:ext cx="65532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b="0" dirty="0">
                <a:solidFill>
                  <a:srgbClr val="FF00FF"/>
                </a:solidFill>
              </a:rPr>
              <a:t>	</a:t>
            </a: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按位（权）展开</a:t>
            </a:r>
            <a:r>
              <a:rPr lang="zh-CN" altLang="en-US" sz="2400" b="0" dirty="0"/>
              <a:t> </a:t>
            </a:r>
          </a:p>
          <a:p>
            <a:pPr algn="just">
              <a:defRPr/>
            </a:pP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[</a:t>
            </a:r>
            <a:r>
              <a:rPr lang="zh-CN" altLang="en-US" sz="28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2800" dirty="0">
                <a:solidFill>
                  <a:srgbClr val="0000D6"/>
                </a:solidFill>
                <a:latin typeface="+mn-ea"/>
                <a:ea typeface="+mn-ea"/>
              </a:rPr>
              <a:t>1.2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]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zh-CN" sz="2800" dirty="0">
                <a:latin typeface="宋体" pitchFamily="2" charset="-122"/>
              </a:rPr>
              <a:t>		</a:t>
            </a:r>
            <a:r>
              <a:rPr lang="en-US" altLang="zh-CN" sz="2800" dirty="0"/>
              <a:t>(10101)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=2</a:t>
            </a:r>
            <a:r>
              <a:rPr lang="en-US" altLang="zh-CN" sz="2800" baseline="30000" dirty="0"/>
              <a:t>4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+1=21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zh-CN" sz="2800" dirty="0"/>
              <a:t>		101.01B=2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+1+2</a:t>
            </a:r>
            <a:r>
              <a:rPr lang="en-US" altLang="zh-CN" sz="2800" baseline="30000" dirty="0"/>
              <a:t>-2</a:t>
            </a:r>
            <a:r>
              <a:rPr lang="en-US" altLang="zh-CN" sz="2800" dirty="0"/>
              <a:t>=5.25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zh-CN" sz="2800" dirty="0"/>
              <a:t>		(71)</a:t>
            </a:r>
            <a:r>
              <a:rPr lang="en-US" altLang="zh-CN" sz="2800" baseline="-25000" dirty="0"/>
              <a:t>H</a:t>
            </a:r>
            <a:r>
              <a:rPr lang="en-US" altLang="zh-CN" sz="2800" dirty="0"/>
              <a:t>=7×16+1=113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zh-CN" sz="2800" dirty="0"/>
              <a:t>		101AH=16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+16+10=4122</a:t>
            </a:r>
            <a:endParaRPr lang="en-US" altLang="zh-CN" sz="3200" dirty="0"/>
          </a:p>
        </p:txBody>
      </p:sp>
      <p:sp>
        <p:nvSpPr>
          <p:cNvPr id="70666" name="Text Box 11">
            <a:extLst>
              <a:ext uri="{FF2B5EF4-FFF2-40B4-BE49-F238E27FC236}">
                <a16:creationId xmlns:a16="http://schemas.microsoft.com/office/drawing/2014/main" id="{31D43B3E-E79E-4E6F-A260-31940EAE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445125"/>
            <a:ext cx="52578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latin typeface="楷体_GB2312"/>
                <a:ea typeface="楷体_GB2312"/>
                <a:cs typeface="楷体_GB2312"/>
              </a:rPr>
              <a:t>注意：数制的下标和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后缀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表示。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EE9B81CB-8F6F-4F5E-9469-7D6128D2D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12875"/>
            <a:ext cx="712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latin typeface="宋体" panose="02010600030101010101" pitchFamily="2" charset="-122"/>
                <a:ea typeface="楷体_GB2312"/>
                <a:cs typeface="楷体_GB2312"/>
              </a:rPr>
              <a:t>2.</a:t>
            </a:r>
            <a:r>
              <a:rPr lang="zh-CN" altLang="en-US" sz="3200">
                <a:latin typeface="宋体" panose="02010600030101010101" pitchFamily="2" charset="-122"/>
                <a:ea typeface="楷体_GB2312"/>
                <a:cs typeface="楷体_GB2312"/>
              </a:rPr>
              <a:t>二、十六进制数转化为十进制数</a:t>
            </a:r>
          </a:p>
        </p:txBody>
      </p:sp>
      <p:sp>
        <p:nvSpPr>
          <p:cNvPr id="70668" name="页脚占位符 14">
            <a:extLst>
              <a:ext uri="{FF2B5EF4-FFF2-40B4-BE49-F238E27FC236}">
                <a16:creationId xmlns:a16="http://schemas.microsoft.com/office/drawing/2014/main" id="{28F2B47F-5635-4C93-8A7E-8D3BE9E63C0A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70669" name="Text Box 1029">
            <a:extLst>
              <a:ext uri="{FF2B5EF4-FFF2-40B4-BE49-F238E27FC236}">
                <a16:creationId xmlns:a16="http://schemas.microsoft.com/office/drawing/2014/main" id="{38EDE660-F527-4BF2-A87E-5507B6502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1027">
            <a:extLst>
              <a:ext uri="{FF2B5EF4-FFF2-40B4-BE49-F238E27FC236}">
                <a16:creationId xmlns:a16="http://schemas.microsoft.com/office/drawing/2014/main" id="{B57304AE-A760-40EA-80F0-A32F69B82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7" name="Line 1031">
            <a:extLst>
              <a:ext uri="{FF2B5EF4-FFF2-40B4-BE49-F238E27FC236}">
                <a16:creationId xmlns:a16="http://schemas.microsoft.com/office/drawing/2014/main" id="{4B2125F8-C5E0-41E9-97CD-A5FE74AD82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8" name="AutoShape 1032">
            <a:extLst>
              <a:ext uri="{FF2B5EF4-FFF2-40B4-BE49-F238E27FC236}">
                <a16:creationId xmlns:a16="http://schemas.microsoft.com/office/drawing/2014/main" id="{F1F0017F-E1C2-4CCF-BB1A-CA535BC2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2709" name="AutoShape 1033">
            <a:extLst>
              <a:ext uri="{FF2B5EF4-FFF2-40B4-BE49-F238E27FC236}">
                <a16:creationId xmlns:a16="http://schemas.microsoft.com/office/drawing/2014/main" id="{335A5E07-34FB-478A-BF83-111B4F3D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2710" name="日期占位符 12">
            <a:extLst>
              <a:ext uri="{FF2B5EF4-FFF2-40B4-BE49-F238E27FC236}">
                <a16:creationId xmlns:a16="http://schemas.microsoft.com/office/drawing/2014/main" id="{DC7E0760-F90F-40B5-8D54-D0BB2BBCB43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911F7A1-0C59-4C69-A437-B7C670DB3DA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11" name="灯片编号占位符 13">
            <a:extLst>
              <a:ext uri="{FF2B5EF4-FFF2-40B4-BE49-F238E27FC236}">
                <a16:creationId xmlns:a16="http://schemas.microsoft.com/office/drawing/2014/main" id="{343A191C-DEB5-4CBB-82A7-2F096E87FEE6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97A924D-903C-4B6E-96B1-947519F67CA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8E80E8A-2202-4837-87E2-5A3D42764964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13" name="页脚占位符 14">
            <a:extLst>
              <a:ext uri="{FF2B5EF4-FFF2-40B4-BE49-F238E27FC236}">
                <a16:creationId xmlns:a16="http://schemas.microsoft.com/office/drawing/2014/main" id="{486C0EC2-A9D1-4640-AE2C-4B1649EC8E1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543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72714" name="Text Box 11">
            <a:extLst>
              <a:ext uri="{FF2B5EF4-FFF2-40B4-BE49-F238E27FC236}">
                <a16:creationId xmlns:a16="http://schemas.microsoft.com/office/drawing/2014/main" id="{A010491D-BF90-4771-BD7E-6277870DA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125538"/>
            <a:ext cx="4357687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latin typeface="楷体_GB2312"/>
                <a:ea typeface="楷体_GB2312"/>
                <a:cs typeface="楷体_GB2312"/>
              </a:rPr>
              <a:t>在汇编语言中的后缀表示：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EB5DE9C5-B474-41AB-BB79-C8EDD62D6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2098675"/>
            <a:ext cx="3000375" cy="18002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D</a:t>
            </a: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（十进制数）</a:t>
            </a:r>
            <a:endParaRPr lang="en-US" altLang="zh-CN" sz="28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en-US" altLang="zh-CN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</a:t>
            </a: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（二进制数）</a:t>
            </a:r>
            <a:endParaRPr lang="en-US" altLang="zh-CN" sz="28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en-US" altLang="zh-CN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H</a:t>
            </a: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（十六进制数）</a:t>
            </a:r>
            <a:endParaRPr lang="en-US" altLang="zh-CN" sz="28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缺省为十进制数</a:t>
            </a:r>
            <a:endParaRPr lang="en-US" altLang="zh-CN" sz="320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41737990-1CF3-4C6C-9D08-DC42599CF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2133600"/>
            <a:ext cx="3989387" cy="1816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234D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（十进制数）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defRPr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10110B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（二进制数）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defRPr/>
            </a:pP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D9H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（十六进制数）</a:t>
            </a:r>
            <a:endParaRPr lang="en-US" altLang="zh-CN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defRPr/>
            </a:pP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47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（十进制数）</a:t>
            </a:r>
            <a:endParaRPr lang="en-US" altLang="zh-CN" sz="3200" dirty="0"/>
          </a:p>
        </p:txBody>
      </p:sp>
      <p:sp>
        <p:nvSpPr>
          <p:cNvPr id="72717" name="TextBox 12">
            <a:extLst>
              <a:ext uri="{FF2B5EF4-FFF2-40B4-BE49-F238E27FC236}">
                <a16:creationId xmlns:a16="http://schemas.microsoft.com/office/drawing/2014/main" id="{CE35743D-1E54-4E3B-855D-B69FD7591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276475"/>
            <a:ext cx="50006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</a:p>
        </p:txBody>
      </p:sp>
      <p:sp>
        <p:nvSpPr>
          <p:cNvPr id="72718" name="Line 16">
            <a:extLst>
              <a:ext uri="{FF2B5EF4-FFF2-40B4-BE49-F238E27FC236}">
                <a16:creationId xmlns:a16="http://schemas.microsoft.com/office/drawing/2014/main" id="{6E22F94E-6F1A-4CFA-A7BD-F27C2245B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3716338"/>
            <a:ext cx="720725" cy="0"/>
          </a:xfrm>
          <a:prstGeom prst="line">
            <a:avLst/>
          </a:prstGeom>
          <a:noFill/>
          <a:ln w="63500">
            <a:solidFill>
              <a:srgbClr val="0000D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9951" name="TextBox 14">
            <a:extLst>
              <a:ext uri="{FF2B5EF4-FFF2-40B4-BE49-F238E27FC236}">
                <a16:creationId xmlns:a16="http://schemas.microsoft.com/office/drawing/2014/main" id="{D75776F1-D9F4-4BC7-85ED-FE5E80366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365625"/>
            <a:ext cx="6840538" cy="1373188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前导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可以忽略，不影响取值。</a:t>
            </a:r>
            <a:r>
              <a:rPr lang="zh-CN" altLang="en-US" sz="2800" dirty="0">
                <a:latin typeface="+mn-ea"/>
                <a:ea typeface="+mn-ea"/>
              </a:rPr>
              <a:t>在汇编语言中使用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十六进制在字母之前要加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zh-CN" altLang="en-US" sz="2800" dirty="0">
                <a:latin typeface="+mn-ea"/>
                <a:ea typeface="+mn-ea"/>
              </a:rPr>
              <a:t>，并且汇编语言不支持八进制数。 </a:t>
            </a:r>
          </a:p>
        </p:txBody>
      </p:sp>
      <p:sp>
        <p:nvSpPr>
          <p:cNvPr id="72720" name="Text Box 20">
            <a:extLst>
              <a:ext uri="{FF2B5EF4-FFF2-40B4-BE49-F238E27FC236}">
                <a16:creationId xmlns:a16="http://schemas.microsoft.com/office/drawing/2014/main" id="{C715939B-5C7F-494B-BA33-21F37D64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08500"/>
            <a:ext cx="733425" cy="100806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solidFill>
                  <a:srgbClr val="000000"/>
                </a:solidFill>
                <a:ea typeface="楷体" panose="02010609060101010101" pitchFamily="49" charset="-122"/>
              </a:rPr>
              <a:t>说明</a:t>
            </a:r>
          </a:p>
        </p:txBody>
      </p:sp>
      <p:sp>
        <p:nvSpPr>
          <p:cNvPr id="72721" name="Text Box 1029">
            <a:extLst>
              <a:ext uri="{FF2B5EF4-FFF2-40B4-BE49-F238E27FC236}">
                <a16:creationId xmlns:a16="http://schemas.microsoft.com/office/drawing/2014/main" id="{9900C690-C85E-49E2-98B2-992D9205F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 autoUpdateAnimBg="0"/>
      <p:bldP spid="2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Line 1027">
            <a:extLst>
              <a:ext uri="{FF2B5EF4-FFF2-40B4-BE49-F238E27FC236}">
                <a16:creationId xmlns:a16="http://schemas.microsoft.com/office/drawing/2014/main" id="{CBBBDBF5-29D9-41BA-B794-1FEA3B83E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5" name="Line 1031">
            <a:extLst>
              <a:ext uri="{FF2B5EF4-FFF2-40B4-BE49-F238E27FC236}">
                <a16:creationId xmlns:a16="http://schemas.microsoft.com/office/drawing/2014/main" id="{5D7BA2B8-C6AC-4384-9AD9-097161AA7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6" name="AutoShape 1032">
            <a:extLst>
              <a:ext uri="{FF2B5EF4-FFF2-40B4-BE49-F238E27FC236}">
                <a16:creationId xmlns:a16="http://schemas.microsoft.com/office/drawing/2014/main" id="{94E3F76B-4A7C-4A49-AE4B-3C27086F0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4757" name="AutoShape 1033">
            <a:extLst>
              <a:ext uri="{FF2B5EF4-FFF2-40B4-BE49-F238E27FC236}">
                <a16:creationId xmlns:a16="http://schemas.microsoft.com/office/drawing/2014/main" id="{FD283A92-1940-4DCE-B0BF-0194B9B44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4758" name="日期占位符 12">
            <a:extLst>
              <a:ext uri="{FF2B5EF4-FFF2-40B4-BE49-F238E27FC236}">
                <a16:creationId xmlns:a16="http://schemas.microsoft.com/office/drawing/2014/main" id="{416F2C9C-D37F-42B0-852F-2F59033D10F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1CB6969-A088-439E-B7A5-CB3ED2B7D3C7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759" name="灯片编号占位符 13">
            <a:extLst>
              <a:ext uri="{FF2B5EF4-FFF2-40B4-BE49-F238E27FC236}">
                <a16:creationId xmlns:a16="http://schemas.microsoft.com/office/drawing/2014/main" id="{755B6880-B86C-4A18-B803-3D5FCBA6C6BE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29B0FD4-4811-44D9-B778-29DE0C86560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C4E25FB-41BA-43AE-8142-A1FE9CAC5F8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761" name="页脚占位符 14">
            <a:extLst>
              <a:ext uri="{FF2B5EF4-FFF2-40B4-BE49-F238E27FC236}">
                <a16:creationId xmlns:a16="http://schemas.microsoft.com/office/drawing/2014/main" id="{076C10CC-E380-4D0A-A346-6E740CC13F7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543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74762" name="Text Box 1029">
            <a:extLst>
              <a:ext uri="{FF2B5EF4-FFF2-40B4-BE49-F238E27FC236}">
                <a16:creationId xmlns:a16="http://schemas.microsoft.com/office/drawing/2014/main" id="{C0A02576-BBC5-49FE-BBE0-088812CCC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2508D2EB-2291-4C10-A7F6-9FC413E4E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68413"/>
            <a:ext cx="7772400" cy="4851400"/>
          </a:xfrm>
          <a:prstGeom prst="rect">
            <a:avLst/>
          </a:prstGeom>
          <a:solidFill>
            <a:schemeClr val="accent3">
              <a:lumMod val="75000"/>
              <a:alpha val="44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5000"/>
              </a:lnSpc>
              <a:defRPr/>
            </a:pPr>
            <a:r>
              <a:rPr lang="en-US" altLang="zh-CN" sz="3200" b="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十进制（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	    二进制（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  十六进制（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>
              <a:lnSpc>
                <a:spcPct val="75000"/>
              </a:lnSpc>
              <a:defRPr/>
            </a:pPr>
            <a:r>
              <a:rPr lang="zh-CN" altLang="en-US" sz="2400" dirty="0">
                <a:latin typeface="Times New Roman" charset="0"/>
              </a:rPr>
              <a:t>		</a:t>
            </a:r>
            <a:r>
              <a:rPr lang="en-US" altLang="zh-CN" sz="2400" dirty="0">
                <a:latin typeface="Times New Roman" charset="0"/>
              </a:rPr>
              <a:t>0		0000		0	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		0001		1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2		0010		2	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3		0011		3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4		0100		4	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5		0101		5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6		0110		6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7		0111		7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8		1000		8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9		1001		9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10		1010		A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11		1011		B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12		1100		C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13		1101		D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14		1110		E	</a:t>
            </a:r>
          </a:p>
          <a:p>
            <a:pPr>
              <a:lnSpc>
                <a:spcPct val="75000"/>
              </a:lnSpc>
              <a:defRPr/>
            </a:pPr>
            <a:r>
              <a:rPr lang="en-US" altLang="zh-CN" sz="2400" dirty="0">
                <a:latin typeface="Times New Roman" charset="0"/>
              </a:rPr>
              <a:t>		15		1111		F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764" name="TextBox 12">
            <a:extLst>
              <a:ext uri="{FF2B5EF4-FFF2-40B4-BE49-F238E27FC236}">
                <a16:creationId xmlns:a16="http://schemas.microsoft.com/office/drawing/2014/main" id="{AC9F8D7C-FB3C-4524-8CD6-BA479F585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92150"/>
            <a:ext cx="8501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基本十六进数与二进制、十进制的关系：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Line 1027">
            <a:extLst>
              <a:ext uri="{FF2B5EF4-FFF2-40B4-BE49-F238E27FC236}">
                <a16:creationId xmlns:a16="http://schemas.microsoft.com/office/drawing/2014/main" id="{D1C90CC4-96E2-4773-9491-C1E4D6FD8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3" name="Line 1031">
            <a:extLst>
              <a:ext uri="{FF2B5EF4-FFF2-40B4-BE49-F238E27FC236}">
                <a16:creationId xmlns:a16="http://schemas.microsoft.com/office/drawing/2014/main" id="{95EFC98A-16A5-4B12-9EAD-000C081EBC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4" name="AutoShape 1032">
            <a:extLst>
              <a:ext uri="{FF2B5EF4-FFF2-40B4-BE49-F238E27FC236}">
                <a16:creationId xmlns:a16="http://schemas.microsoft.com/office/drawing/2014/main" id="{7288DE51-72B6-4566-A681-5DD51A02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6805" name="AutoShape 1033">
            <a:extLst>
              <a:ext uri="{FF2B5EF4-FFF2-40B4-BE49-F238E27FC236}">
                <a16:creationId xmlns:a16="http://schemas.microsoft.com/office/drawing/2014/main" id="{9421E772-5425-4A3F-B8E1-14E3ACBF3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6806" name="日期占位符 12">
            <a:extLst>
              <a:ext uri="{FF2B5EF4-FFF2-40B4-BE49-F238E27FC236}">
                <a16:creationId xmlns:a16="http://schemas.microsoft.com/office/drawing/2014/main" id="{A27553E9-F687-4C59-BADB-B6A2E95A42C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73451248-25D0-4A13-BA99-86B6186BB6E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7" name="灯片编号占位符 13">
            <a:extLst>
              <a:ext uri="{FF2B5EF4-FFF2-40B4-BE49-F238E27FC236}">
                <a16:creationId xmlns:a16="http://schemas.microsoft.com/office/drawing/2014/main" id="{75BE94FA-3177-4E49-A794-C7609712D0D7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9574F978-35C9-4AD2-AC4D-C78F6CCCDE5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8" name="页脚占位符 14">
            <a:extLst>
              <a:ext uri="{FF2B5EF4-FFF2-40B4-BE49-F238E27FC236}">
                <a16:creationId xmlns:a16="http://schemas.microsoft.com/office/drawing/2014/main" id="{4FDFF223-5D8F-447A-928B-8591939C5D2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9706FA2-C6D6-42FA-A0B8-94A03D3C1FF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810" name="Text Box 1029">
            <a:extLst>
              <a:ext uri="{FF2B5EF4-FFF2-40B4-BE49-F238E27FC236}">
                <a16:creationId xmlns:a16="http://schemas.microsoft.com/office/drawing/2014/main" id="{0F6DB7FC-C222-48CB-A0BD-3C1141ACD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1611390-A583-4EB5-AFF6-ED5D3733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25538"/>
            <a:ext cx="77041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latin typeface="+mn-ea"/>
                <a:ea typeface="楷体_GB2312"/>
              </a:rPr>
              <a:t>3. </a:t>
            </a:r>
            <a:r>
              <a:rPr lang="zh-CN" altLang="en-US" sz="3200" dirty="0">
                <a:latin typeface="+mn-ea"/>
                <a:ea typeface="楷体_GB2312"/>
              </a:rPr>
              <a:t>十进制数转化为二进制、十六进制数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52D167FC-695A-4D5E-9247-2522A164D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73238"/>
            <a:ext cx="830580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400" b="0" dirty="0">
                <a:solidFill>
                  <a:srgbClr val="FF00FF"/>
                </a:solidFill>
              </a:rPr>
              <a:t>	</a:t>
            </a: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整数部分</a:t>
            </a:r>
            <a:r>
              <a:rPr lang="zh-CN" altLang="en-US" sz="2400" b="0" dirty="0"/>
              <a:t>：</a:t>
            </a:r>
            <a:r>
              <a:rPr lang="zh-CN" altLang="en-US" sz="3200" dirty="0">
                <a:latin typeface="+mn-ea"/>
                <a:ea typeface="+mn-ea"/>
              </a:rPr>
              <a:t>除以</a:t>
            </a: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en-US" sz="3200" dirty="0">
                <a:latin typeface="+mn-ea"/>
                <a:ea typeface="+mn-ea"/>
              </a:rPr>
              <a:t>或</a:t>
            </a:r>
            <a:r>
              <a:rPr lang="en-US" altLang="zh-CN" sz="3200" dirty="0">
                <a:latin typeface="+mn-ea"/>
                <a:ea typeface="+mn-ea"/>
              </a:rPr>
              <a:t>16</a:t>
            </a:r>
            <a:r>
              <a:rPr lang="zh-CN" altLang="en-US" sz="3200" dirty="0">
                <a:latin typeface="+mn-ea"/>
                <a:ea typeface="+mn-ea"/>
              </a:rPr>
              <a:t>取余数，直到商为</a:t>
            </a:r>
            <a:r>
              <a:rPr lang="en-US" altLang="zh-CN" sz="3200" dirty="0">
                <a:latin typeface="+mn-ea"/>
                <a:ea typeface="+mn-ea"/>
              </a:rPr>
              <a:t>0</a:t>
            </a:r>
            <a:r>
              <a:rPr lang="zh-CN" altLang="en-US" sz="3200" dirty="0">
                <a:latin typeface="+mn-ea"/>
                <a:ea typeface="+mn-ea"/>
              </a:rPr>
              <a:t>，余数从右到左排列。</a:t>
            </a:r>
            <a:endParaRPr lang="zh-CN" altLang="en-US" sz="240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	小数部分</a:t>
            </a:r>
            <a:r>
              <a:rPr lang="zh-CN" altLang="en-US" sz="2400" b="0" dirty="0"/>
              <a:t>：</a:t>
            </a:r>
            <a:r>
              <a:rPr lang="zh-CN" altLang="en-US" sz="3200" dirty="0">
                <a:latin typeface="+mn-ea"/>
                <a:ea typeface="+mn-ea"/>
              </a:rPr>
              <a:t>乘以</a:t>
            </a: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en-US" sz="3200" dirty="0">
                <a:latin typeface="+mn-ea"/>
                <a:ea typeface="+mn-ea"/>
              </a:rPr>
              <a:t>或</a:t>
            </a:r>
            <a:r>
              <a:rPr lang="en-US" altLang="zh-CN" sz="3200" dirty="0">
                <a:latin typeface="+mn-ea"/>
                <a:ea typeface="+mn-ea"/>
              </a:rPr>
              <a:t>16</a:t>
            </a:r>
            <a:r>
              <a:rPr lang="zh-CN" altLang="en-US" sz="3200" dirty="0">
                <a:latin typeface="+mn-ea"/>
                <a:ea typeface="+mn-ea"/>
              </a:rPr>
              <a:t>取整数，直到指定精度，整数从左到右排列。</a:t>
            </a:r>
          </a:p>
          <a:p>
            <a:pPr algn="just">
              <a:defRPr/>
            </a:pPr>
            <a:endParaRPr lang="zh-CN" altLang="en-US" sz="2400" b="0" dirty="0"/>
          </a:p>
          <a:p>
            <a:pPr algn="just">
              <a:defRPr/>
            </a:pP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[</a:t>
            </a:r>
            <a:r>
              <a:rPr lang="zh-CN" altLang="en-US" sz="2800" dirty="0">
                <a:solidFill>
                  <a:srgbClr val="0000D6"/>
                </a:solidFill>
                <a:latin typeface="宋体" pitchFamily="2" charset="-122"/>
                <a:ea typeface="楷体_GB2312"/>
              </a:rPr>
              <a:t>例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  <a:ea typeface="楷体_GB2312"/>
              </a:rPr>
              <a:t>1.3]</a:t>
            </a:r>
          </a:p>
          <a:p>
            <a:pPr algn="just">
              <a:defRPr/>
            </a:pPr>
            <a:r>
              <a:rPr lang="en-US" altLang="zh-CN" sz="2400" b="0" dirty="0"/>
              <a:t>		</a:t>
            </a:r>
            <a:r>
              <a:rPr lang="en-US" altLang="zh-CN" sz="2800" dirty="0">
                <a:latin typeface="宋体" pitchFamily="2" charset="-122"/>
              </a:rPr>
              <a:t>215D=0D7H=11010111B</a:t>
            </a:r>
            <a:r>
              <a:rPr lang="zh-CN" altLang="en-US" sz="2800" dirty="0">
                <a:latin typeface="宋体" pitchFamily="2" charset="-122"/>
              </a:rPr>
              <a:t>，</a:t>
            </a:r>
          </a:p>
          <a:p>
            <a:pPr algn="just">
              <a:defRPr/>
            </a:pPr>
            <a:r>
              <a:rPr lang="zh-CN" altLang="en-US" sz="2800" dirty="0">
                <a:latin typeface="宋体" pitchFamily="2" charset="-122"/>
              </a:rPr>
              <a:t>		</a:t>
            </a:r>
            <a:r>
              <a:rPr lang="en-US" altLang="zh-CN" sz="2800" dirty="0">
                <a:latin typeface="宋体" pitchFamily="2" charset="-122"/>
              </a:rPr>
              <a:t>215.35≈11010111.01011B</a:t>
            </a:r>
            <a:r>
              <a:rPr lang="zh-CN" altLang="en-US" sz="2800" dirty="0">
                <a:latin typeface="宋体" pitchFamily="2" charset="-122"/>
              </a:rPr>
              <a:t>。</a:t>
            </a:r>
          </a:p>
        </p:txBody>
      </p:sp>
      <p:sp>
        <p:nvSpPr>
          <p:cNvPr id="76813" name="Text Box 11">
            <a:extLst>
              <a:ext uri="{FF2B5EF4-FFF2-40B4-BE49-F238E27FC236}">
                <a16:creationId xmlns:a16="http://schemas.microsoft.com/office/drawing/2014/main" id="{E3561BA8-C0A5-4D6D-B4FA-DA4B236A2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10200"/>
            <a:ext cx="2743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latin typeface="楷体_GB2312"/>
                <a:ea typeface="楷体_GB2312"/>
                <a:cs typeface="楷体_GB2312"/>
              </a:rPr>
              <a:t>注意：排列方向</a:t>
            </a:r>
          </a:p>
        </p:txBody>
      </p:sp>
      <p:sp>
        <p:nvSpPr>
          <p:cNvPr id="76814" name="Text Box 12">
            <a:extLst>
              <a:ext uri="{FF2B5EF4-FFF2-40B4-BE49-F238E27FC236}">
                <a16:creationId xmlns:a16="http://schemas.microsoft.com/office/drawing/2014/main" id="{825E9C4B-956B-4A9E-9CA2-A24E41077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578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0">
                <a:solidFill>
                  <a:srgbClr val="B2B2B2"/>
                </a:solidFill>
              </a:rPr>
              <a:t>下页演算</a:t>
            </a:r>
            <a:endParaRPr lang="zh-CN" altLang="en-US" sz="2400" b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458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1027">
            <a:extLst>
              <a:ext uri="{FF2B5EF4-FFF2-40B4-BE49-F238E27FC236}">
                <a16:creationId xmlns:a16="http://schemas.microsoft.com/office/drawing/2014/main" id="{D59BDEEB-FA12-461E-9F82-E27E17FC6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1" name="Line 1031">
            <a:extLst>
              <a:ext uri="{FF2B5EF4-FFF2-40B4-BE49-F238E27FC236}">
                <a16:creationId xmlns:a16="http://schemas.microsoft.com/office/drawing/2014/main" id="{38A4068B-305F-4E02-AC7D-5782E5BBFC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2" name="AutoShape 1032">
            <a:extLst>
              <a:ext uri="{FF2B5EF4-FFF2-40B4-BE49-F238E27FC236}">
                <a16:creationId xmlns:a16="http://schemas.microsoft.com/office/drawing/2014/main" id="{3BAE4F61-165F-48CD-B052-B34200611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8853" name="AutoShape 1033">
            <a:extLst>
              <a:ext uri="{FF2B5EF4-FFF2-40B4-BE49-F238E27FC236}">
                <a16:creationId xmlns:a16="http://schemas.microsoft.com/office/drawing/2014/main" id="{93E890B2-9120-4BB8-9863-C38F18193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8854" name="日期占位符 12">
            <a:extLst>
              <a:ext uri="{FF2B5EF4-FFF2-40B4-BE49-F238E27FC236}">
                <a16:creationId xmlns:a16="http://schemas.microsoft.com/office/drawing/2014/main" id="{05C9536B-FB80-4F31-B198-2209DA6D813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AADD2D89-BA2E-4DA9-A426-1CC273C89FD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5" name="灯片编号占位符 13">
            <a:extLst>
              <a:ext uri="{FF2B5EF4-FFF2-40B4-BE49-F238E27FC236}">
                <a16:creationId xmlns:a16="http://schemas.microsoft.com/office/drawing/2014/main" id="{A4EAF231-ADEE-4390-8352-DB5A5174BD59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DF8BFDE-4C76-45BA-980D-5C290F22BCC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6" name="页脚占位符 14">
            <a:extLst>
              <a:ext uri="{FF2B5EF4-FFF2-40B4-BE49-F238E27FC236}">
                <a16:creationId xmlns:a16="http://schemas.microsoft.com/office/drawing/2014/main" id="{52BBF387-E8AB-4250-80DD-D038D9B1837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53795E8-BDAD-4D1F-BCF1-CACF0C782D6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858" name="Text Box 1029">
            <a:extLst>
              <a:ext uri="{FF2B5EF4-FFF2-40B4-BE49-F238E27FC236}">
                <a16:creationId xmlns:a16="http://schemas.microsoft.com/office/drawing/2014/main" id="{46B932B1-EB83-405D-8757-08084424D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pic>
        <p:nvPicPr>
          <p:cNvPr id="78859" name="Picture 3">
            <a:extLst>
              <a:ext uri="{FF2B5EF4-FFF2-40B4-BE49-F238E27FC236}">
                <a16:creationId xmlns:a16="http://schemas.microsoft.com/office/drawing/2014/main" id="{725651FB-9DB4-4ABF-97BB-AD991D89E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981075"/>
            <a:ext cx="7343775" cy="4824413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Line 1027">
            <a:extLst>
              <a:ext uri="{FF2B5EF4-FFF2-40B4-BE49-F238E27FC236}">
                <a16:creationId xmlns:a16="http://schemas.microsoft.com/office/drawing/2014/main" id="{BF25BFFF-8588-40CB-82E4-B9B270B8A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899" name="Line 1031">
            <a:extLst>
              <a:ext uri="{FF2B5EF4-FFF2-40B4-BE49-F238E27FC236}">
                <a16:creationId xmlns:a16="http://schemas.microsoft.com/office/drawing/2014/main" id="{F457FCA4-CE11-49A0-9C11-F5F306CB2D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0" name="AutoShape 1032">
            <a:extLst>
              <a:ext uri="{FF2B5EF4-FFF2-40B4-BE49-F238E27FC236}">
                <a16:creationId xmlns:a16="http://schemas.microsoft.com/office/drawing/2014/main" id="{849E36D4-89BD-43F6-841C-F9541A8C6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0901" name="AutoShape 1033">
            <a:extLst>
              <a:ext uri="{FF2B5EF4-FFF2-40B4-BE49-F238E27FC236}">
                <a16:creationId xmlns:a16="http://schemas.microsoft.com/office/drawing/2014/main" id="{9FFF1404-7093-4B79-9135-843B6204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0902" name="日期占位符 12">
            <a:extLst>
              <a:ext uri="{FF2B5EF4-FFF2-40B4-BE49-F238E27FC236}">
                <a16:creationId xmlns:a16="http://schemas.microsoft.com/office/drawing/2014/main" id="{2A8E5EA7-0101-4280-8BC4-8D4D9271032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5A498EF0-FE4E-4DA3-97EA-54C86EC7B3E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903" name="灯片编号占位符 13">
            <a:extLst>
              <a:ext uri="{FF2B5EF4-FFF2-40B4-BE49-F238E27FC236}">
                <a16:creationId xmlns:a16="http://schemas.microsoft.com/office/drawing/2014/main" id="{C712FD44-50CD-412B-A02A-A39F0A1CFADE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23881C5-42D3-410D-947E-A79CD3BF08F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904" name="页脚占位符 14">
            <a:extLst>
              <a:ext uri="{FF2B5EF4-FFF2-40B4-BE49-F238E27FC236}">
                <a16:creationId xmlns:a16="http://schemas.microsoft.com/office/drawing/2014/main" id="{219C61C1-F2C6-489F-9064-48A92376E0F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56A634F-5677-425A-8575-498CA93D837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0906" name="Text Box 1029">
            <a:extLst>
              <a:ext uri="{FF2B5EF4-FFF2-40B4-BE49-F238E27FC236}">
                <a16:creationId xmlns:a16="http://schemas.microsoft.com/office/drawing/2014/main" id="{9C094A23-4A29-4D20-9233-3A79D553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E2CA354E-A249-47F8-A5CC-D8368A48F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305800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b="0" dirty="0">
                <a:solidFill>
                  <a:srgbClr val="FF00FF"/>
                </a:solidFill>
              </a:rPr>
              <a:t>	</a:t>
            </a:r>
            <a:r>
              <a:rPr lang="zh-CN" altLang="en-US" sz="3200" dirty="0">
                <a:latin typeface="宋体" pitchFamily="2" charset="-122"/>
              </a:rPr>
              <a:t>另一种转换方法：</a:t>
            </a:r>
            <a:r>
              <a:rPr lang="zh-CN" altLang="en-US" sz="3600" dirty="0">
                <a:solidFill>
                  <a:srgbClr val="FF0000"/>
                </a:solidFill>
                <a:ea typeface="楷体_GB2312" pitchFamily="49" charset="-122"/>
              </a:rPr>
              <a:t>降幂法</a:t>
            </a:r>
            <a:endParaRPr lang="zh-CN" altLang="en-US" sz="2400" dirty="0">
              <a:solidFill>
                <a:srgbClr val="FF0000"/>
              </a:solidFill>
              <a:latin typeface="宋体" pitchFamily="2" charset="-122"/>
            </a:endParaRPr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	</a:t>
            </a:r>
            <a:endParaRPr lang="zh-CN" altLang="en-US" sz="2400" dirty="0">
              <a:latin typeface="宋体" pitchFamily="2" charset="-122"/>
            </a:endParaRPr>
          </a:p>
          <a:p>
            <a:pPr algn="just">
              <a:defRPr/>
            </a:pP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[</a:t>
            </a:r>
            <a:r>
              <a:rPr lang="zh-CN" altLang="en-US" sz="2800" dirty="0">
                <a:solidFill>
                  <a:srgbClr val="0000D6"/>
                </a:solidFill>
                <a:latin typeface="宋体" pitchFamily="2" charset="-122"/>
                <a:ea typeface="楷体_GB2312"/>
              </a:rPr>
              <a:t>例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  <a:ea typeface="楷体_GB2312"/>
              </a:rPr>
              <a:t>1.4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]</a:t>
            </a:r>
            <a:r>
              <a:rPr lang="en-US" altLang="zh-CN" sz="2800" dirty="0">
                <a:latin typeface="宋体" pitchFamily="2" charset="-122"/>
              </a:rPr>
              <a:t>  N=73D=1001001B</a:t>
            </a:r>
            <a:r>
              <a:rPr lang="zh-CN" altLang="en-US" sz="2800" dirty="0">
                <a:latin typeface="宋体" pitchFamily="2" charset="-122"/>
              </a:rPr>
              <a:t>。</a:t>
            </a:r>
            <a:endParaRPr lang="zh-CN" altLang="en-US" sz="2400" b="0" dirty="0"/>
          </a:p>
          <a:p>
            <a:pPr algn="just">
              <a:defRPr/>
            </a:pPr>
            <a:r>
              <a:rPr lang="zh-CN" altLang="en-US" sz="2400" b="0" dirty="0"/>
              <a:t>	</a:t>
            </a:r>
            <a:r>
              <a:rPr lang="zh-CN" altLang="en-US" sz="2800" dirty="0">
                <a:latin typeface="+mn-ea"/>
                <a:ea typeface="+mn-ea"/>
              </a:rPr>
              <a:t>小于</a:t>
            </a:r>
            <a:r>
              <a:rPr lang="en-US" altLang="zh-CN" sz="2800" dirty="0">
                <a:latin typeface="+mn-ea"/>
                <a:ea typeface="+mn-ea"/>
              </a:rPr>
              <a:t>N</a:t>
            </a:r>
            <a:r>
              <a:rPr lang="zh-CN" altLang="en-US" sz="2800" dirty="0">
                <a:latin typeface="+mn-ea"/>
                <a:ea typeface="+mn-ea"/>
              </a:rPr>
              <a:t>的二进制权为</a:t>
            </a:r>
            <a:r>
              <a:rPr lang="zh-CN" altLang="en-US" sz="2800" dirty="0">
                <a:latin typeface="宋体" pitchFamily="2" charset="-122"/>
              </a:rPr>
              <a:t>：</a:t>
            </a:r>
            <a:r>
              <a:rPr lang="en-US" altLang="zh-CN" sz="2800" dirty="0">
                <a:latin typeface="宋体" pitchFamily="2" charset="-122"/>
              </a:rPr>
              <a:t>64 32 16 8  4  2  1</a:t>
            </a:r>
          </a:p>
          <a:p>
            <a:pPr algn="just">
              <a:defRPr/>
            </a:pPr>
            <a:r>
              <a:rPr lang="en-US" altLang="zh-CN" sz="2800" dirty="0">
                <a:latin typeface="宋体" pitchFamily="2" charset="-122"/>
              </a:rPr>
              <a:t>	</a:t>
            </a:r>
            <a:r>
              <a:rPr lang="zh-CN" altLang="en-US" sz="2800" dirty="0">
                <a:latin typeface="+mn-ea"/>
                <a:ea typeface="+mn-ea"/>
              </a:rPr>
              <a:t>对应的二进制数为</a:t>
            </a:r>
            <a:r>
              <a:rPr lang="zh-CN" altLang="en-US" sz="2800" dirty="0">
                <a:latin typeface="宋体" pitchFamily="2" charset="-122"/>
              </a:rPr>
              <a:t>： </a:t>
            </a:r>
            <a:r>
              <a:rPr lang="en-US" altLang="zh-CN" sz="2800" dirty="0">
                <a:latin typeface="宋体" pitchFamily="2" charset="-122"/>
              </a:rPr>
              <a:t>1  0  0  1  0  0  1</a:t>
            </a:r>
          </a:p>
          <a:p>
            <a:pPr algn="just">
              <a:defRPr/>
            </a:pPr>
            <a:endParaRPr lang="en-US" altLang="zh-CN" sz="2400" b="0" dirty="0"/>
          </a:p>
          <a:p>
            <a:pPr algn="ctr">
              <a:defRPr/>
            </a:pPr>
            <a:r>
              <a:rPr lang="zh-CN" altLang="en-US" sz="2800" dirty="0">
                <a:latin typeface="宋体" pitchFamily="2" charset="-122"/>
              </a:rPr>
              <a:t>又如：	</a:t>
            </a:r>
            <a:r>
              <a:rPr lang="en-US" altLang="zh-CN" sz="2800" dirty="0">
                <a:latin typeface="宋体" pitchFamily="2" charset="-122"/>
              </a:rPr>
              <a:t>N=67D=01000011B</a:t>
            </a:r>
          </a:p>
          <a:p>
            <a:pPr algn="ctr">
              <a:defRPr/>
            </a:pPr>
            <a:r>
              <a:rPr lang="en-US" altLang="zh-CN" sz="2800" dirty="0">
                <a:latin typeface="宋体" pitchFamily="2" charset="-122"/>
              </a:rPr>
              <a:t>		N=20D=00010100B</a:t>
            </a:r>
            <a:endParaRPr lang="en-US" altLang="zh-CN" sz="2400" b="0" dirty="0"/>
          </a:p>
          <a:p>
            <a:pPr algn="ctr">
              <a:defRPr/>
            </a:pPr>
            <a:r>
              <a:rPr lang="en-US" altLang="zh-CN" sz="2400" b="0" dirty="0"/>
              <a:t>	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1027">
            <a:extLst>
              <a:ext uri="{FF2B5EF4-FFF2-40B4-BE49-F238E27FC236}">
                <a16:creationId xmlns:a16="http://schemas.microsoft.com/office/drawing/2014/main" id="{0BDFDF50-9D7F-46F8-908A-CF54BD339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7" name="Line 1031">
            <a:extLst>
              <a:ext uri="{FF2B5EF4-FFF2-40B4-BE49-F238E27FC236}">
                <a16:creationId xmlns:a16="http://schemas.microsoft.com/office/drawing/2014/main" id="{DA1FCB42-CEB5-416D-A939-6D17F2FA88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8" name="AutoShape 1032">
            <a:extLst>
              <a:ext uri="{FF2B5EF4-FFF2-40B4-BE49-F238E27FC236}">
                <a16:creationId xmlns:a16="http://schemas.microsoft.com/office/drawing/2014/main" id="{3B972081-DE87-4703-B61E-4F4283D30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2949" name="AutoShape 1033">
            <a:extLst>
              <a:ext uri="{FF2B5EF4-FFF2-40B4-BE49-F238E27FC236}">
                <a16:creationId xmlns:a16="http://schemas.microsoft.com/office/drawing/2014/main" id="{FE79E9DC-33FE-4D3C-ACE3-C55E6F7B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2950" name="日期占位符 12">
            <a:extLst>
              <a:ext uri="{FF2B5EF4-FFF2-40B4-BE49-F238E27FC236}">
                <a16:creationId xmlns:a16="http://schemas.microsoft.com/office/drawing/2014/main" id="{C90529CA-A356-4092-8159-8C43C1380862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97738FA5-827B-4474-A2B1-8E2F2100411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2951" name="灯片编号占位符 13">
            <a:extLst>
              <a:ext uri="{FF2B5EF4-FFF2-40B4-BE49-F238E27FC236}">
                <a16:creationId xmlns:a16="http://schemas.microsoft.com/office/drawing/2014/main" id="{9FD6D78B-24EF-4C38-9DDC-98AFA645223B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377E3E1-E261-4F8A-95A9-119C4E95A48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2952" name="页脚占位符 14">
            <a:extLst>
              <a:ext uri="{FF2B5EF4-FFF2-40B4-BE49-F238E27FC236}">
                <a16:creationId xmlns:a16="http://schemas.microsoft.com/office/drawing/2014/main" id="{42D5C9C1-0A6B-48B2-98D6-99E1999A05B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0A15C95-AA1F-4EE9-951A-2BCBA74224D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954" name="Text Box 1029">
            <a:extLst>
              <a:ext uri="{FF2B5EF4-FFF2-40B4-BE49-F238E27FC236}">
                <a16:creationId xmlns:a16="http://schemas.microsoft.com/office/drawing/2014/main" id="{FB372D24-7E82-433E-9139-E534A5855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6E92438F-CC10-4B94-9E5D-1DC2B4D98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125538"/>
            <a:ext cx="6553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latin typeface="宋体" panose="02010600030101010101" pitchFamily="2" charset="-122"/>
                <a:ea typeface="楷体_GB2312"/>
                <a:cs typeface="楷体_GB2312"/>
              </a:rPr>
              <a:t>4. </a:t>
            </a:r>
            <a:r>
              <a:rPr lang="zh-CN" altLang="en-US" sz="3200">
                <a:latin typeface="宋体" panose="02010600030101010101" pitchFamily="2" charset="-122"/>
                <a:ea typeface="楷体_GB2312"/>
                <a:cs typeface="楷体_GB2312"/>
              </a:rPr>
              <a:t>十六进制数转化为二进制数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3047B57D-3DB0-405E-8AD0-618F6CA6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73238"/>
            <a:ext cx="83820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endParaRPr lang="zh-CN" altLang="en-US" sz="2400" b="0" dirty="0"/>
          </a:p>
          <a:p>
            <a:pPr algn="just">
              <a:defRPr/>
            </a:pPr>
            <a:r>
              <a:rPr lang="zh-CN" altLang="en-US" sz="2400" b="0" dirty="0">
                <a:solidFill>
                  <a:srgbClr val="FF00FF"/>
                </a:solidFill>
              </a:rPr>
              <a:t>      </a:t>
            </a: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十六进制数中的一位对应二进制数的四位</a:t>
            </a:r>
            <a:r>
              <a:rPr lang="zh-CN" altLang="en-US" sz="2400" b="0" dirty="0"/>
              <a:t>。</a:t>
            </a:r>
          </a:p>
          <a:p>
            <a:pPr algn="just">
              <a:defRPr/>
            </a:pPr>
            <a:r>
              <a:rPr lang="zh-CN" altLang="en-US" sz="2400" b="0" dirty="0"/>
              <a:t>	</a:t>
            </a:r>
          </a:p>
          <a:p>
            <a:pPr algn="just">
              <a:defRPr/>
            </a:pPr>
            <a:r>
              <a:rPr lang="en-US" altLang="zh-CN" sz="3200" dirty="0">
                <a:solidFill>
                  <a:srgbClr val="0000D6"/>
                </a:solidFill>
                <a:latin typeface="宋体" pitchFamily="2" charset="-122"/>
              </a:rPr>
              <a:t>[</a:t>
            </a:r>
            <a:r>
              <a:rPr lang="zh-CN" altLang="en-US" sz="32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1.5</a:t>
            </a:r>
            <a:r>
              <a:rPr lang="en-US" altLang="zh-CN" sz="3200" dirty="0">
                <a:solidFill>
                  <a:srgbClr val="0000D6"/>
                </a:solidFill>
                <a:latin typeface="宋体" pitchFamily="2" charset="-122"/>
              </a:rPr>
              <a:t>]</a:t>
            </a:r>
          </a:p>
          <a:p>
            <a:pPr lvl="2" algn="just">
              <a:defRPr/>
            </a:pPr>
            <a:r>
              <a:rPr lang="en-US" altLang="zh-CN" sz="3200" dirty="0">
                <a:latin typeface="宋体" pitchFamily="2" charset="-122"/>
              </a:rPr>
              <a:t>2C1DH=0010 1100 0001 1101B		64H=0110 0100B</a:t>
            </a:r>
          </a:p>
          <a:p>
            <a:pPr algn="just">
              <a:defRPr/>
            </a:pPr>
            <a:endParaRPr lang="en-US" altLang="zh-CN" sz="2400" b="0" dirty="0"/>
          </a:p>
          <a:p>
            <a:pPr algn="just">
              <a:defRPr/>
            </a:pPr>
            <a:r>
              <a:rPr lang="en-US" altLang="zh-CN" sz="2800" dirty="0">
                <a:latin typeface="宋体" pitchFamily="2" charset="-122"/>
              </a:rPr>
              <a:t>	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867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1027">
            <a:extLst>
              <a:ext uri="{FF2B5EF4-FFF2-40B4-BE49-F238E27FC236}">
                <a16:creationId xmlns:a16="http://schemas.microsoft.com/office/drawing/2014/main" id="{9DCBAC86-02F4-4F29-9BB4-B18B1C2F8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5" name="Line 1031">
            <a:extLst>
              <a:ext uri="{FF2B5EF4-FFF2-40B4-BE49-F238E27FC236}">
                <a16:creationId xmlns:a16="http://schemas.microsoft.com/office/drawing/2014/main" id="{9C288FC8-1926-4550-B533-E9C09F3521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6" name="AutoShape 1032">
            <a:extLst>
              <a:ext uri="{FF2B5EF4-FFF2-40B4-BE49-F238E27FC236}">
                <a16:creationId xmlns:a16="http://schemas.microsoft.com/office/drawing/2014/main" id="{7A0C00AE-76BE-4373-8622-8BE745680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4997" name="AutoShape 1033">
            <a:extLst>
              <a:ext uri="{FF2B5EF4-FFF2-40B4-BE49-F238E27FC236}">
                <a16:creationId xmlns:a16="http://schemas.microsoft.com/office/drawing/2014/main" id="{1177BDEE-BF7E-4C0D-9558-12F83C492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4998" name="日期占位符 12">
            <a:extLst>
              <a:ext uri="{FF2B5EF4-FFF2-40B4-BE49-F238E27FC236}">
                <a16:creationId xmlns:a16="http://schemas.microsoft.com/office/drawing/2014/main" id="{1DBF4C0A-4111-41F8-8A04-D8D2F381FE5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215B7BD-0814-447E-A7ED-1B87D959260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4999" name="灯片编号占位符 13">
            <a:extLst>
              <a:ext uri="{FF2B5EF4-FFF2-40B4-BE49-F238E27FC236}">
                <a16:creationId xmlns:a16="http://schemas.microsoft.com/office/drawing/2014/main" id="{606C4E50-6D6D-4D9F-92C1-EF9F56EFA674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7FA7E4A-A7C6-483C-B1AD-58FDC9AC620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5000" name="页脚占位符 14">
            <a:extLst>
              <a:ext uri="{FF2B5EF4-FFF2-40B4-BE49-F238E27FC236}">
                <a16:creationId xmlns:a16="http://schemas.microsoft.com/office/drawing/2014/main" id="{CB8E448E-0403-42CB-8C42-AFA0BF21988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C0057AD-6794-4766-8C26-313A2E7D4A3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5002" name="Text Box 1029">
            <a:extLst>
              <a:ext uri="{FF2B5EF4-FFF2-40B4-BE49-F238E27FC236}">
                <a16:creationId xmlns:a16="http://schemas.microsoft.com/office/drawing/2014/main" id="{4D019A49-C000-4E06-993C-7A93F7299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E928397-7779-4621-92CE-9B5629097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81075"/>
            <a:ext cx="655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latin typeface="宋体" panose="02010600030101010101" pitchFamily="2" charset="-122"/>
                <a:ea typeface="楷体_GB2312"/>
                <a:cs typeface="楷体_GB2312"/>
              </a:rPr>
              <a:t>5. </a:t>
            </a:r>
            <a:r>
              <a:rPr lang="zh-CN" altLang="en-US" sz="3200">
                <a:latin typeface="宋体" panose="02010600030101010101" pitchFamily="2" charset="-122"/>
                <a:ea typeface="楷体_GB2312"/>
                <a:cs typeface="楷体_GB2312"/>
              </a:rPr>
              <a:t>二进制数转化为十六进制数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CEE62869-62D2-43D1-87EF-58BDC6040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916113"/>
            <a:ext cx="79248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	四位二进制数对应一位十六进制数</a:t>
            </a:r>
            <a:r>
              <a:rPr lang="zh-CN" altLang="en-US" sz="2400" b="0" dirty="0"/>
              <a:t>。</a:t>
            </a:r>
          </a:p>
          <a:p>
            <a:pPr algn="just">
              <a:defRPr/>
            </a:pPr>
            <a:endParaRPr lang="zh-CN" altLang="en-US" sz="2400" b="0" dirty="0"/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整数部分</a:t>
            </a:r>
            <a:r>
              <a:rPr lang="zh-CN" altLang="en-US" sz="2400" b="0" dirty="0"/>
              <a:t>：</a:t>
            </a:r>
            <a:r>
              <a:rPr lang="zh-CN" altLang="en-US" sz="2800" dirty="0">
                <a:latin typeface="+mn-ea"/>
                <a:ea typeface="+mn-ea"/>
              </a:rPr>
              <a:t>从右向左进行分组。</a:t>
            </a:r>
            <a:endParaRPr lang="zh-CN" altLang="en-US" sz="2400" b="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zh-CN" altLang="en-US" sz="3200" dirty="0">
                <a:solidFill>
                  <a:schemeClr val="accent2"/>
                </a:solidFill>
                <a:ea typeface="楷体_GB2312" pitchFamily="49" charset="-122"/>
              </a:rPr>
              <a:t>小数部分</a:t>
            </a:r>
            <a:r>
              <a:rPr lang="zh-CN" altLang="en-US" sz="2400" b="0" dirty="0"/>
              <a:t>：</a:t>
            </a:r>
            <a:r>
              <a:rPr lang="zh-CN" altLang="en-US" sz="2800" dirty="0">
                <a:latin typeface="+mn-ea"/>
                <a:ea typeface="+mn-ea"/>
              </a:rPr>
              <a:t>从左向右进行分组，不足补</a:t>
            </a:r>
            <a:r>
              <a:rPr lang="en-US" altLang="zh-CN" sz="2800" dirty="0">
                <a:latin typeface="+mn-ea"/>
                <a:ea typeface="+mn-ea"/>
              </a:rPr>
              <a:t>0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  <a:endParaRPr lang="zh-CN" altLang="en-US" sz="2400" b="0" dirty="0">
              <a:latin typeface="+mn-ea"/>
              <a:ea typeface="+mn-ea"/>
            </a:endParaRPr>
          </a:p>
          <a:p>
            <a:pPr algn="just">
              <a:defRPr/>
            </a:pPr>
            <a:endParaRPr lang="zh-CN" altLang="en-US" sz="2400" b="0" dirty="0"/>
          </a:p>
          <a:p>
            <a:pPr algn="just">
              <a:defRPr/>
            </a:pPr>
            <a:r>
              <a:rPr lang="zh-CN" altLang="en-US" sz="2400" b="0" dirty="0"/>
              <a:t>	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</a:rPr>
              <a:t>[</a:t>
            </a:r>
            <a:r>
              <a:rPr lang="zh-CN" altLang="en-US" sz="2800" dirty="0">
                <a:solidFill>
                  <a:srgbClr val="0000D6"/>
                </a:solidFill>
                <a:latin typeface="宋体" pitchFamily="2" charset="-122"/>
                <a:ea typeface="宋体" pitchFamily="2" charset="-122"/>
              </a:rPr>
              <a:t>例</a:t>
            </a:r>
            <a:r>
              <a:rPr lang="en-US" altLang="zh-CN" sz="2800" dirty="0">
                <a:solidFill>
                  <a:srgbClr val="0000D6"/>
                </a:solidFill>
                <a:latin typeface="宋体" pitchFamily="2" charset="-122"/>
                <a:ea typeface="宋体" pitchFamily="2" charset="-122"/>
              </a:rPr>
              <a:t>1.6]</a:t>
            </a:r>
          </a:p>
          <a:p>
            <a:pPr lvl="2" algn="just">
              <a:defRPr/>
            </a:pPr>
            <a:r>
              <a:rPr lang="en-US" altLang="zh-CN" sz="2800" dirty="0">
                <a:latin typeface="宋体" pitchFamily="2" charset="-122"/>
              </a:rPr>
              <a:t>11 0110 1100 .1101 01B=36C.D4H</a:t>
            </a:r>
          </a:p>
          <a:p>
            <a:pPr algn="just">
              <a:defRPr/>
            </a:pPr>
            <a:r>
              <a:rPr lang="en-US" altLang="zh-CN" sz="2800" dirty="0">
                <a:latin typeface="宋体" pitchFamily="2" charset="-122"/>
              </a:rPr>
              <a:t>	3	6	C	D	4	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3072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1027">
            <a:extLst>
              <a:ext uri="{FF2B5EF4-FFF2-40B4-BE49-F238E27FC236}">
                <a16:creationId xmlns:a16="http://schemas.microsoft.com/office/drawing/2014/main" id="{D4686FE5-7FFE-4347-BA9A-7110CD3FA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3" name="Line 1031">
            <a:extLst>
              <a:ext uri="{FF2B5EF4-FFF2-40B4-BE49-F238E27FC236}">
                <a16:creationId xmlns:a16="http://schemas.microsoft.com/office/drawing/2014/main" id="{3A9347B9-C604-431D-8D1F-8F3167AEDE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4" name="AutoShape 1032">
            <a:extLst>
              <a:ext uri="{FF2B5EF4-FFF2-40B4-BE49-F238E27FC236}">
                <a16:creationId xmlns:a16="http://schemas.microsoft.com/office/drawing/2014/main" id="{BFE23F73-5A04-4F18-9899-FABDF08C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7045" name="AutoShape 1033">
            <a:extLst>
              <a:ext uri="{FF2B5EF4-FFF2-40B4-BE49-F238E27FC236}">
                <a16:creationId xmlns:a16="http://schemas.microsoft.com/office/drawing/2014/main" id="{AE0A0F8C-E09B-40DB-8498-97A4112E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7046" name="日期占位符 12">
            <a:extLst>
              <a:ext uri="{FF2B5EF4-FFF2-40B4-BE49-F238E27FC236}">
                <a16:creationId xmlns:a16="http://schemas.microsoft.com/office/drawing/2014/main" id="{D815A955-ED9C-42C9-B79B-34C1927CA8D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6A48DD7B-5415-43B3-829E-B09CA7EDE7C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7047" name="灯片编号占位符 13">
            <a:extLst>
              <a:ext uri="{FF2B5EF4-FFF2-40B4-BE49-F238E27FC236}">
                <a16:creationId xmlns:a16="http://schemas.microsoft.com/office/drawing/2014/main" id="{2D89F4FD-4729-41FE-AD64-1EAA207FAF82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A2FDE73-59D4-4D86-8221-4A7118853A9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7B12141-4EE3-45D4-8A2C-C2AD1681456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7049" name="页脚占位符 14">
            <a:extLst>
              <a:ext uri="{FF2B5EF4-FFF2-40B4-BE49-F238E27FC236}">
                <a16:creationId xmlns:a16="http://schemas.microsoft.com/office/drawing/2014/main" id="{D4CB3B79-F8E8-4F6B-91EA-B11824B0B7C8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543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87050" name="Rectangle 7">
            <a:extLst>
              <a:ext uri="{FF2B5EF4-FFF2-40B4-BE49-F238E27FC236}">
                <a16:creationId xmlns:a16="http://schemas.microsoft.com/office/drawing/2014/main" id="{0BA4EA00-2203-48B6-B8D4-C5E7F227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zh-CN" altLang="en-US" sz="360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（补）</a:t>
            </a:r>
            <a:r>
              <a:rPr lang="en-US" altLang="zh-CN" sz="360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lang="zh-CN" altLang="en-US" sz="360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二进制数和十六进制数运算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9570B5DB-EB86-43EB-9301-73178DAF0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24175"/>
            <a:ext cx="54737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4000"/>
              <a:t>一、二进制数运算</a:t>
            </a:r>
          </a:p>
          <a:p>
            <a:pPr algn="ctr"/>
            <a:endParaRPr lang="zh-CN" altLang="en-US" sz="4000"/>
          </a:p>
          <a:p>
            <a:r>
              <a:rPr lang="zh-CN" altLang="en-US" sz="4000"/>
              <a:t>二、十六进制数的运算</a:t>
            </a:r>
          </a:p>
        </p:txBody>
      </p:sp>
      <p:sp>
        <p:nvSpPr>
          <p:cNvPr id="87052" name="Text Box 1029">
            <a:extLst>
              <a:ext uri="{FF2B5EF4-FFF2-40B4-BE49-F238E27FC236}">
                <a16:creationId xmlns:a16="http://schemas.microsoft.com/office/drawing/2014/main" id="{17C1AE2D-1755-4D36-B8CE-0A35713E0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Line 1027">
            <a:extLst>
              <a:ext uri="{FF2B5EF4-FFF2-40B4-BE49-F238E27FC236}">
                <a16:creationId xmlns:a16="http://schemas.microsoft.com/office/drawing/2014/main" id="{54927BB7-5BC0-4957-8438-4A515B343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1" name="Line 1031">
            <a:extLst>
              <a:ext uri="{FF2B5EF4-FFF2-40B4-BE49-F238E27FC236}">
                <a16:creationId xmlns:a16="http://schemas.microsoft.com/office/drawing/2014/main" id="{B265FB60-5B50-4DC7-A2D8-D806BA66E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2" name="AutoShape 1032">
            <a:extLst>
              <a:ext uri="{FF2B5EF4-FFF2-40B4-BE49-F238E27FC236}">
                <a16:creationId xmlns:a16="http://schemas.microsoft.com/office/drawing/2014/main" id="{52A150F5-EC1E-4788-99F4-6D52A5A4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9093" name="AutoShape 1033">
            <a:extLst>
              <a:ext uri="{FF2B5EF4-FFF2-40B4-BE49-F238E27FC236}">
                <a16:creationId xmlns:a16="http://schemas.microsoft.com/office/drawing/2014/main" id="{D35AA05D-B28C-4AD3-A7BE-5DD4621EA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9094" name="日期占位符 12">
            <a:extLst>
              <a:ext uri="{FF2B5EF4-FFF2-40B4-BE49-F238E27FC236}">
                <a16:creationId xmlns:a16="http://schemas.microsoft.com/office/drawing/2014/main" id="{67C19EF9-30FB-4E2C-BD87-B97BE7A2036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A2D9CDC-18A8-462C-A617-0EA8591F0B5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9095" name="灯片编号占位符 13">
            <a:extLst>
              <a:ext uri="{FF2B5EF4-FFF2-40B4-BE49-F238E27FC236}">
                <a16:creationId xmlns:a16="http://schemas.microsoft.com/office/drawing/2014/main" id="{A01F6F06-BFD7-400E-8A57-B4D8D9C8E0B4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D7C64DD-8119-4B0A-8BDD-25D60ECFA0D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9096" name="页脚占位符 14">
            <a:extLst>
              <a:ext uri="{FF2B5EF4-FFF2-40B4-BE49-F238E27FC236}">
                <a16:creationId xmlns:a16="http://schemas.microsoft.com/office/drawing/2014/main" id="{5CC90C55-A84B-4C95-B3B9-93EB7DDD150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C7F66B3-B453-49AE-8595-030728EB2AE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2893716E-28C2-400D-B8DB-B3916A07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12875"/>
            <a:ext cx="76200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2800"/>
              <a:t>加法规则：			乘法规则：</a:t>
            </a:r>
          </a:p>
          <a:p>
            <a:pPr algn="just"/>
            <a:r>
              <a:rPr lang="zh-CN" altLang="en-US" sz="2800"/>
              <a:t>	</a:t>
            </a:r>
            <a:r>
              <a:rPr lang="en-US" altLang="zh-CN" sz="2800"/>
              <a:t>0+0=0				0×0=0</a:t>
            </a:r>
          </a:p>
          <a:p>
            <a:pPr algn="just"/>
            <a:r>
              <a:rPr lang="en-US" altLang="zh-CN" sz="2800"/>
              <a:t>	0+1=1				0×1=0</a:t>
            </a:r>
          </a:p>
          <a:p>
            <a:pPr algn="just"/>
            <a:r>
              <a:rPr lang="en-US" altLang="zh-CN" sz="2800"/>
              <a:t>	1+0=1				1×0=0</a:t>
            </a:r>
          </a:p>
          <a:p>
            <a:pPr algn="just"/>
            <a:r>
              <a:rPr lang="en-US" altLang="zh-CN" sz="2800"/>
              <a:t>	1+1=0</a:t>
            </a:r>
            <a:r>
              <a:rPr lang="zh-CN" altLang="en-US" sz="2800"/>
              <a:t>（进位</a:t>
            </a:r>
            <a:r>
              <a:rPr lang="en-US" altLang="zh-CN" sz="2800"/>
              <a:t>1</a:t>
            </a:r>
            <a:r>
              <a:rPr lang="zh-CN" altLang="en-US" sz="2800"/>
              <a:t>）			</a:t>
            </a:r>
            <a:r>
              <a:rPr lang="en-US" altLang="zh-CN" sz="2800"/>
              <a:t>1×1=1</a:t>
            </a:r>
          </a:p>
        </p:txBody>
      </p:sp>
      <p:sp>
        <p:nvSpPr>
          <p:cNvPr id="45068" name="Text Box 11">
            <a:extLst>
              <a:ext uri="{FF2B5EF4-FFF2-40B4-BE49-F238E27FC236}">
                <a16:creationId xmlns:a16="http://schemas.microsoft.com/office/drawing/2014/main" id="{73A58E96-C999-4C2D-A34D-8490BD834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581400"/>
            <a:ext cx="708660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800" dirty="0">
                <a:solidFill>
                  <a:srgbClr val="0000D6"/>
                </a:solidFill>
              </a:rPr>
              <a:t>[</a:t>
            </a:r>
            <a:r>
              <a:rPr lang="zh-CN" altLang="en-US" sz="28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2800" dirty="0">
                <a:solidFill>
                  <a:srgbClr val="0000D6"/>
                </a:solidFill>
                <a:latin typeface="+mn-ea"/>
                <a:ea typeface="+mn-ea"/>
              </a:rPr>
              <a:t>2.7]</a:t>
            </a:r>
          </a:p>
          <a:p>
            <a:pPr algn="just">
              <a:defRPr/>
            </a:pPr>
            <a:r>
              <a:rPr lang="en-US" altLang="zh-CN" sz="2800" dirty="0"/>
              <a:t>	11011001				1101</a:t>
            </a:r>
          </a:p>
          <a:p>
            <a:pPr algn="just">
              <a:defRPr/>
            </a:pPr>
            <a:r>
              <a:rPr lang="en-US" altLang="zh-CN" sz="2800" dirty="0"/>
              <a:t> + 	01101010			</a:t>
            </a:r>
            <a:r>
              <a:rPr lang="en-US" altLang="zh-CN" sz="2800" dirty="0">
                <a:latin typeface="宋体" pitchFamily="2" charset="-122"/>
              </a:rPr>
              <a:t>×</a:t>
            </a:r>
            <a:r>
              <a:rPr lang="en-US" altLang="zh-CN" sz="2800" dirty="0"/>
              <a:t>	0101</a:t>
            </a:r>
          </a:p>
          <a:p>
            <a:pPr algn="just">
              <a:defRPr/>
            </a:pPr>
            <a:r>
              <a:rPr lang="en-US" altLang="zh-CN" sz="2800" dirty="0"/>
              <a:t>  1	01000011				1101</a:t>
            </a:r>
          </a:p>
          <a:p>
            <a:pPr algn="just">
              <a:defRPr/>
            </a:pPr>
            <a:r>
              <a:rPr lang="en-US" altLang="zh-CN" sz="2800" dirty="0"/>
              <a:t>				           +   1101</a:t>
            </a:r>
          </a:p>
          <a:p>
            <a:pPr algn="just">
              <a:defRPr/>
            </a:pPr>
            <a:r>
              <a:rPr lang="en-US" altLang="zh-CN" sz="2800" dirty="0"/>
              <a:t>			                         1000001</a:t>
            </a:r>
            <a:endParaRPr lang="en-US" altLang="zh-CN" sz="2800" b="0" dirty="0"/>
          </a:p>
        </p:txBody>
      </p:sp>
      <p:sp>
        <p:nvSpPr>
          <p:cNvPr id="89100" name="Rectangle 15">
            <a:extLst>
              <a:ext uri="{FF2B5EF4-FFF2-40B4-BE49-F238E27FC236}">
                <a16:creationId xmlns:a16="http://schemas.microsoft.com/office/drawing/2014/main" id="{74E47C21-E6D9-4008-AE45-A3F0E465B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33375"/>
            <a:ext cx="54070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一、二进制数的运算</a:t>
            </a:r>
          </a:p>
        </p:txBody>
      </p:sp>
      <p:sp>
        <p:nvSpPr>
          <p:cNvPr id="89101" name="Line 12">
            <a:extLst>
              <a:ext uri="{FF2B5EF4-FFF2-40B4-BE49-F238E27FC236}">
                <a16:creationId xmlns:a16="http://schemas.microsoft.com/office/drawing/2014/main" id="{3A87DB82-702D-4E28-AA63-6DDFE284F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4941888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2" name="Line 13">
            <a:extLst>
              <a:ext uri="{FF2B5EF4-FFF2-40B4-BE49-F238E27FC236}">
                <a16:creationId xmlns:a16="http://schemas.microsoft.com/office/drawing/2014/main" id="{81BFE052-CE9B-4423-8539-A1C3ACF41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494188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3" name="Line 14">
            <a:extLst>
              <a:ext uri="{FF2B5EF4-FFF2-40B4-BE49-F238E27FC236}">
                <a16:creationId xmlns:a16="http://schemas.microsoft.com/office/drawing/2014/main" id="{62602168-BA27-4AB9-AE71-9B6943EAB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5805488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4" name="Text Box 1029">
            <a:extLst>
              <a:ext uri="{FF2B5EF4-FFF2-40B4-BE49-F238E27FC236}">
                <a16:creationId xmlns:a16="http://schemas.microsoft.com/office/drawing/2014/main" id="{C2A1846B-910A-4D0F-A2D5-959AEBED5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Line 1027">
            <a:extLst>
              <a:ext uri="{FF2B5EF4-FFF2-40B4-BE49-F238E27FC236}">
                <a16:creationId xmlns:a16="http://schemas.microsoft.com/office/drawing/2014/main" id="{8B4F2D91-E278-4D05-BB64-97421031E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39" name="Line 1031">
            <a:extLst>
              <a:ext uri="{FF2B5EF4-FFF2-40B4-BE49-F238E27FC236}">
                <a16:creationId xmlns:a16="http://schemas.microsoft.com/office/drawing/2014/main" id="{DE44F44E-AB48-4D3D-A888-61A0C61E05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40" name="AutoShape 1032">
            <a:extLst>
              <a:ext uri="{FF2B5EF4-FFF2-40B4-BE49-F238E27FC236}">
                <a16:creationId xmlns:a16="http://schemas.microsoft.com/office/drawing/2014/main" id="{E93BFF40-61EA-4697-95D8-FA1FB92CF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1141" name="AutoShape 1033">
            <a:extLst>
              <a:ext uri="{FF2B5EF4-FFF2-40B4-BE49-F238E27FC236}">
                <a16:creationId xmlns:a16="http://schemas.microsoft.com/office/drawing/2014/main" id="{6D350346-BD64-4045-9A7E-79D4395E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1142" name="日期占位符 12">
            <a:extLst>
              <a:ext uri="{FF2B5EF4-FFF2-40B4-BE49-F238E27FC236}">
                <a16:creationId xmlns:a16="http://schemas.microsoft.com/office/drawing/2014/main" id="{9C83B053-F68C-4C0F-9B9A-49EBEAE81E3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A2D10C00-FF37-4882-8577-4883EA89BEC8}" type="datetime1">
              <a:rPr kumimoji="0" lang="zh-CN" altLang="en-US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143" name="灯片编号占位符 13">
            <a:extLst>
              <a:ext uri="{FF2B5EF4-FFF2-40B4-BE49-F238E27FC236}">
                <a16:creationId xmlns:a16="http://schemas.microsoft.com/office/drawing/2014/main" id="{E342D7F4-6F27-4ACC-BFAD-362B6857645D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02CAF02-3599-4D05-941F-A3A7BE6B85F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144" name="页脚占位符 14">
            <a:extLst>
              <a:ext uri="{FF2B5EF4-FFF2-40B4-BE49-F238E27FC236}">
                <a16:creationId xmlns:a16="http://schemas.microsoft.com/office/drawing/2014/main" id="{BF18B646-F22E-435B-94C8-6DB90F7F176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1E19E80-4ED6-48FB-BB9D-D6E7C6D9968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146" name="Rectangle 15">
            <a:extLst>
              <a:ext uri="{FF2B5EF4-FFF2-40B4-BE49-F238E27FC236}">
                <a16:creationId xmlns:a16="http://schemas.microsoft.com/office/drawing/2014/main" id="{C78650EE-898F-4DA6-9A67-D8F9B3B7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765175"/>
            <a:ext cx="5759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二、十六进制数的运算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4FB25F81-FEF0-4C0A-8D94-681000DB8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060575"/>
            <a:ext cx="73914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/>
              <a:t>	</a:t>
            </a:r>
            <a:r>
              <a:rPr lang="en-US" altLang="zh-CN" sz="3200">
                <a:latin typeface="楷体_GB2312"/>
              </a:rPr>
              <a:t>(1) </a:t>
            </a:r>
            <a:r>
              <a:rPr lang="zh-CN" altLang="en-US" sz="3200">
                <a:latin typeface="楷体_GB2312"/>
              </a:rPr>
              <a:t>先转换为十进制，经过运算后再把结果转换为十六进制。</a:t>
            </a:r>
          </a:p>
          <a:p>
            <a:pPr algn="just"/>
            <a:r>
              <a:rPr lang="zh-CN" altLang="en-US" sz="3200">
                <a:latin typeface="楷体_GB2312"/>
              </a:rPr>
              <a:t>	</a:t>
            </a:r>
            <a:r>
              <a:rPr lang="en-US" altLang="zh-CN" sz="3200">
                <a:latin typeface="楷体_GB2312"/>
              </a:rPr>
              <a:t>(2) </a:t>
            </a:r>
            <a:r>
              <a:rPr lang="zh-CN" altLang="en-US" sz="3200">
                <a:latin typeface="楷体_GB2312"/>
              </a:rPr>
              <a:t>按照逢十六进一的规则，直接用十六进制数来计算。</a:t>
            </a:r>
          </a:p>
          <a:p>
            <a:pPr algn="just"/>
            <a:r>
              <a:rPr lang="zh-CN" altLang="en-US" sz="3200">
                <a:latin typeface="楷体_GB2312"/>
              </a:rPr>
              <a:t>	</a:t>
            </a:r>
            <a:r>
              <a:rPr lang="en-US" altLang="zh-CN" sz="3200">
                <a:latin typeface="楷体_GB2312"/>
              </a:rPr>
              <a:t>(3) </a:t>
            </a:r>
            <a:r>
              <a:rPr lang="zh-CN" altLang="en-US" sz="3200">
                <a:latin typeface="楷体_GB2312"/>
              </a:rPr>
              <a:t>先转换为二进制，经过运算后再把结果转换为十六进制。尤其适用于十六进制乘除。</a:t>
            </a:r>
          </a:p>
        </p:txBody>
      </p:sp>
      <p:sp>
        <p:nvSpPr>
          <p:cNvPr id="91148" name="Text Box 1029">
            <a:extLst>
              <a:ext uri="{FF2B5EF4-FFF2-40B4-BE49-F238E27FC236}">
                <a16:creationId xmlns:a16="http://schemas.microsoft.com/office/drawing/2014/main" id="{B6C66209-BA43-48D0-993E-64ED3EB4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Line 1027">
            <a:extLst>
              <a:ext uri="{FF2B5EF4-FFF2-40B4-BE49-F238E27FC236}">
                <a16:creationId xmlns:a16="http://schemas.microsoft.com/office/drawing/2014/main" id="{E7B3AD1E-FF68-4700-A32D-BBC7404D8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7" name="Line 1031">
            <a:extLst>
              <a:ext uri="{FF2B5EF4-FFF2-40B4-BE49-F238E27FC236}">
                <a16:creationId xmlns:a16="http://schemas.microsoft.com/office/drawing/2014/main" id="{5ACA7FEA-891D-494B-A0CE-A261CF5741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88" name="AutoShape 1032">
            <a:extLst>
              <a:ext uri="{FF2B5EF4-FFF2-40B4-BE49-F238E27FC236}">
                <a16:creationId xmlns:a16="http://schemas.microsoft.com/office/drawing/2014/main" id="{B56305B8-210B-4174-A6C5-26DA06376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189" name="AutoShape 1033">
            <a:extLst>
              <a:ext uri="{FF2B5EF4-FFF2-40B4-BE49-F238E27FC236}">
                <a16:creationId xmlns:a16="http://schemas.microsoft.com/office/drawing/2014/main" id="{11904607-2474-4173-AC8D-6E554B845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190" name="日期占位符 12">
            <a:extLst>
              <a:ext uri="{FF2B5EF4-FFF2-40B4-BE49-F238E27FC236}">
                <a16:creationId xmlns:a16="http://schemas.microsoft.com/office/drawing/2014/main" id="{0E8CCCEC-53AB-4A3A-B21C-3DD420E857A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122059E-3487-4C4A-9EFE-5581050EDE5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91" name="灯片编号占位符 13">
            <a:extLst>
              <a:ext uri="{FF2B5EF4-FFF2-40B4-BE49-F238E27FC236}">
                <a16:creationId xmlns:a16="http://schemas.microsoft.com/office/drawing/2014/main" id="{610C0CC1-E7A3-4D5F-87D5-714B5DAF41A9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CAADE33-984E-4D7C-B617-5D96CB0E91F8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92" name="页脚占位符 14">
            <a:extLst>
              <a:ext uri="{FF2B5EF4-FFF2-40B4-BE49-F238E27FC236}">
                <a16:creationId xmlns:a16="http://schemas.microsoft.com/office/drawing/2014/main" id="{8667010E-9F97-4BD7-BD80-48DA7162E9F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F6B752E-2375-465B-8E10-9E588402A5E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BBD50C28-E9EA-4910-BEF8-1522AA700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120775"/>
            <a:ext cx="8077200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solidFill>
                  <a:srgbClr val="0000D6"/>
                </a:solidFill>
              </a:rPr>
              <a:t>[</a:t>
            </a:r>
            <a:r>
              <a:rPr lang="zh-CN" altLang="en-US" sz="32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1.8</a:t>
            </a:r>
            <a:r>
              <a:rPr lang="en-US" altLang="zh-CN" sz="3200" dirty="0">
                <a:solidFill>
                  <a:srgbClr val="0000D6"/>
                </a:solidFill>
              </a:rPr>
              <a:t>]</a:t>
            </a:r>
          </a:p>
          <a:p>
            <a:pPr algn="just">
              <a:defRPr/>
            </a:pPr>
            <a:endParaRPr lang="en-US" altLang="zh-CN" sz="3200" dirty="0">
              <a:solidFill>
                <a:srgbClr val="0000D6"/>
              </a:solidFill>
            </a:endParaRPr>
          </a:p>
          <a:p>
            <a:pPr algn="just">
              <a:defRPr/>
            </a:pPr>
            <a:r>
              <a:rPr lang="en-US" altLang="zh-CN" sz="3200" dirty="0"/>
              <a:t>	05C3H		3D28H		05C3H</a:t>
            </a:r>
          </a:p>
          <a:p>
            <a:pPr algn="just">
              <a:defRPr/>
            </a:pPr>
            <a:r>
              <a:rPr lang="en-US" altLang="zh-CN" sz="3200" dirty="0"/>
              <a:t>  +	3D28H	  -	05C3H	 </a:t>
            </a:r>
            <a:r>
              <a:rPr lang="en-US" altLang="zh-CN" sz="3200" dirty="0">
                <a:latin typeface="宋体" pitchFamily="2" charset="-122"/>
              </a:rPr>
              <a:t>×</a:t>
            </a:r>
            <a:r>
              <a:rPr lang="en-US" altLang="zh-CN" sz="3200" dirty="0"/>
              <a:t> 	00ABH</a:t>
            </a:r>
          </a:p>
          <a:p>
            <a:pPr algn="just">
              <a:defRPr/>
            </a:pPr>
            <a:r>
              <a:rPr lang="en-US" altLang="zh-CN" sz="3200" dirty="0"/>
              <a:t>	42EBH		3765H		3F61</a:t>
            </a:r>
          </a:p>
          <a:p>
            <a:pPr algn="just">
              <a:defRPr/>
            </a:pPr>
            <a:r>
              <a:rPr lang="en-US" altLang="zh-CN" sz="3200" dirty="0"/>
              <a:t>						  +   399E</a:t>
            </a:r>
          </a:p>
          <a:p>
            <a:pPr algn="just">
              <a:defRPr/>
            </a:pPr>
            <a:r>
              <a:rPr lang="en-US" altLang="zh-CN" sz="3200" dirty="0"/>
              <a:t>						       3D941</a:t>
            </a:r>
            <a:endParaRPr lang="en-US" altLang="zh-CN" sz="4000" dirty="0"/>
          </a:p>
        </p:txBody>
      </p:sp>
      <p:sp>
        <p:nvSpPr>
          <p:cNvPr id="93195" name="Text Box 15">
            <a:extLst>
              <a:ext uri="{FF2B5EF4-FFF2-40B4-BE49-F238E27FC236}">
                <a16:creationId xmlns:a16="http://schemas.microsoft.com/office/drawing/2014/main" id="{F2F676D3-577A-4833-8656-AA5049FA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5143500"/>
            <a:ext cx="4267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十六进制数乘除不作要求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  <a:cs typeface="楷体_GB2312"/>
            </a:endParaRPr>
          </a:p>
        </p:txBody>
      </p:sp>
      <p:sp>
        <p:nvSpPr>
          <p:cNvPr id="93196" name="Line 11">
            <a:extLst>
              <a:ext uri="{FF2B5EF4-FFF2-40B4-BE49-F238E27FC236}">
                <a16:creationId xmlns:a16="http://schemas.microsoft.com/office/drawing/2014/main" id="{9A48BD99-0E2F-4D4E-B565-C48B22E5F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31416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7" name="Line 11">
            <a:extLst>
              <a:ext uri="{FF2B5EF4-FFF2-40B4-BE49-F238E27FC236}">
                <a16:creationId xmlns:a16="http://schemas.microsoft.com/office/drawing/2014/main" id="{1402DA82-F2FA-4BA3-BA95-9754B4957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1416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8" name="Line 11">
            <a:extLst>
              <a:ext uri="{FF2B5EF4-FFF2-40B4-BE49-F238E27FC236}">
                <a16:creationId xmlns:a16="http://schemas.microsoft.com/office/drawing/2014/main" id="{F428DB21-7CC0-4D8B-AC61-B3BFCABC0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3141663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9" name="Line 11">
            <a:extLst>
              <a:ext uri="{FF2B5EF4-FFF2-40B4-BE49-F238E27FC236}">
                <a16:creationId xmlns:a16="http://schemas.microsoft.com/office/drawing/2014/main" id="{E793EF0C-E53C-43EF-A25E-A77246D9E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40767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0" name="Text Box 1029">
            <a:extLst>
              <a:ext uri="{FF2B5EF4-FFF2-40B4-BE49-F238E27FC236}">
                <a16:creationId xmlns:a16="http://schemas.microsoft.com/office/drawing/2014/main" id="{6B24F252-A266-4859-A757-1814E218A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88913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1.2  </a:t>
            </a:r>
            <a:r>
              <a:rPr lang="zh-CN" altLang="en-US" sz="2400">
                <a:solidFill>
                  <a:srgbClr val="FF3300"/>
                </a:solidFill>
              </a:rPr>
              <a:t>数制及其转换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7FDCCD-4490-4CAC-A023-C63CFDDB17D0}"/>
              </a:ext>
            </a:extLst>
          </p:cNvPr>
          <p:cNvSpPr txBox="1"/>
          <p:nvPr/>
        </p:nvSpPr>
        <p:spPr>
          <a:xfrm>
            <a:off x="1173163" y="4092575"/>
            <a:ext cx="1593850" cy="17843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660066"/>
                </a:solidFill>
              </a:rPr>
              <a:t>16</a:t>
            </a:r>
            <a:r>
              <a:rPr lang="zh-CN" altLang="en-US" sz="1400" dirty="0">
                <a:solidFill>
                  <a:srgbClr val="660066"/>
                </a:solidFill>
              </a:rPr>
              <a:t>*</a:t>
            </a:r>
            <a:r>
              <a:rPr lang="en-US" altLang="zh-CN" sz="1400" dirty="0">
                <a:solidFill>
                  <a:srgbClr val="660066"/>
                </a:solidFill>
              </a:rPr>
              <a:t>16</a:t>
            </a:r>
            <a:r>
              <a:rPr lang="zh-CN" altLang="en-US" sz="1400" dirty="0">
                <a:solidFill>
                  <a:srgbClr val="660066"/>
                </a:solidFill>
              </a:rPr>
              <a:t>乘法表部分</a:t>
            </a:r>
            <a:endParaRPr lang="en-US" altLang="zh-CN" sz="1400" dirty="0">
              <a:solidFill>
                <a:srgbClr val="660066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3A---1E</a:t>
            </a: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3B---21</a:t>
            </a: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5A---32</a:t>
            </a: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5B---37</a:t>
            </a: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CA---78</a:t>
            </a:r>
          </a:p>
          <a:p>
            <a:pPr>
              <a:defRPr/>
            </a:pPr>
            <a:r>
              <a:rPr lang="en-US" altLang="zh-CN" sz="1600" dirty="0">
                <a:solidFill>
                  <a:srgbClr val="660066"/>
                </a:solidFill>
              </a:rPr>
              <a:t>CB---84</a:t>
            </a:r>
            <a:endParaRPr lang="zh-CN" altLang="en-US" sz="1400" dirty="0">
              <a:solidFill>
                <a:srgbClr val="660066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Line 1027">
            <a:extLst>
              <a:ext uri="{FF2B5EF4-FFF2-40B4-BE49-F238E27FC236}">
                <a16:creationId xmlns:a16="http://schemas.microsoft.com/office/drawing/2014/main" id="{D7D6C541-0876-4C5D-9F5E-2B94D1E15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5" name="Text Box 1029">
            <a:extLst>
              <a:ext uri="{FF2B5EF4-FFF2-40B4-BE49-F238E27FC236}">
                <a16:creationId xmlns:a16="http://schemas.microsoft.com/office/drawing/2014/main" id="{D9A32898-A1F0-4A06-AAC3-7A668C13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</a:rPr>
              <a:t>章 基础知识</a:t>
            </a:r>
          </a:p>
        </p:txBody>
      </p:sp>
      <p:sp>
        <p:nvSpPr>
          <p:cNvPr id="95236" name="Line 1031">
            <a:extLst>
              <a:ext uri="{FF2B5EF4-FFF2-40B4-BE49-F238E27FC236}">
                <a16:creationId xmlns:a16="http://schemas.microsoft.com/office/drawing/2014/main" id="{664AF7E3-9A1E-4C53-A07E-03FEBEB3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7" name="AutoShape 1032">
            <a:extLst>
              <a:ext uri="{FF2B5EF4-FFF2-40B4-BE49-F238E27FC236}">
                <a16:creationId xmlns:a16="http://schemas.microsoft.com/office/drawing/2014/main" id="{3F5B1C0E-2C40-4B89-AD86-AF21B626E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5238" name="AutoShape 1033">
            <a:extLst>
              <a:ext uri="{FF2B5EF4-FFF2-40B4-BE49-F238E27FC236}">
                <a16:creationId xmlns:a16="http://schemas.microsoft.com/office/drawing/2014/main" id="{65D42628-5209-4EA3-90BA-0849D71A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5239" name="日期占位符 12">
            <a:extLst>
              <a:ext uri="{FF2B5EF4-FFF2-40B4-BE49-F238E27FC236}">
                <a16:creationId xmlns:a16="http://schemas.microsoft.com/office/drawing/2014/main" id="{B4824926-4F24-484C-BA25-4ADF4C23E4A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1D41A870-714D-4B8B-A938-4C77F90DF1D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5240" name="灯片编号占位符 13">
            <a:extLst>
              <a:ext uri="{FF2B5EF4-FFF2-40B4-BE49-F238E27FC236}">
                <a16:creationId xmlns:a16="http://schemas.microsoft.com/office/drawing/2014/main" id="{F5B52835-72F0-49F9-A206-E715FA35F4F1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5736259-F82C-4608-A408-D6457655E0E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F91E863-63BF-473A-AF61-2F80BB7D5506}"/>
              </a:ext>
            </a:extLst>
          </p:cNvPr>
          <p:cNvSpPr txBox="1">
            <a:spLocks noChangeArrowheads="1"/>
          </p:cNvSpPr>
          <p:nvPr/>
        </p:nvSpPr>
        <p:spPr>
          <a:xfrm>
            <a:off x="4211638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5242" name="页脚占位符 14">
            <a:extLst>
              <a:ext uri="{FF2B5EF4-FFF2-40B4-BE49-F238E27FC236}">
                <a16:creationId xmlns:a16="http://schemas.microsoft.com/office/drawing/2014/main" id="{A626341F-B0C2-4D22-BE72-992A4868EAA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2562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95243" name="Rectangle 7">
            <a:extLst>
              <a:ext uri="{FF2B5EF4-FFF2-40B4-BE49-F238E27FC236}">
                <a16:creationId xmlns:a16="http://schemas.microsoft.com/office/drawing/2014/main" id="{F01AE486-D428-4FD9-9307-C7D74F48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052513"/>
            <a:ext cx="54721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1.3  </a:t>
            </a:r>
            <a:r>
              <a:rPr lang="zh-CN" altLang="en-US" sz="36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数与字符的表示方法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A8C147CB-59B3-4CD5-AE13-AA0BF8933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65400"/>
            <a:ext cx="6697663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一、整数的表示</a:t>
            </a: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二、浮点数的表示</a:t>
            </a:r>
            <a:r>
              <a:rPr lang="zh-CN" altLang="en-US" sz="4000" baseline="300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三、二进制编码的十进制数</a:t>
            </a:r>
            <a:r>
              <a:rPr lang="zh-CN" altLang="en-US" sz="4000" baseline="3000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endParaRPr lang="en-US" altLang="zh-CN" sz="4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四、字符表示法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Line 1027">
            <a:extLst>
              <a:ext uri="{FF2B5EF4-FFF2-40B4-BE49-F238E27FC236}">
                <a16:creationId xmlns:a16="http://schemas.microsoft.com/office/drawing/2014/main" id="{1003FE44-0963-4B96-8F10-B1712AA4F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3" name="Line 1031">
            <a:extLst>
              <a:ext uri="{FF2B5EF4-FFF2-40B4-BE49-F238E27FC236}">
                <a16:creationId xmlns:a16="http://schemas.microsoft.com/office/drawing/2014/main" id="{684C7CEB-7F5F-4A07-8671-043285EC68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4" name="AutoShape 1032">
            <a:extLst>
              <a:ext uri="{FF2B5EF4-FFF2-40B4-BE49-F238E27FC236}">
                <a16:creationId xmlns:a16="http://schemas.microsoft.com/office/drawing/2014/main" id="{B2684158-BF55-4324-85E7-714D7848B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7285" name="AutoShape 1033">
            <a:extLst>
              <a:ext uri="{FF2B5EF4-FFF2-40B4-BE49-F238E27FC236}">
                <a16:creationId xmlns:a16="http://schemas.microsoft.com/office/drawing/2014/main" id="{1EC0395B-0E75-4CE1-A908-7F0E77DA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7286" name="日期占位符 12">
            <a:extLst>
              <a:ext uri="{FF2B5EF4-FFF2-40B4-BE49-F238E27FC236}">
                <a16:creationId xmlns:a16="http://schemas.microsoft.com/office/drawing/2014/main" id="{405A6C04-197F-4818-BF5C-A24C495F9D6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59F3B09E-504D-4442-89F0-969B186CD30C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7287" name="灯片编号占位符 13">
            <a:extLst>
              <a:ext uri="{FF2B5EF4-FFF2-40B4-BE49-F238E27FC236}">
                <a16:creationId xmlns:a16="http://schemas.microsoft.com/office/drawing/2014/main" id="{2DED1620-B8E9-4CBD-8387-630F13889E43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C589CCD-3A4C-4C89-A7C1-FC94925C992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7288" name="页脚占位符 14">
            <a:extLst>
              <a:ext uri="{FF2B5EF4-FFF2-40B4-BE49-F238E27FC236}">
                <a16:creationId xmlns:a16="http://schemas.microsoft.com/office/drawing/2014/main" id="{F06F8E37-D4E5-4247-A2F3-5DBDD61A2C1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7F13C8E-1F9B-490E-9143-AF4A4862CDD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7290" name="Text Box 1029">
            <a:extLst>
              <a:ext uri="{FF2B5EF4-FFF2-40B4-BE49-F238E27FC236}">
                <a16:creationId xmlns:a16="http://schemas.microsoft.com/office/drawing/2014/main" id="{44222472-CDA4-4CE8-BED5-AD0897301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  <p:sp>
        <p:nvSpPr>
          <p:cNvPr id="97291" name="Rectangle 15">
            <a:extLst>
              <a:ext uri="{FF2B5EF4-FFF2-40B4-BE49-F238E27FC236}">
                <a16:creationId xmlns:a16="http://schemas.microsoft.com/office/drawing/2014/main" id="{9D9C8012-40F0-4C80-9ABE-22BB7CF35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C9F46A65-935B-474F-A379-946C4B42F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765175"/>
            <a:ext cx="3529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一、整数的表示</a:t>
            </a:r>
          </a:p>
        </p:txBody>
      </p:sp>
      <p:sp>
        <p:nvSpPr>
          <p:cNvPr id="97293" name="Text Box 16">
            <a:extLst>
              <a:ext uri="{FF2B5EF4-FFF2-40B4-BE49-F238E27FC236}">
                <a16:creationId xmlns:a16="http://schemas.microsoft.com/office/drawing/2014/main" id="{764DBCA0-00FB-4ECD-9B4B-1A7C8BE57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484313"/>
            <a:ext cx="4464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200">
                <a:ea typeface="楷体_GB2312"/>
                <a:cs typeface="楷体_GB2312"/>
              </a:rPr>
              <a:t>1</a:t>
            </a:r>
            <a:r>
              <a:rPr lang="zh-CN" altLang="en-US" sz="3200">
                <a:ea typeface="楷体_GB2312"/>
                <a:cs typeface="楷体_GB2312"/>
              </a:rPr>
              <a:t>、无符号整数的表示</a:t>
            </a:r>
          </a:p>
        </p:txBody>
      </p:sp>
      <p:sp>
        <p:nvSpPr>
          <p:cNvPr id="49166" name="Text Box 17">
            <a:extLst>
              <a:ext uri="{FF2B5EF4-FFF2-40B4-BE49-F238E27FC236}">
                <a16:creationId xmlns:a16="http://schemas.microsoft.com/office/drawing/2014/main" id="{AE6963B7-AB48-4801-840A-D5F1A21F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205038"/>
            <a:ext cx="6553200" cy="1570037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3200" dirty="0">
                <a:latin typeface="宋体" pitchFamily="2" charset="-122"/>
              </a:rPr>
              <a:t>	</a:t>
            </a:r>
            <a:r>
              <a:rPr lang="zh-CN" altLang="en-US" sz="3200" dirty="0">
                <a:latin typeface="+mn-ea"/>
                <a:ea typeface="+mn-ea"/>
              </a:rPr>
              <a:t>无符号数是正数和</a:t>
            </a:r>
            <a:r>
              <a:rPr lang="en-US" altLang="zh-CN" sz="3200" dirty="0">
                <a:latin typeface="+mn-ea"/>
                <a:ea typeface="+mn-ea"/>
              </a:rPr>
              <a:t>0</a:t>
            </a:r>
            <a:r>
              <a:rPr lang="zh-CN" altLang="en-US" sz="3200" dirty="0">
                <a:latin typeface="+mn-ea"/>
                <a:ea typeface="+mn-ea"/>
              </a:rPr>
              <a:t>的集合，所有的二进位都用于表示该数的各位数字，无需考虑符号。</a:t>
            </a:r>
          </a:p>
        </p:txBody>
      </p:sp>
      <p:sp>
        <p:nvSpPr>
          <p:cNvPr id="97295" name="Text Box 18">
            <a:extLst>
              <a:ext uri="{FF2B5EF4-FFF2-40B4-BE49-F238E27FC236}">
                <a16:creationId xmlns:a16="http://schemas.microsoft.com/office/drawing/2014/main" id="{7DE92F2D-1C68-4712-BCE4-F90BCC582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652963"/>
            <a:ext cx="6624637" cy="1311275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200">
                <a:ea typeface="楷体_GB2312"/>
                <a:cs typeface="楷体_GB2312"/>
              </a:rPr>
              <a:t>8</a:t>
            </a:r>
            <a:r>
              <a:rPr lang="zh-CN" altLang="en-US" sz="3200">
                <a:ea typeface="楷体_GB2312"/>
                <a:cs typeface="楷体_GB2312"/>
              </a:rPr>
              <a:t>位无符号整数范围：	</a:t>
            </a:r>
            <a:r>
              <a:rPr lang="en-US" altLang="zh-CN" sz="3200">
                <a:ea typeface="楷体_GB2312"/>
                <a:cs typeface="楷体_GB2312"/>
              </a:rPr>
              <a:t>0 ~ 255</a:t>
            </a:r>
          </a:p>
          <a:p>
            <a:pPr algn="ctr">
              <a:spcBef>
                <a:spcPct val="50000"/>
              </a:spcBef>
            </a:pPr>
            <a:r>
              <a:rPr lang="en-US" altLang="zh-CN" sz="3200">
                <a:ea typeface="楷体_GB2312"/>
                <a:cs typeface="楷体_GB2312"/>
              </a:rPr>
              <a:t>16</a:t>
            </a:r>
            <a:r>
              <a:rPr lang="zh-CN" altLang="en-US" sz="3200">
                <a:ea typeface="楷体_GB2312"/>
                <a:cs typeface="楷体_GB2312"/>
              </a:rPr>
              <a:t>位无符号整数范围：	</a:t>
            </a:r>
            <a:r>
              <a:rPr lang="en-US" altLang="zh-CN" sz="3200">
                <a:ea typeface="楷体_GB2312"/>
                <a:cs typeface="楷体_GB2312"/>
              </a:rPr>
              <a:t>0 ~ 65535</a:t>
            </a:r>
          </a:p>
        </p:txBody>
      </p:sp>
      <p:sp>
        <p:nvSpPr>
          <p:cNvPr id="97296" name="Text Box 19">
            <a:extLst>
              <a:ext uri="{FF2B5EF4-FFF2-40B4-BE49-F238E27FC236}">
                <a16:creationId xmlns:a16="http://schemas.microsoft.com/office/drawing/2014/main" id="{E6D9559A-5E69-45DA-882D-481CDB3AA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933825"/>
            <a:ext cx="6624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位无符号整数范围：	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3200">
                <a:ea typeface="楷体_GB2312"/>
                <a:cs typeface="楷体_GB2312"/>
              </a:rPr>
              <a:t> ~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 2</a:t>
            </a:r>
            <a:r>
              <a:rPr lang="en-US" altLang="zh-CN" sz="3200" baseline="3000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Line 1027">
            <a:extLst>
              <a:ext uri="{FF2B5EF4-FFF2-40B4-BE49-F238E27FC236}">
                <a16:creationId xmlns:a16="http://schemas.microsoft.com/office/drawing/2014/main" id="{8182CB9A-354E-48EF-B92D-7F6711C4E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1" name="Line 1031">
            <a:extLst>
              <a:ext uri="{FF2B5EF4-FFF2-40B4-BE49-F238E27FC236}">
                <a16:creationId xmlns:a16="http://schemas.microsoft.com/office/drawing/2014/main" id="{D8492DB7-39A5-4BF0-9A6F-87BCBD41A7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332" name="AutoShape 1032">
            <a:extLst>
              <a:ext uri="{FF2B5EF4-FFF2-40B4-BE49-F238E27FC236}">
                <a16:creationId xmlns:a16="http://schemas.microsoft.com/office/drawing/2014/main" id="{94F5CE62-406A-4FC7-BAA4-B482827B7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9333" name="AutoShape 1033">
            <a:extLst>
              <a:ext uri="{FF2B5EF4-FFF2-40B4-BE49-F238E27FC236}">
                <a16:creationId xmlns:a16="http://schemas.microsoft.com/office/drawing/2014/main" id="{347E3A56-40DD-4DD9-AC56-1F08549FE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9334" name="日期占位符 12">
            <a:extLst>
              <a:ext uri="{FF2B5EF4-FFF2-40B4-BE49-F238E27FC236}">
                <a16:creationId xmlns:a16="http://schemas.microsoft.com/office/drawing/2014/main" id="{632E309B-657B-4ACC-94C3-03DB417D97F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8E74CC6A-ABD3-4866-BB9A-B2A9FA1CDBFF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9335" name="灯片编号占位符 13">
            <a:extLst>
              <a:ext uri="{FF2B5EF4-FFF2-40B4-BE49-F238E27FC236}">
                <a16:creationId xmlns:a16="http://schemas.microsoft.com/office/drawing/2014/main" id="{486535D2-F2E8-4923-B459-7DBE177D5A77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D7F75CD3-5843-4A2F-8099-40ED2ED0785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9336" name="页脚占位符 14">
            <a:extLst>
              <a:ext uri="{FF2B5EF4-FFF2-40B4-BE49-F238E27FC236}">
                <a16:creationId xmlns:a16="http://schemas.microsoft.com/office/drawing/2014/main" id="{992F60DC-9E86-4414-B8C5-BAAD69DAECE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5D4CCBBA-7A3F-4022-81B5-3D1F1B58465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9338" name="Rectangle 15">
            <a:extLst>
              <a:ext uri="{FF2B5EF4-FFF2-40B4-BE49-F238E27FC236}">
                <a16:creationId xmlns:a16="http://schemas.microsoft.com/office/drawing/2014/main" id="{9441F03B-6AE9-4F7D-82E1-B981BC099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99339" name="Text Box 15">
            <a:extLst>
              <a:ext uri="{FF2B5EF4-FFF2-40B4-BE49-F238E27FC236}">
                <a16:creationId xmlns:a16="http://schemas.microsoft.com/office/drawing/2014/main" id="{3E1C0000-B4C7-41EF-A558-B50D6B594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125538"/>
            <a:ext cx="67691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）可以用字节、字、双字、甚至更多的字节来表示一个无符号数。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）无符号数的表示范围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3200">
                <a:ea typeface="楷体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3200" baseline="3000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）一个无符号数需要增加位数时，只需在前面添“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0”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，称为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零扩展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）计算机内用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进位标志</a:t>
            </a:r>
            <a:r>
              <a:rPr lang="en-US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表示无符号运算结果的特征，进位或借位，也能表示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溢出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C6F469-654A-417A-AF5D-FB79E7058E20}"/>
              </a:ext>
            </a:extLst>
          </p:cNvPr>
          <p:cNvSpPr txBox="1"/>
          <p:nvPr/>
        </p:nvSpPr>
        <p:spPr>
          <a:xfrm>
            <a:off x="665163" y="1484313"/>
            <a:ext cx="738187" cy="3384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600" dirty="0">
                <a:solidFill>
                  <a:srgbClr val="660066"/>
                </a:solidFill>
              </a:rPr>
              <a:t>无符号数特征</a:t>
            </a:r>
          </a:p>
        </p:txBody>
      </p:sp>
      <p:sp>
        <p:nvSpPr>
          <p:cNvPr id="99341" name="Text Box 1029">
            <a:extLst>
              <a:ext uri="{FF2B5EF4-FFF2-40B4-BE49-F238E27FC236}">
                <a16:creationId xmlns:a16="http://schemas.microsoft.com/office/drawing/2014/main" id="{0D43550C-1BD3-4BCF-8772-834B5C80B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Line 1027">
            <a:extLst>
              <a:ext uri="{FF2B5EF4-FFF2-40B4-BE49-F238E27FC236}">
                <a16:creationId xmlns:a16="http://schemas.microsoft.com/office/drawing/2014/main" id="{31FE78FB-7BE9-469E-9931-9BF9569A2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79" name="Line 1031">
            <a:extLst>
              <a:ext uri="{FF2B5EF4-FFF2-40B4-BE49-F238E27FC236}">
                <a16:creationId xmlns:a16="http://schemas.microsoft.com/office/drawing/2014/main" id="{B740D0C3-B457-40F0-8F48-49420BBCAF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1380" name="AutoShape 1032">
            <a:extLst>
              <a:ext uri="{FF2B5EF4-FFF2-40B4-BE49-F238E27FC236}">
                <a16:creationId xmlns:a16="http://schemas.microsoft.com/office/drawing/2014/main" id="{D3B56E1A-D25C-489D-BB4E-381B74538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1381" name="AutoShape 1033">
            <a:extLst>
              <a:ext uri="{FF2B5EF4-FFF2-40B4-BE49-F238E27FC236}">
                <a16:creationId xmlns:a16="http://schemas.microsoft.com/office/drawing/2014/main" id="{F7D10F1B-1F3B-4107-9958-00465B735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1382" name="日期占位符 12">
            <a:extLst>
              <a:ext uri="{FF2B5EF4-FFF2-40B4-BE49-F238E27FC236}">
                <a16:creationId xmlns:a16="http://schemas.microsoft.com/office/drawing/2014/main" id="{4814B143-04A2-41E2-9771-7CABFA5CF41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921F8C99-2177-4B06-BB4D-3CEECCE62B2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1383" name="灯片编号占位符 13">
            <a:extLst>
              <a:ext uri="{FF2B5EF4-FFF2-40B4-BE49-F238E27FC236}">
                <a16:creationId xmlns:a16="http://schemas.microsoft.com/office/drawing/2014/main" id="{DE48984E-C2D5-42A3-83B4-2F236B7E6A0E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E4AC1BB-F100-4D02-88F8-E9DE5754367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1384" name="页脚占位符 14">
            <a:extLst>
              <a:ext uri="{FF2B5EF4-FFF2-40B4-BE49-F238E27FC236}">
                <a16:creationId xmlns:a16="http://schemas.microsoft.com/office/drawing/2014/main" id="{3BD11913-43F2-4CAB-8A6D-2BB023E39148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FCBD701-C6DD-477A-A45A-1D842C0E2E73}"/>
              </a:ext>
            </a:extLst>
          </p:cNvPr>
          <p:cNvSpPr txBox="1">
            <a:spLocks noChangeArrowheads="1"/>
          </p:cNvSpPr>
          <p:nvPr/>
        </p:nvSpPr>
        <p:spPr>
          <a:xfrm>
            <a:off x="4356100" y="3213100"/>
            <a:ext cx="5400675" cy="547688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386" name="Rectangle 15">
            <a:extLst>
              <a:ext uri="{FF2B5EF4-FFF2-40B4-BE49-F238E27FC236}">
                <a16:creationId xmlns:a16="http://schemas.microsoft.com/office/drawing/2014/main" id="{174877FD-7F0C-4669-A09F-7EFEED02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01387" name="Text Box 13">
            <a:extLst>
              <a:ext uri="{FF2B5EF4-FFF2-40B4-BE49-F238E27FC236}">
                <a16:creationId xmlns:a16="http://schemas.microsoft.com/office/drawing/2014/main" id="{B4661108-535A-4B40-A2F7-7137A2F65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981075"/>
            <a:ext cx="4968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6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、有符号整数的表示</a:t>
            </a:r>
          </a:p>
        </p:txBody>
      </p:sp>
      <p:sp>
        <p:nvSpPr>
          <p:cNvPr id="51213" name="Text Box 14">
            <a:extLst>
              <a:ext uri="{FF2B5EF4-FFF2-40B4-BE49-F238E27FC236}">
                <a16:creationId xmlns:a16="http://schemas.microsoft.com/office/drawing/2014/main" id="{9D34F55D-D00E-4A34-A09A-D217E4F75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00213"/>
            <a:ext cx="6553200" cy="1570037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3200" dirty="0">
                <a:latin typeface="宋体" pitchFamily="2" charset="-122"/>
              </a:rPr>
              <a:t>	</a:t>
            </a:r>
            <a:r>
              <a:rPr lang="zh-CN" altLang="en-US" sz="3200" dirty="0">
                <a:latin typeface="+mn-ea"/>
                <a:ea typeface="+mn-ea"/>
              </a:rPr>
              <a:t>为了表示正、负数，把一个数的最高位作为符号位，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zh-CN" altLang="en-US" sz="3200" dirty="0">
                <a:latin typeface="+mn-ea"/>
                <a:ea typeface="+mn-ea"/>
              </a:rPr>
              <a:t>表示正数，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3200" dirty="0">
                <a:latin typeface="+mn-ea"/>
                <a:ea typeface="+mn-ea"/>
              </a:rPr>
              <a:t>表示负数。</a:t>
            </a:r>
          </a:p>
        </p:txBody>
      </p:sp>
      <p:sp>
        <p:nvSpPr>
          <p:cNvPr id="51214" name="Text Box 15">
            <a:extLst>
              <a:ext uri="{FF2B5EF4-FFF2-40B4-BE49-F238E27FC236}">
                <a16:creationId xmlns:a16="http://schemas.microsoft.com/office/drawing/2014/main" id="{89ADF4B8-6173-45B2-8209-3A6449AF6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581525"/>
            <a:ext cx="7129462" cy="1311275"/>
          </a:xfrm>
          <a:prstGeom prst="rect">
            <a:avLst/>
          </a:prstGeom>
          <a:solidFill>
            <a:srgbClr val="CC99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dirty="0">
                <a:latin typeface="+mn-ea"/>
                <a:ea typeface="+mn-ea"/>
                <a:cs typeface="Times New Roman" pitchFamily="18" charset="0"/>
              </a:rPr>
              <a:t>8</a:t>
            </a:r>
            <a:r>
              <a:rPr lang="zh-CN" altLang="en-US" sz="3200" dirty="0">
                <a:latin typeface="+mn-ea"/>
                <a:ea typeface="+mn-ea"/>
                <a:cs typeface="Times New Roman" pitchFamily="18" charset="0"/>
              </a:rPr>
              <a:t>位有符号整数范围：  </a:t>
            </a:r>
            <a:r>
              <a:rPr lang="en-US" altLang="zh-CN" sz="3200" dirty="0">
                <a:cs typeface="Times New Roman" pitchFamily="18" charset="0"/>
              </a:rPr>
              <a:t>-128 ~ +127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3200" dirty="0">
                <a:latin typeface="+mn-ea"/>
                <a:ea typeface="+mn-ea"/>
                <a:cs typeface="Times New Roman" pitchFamily="18" charset="0"/>
              </a:rPr>
              <a:t>16</a:t>
            </a:r>
            <a:r>
              <a:rPr lang="zh-CN" altLang="en-US" sz="3200" dirty="0">
                <a:latin typeface="+mn-ea"/>
                <a:ea typeface="+mn-ea"/>
                <a:cs typeface="Times New Roman" pitchFamily="18" charset="0"/>
              </a:rPr>
              <a:t>位有符号整数范围：</a:t>
            </a:r>
            <a:r>
              <a:rPr lang="en-US" altLang="zh-CN" sz="3200" dirty="0">
                <a:cs typeface="Times New Roman" pitchFamily="18" charset="0"/>
              </a:rPr>
              <a:t>-32768 ~+32767</a:t>
            </a:r>
          </a:p>
        </p:txBody>
      </p:sp>
      <p:sp>
        <p:nvSpPr>
          <p:cNvPr id="101390" name="Text Box 17">
            <a:extLst>
              <a:ext uri="{FF2B5EF4-FFF2-40B4-BE49-F238E27FC236}">
                <a16:creationId xmlns:a16="http://schemas.microsoft.com/office/drawing/2014/main" id="{AE459396-5AA0-45DF-AC99-A4CAAD006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573463"/>
            <a:ext cx="7956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符号位和数值一起参与存储和运算！</a:t>
            </a:r>
          </a:p>
        </p:txBody>
      </p:sp>
      <p:sp>
        <p:nvSpPr>
          <p:cNvPr id="101391" name="Text Box 1029">
            <a:extLst>
              <a:ext uri="{FF2B5EF4-FFF2-40B4-BE49-F238E27FC236}">
                <a16:creationId xmlns:a16="http://schemas.microsoft.com/office/drawing/2014/main" id="{743A3008-D747-45D0-99EF-1004C1C4B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Line 1027">
            <a:extLst>
              <a:ext uri="{FF2B5EF4-FFF2-40B4-BE49-F238E27FC236}">
                <a16:creationId xmlns:a16="http://schemas.microsoft.com/office/drawing/2014/main" id="{9AB926E0-73F4-46A4-A6EE-D39647BAF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7" name="Line 1031">
            <a:extLst>
              <a:ext uri="{FF2B5EF4-FFF2-40B4-BE49-F238E27FC236}">
                <a16:creationId xmlns:a16="http://schemas.microsoft.com/office/drawing/2014/main" id="{C933407B-4A5B-4C97-92D2-F3CD6B862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28" name="AutoShape 1032">
            <a:extLst>
              <a:ext uri="{FF2B5EF4-FFF2-40B4-BE49-F238E27FC236}">
                <a16:creationId xmlns:a16="http://schemas.microsoft.com/office/drawing/2014/main" id="{FE1C2F95-86EA-4C98-9F67-D9A69D92D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3429" name="AutoShape 1033">
            <a:extLst>
              <a:ext uri="{FF2B5EF4-FFF2-40B4-BE49-F238E27FC236}">
                <a16:creationId xmlns:a16="http://schemas.microsoft.com/office/drawing/2014/main" id="{06F20E9D-6BC4-4F42-9081-FD5628F09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3430" name="日期占位符 12">
            <a:extLst>
              <a:ext uri="{FF2B5EF4-FFF2-40B4-BE49-F238E27FC236}">
                <a16:creationId xmlns:a16="http://schemas.microsoft.com/office/drawing/2014/main" id="{3132BE98-58D5-4B9E-AA15-B0D1E2BF953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A436526E-99FF-431E-B7F1-22A4FEAC8937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3431" name="灯片编号占位符 13">
            <a:extLst>
              <a:ext uri="{FF2B5EF4-FFF2-40B4-BE49-F238E27FC236}">
                <a16:creationId xmlns:a16="http://schemas.microsoft.com/office/drawing/2014/main" id="{E4BD4EB9-A3D9-4D74-8A65-3CEF547FF4F7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992F9EFF-E22A-4864-9329-6FF12FD7231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3432" name="页脚占位符 14">
            <a:extLst>
              <a:ext uri="{FF2B5EF4-FFF2-40B4-BE49-F238E27FC236}">
                <a16:creationId xmlns:a16="http://schemas.microsoft.com/office/drawing/2014/main" id="{AA553E4A-6679-43CF-BFD9-4E9BEABD3DB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6D3356B-D072-42A4-A9B3-F8ABACD09AE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434" name="Rectangle 15">
            <a:extLst>
              <a:ext uri="{FF2B5EF4-FFF2-40B4-BE49-F238E27FC236}">
                <a16:creationId xmlns:a16="http://schemas.microsoft.com/office/drawing/2014/main" id="{C4497DD7-A492-41E6-9186-745AFAFC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03435" name="Text Box 12">
            <a:extLst>
              <a:ext uri="{FF2B5EF4-FFF2-40B4-BE49-F238E27FC236}">
                <a16:creationId xmlns:a16="http://schemas.microsoft.com/office/drawing/2014/main" id="{819470F6-5588-4963-A0B7-5F8FECF7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81075"/>
            <a:ext cx="7777162" cy="503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）可以用字节、字、双字、甚至更多的字节来表示一个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符号数。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）机器数和真值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机器数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：一个数及其符号在机器中的二进制表示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真值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：机器数所代表的数值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）有符号整数有不同的编码方式，如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原码、反码、补码等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 </a:t>
            </a:r>
            <a:r>
              <a:rPr lang="en-US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IBM-PC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的有符号整数</a:t>
            </a:r>
            <a:r>
              <a:rPr lang="zh-CN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zh-CN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补码</a:t>
            </a:r>
            <a:r>
              <a:rPr lang="zh-CN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表示法</a:t>
            </a:r>
            <a:endParaRPr lang="zh-CN" altLang="en-US" sz="4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3436" name="Text Box 1029">
            <a:extLst>
              <a:ext uri="{FF2B5EF4-FFF2-40B4-BE49-F238E27FC236}">
                <a16:creationId xmlns:a16="http://schemas.microsoft.com/office/drawing/2014/main" id="{82919A0C-7296-4378-9AFD-C93B966C6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Line 1027">
            <a:extLst>
              <a:ext uri="{FF2B5EF4-FFF2-40B4-BE49-F238E27FC236}">
                <a16:creationId xmlns:a16="http://schemas.microsoft.com/office/drawing/2014/main" id="{CF2F0FF2-E3E2-48C5-8F1E-289A6FDDB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5" name="Line 1031">
            <a:extLst>
              <a:ext uri="{FF2B5EF4-FFF2-40B4-BE49-F238E27FC236}">
                <a16:creationId xmlns:a16="http://schemas.microsoft.com/office/drawing/2014/main" id="{48130D83-7AEE-481E-A4B0-54FD0CF3E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5476" name="AutoShape 1032">
            <a:extLst>
              <a:ext uri="{FF2B5EF4-FFF2-40B4-BE49-F238E27FC236}">
                <a16:creationId xmlns:a16="http://schemas.microsoft.com/office/drawing/2014/main" id="{D6C40ACD-3A5C-4C08-B620-6E0C2FF6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5477" name="AutoShape 1033">
            <a:extLst>
              <a:ext uri="{FF2B5EF4-FFF2-40B4-BE49-F238E27FC236}">
                <a16:creationId xmlns:a16="http://schemas.microsoft.com/office/drawing/2014/main" id="{80B24269-C6AE-4FAB-A9D3-B1A7A58D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5478" name="日期占位符 12">
            <a:extLst>
              <a:ext uri="{FF2B5EF4-FFF2-40B4-BE49-F238E27FC236}">
                <a16:creationId xmlns:a16="http://schemas.microsoft.com/office/drawing/2014/main" id="{6AF1EE73-2864-4C10-A9AE-3244C266834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F48DD7C1-FBC7-49D1-9AD1-A4036C939FF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5479" name="灯片编号占位符 13">
            <a:extLst>
              <a:ext uri="{FF2B5EF4-FFF2-40B4-BE49-F238E27FC236}">
                <a16:creationId xmlns:a16="http://schemas.microsoft.com/office/drawing/2014/main" id="{BA3C614A-55D9-4427-883A-E7BB92499CC0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534C2FC-9D54-4C55-B7B6-A0EBB750D41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5480" name="页脚占位符 14">
            <a:extLst>
              <a:ext uri="{FF2B5EF4-FFF2-40B4-BE49-F238E27FC236}">
                <a16:creationId xmlns:a16="http://schemas.microsoft.com/office/drawing/2014/main" id="{5AB7246F-1FD5-4CFF-8A83-86252993448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FD50353-15B8-4693-8DC6-3A3DA667715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482" name="Rectangle 15">
            <a:extLst>
              <a:ext uri="{FF2B5EF4-FFF2-40B4-BE49-F238E27FC236}">
                <a16:creationId xmlns:a16="http://schemas.microsoft.com/office/drawing/2014/main" id="{1E6F763F-0AE2-4F8E-AADB-096070BA6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05483" name="Text Box 14">
            <a:extLst>
              <a:ext uri="{FF2B5EF4-FFF2-40B4-BE49-F238E27FC236}">
                <a16:creationId xmlns:a16="http://schemas.microsoft.com/office/drawing/2014/main" id="{4D6CA042-614C-4847-9F0B-86132C7BD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08050"/>
            <a:ext cx="7920037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）补码的数的表示范围</a:t>
            </a:r>
            <a:r>
              <a:rPr lang="en-US" altLang="zh-CN" sz="3200">
                <a:ea typeface="楷体" panose="02010609060101010101" pitchFamily="49" charset="-122"/>
                <a:cs typeface="Times New Roman" panose="02020603050405020304" pitchFamily="18" charset="0"/>
              </a:rPr>
              <a:t>-2</a:t>
            </a:r>
            <a:r>
              <a:rPr lang="en-US" altLang="zh-CN" sz="3200" baseline="30000">
                <a:ea typeface="楷体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en-US" altLang="zh-CN" sz="3200">
                <a:ea typeface="楷体" panose="02010609060101010101" pitchFamily="49" charset="-122"/>
                <a:cs typeface="Times New Roman" panose="02020603050405020304" pitchFamily="18" charset="0"/>
              </a:rPr>
              <a:t>~2</a:t>
            </a:r>
            <a:r>
              <a:rPr lang="en-US" altLang="zh-CN" sz="3200" baseline="30000">
                <a:ea typeface="楷体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en-US" altLang="zh-CN" sz="3200">
                <a:ea typeface="楷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）一个补码表示的有符号数需要增加位数时，对于正数需要在前面补“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0”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，对于负数则需要补若干个“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。这种利用符号位来填充增加高位，称为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符号扩展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）计算机内用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溢出标志</a:t>
            </a:r>
            <a:r>
              <a:rPr lang="en-US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表示有符号运算结果的特征，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OF=1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，运算结果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溢出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）补码运算的</a:t>
            </a:r>
            <a:r>
              <a:rPr lang="en-US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sldjump"/>
              </a:rPr>
              <a:t>3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sldjump"/>
              </a:rPr>
              <a:t>大优点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可使计算机简化运算器、简化指令集。</a:t>
            </a:r>
          </a:p>
        </p:txBody>
      </p:sp>
      <p:sp>
        <p:nvSpPr>
          <p:cNvPr id="105484" name="Text Box 1029">
            <a:extLst>
              <a:ext uri="{FF2B5EF4-FFF2-40B4-BE49-F238E27FC236}">
                <a16:creationId xmlns:a16="http://schemas.microsoft.com/office/drawing/2014/main" id="{93EE3004-7228-4B35-AF45-DCA3B0B14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Line 1027">
            <a:extLst>
              <a:ext uri="{FF2B5EF4-FFF2-40B4-BE49-F238E27FC236}">
                <a16:creationId xmlns:a16="http://schemas.microsoft.com/office/drawing/2014/main" id="{9645E9E9-EA8B-4CE8-A321-E97D6F650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3" name="Line 1031">
            <a:extLst>
              <a:ext uri="{FF2B5EF4-FFF2-40B4-BE49-F238E27FC236}">
                <a16:creationId xmlns:a16="http://schemas.microsoft.com/office/drawing/2014/main" id="{1B7606C3-D392-4E96-AC90-9E8ECAA6D4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524" name="AutoShape 1032">
            <a:extLst>
              <a:ext uri="{FF2B5EF4-FFF2-40B4-BE49-F238E27FC236}">
                <a16:creationId xmlns:a16="http://schemas.microsoft.com/office/drawing/2014/main" id="{001556EA-84A8-4454-8FFE-63461C6E3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7525" name="AutoShape 1033">
            <a:extLst>
              <a:ext uri="{FF2B5EF4-FFF2-40B4-BE49-F238E27FC236}">
                <a16:creationId xmlns:a16="http://schemas.microsoft.com/office/drawing/2014/main" id="{EA72CE53-7D1B-4621-BD02-8C37C0768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7526" name="日期占位符 12">
            <a:extLst>
              <a:ext uri="{FF2B5EF4-FFF2-40B4-BE49-F238E27FC236}">
                <a16:creationId xmlns:a16="http://schemas.microsoft.com/office/drawing/2014/main" id="{DF35336A-9E24-4218-A995-F7F379EFABA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78A9C122-CE54-4884-B74F-E19E5667FD0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7527" name="灯片编号占位符 13">
            <a:extLst>
              <a:ext uri="{FF2B5EF4-FFF2-40B4-BE49-F238E27FC236}">
                <a16:creationId xmlns:a16="http://schemas.microsoft.com/office/drawing/2014/main" id="{B95F2C90-CD6A-4B54-9E8E-7EC57CE137AE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8B4974E6-F2A9-410A-9095-5522750BCFC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7528" name="页脚占位符 14">
            <a:extLst>
              <a:ext uri="{FF2B5EF4-FFF2-40B4-BE49-F238E27FC236}">
                <a16:creationId xmlns:a16="http://schemas.microsoft.com/office/drawing/2014/main" id="{E39BADFD-CBDB-4590-B9C2-E0105E7B352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525E2E8-20BF-4981-A6A3-E69C88F223F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7530" name="Rectangle 15">
            <a:extLst>
              <a:ext uri="{FF2B5EF4-FFF2-40B4-BE49-F238E27FC236}">
                <a16:creationId xmlns:a16="http://schemas.microsoft.com/office/drawing/2014/main" id="{9344C382-8EC2-4D92-BC65-147F9FE6B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07531" name="Text Box 11">
            <a:extLst>
              <a:ext uri="{FF2B5EF4-FFF2-40B4-BE49-F238E27FC236}">
                <a16:creationId xmlns:a16="http://schemas.microsoft.com/office/drawing/2014/main" id="{6499330D-2BE9-4550-8EA3-A5163B47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7800"/>
            <a:ext cx="8001000" cy="23082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/>
              <a:t>(1)</a:t>
            </a:r>
            <a:r>
              <a:rPr lang="en-US" altLang="zh-CN" sz="2400" b="0"/>
              <a:t> </a:t>
            </a:r>
            <a:r>
              <a:rPr lang="zh-CN" altLang="en-US" sz="3200">
                <a:solidFill>
                  <a:srgbClr val="FF0000"/>
                </a:solidFill>
              </a:rPr>
              <a:t>原码</a:t>
            </a:r>
            <a:endParaRPr lang="zh-CN" altLang="en-US" sz="3200" b="0">
              <a:solidFill>
                <a:srgbClr val="FF0000"/>
              </a:solidFill>
            </a:endParaRPr>
          </a:p>
          <a:p>
            <a:pPr algn="just"/>
            <a:r>
              <a:rPr lang="zh-CN" altLang="en-US" sz="2800">
                <a:latin typeface="楷体_GB2312"/>
                <a:ea typeface="楷体_GB2312"/>
                <a:cs typeface="楷体_GB2312"/>
              </a:rPr>
              <a:t>正数的符号位用</a:t>
            </a:r>
            <a:r>
              <a:rPr lang="en-US" altLang="zh-CN" sz="2800"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表示，负数的符号位用</a:t>
            </a:r>
            <a:r>
              <a:rPr lang="en-US" altLang="zh-CN" sz="2800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表示。</a:t>
            </a:r>
            <a:endParaRPr lang="zh-CN" altLang="en-US" sz="2800"/>
          </a:p>
          <a:p>
            <a:pPr algn="just"/>
            <a:r>
              <a:rPr lang="zh-CN" altLang="en-US" sz="2800"/>
              <a:t>	  </a:t>
            </a:r>
            <a:r>
              <a:rPr lang="en-US" altLang="zh-CN" sz="2800"/>
              <a:t>0x</a:t>
            </a:r>
            <a:r>
              <a:rPr lang="zh-CN" altLang="en-US" sz="2800"/>
              <a:t>， </a:t>
            </a:r>
            <a:r>
              <a:rPr lang="en-US" altLang="zh-CN" sz="2800"/>
              <a:t>x</a:t>
            </a:r>
            <a:r>
              <a:rPr lang="en-US" altLang="zh-CN" sz="2800">
                <a:latin typeface="宋体" panose="02010600030101010101" pitchFamily="2" charset="-122"/>
              </a:rPr>
              <a:t>≥</a:t>
            </a:r>
            <a:r>
              <a:rPr lang="en-US" altLang="zh-CN" sz="2800"/>
              <a:t>0	  +7</a:t>
            </a:r>
            <a:r>
              <a:rPr lang="zh-CN" altLang="en-US" sz="2800"/>
              <a:t>：</a:t>
            </a:r>
            <a:r>
              <a:rPr lang="en-US" altLang="zh-CN" sz="2800"/>
              <a:t>0000</a:t>
            </a:r>
            <a:r>
              <a:rPr lang="zh-CN" altLang="en-US" sz="2800"/>
              <a:t> </a:t>
            </a:r>
            <a:r>
              <a:rPr lang="en-US" altLang="zh-CN" sz="2800"/>
              <a:t>0111	+0</a:t>
            </a:r>
            <a:r>
              <a:rPr lang="zh-CN" altLang="en-US" sz="2800"/>
              <a:t>：</a:t>
            </a:r>
            <a:r>
              <a:rPr lang="en-US" altLang="zh-CN" sz="2800"/>
              <a:t>0000</a:t>
            </a:r>
            <a:r>
              <a:rPr lang="zh-CN" altLang="en-US" sz="2800"/>
              <a:t> </a:t>
            </a:r>
            <a:r>
              <a:rPr lang="en-US" altLang="zh-CN" sz="2800"/>
              <a:t>0000</a:t>
            </a:r>
          </a:p>
          <a:p>
            <a:pPr algn="just"/>
            <a:r>
              <a:rPr lang="en-US" altLang="zh-CN" sz="2800"/>
              <a:t>[x]</a:t>
            </a:r>
            <a:r>
              <a:rPr lang="zh-CN" altLang="en-US" sz="2800" baseline="-25000"/>
              <a:t>原</a:t>
            </a:r>
            <a:r>
              <a:rPr lang="en-US" altLang="zh-CN" sz="2800"/>
              <a:t>=</a:t>
            </a:r>
          </a:p>
          <a:p>
            <a:pPr algn="just"/>
            <a:r>
              <a:rPr lang="en-US" altLang="zh-CN" sz="2800"/>
              <a:t>	  1|x|</a:t>
            </a:r>
            <a:r>
              <a:rPr lang="zh-CN" altLang="en-US" sz="2800"/>
              <a:t>，</a:t>
            </a:r>
            <a:r>
              <a:rPr lang="en-US" altLang="zh-CN" sz="2800"/>
              <a:t>x&lt;0	   -7</a:t>
            </a:r>
            <a:r>
              <a:rPr lang="zh-CN" altLang="en-US" sz="2800"/>
              <a:t>：</a:t>
            </a:r>
            <a:r>
              <a:rPr lang="en-US" altLang="zh-CN" sz="2800"/>
              <a:t>1000</a:t>
            </a:r>
            <a:r>
              <a:rPr lang="zh-CN" altLang="en-US" sz="2800"/>
              <a:t> </a:t>
            </a:r>
            <a:r>
              <a:rPr lang="en-US" altLang="zh-CN" sz="2800"/>
              <a:t>0111	-0</a:t>
            </a:r>
            <a:r>
              <a:rPr lang="zh-CN" altLang="en-US" sz="2800"/>
              <a:t>：</a:t>
            </a:r>
            <a:r>
              <a:rPr lang="en-US" altLang="zh-CN" sz="2800"/>
              <a:t>1000</a:t>
            </a:r>
            <a:r>
              <a:rPr lang="zh-CN" altLang="en-US" sz="2800"/>
              <a:t> </a:t>
            </a:r>
            <a:r>
              <a:rPr lang="en-US" altLang="zh-CN" sz="2800"/>
              <a:t>0000</a:t>
            </a:r>
            <a:endParaRPr lang="en-US" altLang="zh-CN" sz="2400" b="0"/>
          </a:p>
        </p:txBody>
      </p:sp>
      <p:sp>
        <p:nvSpPr>
          <p:cNvPr id="54284" name="Text Box 13">
            <a:extLst>
              <a:ext uri="{FF2B5EF4-FFF2-40B4-BE49-F238E27FC236}">
                <a16:creationId xmlns:a16="http://schemas.microsoft.com/office/drawing/2014/main" id="{88E6610C-13E2-4EF6-9EF2-02394636A71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4038600"/>
            <a:ext cx="8001000" cy="1877437"/>
          </a:xfrm>
          <a:prstGeom prst="rect">
            <a:avLst/>
          </a:prstGeom>
          <a:blipFill>
            <a:blip r:embed="rId3"/>
            <a:stretch>
              <a:fillRect l="-1982" t="-5537" r="-457" b="-8469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7533" name="AutoShape 12">
            <a:extLst>
              <a:ext uri="{FF2B5EF4-FFF2-40B4-BE49-F238E27FC236}">
                <a16:creationId xmlns:a16="http://schemas.microsoft.com/office/drawing/2014/main" id="{69907ACB-C99F-4454-A0D0-9362E7F4E03F}"/>
              </a:ext>
            </a:extLst>
          </p:cNvPr>
          <p:cNvSpPr>
            <a:spLocks/>
          </p:cNvSpPr>
          <p:nvPr/>
        </p:nvSpPr>
        <p:spPr bwMode="auto">
          <a:xfrm>
            <a:off x="1763713" y="25654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en-US" sz="4000" b="0">
              <a:latin typeface="隶书" panose="02010509060101010101" pitchFamily="49" charset="-122"/>
            </a:endParaRPr>
          </a:p>
        </p:txBody>
      </p:sp>
      <p:sp>
        <p:nvSpPr>
          <p:cNvPr id="107534" name="AutoShape 12">
            <a:extLst>
              <a:ext uri="{FF2B5EF4-FFF2-40B4-BE49-F238E27FC236}">
                <a16:creationId xmlns:a16="http://schemas.microsoft.com/office/drawing/2014/main" id="{62EDEA6A-24DF-4788-8B60-857A497A5335}"/>
              </a:ext>
            </a:extLst>
          </p:cNvPr>
          <p:cNvSpPr>
            <a:spLocks/>
          </p:cNvSpPr>
          <p:nvPr/>
        </p:nvSpPr>
        <p:spPr bwMode="auto">
          <a:xfrm>
            <a:off x="1763713" y="4797425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en-US" sz="4000" b="0">
              <a:latin typeface="隶书" panose="02010509060101010101" pitchFamily="49" charset="-122"/>
            </a:endParaRP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71E0D2CC-058B-453E-89BC-1D030A315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8200"/>
            <a:ext cx="853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accent2"/>
                </a:solidFill>
              </a:rPr>
              <a:t>    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假定一个数在机器中占用</a:t>
            </a:r>
            <a:r>
              <a:rPr lang="en-US" altLang="zh-CN" sz="2800"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位，即机器字长为</a:t>
            </a:r>
            <a:r>
              <a:rPr lang="en-US" altLang="zh-CN" sz="2800"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位。</a:t>
            </a:r>
            <a:endParaRPr lang="zh-CN" altLang="en-US" sz="32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07536" name="Text Box 1029">
            <a:extLst>
              <a:ext uri="{FF2B5EF4-FFF2-40B4-BE49-F238E27FC236}">
                <a16:creationId xmlns:a16="http://schemas.microsoft.com/office/drawing/2014/main" id="{E789B085-04CA-4593-A711-42B4282E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Line 1027">
            <a:extLst>
              <a:ext uri="{FF2B5EF4-FFF2-40B4-BE49-F238E27FC236}">
                <a16:creationId xmlns:a16="http://schemas.microsoft.com/office/drawing/2014/main" id="{D44AA6C9-8BBD-465C-B7DB-B2B925D24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1" name="Line 1031">
            <a:extLst>
              <a:ext uri="{FF2B5EF4-FFF2-40B4-BE49-F238E27FC236}">
                <a16:creationId xmlns:a16="http://schemas.microsoft.com/office/drawing/2014/main" id="{915569AD-294E-4083-92EF-288F30C66B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9572" name="AutoShape 1032">
            <a:extLst>
              <a:ext uri="{FF2B5EF4-FFF2-40B4-BE49-F238E27FC236}">
                <a16:creationId xmlns:a16="http://schemas.microsoft.com/office/drawing/2014/main" id="{FFABC5BC-3BBB-486E-926B-C4CF51CC9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9573" name="AutoShape 1033">
            <a:extLst>
              <a:ext uri="{FF2B5EF4-FFF2-40B4-BE49-F238E27FC236}">
                <a16:creationId xmlns:a16="http://schemas.microsoft.com/office/drawing/2014/main" id="{4CE0599E-0D89-4BA0-A39C-8A0369048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09574" name="日期占位符 12">
            <a:extLst>
              <a:ext uri="{FF2B5EF4-FFF2-40B4-BE49-F238E27FC236}">
                <a16:creationId xmlns:a16="http://schemas.microsoft.com/office/drawing/2014/main" id="{7A501C8A-2419-4057-B719-CF07644AF6BB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B601EB91-223F-4BFF-ABBB-675BCD51D76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9575" name="灯片编号占位符 13">
            <a:extLst>
              <a:ext uri="{FF2B5EF4-FFF2-40B4-BE49-F238E27FC236}">
                <a16:creationId xmlns:a16="http://schemas.microsoft.com/office/drawing/2014/main" id="{B0CABA0B-E21A-44E1-A84A-7A69F8F24248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2ACE64C-31C1-410E-9C85-B5A242FE5F2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9576" name="页脚占位符 14">
            <a:extLst>
              <a:ext uri="{FF2B5EF4-FFF2-40B4-BE49-F238E27FC236}">
                <a16:creationId xmlns:a16="http://schemas.microsoft.com/office/drawing/2014/main" id="{D9C35A11-9746-42D2-A70F-5C65BCABC7A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A7576DB-6217-4F47-8D44-B99AB40E593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578" name="Rectangle 15">
            <a:extLst>
              <a:ext uri="{FF2B5EF4-FFF2-40B4-BE49-F238E27FC236}">
                <a16:creationId xmlns:a16="http://schemas.microsoft.com/office/drawing/2014/main" id="{F7987D12-1F62-4851-B3BD-30837E2E7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55307" name="Text Box 10">
            <a:extLst>
              <a:ext uri="{FF2B5EF4-FFF2-40B4-BE49-F238E27FC236}">
                <a16:creationId xmlns:a16="http://schemas.microsoft.com/office/drawing/2014/main" id="{7AD16F05-F69B-4E89-A09B-C634689B3EB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1188" y="908050"/>
            <a:ext cx="8001000" cy="2246769"/>
          </a:xfrm>
          <a:prstGeom prst="rect">
            <a:avLst/>
          </a:prstGeom>
          <a:blipFill>
            <a:blip r:embed="rId3"/>
            <a:stretch>
              <a:fillRect l="-1904" t="-460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09580" name="Text Box 12">
            <a:extLst>
              <a:ext uri="{FF2B5EF4-FFF2-40B4-BE49-F238E27FC236}">
                <a16:creationId xmlns:a16="http://schemas.microsoft.com/office/drawing/2014/main" id="{346B40D6-F19C-47FE-8508-21B318A2F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29000"/>
            <a:ext cx="7834312" cy="24923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补码的表示规则：</a:t>
            </a:r>
          </a:p>
          <a:p>
            <a:pPr lvl="1"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以最高位作为符号位（</a:t>
            </a:r>
            <a:r>
              <a:rPr lang="en-US" altLang="zh-CN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表示正数，</a:t>
            </a:r>
            <a:r>
              <a:rPr lang="en-US" altLang="zh-CN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表示负数）。</a:t>
            </a:r>
          </a:p>
          <a:p>
            <a:pPr lvl="1"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正数的补码是其本身。</a:t>
            </a:r>
          </a:p>
          <a:p>
            <a:pPr lvl="1"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负数的补码是对其正数“各位求反、末位加</a:t>
            </a:r>
            <a:r>
              <a:rPr lang="en-US" altLang="zh-CN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后形成的。（求补运算）</a:t>
            </a:r>
          </a:p>
        </p:txBody>
      </p:sp>
      <p:sp>
        <p:nvSpPr>
          <p:cNvPr id="109581" name="AutoShape 11">
            <a:extLst>
              <a:ext uri="{FF2B5EF4-FFF2-40B4-BE49-F238E27FC236}">
                <a16:creationId xmlns:a16="http://schemas.microsoft.com/office/drawing/2014/main" id="{96178E75-117E-4810-BE9A-A0645BBD8A5D}"/>
              </a:ext>
            </a:extLst>
          </p:cNvPr>
          <p:cNvSpPr>
            <a:spLocks/>
          </p:cNvSpPr>
          <p:nvPr/>
        </p:nvSpPr>
        <p:spPr bwMode="auto">
          <a:xfrm>
            <a:off x="1692275" y="175260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en-US" sz="4000" b="0">
              <a:latin typeface="隶书" panose="02010509060101010101" pitchFamily="49" charset="-122"/>
            </a:endParaRPr>
          </a:p>
        </p:txBody>
      </p:sp>
      <p:sp>
        <p:nvSpPr>
          <p:cNvPr id="109582" name="Text Box 1029">
            <a:extLst>
              <a:ext uri="{FF2B5EF4-FFF2-40B4-BE49-F238E27FC236}">
                <a16:creationId xmlns:a16="http://schemas.microsoft.com/office/drawing/2014/main" id="{762CC11C-61AC-427F-A375-DC10B5FA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Line 1027">
            <a:extLst>
              <a:ext uri="{FF2B5EF4-FFF2-40B4-BE49-F238E27FC236}">
                <a16:creationId xmlns:a16="http://schemas.microsoft.com/office/drawing/2014/main" id="{BBD2FC15-713F-497A-8DAE-AF2F2A6BB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" name="Line 1031">
            <a:extLst>
              <a:ext uri="{FF2B5EF4-FFF2-40B4-BE49-F238E27FC236}">
                <a16:creationId xmlns:a16="http://schemas.microsoft.com/office/drawing/2014/main" id="{8A27B31D-ACA5-4FAD-90A0-6DE3202900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620" name="AutoShape 1032">
            <a:extLst>
              <a:ext uri="{FF2B5EF4-FFF2-40B4-BE49-F238E27FC236}">
                <a16:creationId xmlns:a16="http://schemas.microsoft.com/office/drawing/2014/main" id="{42729E73-9891-4250-B777-4F37F8C87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1621" name="AutoShape 1033">
            <a:extLst>
              <a:ext uri="{FF2B5EF4-FFF2-40B4-BE49-F238E27FC236}">
                <a16:creationId xmlns:a16="http://schemas.microsoft.com/office/drawing/2014/main" id="{0A3AF6BD-E187-4BD7-93E9-F5F8A129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1622" name="日期占位符 12">
            <a:extLst>
              <a:ext uri="{FF2B5EF4-FFF2-40B4-BE49-F238E27FC236}">
                <a16:creationId xmlns:a16="http://schemas.microsoft.com/office/drawing/2014/main" id="{36996F54-132F-4B7F-8154-B189416D3BC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765DB7D7-F60C-4FB1-BACE-E4688517BE1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1623" name="灯片编号占位符 13">
            <a:extLst>
              <a:ext uri="{FF2B5EF4-FFF2-40B4-BE49-F238E27FC236}">
                <a16:creationId xmlns:a16="http://schemas.microsoft.com/office/drawing/2014/main" id="{FEB2AA85-30FC-4467-8684-87AAF6C4CEA3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B6F4D60-4E80-4826-A523-8304F033BF2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1624" name="页脚占位符 14">
            <a:extLst>
              <a:ext uri="{FF2B5EF4-FFF2-40B4-BE49-F238E27FC236}">
                <a16:creationId xmlns:a16="http://schemas.microsoft.com/office/drawing/2014/main" id="{6CF6F811-0576-46C6-8420-3F8C143403E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58D74CE-4C96-40A2-991E-708318203F2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1626" name="Rectangle 15">
            <a:extLst>
              <a:ext uri="{FF2B5EF4-FFF2-40B4-BE49-F238E27FC236}">
                <a16:creationId xmlns:a16="http://schemas.microsoft.com/office/drawing/2014/main" id="{33698861-F519-4C5B-A78F-B111501A7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1627" name="TextBox 14">
            <a:extLst>
              <a:ext uri="{FF2B5EF4-FFF2-40B4-BE49-F238E27FC236}">
                <a16:creationId xmlns:a16="http://schemas.microsoft.com/office/drawing/2014/main" id="{FF2E845F-8491-4867-BD64-F7E6ED623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00063"/>
            <a:ext cx="3286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/>
            <a:r>
              <a:rPr lang="zh-CN" altLang="en-US" sz="3200">
                <a:solidFill>
                  <a:srgbClr val="C00000"/>
                </a:solidFill>
              </a:rPr>
              <a:t>补码的特点</a:t>
            </a:r>
            <a:r>
              <a:rPr lang="zh-CN" altLang="en-US" sz="3200" b="0">
                <a:solidFill>
                  <a:srgbClr val="C00000"/>
                </a:solidFill>
              </a:rPr>
              <a:t>：</a:t>
            </a:r>
          </a:p>
        </p:txBody>
      </p:sp>
      <p:sp>
        <p:nvSpPr>
          <p:cNvPr id="111628" name="Text Box 12">
            <a:extLst>
              <a:ext uri="{FF2B5EF4-FFF2-40B4-BE49-F238E27FC236}">
                <a16:creationId xmlns:a16="http://schemas.microsoft.com/office/drawing/2014/main" id="{2E8778D7-87D4-4708-BBC6-627AB9B09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143000"/>
            <a:ext cx="8610600" cy="48323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800"/>
              <a:t>    </a:t>
            </a:r>
            <a:r>
              <a:rPr lang="en-US" altLang="zh-CN" sz="2800"/>
              <a:t>[+0]</a:t>
            </a:r>
            <a:r>
              <a:rPr lang="zh-CN" altLang="en-US" sz="2800" baseline="-25000"/>
              <a:t>补</a:t>
            </a:r>
            <a:r>
              <a:rPr lang="en-US" altLang="zh-CN" sz="2800"/>
              <a:t>=[-0]</a:t>
            </a:r>
            <a:r>
              <a:rPr lang="zh-CN" altLang="en-US" sz="2800" baseline="-25000"/>
              <a:t>补</a:t>
            </a:r>
            <a:r>
              <a:rPr lang="en-US" altLang="zh-CN" sz="2800"/>
              <a:t>=00000000</a:t>
            </a:r>
            <a:r>
              <a:rPr lang="zh-CN" altLang="en-US" sz="2800"/>
              <a:t>。</a:t>
            </a:r>
            <a:endParaRPr lang="en-US" altLang="zh-CN" sz="2800"/>
          </a:p>
          <a:p>
            <a:pPr>
              <a:buFontTx/>
              <a:buChar char="•"/>
            </a:pP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    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N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位二进制补码数可以表示的带符号数范围为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-2</a:t>
            </a:r>
            <a:r>
              <a:rPr lang="en-US" altLang="zh-CN" sz="2800" baseline="30000">
                <a:solidFill>
                  <a:srgbClr val="000000"/>
                </a:solidFill>
                <a:ea typeface="楷体_GB2312"/>
                <a:cs typeface="楷体_GB2312"/>
              </a:rPr>
              <a:t>N-1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～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2</a:t>
            </a:r>
            <a:r>
              <a:rPr lang="en-US" altLang="zh-CN" sz="2800" baseline="30000">
                <a:solidFill>
                  <a:srgbClr val="000000"/>
                </a:solidFill>
                <a:ea typeface="楷体_GB2312"/>
                <a:cs typeface="楷体_GB2312"/>
              </a:rPr>
              <a:t>N-1 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-1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。</a:t>
            </a:r>
            <a:endParaRPr lang="en-US" altLang="zh-CN" sz="2800">
              <a:solidFill>
                <a:srgbClr val="000000"/>
              </a:solidFill>
              <a:ea typeface="楷体_GB2312"/>
              <a:cs typeface="楷体_GB2312"/>
            </a:endParaRPr>
          </a:p>
          <a:p>
            <a:pPr algn="ctr"/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例如，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8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位二进制</a:t>
            </a:r>
            <a:r>
              <a:rPr lang="zh-CN" altLang="en-US" sz="2800"/>
              <a:t>补码的数的表示范围为</a:t>
            </a:r>
            <a:r>
              <a:rPr lang="en-US" altLang="zh-CN" sz="2800"/>
              <a:t>-128~+127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，</a:t>
            </a:r>
            <a:r>
              <a:rPr lang="en-US" altLang="zh-CN" sz="2800">
                <a:solidFill>
                  <a:srgbClr val="000000"/>
                </a:solidFill>
                <a:ea typeface="楷体_GB2312"/>
                <a:cs typeface="楷体_GB2312"/>
              </a:rPr>
              <a:t>16</a:t>
            </a:r>
            <a:r>
              <a:rPr lang="zh-CN" altLang="en-US" sz="2800">
                <a:solidFill>
                  <a:srgbClr val="000000"/>
                </a:solidFill>
                <a:ea typeface="楷体_GB2312"/>
                <a:cs typeface="楷体_GB2312"/>
              </a:rPr>
              <a:t>位二进制</a:t>
            </a:r>
            <a:r>
              <a:rPr lang="zh-CN" altLang="en-US" sz="2800"/>
              <a:t>补码的数的表示范围为</a:t>
            </a:r>
            <a:r>
              <a:rPr lang="en-US" altLang="zh-CN" sz="2800"/>
              <a:t>-32768~+32767</a:t>
            </a:r>
            <a:r>
              <a:rPr lang="zh-CN" altLang="en-US" sz="2800"/>
              <a:t>。</a:t>
            </a:r>
            <a:endParaRPr lang="en-US" altLang="zh-CN" sz="2800"/>
          </a:p>
          <a:p>
            <a:pPr algn="ctr"/>
            <a:r>
              <a:rPr lang="en-US" altLang="zh-CN" sz="2800"/>
              <a:t>	</a:t>
            </a:r>
            <a:r>
              <a:rPr lang="en-US" altLang="zh-CN" sz="2800">
                <a:solidFill>
                  <a:srgbClr val="0070C0"/>
                </a:solidFill>
              </a:rPr>
              <a:t>1000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0000~0111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1111</a:t>
            </a:r>
          </a:p>
          <a:p>
            <a:pPr algn="ctr"/>
            <a:r>
              <a:rPr lang="en-US" altLang="zh-CN" sz="2800"/>
              <a:t>	</a:t>
            </a:r>
            <a:r>
              <a:rPr lang="en-US" altLang="zh-CN" sz="2800">
                <a:solidFill>
                  <a:srgbClr val="0070C0"/>
                </a:solidFill>
              </a:rPr>
              <a:t>1000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0000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0000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0000~0111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1111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1111</a:t>
            </a:r>
            <a:r>
              <a:rPr lang="zh-CN" altLang="en-US" sz="2800">
                <a:solidFill>
                  <a:srgbClr val="0070C0"/>
                </a:solidFill>
              </a:rPr>
              <a:t> </a:t>
            </a:r>
            <a:r>
              <a:rPr lang="en-US" altLang="zh-CN" sz="2800">
                <a:solidFill>
                  <a:srgbClr val="0070C0"/>
                </a:solidFill>
              </a:rPr>
              <a:t>1111</a:t>
            </a:r>
          </a:p>
          <a:p>
            <a:pPr algn="ctr">
              <a:buFontTx/>
              <a:buChar char="•"/>
            </a:pPr>
            <a:r>
              <a:rPr lang="zh-CN" altLang="en-US" sz="2800"/>
              <a:t>       一个带符号的数由补码表示时，当最高位为</a:t>
            </a:r>
            <a:r>
              <a:rPr lang="en-US" altLang="zh-CN" sz="2800"/>
              <a:t>0</a:t>
            </a:r>
            <a:r>
              <a:rPr lang="zh-CN" altLang="en-US" sz="2800"/>
              <a:t>时，后七位是数值位；当最高位为</a:t>
            </a:r>
            <a:r>
              <a:rPr lang="en-US" altLang="zh-CN" sz="2800"/>
              <a:t>1</a:t>
            </a:r>
            <a:r>
              <a:rPr lang="zh-CN" altLang="en-US" sz="2800"/>
              <a:t>时，后七位取反加</a:t>
            </a:r>
            <a:r>
              <a:rPr lang="en-US" altLang="zh-CN" sz="2800"/>
              <a:t>1</a:t>
            </a:r>
            <a:r>
              <a:rPr lang="zh-CN" altLang="en-US" sz="2800"/>
              <a:t>是数值位。</a:t>
            </a:r>
            <a:r>
              <a:rPr lang="zh-CN" altLang="en-US" sz="2800">
                <a:ea typeface="楷体" panose="02010609060101010101" pitchFamily="49" charset="-122"/>
              </a:rPr>
              <a:t>例如：</a:t>
            </a:r>
            <a:r>
              <a:rPr lang="en-US" altLang="zh-CN" sz="2800"/>
              <a:t>	00010101——</a:t>
            </a:r>
            <a:r>
              <a:rPr lang="zh-CN" altLang="en-US" sz="2800"/>
              <a:t>  </a:t>
            </a:r>
            <a:r>
              <a:rPr lang="en-US" altLang="zh-CN" sz="2800"/>
              <a:t>+21</a:t>
            </a:r>
          </a:p>
          <a:p>
            <a:pPr algn="ctr"/>
            <a:r>
              <a:rPr lang="en-US" altLang="zh-CN" sz="2800"/>
              <a:t>			    10010101——</a:t>
            </a:r>
            <a:r>
              <a:rPr lang="zh-CN" altLang="en-US" sz="2800"/>
              <a:t>   </a:t>
            </a:r>
            <a:r>
              <a:rPr lang="en-US" altLang="zh-CN" sz="2800"/>
              <a:t>-107	</a:t>
            </a:r>
            <a:endParaRPr lang="zh-CN" altLang="en-US" sz="2800"/>
          </a:p>
        </p:txBody>
      </p:sp>
      <p:sp>
        <p:nvSpPr>
          <p:cNvPr id="111629" name="Text Box 1029">
            <a:extLst>
              <a:ext uri="{FF2B5EF4-FFF2-40B4-BE49-F238E27FC236}">
                <a16:creationId xmlns:a16="http://schemas.microsoft.com/office/drawing/2014/main" id="{F2CFF949-6DEF-480F-8726-471DA4512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Line 1027">
            <a:extLst>
              <a:ext uri="{FF2B5EF4-FFF2-40B4-BE49-F238E27FC236}">
                <a16:creationId xmlns:a16="http://schemas.microsoft.com/office/drawing/2014/main" id="{B4E2DB3A-6F98-4FE5-AF93-A10703B4D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7" name="Line 1031">
            <a:extLst>
              <a:ext uri="{FF2B5EF4-FFF2-40B4-BE49-F238E27FC236}">
                <a16:creationId xmlns:a16="http://schemas.microsoft.com/office/drawing/2014/main" id="{11F9979E-BE78-47F9-9F94-1C972A607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68" name="AutoShape 1032">
            <a:extLst>
              <a:ext uri="{FF2B5EF4-FFF2-40B4-BE49-F238E27FC236}">
                <a16:creationId xmlns:a16="http://schemas.microsoft.com/office/drawing/2014/main" id="{A14A68CE-A626-4DC5-B9B5-E6916D6B5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3669" name="AutoShape 1033">
            <a:extLst>
              <a:ext uri="{FF2B5EF4-FFF2-40B4-BE49-F238E27FC236}">
                <a16:creationId xmlns:a16="http://schemas.microsoft.com/office/drawing/2014/main" id="{7C339747-091D-4513-8A9C-D13FC8B14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3670" name="日期占位符 12">
            <a:extLst>
              <a:ext uri="{FF2B5EF4-FFF2-40B4-BE49-F238E27FC236}">
                <a16:creationId xmlns:a16="http://schemas.microsoft.com/office/drawing/2014/main" id="{A9CC1B46-3613-4602-878A-F8173FFB9E82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020E9D54-1B5F-4204-B1CA-FE54CD44B8E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3671" name="灯片编号占位符 13">
            <a:extLst>
              <a:ext uri="{FF2B5EF4-FFF2-40B4-BE49-F238E27FC236}">
                <a16:creationId xmlns:a16="http://schemas.microsoft.com/office/drawing/2014/main" id="{B8E0C700-4722-4C0B-81BF-9BBB1E01EE35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6C42399-AD27-4952-917C-E3AF680B9378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3672" name="页脚占位符 14">
            <a:extLst>
              <a:ext uri="{FF2B5EF4-FFF2-40B4-BE49-F238E27FC236}">
                <a16:creationId xmlns:a16="http://schemas.microsoft.com/office/drawing/2014/main" id="{D43656D2-04D0-4566-B00D-713275E38E9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8F5726A-463B-44F8-B132-029C6A476B2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3674" name="Rectangle 15">
            <a:extLst>
              <a:ext uri="{FF2B5EF4-FFF2-40B4-BE49-F238E27FC236}">
                <a16:creationId xmlns:a16="http://schemas.microsoft.com/office/drawing/2014/main" id="{21D3A021-232A-40F6-8395-3E48B6CCE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3675" name="TextBox 14">
            <a:extLst>
              <a:ext uri="{FF2B5EF4-FFF2-40B4-BE49-F238E27FC236}">
                <a16:creationId xmlns:a16="http://schemas.microsoft.com/office/drawing/2014/main" id="{1A80415F-00AB-41BF-81F7-DA0A2AD70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00063"/>
            <a:ext cx="2143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/>
            <a:r>
              <a:rPr lang="zh-CN" altLang="en-US" sz="28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说明</a:t>
            </a:r>
            <a:r>
              <a:rPr lang="zh-CN" altLang="en-US" sz="2800">
                <a:solidFill>
                  <a:srgbClr val="0000D6"/>
                </a:solidFill>
              </a:rPr>
              <a:t>：</a:t>
            </a:r>
          </a:p>
        </p:txBody>
      </p:sp>
      <p:sp>
        <p:nvSpPr>
          <p:cNvPr id="113676" name="Text Box 12">
            <a:extLst>
              <a:ext uri="{FF2B5EF4-FFF2-40B4-BE49-F238E27FC236}">
                <a16:creationId xmlns:a16="http://schemas.microsoft.com/office/drawing/2014/main" id="{05A75982-93D2-489E-9CD9-2E77F5EB5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000125"/>
            <a:ext cx="7572375" cy="2892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lvl="1"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2800" b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在计算机内部，补码减法是通过对减数求补后将减法转换为加法进行的。</a:t>
            </a:r>
          </a:p>
          <a:p>
            <a:pPr lvl="1"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一个带符号数在不同位数下，其二进制补码表示可能是不同的。例如，</a:t>
            </a:r>
            <a:r>
              <a:rPr lang="en-US" altLang="zh-CN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位数</a:t>
            </a:r>
            <a:r>
              <a:rPr lang="en-US" altLang="zh-CN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的补码表示是</a:t>
            </a:r>
            <a:r>
              <a:rPr lang="en-US" altLang="zh-CN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0FFH, 16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位数</a:t>
            </a:r>
            <a:r>
              <a:rPr lang="en-US" altLang="zh-CN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的补码表示是</a:t>
            </a:r>
            <a:r>
              <a:rPr lang="en-US" altLang="zh-CN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0FFFFH</a:t>
            </a:r>
            <a:r>
              <a:rPr lang="zh-CN" altLang="en-US" sz="28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113677" name="TextBox 10">
            <a:extLst>
              <a:ext uri="{FF2B5EF4-FFF2-40B4-BE49-F238E27FC236}">
                <a16:creationId xmlns:a16="http://schemas.microsoft.com/office/drawing/2014/main" id="{9E463FA9-10A7-443A-B213-8285CB32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929063"/>
            <a:ext cx="8143875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latin typeface="隶书" panose="02010509060101010101" pitchFamily="49" charset="-122"/>
              </a:rPr>
              <a:t>符号扩展与零扩展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符号扩展是将原符号位填入扩展的每一位，使得在带符号数意义下取值不变。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零扩展是将</a:t>
            </a:r>
            <a:r>
              <a:rPr lang="en-US" altLang="zh-CN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填入扩展的每一位，使得在无符号数意义下取值不变。</a:t>
            </a:r>
          </a:p>
        </p:txBody>
      </p:sp>
      <p:sp>
        <p:nvSpPr>
          <p:cNvPr id="113678" name="Text Box 1029">
            <a:extLst>
              <a:ext uri="{FF2B5EF4-FFF2-40B4-BE49-F238E27FC236}">
                <a16:creationId xmlns:a16="http://schemas.microsoft.com/office/drawing/2014/main" id="{E371A959-9461-4B7B-8BD7-E250494F6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Line 1027">
            <a:extLst>
              <a:ext uri="{FF2B5EF4-FFF2-40B4-BE49-F238E27FC236}">
                <a16:creationId xmlns:a16="http://schemas.microsoft.com/office/drawing/2014/main" id="{C1146560-76FE-4FDE-A95B-B077C9677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5" name="Line 1031">
            <a:extLst>
              <a:ext uri="{FF2B5EF4-FFF2-40B4-BE49-F238E27FC236}">
                <a16:creationId xmlns:a16="http://schemas.microsoft.com/office/drawing/2014/main" id="{4B4DF146-2516-4A35-B9D9-FF7DA6514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16" name="AutoShape 1032">
            <a:extLst>
              <a:ext uri="{FF2B5EF4-FFF2-40B4-BE49-F238E27FC236}">
                <a16:creationId xmlns:a16="http://schemas.microsoft.com/office/drawing/2014/main" id="{D530899A-9E4F-4A83-B96C-B9904683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5717" name="AutoShape 1033">
            <a:extLst>
              <a:ext uri="{FF2B5EF4-FFF2-40B4-BE49-F238E27FC236}">
                <a16:creationId xmlns:a16="http://schemas.microsoft.com/office/drawing/2014/main" id="{8695F2A8-EDC0-40C7-A5D5-8FF4AB52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5718" name="日期占位符 12">
            <a:extLst>
              <a:ext uri="{FF2B5EF4-FFF2-40B4-BE49-F238E27FC236}">
                <a16:creationId xmlns:a16="http://schemas.microsoft.com/office/drawing/2014/main" id="{045B1331-A9A5-4CAD-8E00-B2F6C592A4B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096552B6-62C0-4EA5-8D4E-2F41C9C81CFF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5719" name="灯片编号占位符 13">
            <a:extLst>
              <a:ext uri="{FF2B5EF4-FFF2-40B4-BE49-F238E27FC236}">
                <a16:creationId xmlns:a16="http://schemas.microsoft.com/office/drawing/2014/main" id="{E921F5A6-7010-42A6-B265-04D4C33773E4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9C9D490-4F5F-4446-94B3-0E2B5230527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5720" name="页脚占位符 14">
            <a:extLst>
              <a:ext uri="{FF2B5EF4-FFF2-40B4-BE49-F238E27FC236}">
                <a16:creationId xmlns:a16="http://schemas.microsoft.com/office/drawing/2014/main" id="{BA522F17-0C20-4D04-A68C-E4556BBF818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F127090-4284-4A85-AFA0-BD93336E8F89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5722" name="Rectangle 15">
            <a:extLst>
              <a:ext uri="{FF2B5EF4-FFF2-40B4-BE49-F238E27FC236}">
                <a16:creationId xmlns:a16="http://schemas.microsoft.com/office/drawing/2014/main" id="{96A36B4B-A278-4125-893C-3F1F458C7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5723" name="Rectangle 14">
            <a:extLst>
              <a:ext uri="{FF2B5EF4-FFF2-40B4-BE49-F238E27FC236}">
                <a16:creationId xmlns:a16="http://schemas.microsoft.com/office/drawing/2014/main" id="{641B65E4-4FB9-4088-B77D-04745909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补码的加法和减法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DF186168-A139-455E-B11F-253B35A0C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305800" cy="45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rgbClr val="FF0000"/>
                </a:solidFill>
                <a:ea typeface="楷体_GB2312"/>
                <a:cs typeface="楷体_GB2312"/>
              </a:rPr>
              <a:t>求补</a:t>
            </a:r>
            <a:r>
              <a:rPr lang="zh-CN" altLang="en-US" sz="3200">
                <a:solidFill>
                  <a:srgbClr val="FF0000"/>
                </a:solidFill>
              </a:rPr>
              <a:t>运算：</a:t>
            </a:r>
            <a:r>
              <a:rPr lang="zh-CN" altLang="en-US" sz="3200" i="1"/>
              <a:t>一个二进制数按位求反后在末位加</a:t>
            </a:r>
            <a:r>
              <a:rPr lang="en-US" altLang="zh-CN" sz="3200" i="1"/>
              <a:t>1</a:t>
            </a:r>
            <a:r>
              <a:rPr lang="zh-CN" altLang="en-US" sz="3200" i="1"/>
              <a:t>的运算。</a:t>
            </a:r>
            <a:r>
              <a:rPr lang="zh-CN" altLang="en-US" sz="3600">
                <a:solidFill>
                  <a:srgbClr val="0000D6"/>
                </a:solidFill>
                <a:latin typeface="楷体_GB2312"/>
                <a:ea typeface="楷体_GB2312"/>
                <a:cs typeface="楷体_GB2312"/>
              </a:rPr>
              <a:t>求补就是求相反数</a:t>
            </a:r>
            <a:r>
              <a:rPr lang="zh-CN" altLang="en-US" sz="36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。</a:t>
            </a:r>
            <a:endParaRPr lang="zh-CN" altLang="en-US" sz="3600" i="1"/>
          </a:p>
          <a:p>
            <a:pPr algn="just"/>
            <a:r>
              <a:rPr lang="zh-CN" altLang="en-US" sz="3200"/>
              <a:t>可以证明补码表示的数具有以下特性：</a:t>
            </a:r>
          </a:p>
          <a:p>
            <a:pPr algn="just"/>
            <a:r>
              <a:rPr lang="zh-CN" altLang="en-US" sz="2400" b="0"/>
              <a:t>		</a:t>
            </a:r>
            <a:r>
              <a:rPr lang="zh-CN" altLang="en-US" sz="3200">
                <a:solidFill>
                  <a:schemeClr val="accent2"/>
                </a:solidFill>
                <a:ea typeface="楷体_GB2312"/>
                <a:cs typeface="楷体_GB2312"/>
              </a:rPr>
              <a:t>求补		 求补</a:t>
            </a:r>
          </a:p>
          <a:p>
            <a:pPr algn="just"/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[x]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     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[-x]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     	 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[x]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</a:p>
          <a:p>
            <a:pPr algn="just"/>
            <a:r>
              <a:rPr lang="zh-CN" altLang="en-US" sz="3200">
                <a:latin typeface="楷体_GB2312"/>
                <a:ea typeface="楷体_GB2312"/>
                <a:cs typeface="楷体_GB2312"/>
              </a:rPr>
              <a:t>利用这一特性，计算机中用对减数求补的方法把减法转化为加法。</a:t>
            </a:r>
          </a:p>
          <a:p>
            <a:pPr algn="just"/>
            <a:r>
              <a:rPr lang="zh-CN" altLang="en-US" sz="3200">
                <a:latin typeface="楷体_GB2312"/>
                <a:ea typeface="楷体_GB2312"/>
                <a:cs typeface="楷体_GB2312"/>
              </a:rPr>
              <a:t>补码的</a:t>
            </a:r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加法规则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：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[x+y]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=[x]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+[y]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</a:p>
          <a:p>
            <a:pPr algn="just"/>
            <a:r>
              <a:rPr lang="zh-CN" altLang="en-US" sz="3200">
                <a:latin typeface="楷体_GB2312"/>
                <a:ea typeface="楷体_GB2312"/>
                <a:cs typeface="楷体_GB2312"/>
              </a:rPr>
              <a:t>补码的</a:t>
            </a:r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减法规则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：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[x-y]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=[x]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+[-y]</a:t>
            </a:r>
            <a:r>
              <a:rPr lang="zh-CN" altLang="en-US" sz="3200" baseline="-25000">
                <a:latin typeface="楷体_GB2312"/>
                <a:ea typeface="楷体_GB2312"/>
                <a:cs typeface="楷体_GB2312"/>
              </a:rPr>
              <a:t>补</a:t>
            </a:r>
            <a:endParaRPr lang="zh-CN" altLang="en-US" sz="3200" baseline="-25000"/>
          </a:p>
        </p:txBody>
      </p:sp>
      <p:sp>
        <p:nvSpPr>
          <p:cNvPr id="115725" name="AutoShape 12">
            <a:extLst>
              <a:ext uri="{FF2B5EF4-FFF2-40B4-BE49-F238E27FC236}">
                <a16:creationId xmlns:a16="http://schemas.microsoft.com/office/drawing/2014/main" id="{9B40A6DC-0B2B-49A6-BD7D-03A34438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694113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en-US" sz="4000" b="0">
              <a:latin typeface="隶书" panose="02010509060101010101" pitchFamily="49" charset="-122"/>
            </a:endParaRPr>
          </a:p>
        </p:txBody>
      </p:sp>
      <p:sp>
        <p:nvSpPr>
          <p:cNvPr id="115726" name="AutoShape 13">
            <a:extLst>
              <a:ext uri="{FF2B5EF4-FFF2-40B4-BE49-F238E27FC236}">
                <a16:creationId xmlns:a16="http://schemas.microsoft.com/office/drawing/2014/main" id="{D59B47C8-55B6-413E-B9BD-C1F9CF512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711575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en-US" sz="4000" b="0">
              <a:latin typeface="隶书" panose="02010509060101010101" pitchFamily="49" charset="-122"/>
            </a:endParaRPr>
          </a:p>
        </p:txBody>
      </p:sp>
      <p:sp>
        <p:nvSpPr>
          <p:cNvPr id="115727" name="Text Box 1029">
            <a:extLst>
              <a:ext uri="{FF2B5EF4-FFF2-40B4-BE49-F238E27FC236}">
                <a16:creationId xmlns:a16="http://schemas.microsoft.com/office/drawing/2014/main" id="{D008321E-E2E5-4C59-90EF-F7196BB39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Line 1027">
            <a:extLst>
              <a:ext uri="{FF2B5EF4-FFF2-40B4-BE49-F238E27FC236}">
                <a16:creationId xmlns:a16="http://schemas.microsoft.com/office/drawing/2014/main" id="{7C900F16-22A1-44C5-9C2F-8D0F4CBEC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3" name="Line 1031">
            <a:extLst>
              <a:ext uri="{FF2B5EF4-FFF2-40B4-BE49-F238E27FC236}">
                <a16:creationId xmlns:a16="http://schemas.microsoft.com/office/drawing/2014/main" id="{47AB3175-9434-49ED-BA35-DE24EF20C0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7764" name="AutoShape 1032">
            <a:extLst>
              <a:ext uri="{FF2B5EF4-FFF2-40B4-BE49-F238E27FC236}">
                <a16:creationId xmlns:a16="http://schemas.microsoft.com/office/drawing/2014/main" id="{05759D84-05AD-4439-A2A2-7051B4D7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7765" name="AutoShape 1033">
            <a:extLst>
              <a:ext uri="{FF2B5EF4-FFF2-40B4-BE49-F238E27FC236}">
                <a16:creationId xmlns:a16="http://schemas.microsoft.com/office/drawing/2014/main" id="{44E986CA-7911-4DE3-ABB7-94784ED5D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7766" name="灯片编号占位符 13">
            <a:extLst>
              <a:ext uri="{FF2B5EF4-FFF2-40B4-BE49-F238E27FC236}">
                <a16:creationId xmlns:a16="http://schemas.microsoft.com/office/drawing/2014/main" id="{16FE41FB-3577-4697-82DD-500566747F79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DC3DFAB-406A-499B-829D-24297FAA4E7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7767" name="页脚占位符 14">
            <a:extLst>
              <a:ext uri="{FF2B5EF4-FFF2-40B4-BE49-F238E27FC236}">
                <a16:creationId xmlns:a16="http://schemas.microsoft.com/office/drawing/2014/main" id="{896986E9-F29F-4915-8320-10D0A1E6775C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3FE312D-0ED9-4A79-9977-09BDB9B79A2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7769" name="Rectangle 15">
            <a:extLst>
              <a:ext uri="{FF2B5EF4-FFF2-40B4-BE49-F238E27FC236}">
                <a16:creationId xmlns:a16="http://schemas.microsoft.com/office/drawing/2014/main" id="{7A3F9FA6-B6CE-4812-8658-6A997736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EC43C4AB-BBCA-45FA-93E6-2E7F5020E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8305800" cy="484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[</a:t>
            </a:r>
            <a:r>
              <a:rPr lang="zh-CN" altLang="en-US" sz="32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1.9]</a:t>
            </a:r>
            <a:r>
              <a:rPr lang="en-US" altLang="zh-CN" sz="3200" dirty="0">
                <a:latin typeface="+mn-ea"/>
                <a:ea typeface="+mn-ea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补码的加法</a:t>
            </a:r>
          </a:p>
          <a:p>
            <a:pPr algn="just">
              <a:defRPr/>
            </a:pPr>
            <a:endParaRPr lang="zh-CN" altLang="en-US" sz="2800" dirty="0"/>
          </a:p>
          <a:p>
            <a:pPr algn="just">
              <a:defRPr/>
            </a:pPr>
            <a:r>
              <a:rPr lang="zh-CN" altLang="en-US" sz="2800" dirty="0"/>
              <a:t>	十进制				二进制</a:t>
            </a:r>
          </a:p>
          <a:p>
            <a:pPr algn="just">
              <a:defRPr/>
            </a:pPr>
            <a:r>
              <a:rPr lang="zh-CN" altLang="en-US" sz="2800" dirty="0"/>
              <a:t>	     </a:t>
            </a:r>
            <a:r>
              <a:rPr lang="en-US" altLang="zh-CN" sz="2800" dirty="0"/>
              <a:t>32					00100000	</a:t>
            </a:r>
          </a:p>
          <a:p>
            <a:pPr algn="just">
              <a:defRPr/>
            </a:pPr>
            <a:r>
              <a:rPr lang="en-US" altLang="zh-CN" sz="2800" dirty="0"/>
              <a:t>        +  (-25)				+	11100111		      7			  	1	00000111</a:t>
            </a:r>
          </a:p>
          <a:p>
            <a:pPr algn="just">
              <a:defRPr/>
            </a:pPr>
            <a:r>
              <a:rPr lang="en-US" altLang="zh-CN" sz="2800" dirty="0"/>
              <a:t>						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自动丢失</a:t>
            </a:r>
          </a:p>
          <a:p>
            <a:pPr algn="just">
              <a:defRPr/>
            </a:pPr>
            <a:r>
              <a:rPr lang="zh-CN" altLang="en-US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zh-CN" altLang="en-US" sz="2800" dirty="0"/>
              <a:t>  </a:t>
            </a:r>
          </a:p>
          <a:p>
            <a:pPr algn="just">
              <a:defRPr/>
            </a:pPr>
            <a:r>
              <a:rPr lang="zh-CN" altLang="en-US" sz="2800" dirty="0"/>
              <a:t>               </a:t>
            </a:r>
            <a:r>
              <a:rPr lang="en-US" altLang="zh-CN" sz="2800" dirty="0"/>
              <a:t>25					00011001</a:t>
            </a:r>
          </a:p>
          <a:p>
            <a:pPr algn="just">
              <a:defRPr/>
            </a:pPr>
            <a:r>
              <a:rPr lang="en-US" altLang="zh-CN" sz="2800" dirty="0"/>
              <a:t>        +  (-32)				+	11100000		     -7			  		11111001</a:t>
            </a:r>
          </a:p>
        </p:txBody>
      </p:sp>
      <p:sp>
        <p:nvSpPr>
          <p:cNvPr id="117771" name="Line 13">
            <a:extLst>
              <a:ext uri="{FF2B5EF4-FFF2-40B4-BE49-F238E27FC236}">
                <a16:creationId xmlns:a16="http://schemas.microsoft.com/office/drawing/2014/main" id="{84565C52-D08D-4783-9217-A96E156DF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32131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2" name="Line 13">
            <a:extLst>
              <a:ext uri="{FF2B5EF4-FFF2-40B4-BE49-F238E27FC236}">
                <a16:creationId xmlns:a16="http://schemas.microsoft.com/office/drawing/2014/main" id="{8DE8E777-EA4D-459A-9191-A9BBC8196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53006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3" name="Line 13">
            <a:extLst>
              <a:ext uri="{FF2B5EF4-FFF2-40B4-BE49-F238E27FC236}">
                <a16:creationId xmlns:a16="http://schemas.microsoft.com/office/drawing/2014/main" id="{4B8BF979-86A9-404E-841C-613FA83DA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53006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4" name="Line 13">
            <a:extLst>
              <a:ext uri="{FF2B5EF4-FFF2-40B4-BE49-F238E27FC236}">
                <a16:creationId xmlns:a16="http://schemas.microsoft.com/office/drawing/2014/main" id="{EB937ADF-F638-4653-9D2E-4A77F3AB0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1416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5" name="Line 17">
            <a:extLst>
              <a:ext uri="{FF2B5EF4-FFF2-40B4-BE49-F238E27FC236}">
                <a16:creationId xmlns:a16="http://schemas.microsoft.com/office/drawing/2014/main" id="{0FA6E8FB-9AEC-4F3C-8E45-3E6CB0B0B3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5600" y="3573463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6" name="日期占位符 12">
            <a:extLst>
              <a:ext uri="{FF2B5EF4-FFF2-40B4-BE49-F238E27FC236}">
                <a16:creationId xmlns:a16="http://schemas.microsoft.com/office/drawing/2014/main" id="{5DCC9DA4-4B90-43EB-85BD-1258A3E4210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51035F18-EC82-4070-B087-11648599167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7777" name="Text Box 1029">
            <a:extLst>
              <a:ext uri="{FF2B5EF4-FFF2-40B4-BE49-F238E27FC236}">
                <a16:creationId xmlns:a16="http://schemas.microsoft.com/office/drawing/2014/main" id="{EFA9293F-DD3E-4FF4-ABB6-4056F045D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Line 1027">
            <a:extLst>
              <a:ext uri="{FF2B5EF4-FFF2-40B4-BE49-F238E27FC236}">
                <a16:creationId xmlns:a16="http://schemas.microsoft.com/office/drawing/2014/main" id="{EC958688-6672-4AA9-871B-3B4231762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1" name="Line 1031">
            <a:extLst>
              <a:ext uri="{FF2B5EF4-FFF2-40B4-BE49-F238E27FC236}">
                <a16:creationId xmlns:a16="http://schemas.microsoft.com/office/drawing/2014/main" id="{5937C663-92E3-4A1D-8992-74D84F8D27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12" name="AutoShape 1032">
            <a:extLst>
              <a:ext uri="{FF2B5EF4-FFF2-40B4-BE49-F238E27FC236}">
                <a16:creationId xmlns:a16="http://schemas.microsoft.com/office/drawing/2014/main" id="{76C08433-2D17-4424-A37D-5636781E9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9813" name="AutoShape 1033">
            <a:extLst>
              <a:ext uri="{FF2B5EF4-FFF2-40B4-BE49-F238E27FC236}">
                <a16:creationId xmlns:a16="http://schemas.microsoft.com/office/drawing/2014/main" id="{6DA4C71A-4A96-4733-9145-036204ED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9814" name="日期占位符 12">
            <a:extLst>
              <a:ext uri="{FF2B5EF4-FFF2-40B4-BE49-F238E27FC236}">
                <a16:creationId xmlns:a16="http://schemas.microsoft.com/office/drawing/2014/main" id="{30C9A801-E67B-4A9E-AF52-FDCF28FAECF3}"/>
              </a:ext>
            </a:extLst>
          </p:cNvPr>
          <p:cNvSpPr txBox="1">
            <a:spLocks noGrp="1"/>
          </p:cNvSpPr>
          <p:nvPr/>
        </p:nvSpPr>
        <p:spPr bwMode="auto">
          <a:xfrm>
            <a:off x="539750" y="6308725"/>
            <a:ext cx="1368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1E735E65-EFB2-4C7D-B851-5E4DB18C7094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9815" name="灯片编号占位符 13">
            <a:extLst>
              <a:ext uri="{FF2B5EF4-FFF2-40B4-BE49-F238E27FC236}">
                <a16:creationId xmlns:a16="http://schemas.microsoft.com/office/drawing/2014/main" id="{6714A33C-381F-4F29-9CD6-0B91CB49DA5C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FEFC8F8-C036-485B-9E2F-A87238AF913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9816" name="页脚占位符 14">
            <a:extLst>
              <a:ext uri="{FF2B5EF4-FFF2-40B4-BE49-F238E27FC236}">
                <a16:creationId xmlns:a16="http://schemas.microsoft.com/office/drawing/2014/main" id="{AC5966AC-2FF7-45FF-B673-38348A6A647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2A3F343-BDC8-457D-A784-05FD16995FD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9818" name="Rectangle 15">
            <a:extLst>
              <a:ext uri="{FF2B5EF4-FFF2-40B4-BE49-F238E27FC236}">
                <a16:creationId xmlns:a16="http://schemas.microsoft.com/office/drawing/2014/main" id="{DAD4203E-2610-44A4-8503-181B71969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41120BBE-7F2E-4A7F-961C-804127915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09600"/>
            <a:ext cx="8305800" cy="533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[</a:t>
            </a:r>
            <a:r>
              <a:rPr lang="zh-CN" altLang="en-US" sz="32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1.10]</a:t>
            </a:r>
            <a:r>
              <a:rPr lang="en-US" altLang="zh-CN" sz="3200" dirty="0">
                <a:latin typeface="+mn-ea"/>
                <a:ea typeface="+mn-ea"/>
              </a:rPr>
              <a:t>  </a:t>
            </a:r>
            <a:r>
              <a:rPr lang="zh-CN" altLang="en-US" sz="3200" dirty="0">
                <a:ea typeface="楷体_GB2312" pitchFamily="49" charset="-122"/>
              </a:rPr>
              <a:t>补码的减法转化为加法</a:t>
            </a:r>
          </a:p>
          <a:p>
            <a:pPr algn="just">
              <a:defRPr/>
            </a:pPr>
            <a:r>
              <a:rPr lang="zh-CN" altLang="en-US" sz="2800" dirty="0"/>
              <a:t>	十进制				二进制</a:t>
            </a:r>
          </a:p>
          <a:p>
            <a:pPr algn="just">
              <a:defRPr/>
            </a:pPr>
            <a:r>
              <a:rPr lang="zh-CN" altLang="en-US" sz="2800" dirty="0"/>
              <a:t>	    </a:t>
            </a:r>
            <a:r>
              <a:rPr lang="en-US" altLang="zh-CN" sz="2800" dirty="0"/>
              <a:t>25					00011001</a:t>
            </a:r>
          </a:p>
          <a:p>
            <a:pPr algn="just">
              <a:defRPr/>
            </a:pPr>
            <a:r>
              <a:rPr lang="en-US" altLang="zh-CN" sz="2800" dirty="0"/>
              <a:t>         -    32		   		+	11100000</a:t>
            </a:r>
          </a:p>
          <a:p>
            <a:pPr algn="just">
              <a:defRPr/>
            </a:pPr>
            <a:r>
              <a:rPr lang="en-US" altLang="zh-CN" sz="2800" dirty="0"/>
              <a:t>	    -7			  		11111001</a:t>
            </a:r>
          </a:p>
          <a:p>
            <a:pPr algn="just">
              <a:defRPr/>
            </a:pPr>
            <a:endParaRPr lang="en-US" altLang="zh-CN" sz="2800" dirty="0"/>
          </a:p>
          <a:p>
            <a:pPr algn="just">
              <a:defRPr/>
            </a:pPr>
            <a:r>
              <a:rPr lang="en-US" altLang="zh-CN" sz="2800" dirty="0"/>
              <a:t>	   -25					11100111</a:t>
            </a:r>
          </a:p>
          <a:p>
            <a:pPr algn="just">
              <a:defRPr/>
            </a:pPr>
            <a:r>
              <a:rPr lang="en-US" altLang="zh-CN" sz="2800" dirty="0"/>
              <a:t>         -  (-32)				+	00100000</a:t>
            </a:r>
          </a:p>
          <a:p>
            <a:pPr algn="just">
              <a:defRPr/>
            </a:pPr>
            <a:r>
              <a:rPr lang="en-US" altLang="zh-CN" sz="2800" dirty="0"/>
              <a:t>	      7			 	1	00000111</a:t>
            </a:r>
          </a:p>
          <a:p>
            <a:pPr algn="just">
              <a:defRPr/>
            </a:pPr>
            <a:r>
              <a:rPr lang="en-US" altLang="zh-CN" sz="2800" dirty="0"/>
              <a:t>						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自动丢失</a:t>
            </a:r>
          </a:p>
          <a:p>
            <a:pPr algn="just">
              <a:defRPr/>
            </a:pPr>
            <a:r>
              <a:rPr lang="zh-CN" altLang="en-US" sz="3200" dirty="0">
                <a:solidFill>
                  <a:srgbClr val="FF3300"/>
                </a:solidFill>
              </a:rPr>
              <a:t>注意</a:t>
            </a:r>
            <a:r>
              <a:rPr lang="zh-CN" altLang="en-US" sz="3200" dirty="0"/>
              <a:t>：</a:t>
            </a:r>
            <a:r>
              <a:rPr lang="zh-CN" altLang="en-US" sz="2800" dirty="0">
                <a:ea typeface="楷体_GB2312" pitchFamily="49" charset="-122"/>
              </a:rPr>
              <a:t>例中由最高位向前的进位自动丢失而不影响运行的结果。</a:t>
            </a:r>
            <a:endParaRPr lang="zh-CN" altLang="en-US" sz="2800" dirty="0"/>
          </a:p>
        </p:txBody>
      </p:sp>
      <p:sp>
        <p:nvSpPr>
          <p:cNvPr id="119820" name="Line 10">
            <a:extLst>
              <a:ext uri="{FF2B5EF4-FFF2-40B4-BE49-F238E27FC236}">
                <a16:creationId xmlns:a16="http://schemas.microsoft.com/office/drawing/2014/main" id="{87D72CA3-6FA8-4647-A686-A216AE77B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2420938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1" name="Line 10">
            <a:extLst>
              <a:ext uri="{FF2B5EF4-FFF2-40B4-BE49-F238E27FC236}">
                <a16:creationId xmlns:a16="http://schemas.microsoft.com/office/drawing/2014/main" id="{2278073B-ABC6-4D8E-8843-5A5042D7E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42211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2" name="Line 10">
            <a:extLst>
              <a:ext uri="{FF2B5EF4-FFF2-40B4-BE49-F238E27FC236}">
                <a16:creationId xmlns:a16="http://schemas.microsoft.com/office/drawing/2014/main" id="{20DC13D5-96FB-4B81-B59C-71BF1B29A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2420938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3" name="Line 10">
            <a:extLst>
              <a:ext uri="{FF2B5EF4-FFF2-40B4-BE49-F238E27FC236}">
                <a16:creationId xmlns:a16="http://schemas.microsoft.com/office/drawing/2014/main" id="{87CD2EB0-536D-4657-AA5D-9AEAEDCA4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4149725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4" name="Line 14">
            <a:extLst>
              <a:ext uri="{FF2B5EF4-FFF2-40B4-BE49-F238E27FC236}">
                <a16:creationId xmlns:a16="http://schemas.microsoft.com/office/drawing/2014/main" id="{3935899C-3D1D-422E-8F22-4ACC65BC90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2725" y="45085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5" name="Text Box 1029">
            <a:extLst>
              <a:ext uri="{FF2B5EF4-FFF2-40B4-BE49-F238E27FC236}">
                <a16:creationId xmlns:a16="http://schemas.microsoft.com/office/drawing/2014/main" id="{235898E1-902B-4923-9BCC-C12DC8762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Line 1027">
            <a:extLst>
              <a:ext uri="{FF2B5EF4-FFF2-40B4-BE49-F238E27FC236}">
                <a16:creationId xmlns:a16="http://schemas.microsoft.com/office/drawing/2014/main" id="{DE59E373-2B7F-496C-920F-3A95BACCB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59" name="Line 1031">
            <a:extLst>
              <a:ext uri="{FF2B5EF4-FFF2-40B4-BE49-F238E27FC236}">
                <a16:creationId xmlns:a16="http://schemas.microsoft.com/office/drawing/2014/main" id="{D776BA0E-5CC1-462A-9A89-731F3E88C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1860" name="AutoShape 1032">
            <a:extLst>
              <a:ext uri="{FF2B5EF4-FFF2-40B4-BE49-F238E27FC236}">
                <a16:creationId xmlns:a16="http://schemas.microsoft.com/office/drawing/2014/main" id="{1176C952-87C2-4E88-9F1E-3B1EC184E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1861" name="AutoShape 1033">
            <a:extLst>
              <a:ext uri="{FF2B5EF4-FFF2-40B4-BE49-F238E27FC236}">
                <a16:creationId xmlns:a16="http://schemas.microsoft.com/office/drawing/2014/main" id="{CEF2A1A2-D1B3-410C-B897-5D0452F53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1862" name="日期占位符 12">
            <a:extLst>
              <a:ext uri="{FF2B5EF4-FFF2-40B4-BE49-F238E27FC236}">
                <a16:creationId xmlns:a16="http://schemas.microsoft.com/office/drawing/2014/main" id="{5719F5DA-96A4-424D-B28D-4F82438BE94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FC531F6F-11A1-4FD6-AB5A-D7DC50F4F09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1863" name="灯片编号占位符 13">
            <a:extLst>
              <a:ext uri="{FF2B5EF4-FFF2-40B4-BE49-F238E27FC236}">
                <a16:creationId xmlns:a16="http://schemas.microsoft.com/office/drawing/2014/main" id="{4CB358D8-2C40-40E9-81EF-0DECED7F5BD2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E887520-4FB4-4137-AFE7-730B59254B8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1864" name="页脚占位符 14">
            <a:extLst>
              <a:ext uri="{FF2B5EF4-FFF2-40B4-BE49-F238E27FC236}">
                <a16:creationId xmlns:a16="http://schemas.microsoft.com/office/drawing/2014/main" id="{E578C811-FF4B-4CB9-B290-2F99849FBF6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34409F6-E6B1-4E6D-B025-5CBFB747984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1866" name="Rectangle 15">
            <a:extLst>
              <a:ext uri="{FF2B5EF4-FFF2-40B4-BE49-F238E27FC236}">
                <a16:creationId xmlns:a16="http://schemas.microsoft.com/office/drawing/2014/main" id="{AD830E41-F59F-4CFD-B68A-C17F124CA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5FC10D28-A51B-41A5-982C-59B0B85CB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85344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溢出</a:t>
            </a:r>
          </a:p>
          <a:p>
            <a:pPr algn="just"/>
            <a:r>
              <a:rPr lang="zh-CN" altLang="en-US" sz="2400" b="0"/>
              <a:t>	</a:t>
            </a:r>
            <a:r>
              <a:rPr lang="zh-CN" altLang="en-US" sz="2800"/>
              <a:t>当运算结果超出数的表达范围时，称为溢出。溢出并不取决于最高有效位向高位的进位。例如：</a:t>
            </a:r>
          </a:p>
          <a:p>
            <a:pPr algn="just"/>
            <a:r>
              <a:rPr lang="zh-CN" altLang="en-US" sz="2800"/>
              <a:t>	    </a:t>
            </a:r>
            <a:r>
              <a:rPr lang="en-US" altLang="zh-CN" sz="2800"/>
              <a:t>25			00011001		</a:t>
            </a:r>
            <a:endParaRPr lang="en-US" altLang="zh-CN" sz="2400">
              <a:solidFill>
                <a:schemeClr val="accent1"/>
              </a:solidFill>
            </a:endParaRPr>
          </a:p>
          <a:p>
            <a:pPr algn="just"/>
            <a:r>
              <a:rPr lang="en-US" altLang="zh-CN" sz="2800"/>
              <a:t>       -  (-115)		  +      01110011		</a:t>
            </a:r>
          </a:p>
          <a:p>
            <a:pPr algn="just"/>
            <a:r>
              <a:rPr lang="en-US" altLang="zh-CN" sz="2800"/>
              <a:t>	   140		 	10001100   </a:t>
            </a:r>
            <a:r>
              <a:rPr lang="zh-CN" altLang="en-US" sz="2800"/>
              <a:t>（</a:t>
            </a:r>
            <a:r>
              <a:rPr lang="en-US" altLang="zh-CN" sz="2800"/>
              <a:t>-116</a:t>
            </a:r>
            <a:r>
              <a:rPr lang="zh-CN" altLang="en-US" sz="2800"/>
              <a:t>）</a:t>
            </a:r>
          </a:p>
          <a:p>
            <a:pPr algn="just"/>
            <a:r>
              <a:rPr lang="zh-CN" altLang="en-US" sz="2800"/>
              <a:t>				</a:t>
            </a:r>
            <a:r>
              <a:rPr lang="zh-CN" altLang="en-US" sz="2400">
                <a:solidFill>
                  <a:srgbClr val="FF0000"/>
                </a:solidFill>
                <a:ea typeface="楷体_GB2312"/>
                <a:cs typeface="楷体_GB2312"/>
              </a:rPr>
              <a:t>没有进位，但溢出</a:t>
            </a:r>
            <a:r>
              <a:rPr lang="zh-CN" altLang="en-US" sz="2800"/>
              <a:t>	</a:t>
            </a:r>
          </a:p>
          <a:p>
            <a:pPr algn="just"/>
            <a:r>
              <a:rPr lang="zh-CN" altLang="en-US" sz="2800"/>
              <a:t>又如：</a:t>
            </a:r>
          </a:p>
          <a:p>
            <a:pPr algn="just"/>
            <a:r>
              <a:rPr lang="zh-CN" altLang="en-US" sz="2800"/>
              <a:t>	   </a:t>
            </a:r>
            <a:r>
              <a:rPr lang="en-US" altLang="zh-CN" sz="2800"/>
              <a:t>-25			11100111		</a:t>
            </a:r>
            <a:endParaRPr lang="en-US" altLang="zh-CN" sz="2400">
              <a:solidFill>
                <a:schemeClr val="accent1"/>
              </a:solidFill>
            </a:endParaRPr>
          </a:p>
          <a:p>
            <a:pPr algn="just"/>
            <a:r>
              <a:rPr lang="en-US" altLang="zh-CN" sz="2800"/>
              <a:t>       +   115		  +      01110011		</a:t>
            </a:r>
          </a:p>
          <a:p>
            <a:pPr algn="just"/>
            <a:r>
              <a:rPr lang="en-US" altLang="zh-CN" sz="2800"/>
              <a:t>	    90		    1	01011010</a:t>
            </a:r>
          </a:p>
          <a:p>
            <a:pPr algn="just"/>
            <a:r>
              <a:rPr lang="en-US" altLang="zh-CN" sz="2800"/>
              <a:t>				</a:t>
            </a:r>
            <a:r>
              <a:rPr lang="zh-CN" altLang="en-US" sz="2400">
                <a:solidFill>
                  <a:srgbClr val="FF0000"/>
                </a:solidFill>
                <a:ea typeface="楷体_GB2312"/>
                <a:cs typeface="楷体_GB2312"/>
              </a:rPr>
              <a:t>有进位，但没有溢出</a:t>
            </a:r>
            <a:r>
              <a:rPr lang="zh-CN" altLang="en-US" sz="2800"/>
              <a:t>		             </a:t>
            </a:r>
          </a:p>
        </p:txBody>
      </p:sp>
      <p:sp>
        <p:nvSpPr>
          <p:cNvPr id="121868" name="Line 12">
            <a:extLst>
              <a:ext uri="{FF2B5EF4-FFF2-40B4-BE49-F238E27FC236}">
                <a16:creationId xmlns:a16="http://schemas.microsoft.com/office/drawing/2014/main" id="{98B53C4C-9D36-4FD3-9292-3B0B5676C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2852738"/>
            <a:ext cx="2149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9" name="Line 12">
            <a:extLst>
              <a:ext uri="{FF2B5EF4-FFF2-40B4-BE49-F238E27FC236}">
                <a16:creationId xmlns:a16="http://schemas.microsoft.com/office/drawing/2014/main" id="{0A7A5A83-CDA3-4882-BDC0-0D332E628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5013325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0" name="Line 12">
            <a:extLst>
              <a:ext uri="{FF2B5EF4-FFF2-40B4-BE49-F238E27FC236}">
                <a16:creationId xmlns:a16="http://schemas.microsoft.com/office/drawing/2014/main" id="{AD9022A7-2530-417E-B9C6-AED6666D4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013325"/>
            <a:ext cx="309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1" name="Line 12">
            <a:extLst>
              <a:ext uri="{FF2B5EF4-FFF2-40B4-BE49-F238E27FC236}">
                <a16:creationId xmlns:a16="http://schemas.microsoft.com/office/drawing/2014/main" id="{5975188C-03FD-47BC-B2F5-3E758F6D3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852738"/>
            <a:ext cx="2735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2" name="Line 14">
            <a:extLst>
              <a:ext uri="{FF2B5EF4-FFF2-40B4-BE49-F238E27FC236}">
                <a16:creationId xmlns:a16="http://schemas.microsoft.com/office/drawing/2014/main" id="{50E7FE85-5974-4110-9FCA-5A63AB153D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35375" y="3284538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3" name="Line 14">
            <a:extLst>
              <a:ext uri="{FF2B5EF4-FFF2-40B4-BE49-F238E27FC236}">
                <a16:creationId xmlns:a16="http://schemas.microsoft.com/office/drawing/2014/main" id="{E84BB339-A766-4AF0-974F-87EFFCFB4C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08400" y="544512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4" name="Text Box 1029">
            <a:extLst>
              <a:ext uri="{FF2B5EF4-FFF2-40B4-BE49-F238E27FC236}">
                <a16:creationId xmlns:a16="http://schemas.microsoft.com/office/drawing/2014/main" id="{090B3BFA-A0CC-4F70-97F0-B5FC9B71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Line 1027">
            <a:extLst>
              <a:ext uri="{FF2B5EF4-FFF2-40B4-BE49-F238E27FC236}">
                <a16:creationId xmlns:a16="http://schemas.microsoft.com/office/drawing/2014/main" id="{03E2F70F-E46A-4EAF-B9AF-49047E283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7" name="Line 1031">
            <a:extLst>
              <a:ext uri="{FF2B5EF4-FFF2-40B4-BE49-F238E27FC236}">
                <a16:creationId xmlns:a16="http://schemas.microsoft.com/office/drawing/2014/main" id="{5B0B5CC5-E7CD-494E-B34D-B5341FD25A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908" name="AutoShape 1032">
            <a:extLst>
              <a:ext uri="{FF2B5EF4-FFF2-40B4-BE49-F238E27FC236}">
                <a16:creationId xmlns:a16="http://schemas.microsoft.com/office/drawing/2014/main" id="{31E25387-632A-4572-8EF8-D5DC2DA0E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3909" name="AutoShape 1033">
            <a:extLst>
              <a:ext uri="{FF2B5EF4-FFF2-40B4-BE49-F238E27FC236}">
                <a16:creationId xmlns:a16="http://schemas.microsoft.com/office/drawing/2014/main" id="{F283C027-C901-4510-89FF-375127C67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3910" name="日期占位符 12">
            <a:extLst>
              <a:ext uri="{FF2B5EF4-FFF2-40B4-BE49-F238E27FC236}">
                <a16:creationId xmlns:a16="http://schemas.microsoft.com/office/drawing/2014/main" id="{8A19DE76-D43B-481A-A4DC-3E12181A2B3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E6CB59E2-49FC-41C4-B339-2B441380212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3911" name="灯片编号占位符 13">
            <a:extLst>
              <a:ext uri="{FF2B5EF4-FFF2-40B4-BE49-F238E27FC236}">
                <a16:creationId xmlns:a16="http://schemas.microsoft.com/office/drawing/2014/main" id="{DADBB06A-F1DE-4863-ADE1-D7F7842E04F5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B99CF6B-C697-4216-BE0A-1BEA646799A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3912" name="页脚占位符 14">
            <a:extLst>
              <a:ext uri="{FF2B5EF4-FFF2-40B4-BE49-F238E27FC236}">
                <a16:creationId xmlns:a16="http://schemas.microsoft.com/office/drawing/2014/main" id="{D6D8C0E2-3433-45F5-A71D-CA49061560C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C55E014-3B7D-45A2-867B-6F532BE98EE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3914" name="Rectangle 15">
            <a:extLst>
              <a:ext uri="{FF2B5EF4-FFF2-40B4-BE49-F238E27FC236}">
                <a16:creationId xmlns:a16="http://schemas.microsoft.com/office/drawing/2014/main" id="{14B92D04-50FD-4DB4-A19A-8CB42861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C076D020-A202-496F-8A47-91136E17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8497887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2800">
                <a:solidFill>
                  <a:srgbClr val="FF0000"/>
                </a:solidFill>
                <a:latin typeface="隶书" panose="02010509060101010101" pitchFamily="49" charset="-122"/>
                <a:ea typeface="仿宋_GB2312"/>
                <a:cs typeface="仿宋_GB2312"/>
              </a:rPr>
              <a:t>计算机自身用“双进位法”判断是否产生“溢出”：</a:t>
            </a:r>
            <a:br>
              <a:rPr lang="zh-CN" altLang="en-US" sz="2800">
                <a:latin typeface="隶书" panose="02010509060101010101" pitchFamily="49" charset="-122"/>
                <a:ea typeface="仿宋_GB2312"/>
                <a:cs typeface="仿宋_GB2312"/>
              </a:rPr>
            </a:br>
            <a:r>
              <a:rPr lang="zh-CN" altLang="en-US" sz="2800">
                <a:latin typeface="隶书" panose="02010509060101010101" pitchFamily="49" charset="-122"/>
                <a:ea typeface="仿宋_GB2312"/>
                <a:cs typeface="仿宋_GB2312"/>
              </a:rPr>
              <a:t>    补码最左边</a:t>
            </a:r>
            <a:r>
              <a:rPr lang="en-US" altLang="zh-CN" sz="2800">
                <a:latin typeface="隶书" panose="02010509060101010101" pitchFamily="49" charset="-122"/>
                <a:ea typeface="仿宋_GB2312"/>
                <a:cs typeface="仿宋_GB2312"/>
              </a:rPr>
              <a:t>2</a:t>
            </a:r>
            <a:r>
              <a:rPr lang="zh-CN" altLang="en-US" sz="2800">
                <a:latin typeface="隶书" panose="02010509060101010101" pitchFamily="49" charset="-122"/>
                <a:ea typeface="仿宋_GB2312"/>
                <a:cs typeface="仿宋_GB2312"/>
              </a:rPr>
              <a:t>个位上的进位相等，没有溢出，反之有溢出。</a:t>
            </a:r>
            <a:r>
              <a:rPr lang="zh-CN" altLang="en-US" sz="2800"/>
              <a:t>例如：</a:t>
            </a:r>
          </a:p>
          <a:p>
            <a:pPr algn="just"/>
            <a:r>
              <a:rPr lang="zh-CN" altLang="en-US" sz="2800"/>
              <a:t>	    </a:t>
            </a:r>
            <a:r>
              <a:rPr lang="en-US" altLang="zh-CN" sz="2800"/>
              <a:t>25			00 0011001		</a:t>
            </a:r>
            <a:endParaRPr lang="en-US" altLang="zh-CN" sz="2400">
              <a:solidFill>
                <a:schemeClr val="accent1"/>
              </a:solidFill>
            </a:endParaRPr>
          </a:p>
          <a:p>
            <a:pPr algn="just"/>
            <a:r>
              <a:rPr lang="en-US" altLang="zh-CN" sz="2800"/>
              <a:t>       -  (-115)		  +      00 1110011		</a:t>
            </a:r>
          </a:p>
          <a:p>
            <a:pPr algn="just"/>
            <a:r>
              <a:rPr lang="en-US" altLang="zh-CN" sz="2800"/>
              <a:t>	   140		 	</a:t>
            </a:r>
            <a:r>
              <a:rPr lang="en-US" altLang="zh-CN" sz="2800">
                <a:solidFill>
                  <a:srgbClr val="0000D6"/>
                </a:solidFill>
              </a:rPr>
              <a:t>01</a:t>
            </a:r>
            <a:r>
              <a:rPr lang="en-US" altLang="zh-CN" sz="2800"/>
              <a:t> 0001100   </a:t>
            </a:r>
            <a:endParaRPr lang="zh-CN" altLang="en-US" sz="2800"/>
          </a:p>
          <a:p>
            <a:pPr algn="just"/>
            <a:r>
              <a:rPr lang="zh-CN" altLang="en-US" sz="2800"/>
              <a:t>				      </a:t>
            </a:r>
            <a:r>
              <a:rPr lang="zh-CN" altLang="en-US" sz="2400">
                <a:solidFill>
                  <a:srgbClr val="FF0000"/>
                </a:solidFill>
                <a:ea typeface="楷体_GB2312"/>
                <a:cs typeface="楷体_GB2312"/>
              </a:rPr>
              <a:t>两进位不同，溢出</a:t>
            </a:r>
            <a:r>
              <a:rPr lang="zh-CN" altLang="en-US" sz="2800"/>
              <a:t>	</a:t>
            </a:r>
          </a:p>
          <a:p>
            <a:pPr algn="just"/>
            <a:r>
              <a:rPr lang="zh-CN" altLang="en-US" sz="2800"/>
              <a:t>又如：</a:t>
            </a:r>
          </a:p>
          <a:p>
            <a:pPr algn="just"/>
            <a:r>
              <a:rPr lang="zh-CN" altLang="en-US" sz="2800"/>
              <a:t>	   </a:t>
            </a:r>
            <a:r>
              <a:rPr lang="en-US" altLang="zh-CN" sz="2800"/>
              <a:t>-25			11 1100111		</a:t>
            </a:r>
            <a:endParaRPr lang="en-US" altLang="zh-CN" sz="2400">
              <a:solidFill>
                <a:schemeClr val="accent1"/>
              </a:solidFill>
            </a:endParaRPr>
          </a:p>
          <a:p>
            <a:pPr algn="just"/>
            <a:r>
              <a:rPr lang="en-US" altLang="zh-CN" sz="2800"/>
              <a:t>       +   115		  +      00 1110011		</a:t>
            </a:r>
          </a:p>
          <a:p>
            <a:pPr algn="just"/>
            <a:r>
              <a:rPr lang="en-US" altLang="zh-CN" sz="2800"/>
              <a:t>	    90		     </a:t>
            </a:r>
            <a:r>
              <a:rPr lang="en-US" altLang="zh-CN" sz="2800">
                <a:solidFill>
                  <a:srgbClr val="FF0000"/>
                </a:solidFill>
              </a:rPr>
              <a:t>1</a:t>
            </a:r>
            <a:r>
              <a:rPr lang="en-US" altLang="zh-CN" sz="2800"/>
              <a:t>	</a:t>
            </a:r>
            <a:r>
              <a:rPr lang="en-US" altLang="zh-CN" sz="2800">
                <a:solidFill>
                  <a:srgbClr val="0000D6"/>
                </a:solidFill>
              </a:rPr>
              <a:t>00</a:t>
            </a:r>
            <a:r>
              <a:rPr lang="en-US" altLang="zh-CN" sz="2800"/>
              <a:t> 1011010</a:t>
            </a:r>
          </a:p>
          <a:p>
            <a:pPr algn="just"/>
            <a:r>
              <a:rPr lang="en-US" altLang="zh-CN" sz="2800"/>
              <a:t>				      </a:t>
            </a:r>
            <a:r>
              <a:rPr lang="zh-CN" altLang="en-US" sz="2400">
                <a:solidFill>
                  <a:srgbClr val="FF0000"/>
                </a:solidFill>
                <a:ea typeface="楷体_GB2312"/>
                <a:cs typeface="楷体_GB2312"/>
              </a:rPr>
              <a:t>两相同进位，没有溢出</a:t>
            </a:r>
            <a:r>
              <a:rPr lang="zh-CN" altLang="en-US" sz="2800"/>
              <a:t>	             </a:t>
            </a:r>
          </a:p>
        </p:txBody>
      </p:sp>
      <p:sp>
        <p:nvSpPr>
          <p:cNvPr id="123916" name="Line 12">
            <a:extLst>
              <a:ext uri="{FF2B5EF4-FFF2-40B4-BE49-F238E27FC236}">
                <a16:creationId xmlns:a16="http://schemas.microsoft.com/office/drawing/2014/main" id="{BDBD4DFB-D2F2-4267-B936-D4712BEE3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3068638"/>
            <a:ext cx="222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7" name="Line 12">
            <a:extLst>
              <a:ext uri="{FF2B5EF4-FFF2-40B4-BE49-F238E27FC236}">
                <a16:creationId xmlns:a16="http://schemas.microsoft.com/office/drawing/2014/main" id="{C0F522A1-63A3-4153-B8B2-47213170B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06863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8" name="Line 12">
            <a:extLst>
              <a:ext uri="{FF2B5EF4-FFF2-40B4-BE49-F238E27FC236}">
                <a16:creationId xmlns:a16="http://schemas.microsoft.com/office/drawing/2014/main" id="{9F53166C-A08E-4F44-87A9-6A3737254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50" y="5157788"/>
            <a:ext cx="2160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9" name="Line 12">
            <a:extLst>
              <a:ext uri="{FF2B5EF4-FFF2-40B4-BE49-F238E27FC236}">
                <a16:creationId xmlns:a16="http://schemas.microsoft.com/office/drawing/2014/main" id="{4F433CD4-5318-4B7B-B36D-F6016C746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515778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0" name="Line 14">
            <a:extLst>
              <a:ext uri="{FF2B5EF4-FFF2-40B4-BE49-F238E27FC236}">
                <a16:creationId xmlns:a16="http://schemas.microsoft.com/office/drawing/2014/main" id="{044D618B-FB19-43A5-B87D-F019583286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84663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1" name="Line 14">
            <a:extLst>
              <a:ext uri="{FF2B5EF4-FFF2-40B4-BE49-F238E27FC236}">
                <a16:creationId xmlns:a16="http://schemas.microsoft.com/office/drawing/2014/main" id="{4F3366C6-83CB-4561-B122-BD99D2C019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1638" y="551656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2" name="Text Box 1029">
            <a:extLst>
              <a:ext uri="{FF2B5EF4-FFF2-40B4-BE49-F238E27FC236}">
                <a16:creationId xmlns:a16="http://schemas.microsoft.com/office/drawing/2014/main" id="{21CF33F5-8541-4BF1-AD1F-6250DB221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Line 1027">
            <a:extLst>
              <a:ext uri="{FF2B5EF4-FFF2-40B4-BE49-F238E27FC236}">
                <a16:creationId xmlns:a16="http://schemas.microsoft.com/office/drawing/2014/main" id="{2992E42C-3243-40ED-9E1E-80F716826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55" name="Line 1031">
            <a:extLst>
              <a:ext uri="{FF2B5EF4-FFF2-40B4-BE49-F238E27FC236}">
                <a16:creationId xmlns:a16="http://schemas.microsoft.com/office/drawing/2014/main" id="{0DC22F6B-002B-4B88-826E-EF4C685112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56" name="AutoShape 1032">
            <a:extLst>
              <a:ext uri="{FF2B5EF4-FFF2-40B4-BE49-F238E27FC236}">
                <a16:creationId xmlns:a16="http://schemas.microsoft.com/office/drawing/2014/main" id="{5E9140AC-F68C-439D-A45E-E3D9C9A3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5957" name="AutoShape 1033">
            <a:extLst>
              <a:ext uri="{FF2B5EF4-FFF2-40B4-BE49-F238E27FC236}">
                <a16:creationId xmlns:a16="http://schemas.microsoft.com/office/drawing/2014/main" id="{3A1793DA-A2D2-4B7A-A1B1-9E87C3C08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5958" name="日期占位符 12">
            <a:extLst>
              <a:ext uri="{FF2B5EF4-FFF2-40B4-BE49-F238E27FC236}">
                <a16:creationId xmlns:a16="http://schemas.microsoft.com/office/drawing/2014/main" id="{AC409131-A981-4ABC-8607-733C22E8B4F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1A5E6221-B765-4579-833B-6BCA33B0D4C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5959" name="灯片编号占位符 13">
            <a:extLst>
              <a:ext uri="{FF2B5EF4-FFF2-40B4-BE49-F238E27FC236}">
                <a16:creationId xmlns:a16="http://schemas.microsoft.com/office/drawing/2014/main" id="{3BE00D38-1C4B-44CE-9F2E-274135085982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24F6808-DEA5-47CF-9358-933886F378A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5960" name="页脚占位符 14">
            <a:extLst>
              <a:ext uri="{FF2B5EF4-FFF2-40B4-BE49-F238E27FC236}">
                <a16:creationId xmlns:a16="http://schemas.microsoft.com/office/drawing/2014/main" id="{9A22133D-9585-4236-A370-1AB77D01B0C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9E95C77-7880-4EB6-A046-AC4E9641926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5962" name="Rectangle 15">
            <a:extLst>
              <a:ext uri="{FF2B5EF4-FFF2-40B4-BE49-F238E27FC236}">
                <a16:creationId xmlns:a16="http://schemas.microsoft.com/office/drawing/2014/main" id="{1838A820-B8B3-45AB-84E2-E3DE469DF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25963" name="Rectangle 14">
            <a:extLst>
              <a:ext uri="{FF2B5EF4-FFF2-40B4-BE49-F238E27FC236}">
                <a16:creationId xmlns:a16="http://schemas.microsoft.com/office/drawing/2014/main" id="{9D07B824-5790-4A12-BE9D-D92477B4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4000">
                <a:solidFill>
                  <a:srgbClr val="FF3300"/>
                </a:solidFill>
                <a:latin typeface="Calibri" panose="020F0502020204030204" pitchFamily="34" charset="0"/>
              </a:rPr>
              <a:t>补码运算规则的优点：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D4EAEF8A-5DEE-4831-8DC9-B2B367E19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830580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3200">
                <a:latin typeface="隶书" panose="02010509060101010101" pitchFamily="49" charset="-122"/>
                <a:ea typeface="仿宋_GB2312"/>
                <a:cs typeface="仿宋_GB2312"/>
              </a:rPr>
              <a:t>同号数和异号数相加使用相同的规则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3200">
                <a:latin typeface="隶书" panose="02010509060101010101" pitchFamily="49" charset="-122"/>
                <a:ea typeface="仿宋_GB2312"/>
                <a:cs typeface="仿宋_GB2312"/>
              </a:rPr>
              <a:t>有符号数和无符号数加法使用相同的规则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3200">
                <a:latin typeface="隶书" panose="02010509060101010101" pitchFamily="49" charset="-122"/>
                <a:ea typeface="仿宋_GB2312"/>
                <a:cs typeface="仿宋_GB2312"/>
              </a:rPr>
              <a:t>减法可以用加法实现（对于电子计算机内的开关电路，  求补是十分容易实现的。）</a:t>
            </a:r>
            <a:endParaRPr lang="zh-CN" altLang="en-US" sz="3200" baseline="-25000"/>
          </a:p>
        </p:txBody>
      </p:sp>
      <p:sp>
        <p:nvSpPr>
          <p:cNvPr id="125965" name="Rectangle 4">
            <a:extLst>
              <a:ext uri="{FF2B5EF4-FFF2-40B4-BE49-F238E27FC236}">
                <a16:creationId xmlns:a16="http://schemas.microsoft.com/office/drawing/2014/main" id="{35B7BBE9-BDEF-4E22-B89C-2C9D9603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37063"/>
            <a:ext cx="8504237" cy="1462087"/>
          </a:xfrm>
          <a:prstGeom prst="rect">
            <a:avLst/>
          </a:prstGeom>
          <a:solidFill>
            <a:schemeClr val="folHlink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2800">
                <a:latin typeface="楷体_GB2312"/>
                <a:ea typeface="楷体_GB2312"/>
                <a:cs typeface="楷体_GB2312"/>
              </a:rPr>
              <a:t>上述特性可以用来简化运算器电路，简化指令系统。</a:t>
            </a:r>
          </a:p>
          <a:p>
            <a:pPr>
              <a:spcBef>
                <a:spcPts val="600"/>
              </a:spcBef>
            </a:pPr>
            <a:r>
              <a:rPr lang="zh-CN" altLang="en-US" sz="2800">
                <a:latin typeface="楷体_GB2312"/>
                <a:ea typeface="楷体_GB2312"/>
                <a:cs typeface="楷体_GB2312"/>
              </a:rPr>
              <a:t> 计算机内的有符号数一般都用补码表示，除非特别说明。</a:t>
            </a:r>
          </a:p>
        </p:txBody>
      </p:sp>
      <p:sp>
        <p:nvSpPr>
          <p:cNvPr id="125966" name="Text Box 1029">
            <a:extLst>
              <a:ext uri="{FF2B5EF4-FFF2-40B4-BE49-F238E27FC236}">
                <a16:creationId xmlns:a16="http://schemas.microsoft.com/office/drawing/2014/main" id="{7C0E4454-490E-4D4B-8E61-923D91801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  <p:sp>
        <p:nvSpPr>
          <p:cNvPr id="125967" name="文本框 2">
            <a:extLst>
              <a:ext uri="{FF2B5EF4-FFF2-40B4-BE49-F238E27FC236}">
                <a16:creationId xmlns:a16="http://schemas.microsoft.com/office/drawing/2014/main" id="{5399135E-2A55-4DD6-8E15-9FA898F65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463" y="981075"/>
            <a:ext cx="954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solidFill>
                  <a:srgbClr val="FAB300"/>
                </a:solidFill>
                <a:hlinkClick r:id="rId3" action="ppaction://hlinksldjump"/>
              </a:rPr>
              <a:t>返回</a:t>
            </a:r>
            <a:endParaRPr lang="zh-CN" altLang="en-US" sz="2400">
              <a:solidFill>
                <a:srgbClr val="FAB300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Line 1027">
            <a:extLst>
              <a:ext uri="{FF2B5EF4-FFF2-40B4-BE49-F238E27FC236}">
                <a16:creationId xmlns:a16="http://schemas.microsoft.com/office/drawing/2014/main" id="{010A8817-E3E1-4B0A-8B8A-F40B8CE05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3" name="Line 1031">
            <a:extLst>
              <a:ext uri="{FF2B5EF4-FFF2-40B4-BE49-F238E27FC236}">
                <a16:creationId xmlns:a16="http://schemas.microsoft.com/office/drawing/2014/main" id="{8FAA3B5C-17C3-4A2E-92CE-AC3895D0C8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8004" name="AutoShape 1032">
            <a:extLst>
              <a:ext uri="{FF2B5EF4-FFF2-40B4-BE49-F238E27FC236}">
                <a16:creationId xmlns:a16="http://schemas.microsoft.com/office/drawing/2014/main" id="{BA5254B4-BCF1-45F5-A25A-129069CDD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8005" name="AutoShape 1033">
            <a:extLst>
              <a:ext uri="{FF2B5EF4-FFF2-40B4-BE49-F238E27FC236}">
                <a16:creationId xmlns:a16="http://schemas.microsoft.com/office/drawing/2014/main" id="{3FEF494A-85F4-4197-84A5-CE68D371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8006" name="日期占位符 12">
            <a:extLst>
              <a:ext uri="{FF2B5EF4-FFF2-40B4-BE49-F238E27FC236}">
                <a16:creationId xmlns:a16="http://schemas.microsoft.com/office/drawing/2014/main" id="{DC4D7457-42E1-4451-B652-A855564E1542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C11D591-F671-45E9-8E6D-17D0A22B930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8007" name="灯片编号占位符 13">
            <a:extLst>
              <a:ext uri="{FF2B5EF4-FFF2-40B4-BE49-F238E27FC236}">
                <a16:creationId xmlns:a16="http://schemas.microsoft.com/office/drawing/2014/main" id="{D95CAE21-C63F-4297-95D7-CEC2D6562646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AB8893E-C2F9-436D-A55F-48DE7FBBF9F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8008" name="页脚占位符 14">
            <a:extLst>
              <a:ext uri="{FF2B5EF4-FFF2-40B4-BE49-F238E27FC236}">
                <a16:creationId xmlns:a16="http://schemas.microsoft.com/office/drawing/2014/main" id="{609EC225-FC23-489B-81E6-2BC0D793911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79E9CCF-5AFC-40D1-AC77-F54C814EBB29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8010" name="Rectangle 15">
            <a:extLst>
              <a:ext uri="{FF2B5EF4-FFF2-40B4-BE49-F238E27FC236}">
                <a16:creationId xmlns:a16="http://schemas.microsoft.com/office/drawing/2014/main" id="{6EB99983-558E-43E8-8066-C8818494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45DD7589-930A-47A6-825C-1E9006EDE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765175"/>
            <a:ext cx="4464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FF0000"/>
                </a:solidFill>
              </a:rPr>
              <a:t>二、浮点数的表示*</a:t>
            </a:r>
          </a:p>
        </p:txBody>
      </p:sp>
      <p:sp>
        <p:nvSpPr>
          <p:cNvPr id="128012" name="Text Box 10">
            <a:extLst>
              <a:ext uri="{FF2B5EF4-FFF2-40B4-BE49-F238E27FC236}">
                <a16:creationId xmlns:a16="http://schemas.microsoft.com/office/drawing/2014/main" id="{588E6F0E-EB8B-418D-8C4A-D57A67E8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12875"/>
            <a:ext cx="8497887" cy="427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None/>
            </a:pPr>
            <a:r>
              <a:rPr lang="en-US" altLang="zh-CN" sz="3200">
                <a:latin typeface="楷体_GB2312"/>
              </a:rPr>
              <a:t>    </a:t>
            </a:r>
            <a:r>
              <a:rPr lang="zh-CN" altLang="en-US" sz="2800">
                <a:latin typeface="楷体" panose="02010609060101010101" pitchFamily="49" charset="-122"/>
                <a:ea typeface="楷体_GB2312"/>
                <a:cs typeface="楷体_GB2312"/>
              </a:rPr>
              <a:t>浮点表示法：小数点的位置不固定，一个浮点数分为阶码和尾数两部分。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20000"/>
            </a:pPr>
            <a:r>
              <a:rPr lang="zh-CN" altLang="en-US" sz="2800">
                <a:latin typeface="楷体" panose="02010609060101010101" pitchFamily="49" charset="-122"/>
                <a:ea typeface="楷体_GB2312"/>
                <a:cs typeface="楷体_GB2312"/>
              </a:rPr>
              <a:t>设字长为</a:t>
            </a:r>
            <a:r>
              <a:rPr lang="en-US" altLang="zh-CN" sz="2800">
                <a:latin typeface="楷体" panose="02010609060101010101" pitchFamily="49" charset="-122"/>
                <a:ea typeface="楷体_GB2312"/>
                <a:cs typeface="楷体_GB2312"/>
              </a:rPr>
              <a:t>32</a:t>
            </a:r>
            <a:r>
              <a:rPr lang="zh-CN" altLang="en-US" sz="2800">
                <a:latin typeface="楷体" panose="02010609060101010101" pitchFamily="49" charset="-122"/>
                <a:ea typeface="楷体_GB2312"/>
                <a:cs typeface="楷体_GB2312"/>
              </a:rPr>
              <a:t>位，可供选择的一种位数分配形式：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20000"/>
            </a:pPr>
            <a:endParaRPr lang="zh-CN" altLang="en-US" sz="2400">
              <a:latin typeface="楷体" panose="02010609060101010101" pitchFamily="49" charset="-122"/>
              <a:ea typeface="楷体_GB2312"/>
              <a:cs typeface="楷体_GB2312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      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   </a:t>
            </a:r>
            <a:r>
              <a:rPr lang="en-US" altLang="zh-CN" sz="2400">
                <a:latin typeface="楷体" panose="02010609060101010101" pitchFamily="49" charset="-122"/>
                <a:ea typeface="楷体_GB2312"/>
                <a:cs typeface="楷体_GB2312"/>
              </a:rPr>
              <a:t>1</a:t>
            </a: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位	    </a:t>
            </a:r>
            <a:r>
              <a:rPr lang="en-US" altLang="zh-CN" sz="2400">
                <a:latin typeface="楷体" panose="02010609060101010101" pitchFamily="49" charset="-122"/>
                <a:ea typeface="楷体_GB2312"/>
                <a:cs typeface="楷体_GB2312"/>
              </a:rPr>
              <a:t>8</a:t>
            </a: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位		</a:t>
            </a:r>
            <a:r>
              <a:rPr lang="en-US" altLang="zh-CN" sz="2400">
                <a:latin typeface="楷体" panose="02010609060101010101" pitchFamily="49" charset="-122"/>
                <a:ea typeface="楷体_GB2312"/>
                <a:cs typeface="楷体_GB2312"/>
              </a:rPr>
              <a:t>	23</a:t>
            </a: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位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endParaRPr lang="zh-CN" altLang="en-US" sz="2400">
              <a:latin typeface="楷体" panose="02010609060101010101" pitchFamily="49" charset="-122"/>
              <a:ea typeface="楷体_GB2312"/>
              <a:cs typeface="楷体_GB2312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>
                <a:latin typeface="楷体" panose="02010609060101010101" pitchFamily="49" charset="-122"/>
                <a:ea typeface="楷体_GB2312"/>
                <a:cs typeface="楷体_GB2312"/>
              </a:rPr>
              <a:t>    </a:t>
            </a:r>
            <a:r>
              <a:rPr lang="zh-CN" altLang="en-US" sz="2800">
                <a:latin typeface="楷体" panose="02010609060101010101" pitchFamily="49" charset="-122"/>
                <a:ea typeface="楷体_GB2312"/>
                <a:cs typeface="楷体_GB2312"/>
              </a:rPr>
              <a:t>规格化的浮点数：为了提高浮点数表示的精度通常规定其尾数的最高位必须 是非零的有效位，称为浮点数的规格化形式。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3A0E980-20BF-40A5-91EE-6971235CB044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997200"/>
          <a:ext cx="7704138" cy="396875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3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_GB2312" pitchFamily="49" charset="-122"/>
                        </a:rPr>
                        <a:t>符号位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_GB2312" pitchFamily="49" charset="-122"/>
                        </a:rPr>
                        <a:t>阶  码  部  分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_GB2312" pitchFamily="49" charset="-122"/>
                        </a:rPr>
                        <a:t>  尾    数    部    分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023" name="Text Box 1029">
            <a:extLst>
              <a:ext uri="{FF2B5EF4-FFF2-40B4-BE49-F238E27FC236}">
                <a16:creationId xmlns:a16="http://schemas.microsoft.com/office/drawing/2014/main" id="{1AB82788-55E2-40C0-B7B0-72C7678D2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1027">
            <a:extLst>
              <a:ext uri="{FF2B5EF4-FFF2-40B4-BE49-F238E27FC236}">
                <a16:creationId xmlns:a16="http://schemas.microsoft.com/office/drawing/2014/main" id="{04BDEBF2-7D37-4FAC-9FA0-2C69ABCBF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1" name="Line 1031">
            <a:extLst>
              <a:ext uri="{FF2B5EF4-FFF2-40B4-BE49-F238E27FC236}">
                <a16:creationId xmlns:a16="http://schemas.microsoft.com/office/drawing/2014/main" id="{63F2AFCC-A75B-4D27-888A-0F0D2A96F8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0052" name="AutoShape 1032">
            <a:extLst>
              <a:ext uri="{FF2B5EF4-FFF2-40B4-BE49-F238E27FC236}">
                <a16:creationId xmlns:a16="http://schemas.microsoft.com/office/drawing/2014/main" id="{1A100BC9-A3C1-407C-92E1-FC0787C98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0053" name="AutoShape 1033">
            <a:extLst>
              <a:ext uri="{FF2B5EF4-FFF2-40B4-BE49-F238E27FC236}">
                <a16:creationId xmlns:a16="http://schemas.microsoft.com/office/drawing/2014/main" id="{0172C0F9-6744-40C8-9568-947E15548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0054" name="日期占位符 12">
            <a:extLst>
              <a:ext uri="{FF2B5EF4-FFF2-40B4-BE49-F238E27FC236}">
                <a16:creationId xmlns:a16="http://schemas.microsoft.com/office/drawing/2014/main" id="{AE975ADD-48C0-4DD5-AAB5-AEEAB645EF4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4E8BB9B-E9CC-4403-9ACA-58DFC70F011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0055" name="灯片编号占位符 13">
            <a:extLst>
              <a:ext uri="{FF2B5EF4-FFF2-40B4-BE49-F238E27FC236}">
                <a16:creationId xmlns:a16="http://schemas.microsoft.com/office/drawing/2014/main" id="{DDFFCEB1-726E-40CD-BFBD-10F44EA2C89C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B46614F-BB3E-46ED-B2FE-F90E7089C0C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0056" name="页脚占位符 14">
            <a:extLst>
              <a:ext uri="{FF2B5EF4-FFF2-40B4-BE49-F238E27FC236}">
                <a16:creationId xmlns:a16="http://schemas.microsoft.com/office/drawing/2014/main" id="{2F30D4AF-6A9E-43F5-BE03-CE12A6063CB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D7D6980-D3BE-4F7A-83B1-8323938702C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0058" name="Rectangle 15">
            <a:extLst>
              <a:ext uri="{FF2B5EF4-FFF2-40B4-BE49-F238E27FC236}">
                <a16:creationId xmlns:a16="http://schemas.microsoft.com/office/drawing/2014/main" id="{1708B780-E30C-406C-A7BD-62CD2D9D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0059" name="Rectangle 11">
            <a:extLst>
              <a:ext uri="{FF2B5EF4-FFF2-40B4-BE49-F238E27FC236}">
                <a16:creationId xmlns:a16="http://schemas.microsoft.com/office/drawing/2014/main" id="{472D802D-5774-4935-853C-ED32D5506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en-US" altLang="zh-CN" sz="38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kumimoji="0" lang="en-US" altLang="zh-CN" sz="32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IEEE754</a:t>
            </a:r>
            <a:r>
              <a:rPr kumimoji="0" lang="zh-CN" altLang="en-US" sz="320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标准浮点数</a:t>
            </a:r>
          </a:p>
        </p:txBody>
      </p:sp>
      <p:sp>
        <p:nvSpPr>
          <p:cNvPr id="130060" name="TextBox 11">
            <a:extLst>
              <a:ext uri="{FF2B5EF4-FFF2-40B4-BE49-F238E27FC236}">
                <a16:creationId xmlns:a16="http://schemas.microsoft.com/office/drawing/2014/main" id="{F73912AB-C107-47EA-B32E-DA1151D67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4313"/>
            <a:ext cx="7848600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zh-CN" altLang="en-US" sz="3200">
                <a:latin typeface="隶书" panose="02010509060101010101" pitchFamily="49" charset="-122"/>
              </a:rPr>
              <a:t>单精度</a:t>
            </a:r>
            <a:r>
              <a:rPr lang="en-US" altLang="zh-CN" sz="3200">
                <a:latin typeface="隶书" panose="02010509060101010101" pitchFamily="49" charset="-122"/>
              </a:rPr>
              <a:t>:32</a:t>
            </a:r>
            <a:r>
              <a:rPr lang="zh-CN" altLang="en-US" sz="3200">
                <a:latin typeface="隶书" panose="02010509060101010101" pitchFamily="49" charset="-122"/>
              </a:rPr>
              <a:t>位</a:t>
            </a:r>
            <a:r>
              <a:rPr lang="en-US" altLang="zh-CN" sz="3200">
                <a:latin typeface="隶书" panose="02010509060101010101" pitchFamily="49" charset="-122"/>
              </a:rPr>
              <a:t>,  1+8+23</a:t>
            </a:r>
          </a:p>
          <a:p>
            <a:pPr algn="ctr">
              <a:spcBef>
                <a:spcPts val="600"/>
              </a:spcBef>
            </a:pPr>
            <a:r>
              <a:rPr lang="zh-CN" altLang="en-US" sz="3200">
                <a:latin typeface="隶书" panose="02010509060101010101" pitchFamily="49" charset="-122"/>
              </a:rPr>
              <a:t>双精度</a:t>
            </a:r>
            <a:r>
              <a:rPr lang="en-US" altLang="zh-CN" sz="3200">
                <a:latin typeface="隶书" panose="02010509060101010101" pitchFamily="49" charset="-122"/>
              </a:rPr>
              <a:t>:64</a:t>
            </a:r>
            <a:r>
              <a:rPr lang="zh-CN" altLang="en-US" sz="3200">
                <a:latin typeface="隶书" panose="02010509060101010101" pitchFamily="49" charset="-122"/>
              </a:rPr>
              <a:t>位</a:t>
            </a:r>
            <a:r>
              <a:rPr lang="en-US" altLang="zh-CN" sz="3200">
                <a:latin typeface="隶书" panose="02010509060101010101" pitchFamily="49" charset="-122"/>
              </a:rPr>
              <a:t>,  1+11+52</a:t>
            </a:r>
          </a:p>
          <a:p>
            <a:pPr algn="ctr">
              <a:spcBef>
                <a:spcPts val="600"/>
              </a:spcBef>
            </a:pPr>
            <a:r>
              <a:rPr lang="zh-CN" altLang="en-US" sz="3200" b="0">
                <a:latin typeface="楷体" panose="02010609060101010101" pitchFamily="49" charset="-122"/>
                <a:ea typeface="楷体" panose="02010609060101010101" pitchFamily="49" charset="-122"/>
              </a:rPr>
              <a:t>规格化后尾数隐藏一位</a:t>
            </a:r>
            <a:r>
              <a:rPr lang="en-US" altLang="zh-CN" sz="3200" b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zh-CN" altLang="en-US" sz="3200" b="0">
                <a:latin typeface="楷体" panose="02010609060101010101" pitchFamily="49" charset="-122"/>
                <a:ea typeface="楷体" panose="02010609060101010101" pitchFamily="49" charset="-122"/>
              </a:rPr>
              <a:t>阶码采用移码形式</a:t>
            </a:r>
            <a:r>
              <a:rPr lang="en-US" altLang="zh-CN" sz="3200" b="0">
                <a:latin typeface="楷体" panose="02010609060101010101" pitchFamily="49" charset="-122"/>
                <a:ea typeface="楷体" panose="02010609060101010101" pitchFamily="49" charset="-122"/>
              </a:rPr>
              <a:t>127</a:t>
            </a:r>
            <a:r>
              <a:rPr lang="zh-CN" altLang="en-US" sz="3200" b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3200" b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</a:p>
          <a:p>
            <a:pPr algn="ctr">
              <a:spcBef>
                <a:spcPts val="600"/>
              </a:spcBef>
            </a:pPr>
            <a:r>
              <a:rPr lang="zh-CN" altLang="en-US" sz="3200">
                <a:solidFill>
                  <a:srgbClr val="0000D6"/>
                </a:solidFill>
                <a:latin typeface="宋体" panose="02010600030101010101" pitchFamily="2" charset="-122"/>
              </a:rPr>
              <a:t>例如：</a:t>
            </a:r>
            <a:r>
              <a:rPr lang="en-US" altLang="zh-CN" sz="3200">
                <a:latin typeface="宋体" panose="02010600030101010101" pitchFamily="2" charset="-122"/>
              </a:rPr>
              <a:t>-12: C1400000</a:t>
            </a:r>
            <a:r>
              <a:rPr lang="zh-CN" altLang="en-US" sz="3200">
                <a:latin typeface="宋体" panose="02010600030101010101" pitchFamily="2" charset="-122"/>
              </a:rPr>
              <a:t> </a:t>
            </a:r>
            <a:endParaRPr lang="en-US" altLang="zh-CN" sz="3200">
              <a:latin typeface="宋体" panose="02010600030101010101" pitchFamily="2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3200">
                <a:latin typeface="宋体" panose="02010600030101010101" pitchFamily="2" charset="-122"/>
              </a:rPr>
              <a:t>	0.25: 3E800000</a:t>
            </a:r>
          </a:p>
          <a:p>
            <a:pPr algn="ctr">
              <a:spcBef>
                <a:spcPts val="600"/>
              </a:spcBef>
            </a:pPr>
            <a:r>
              <a:rPr lang="en-US" altLang="zh-CN" sz="3200">
                <a:latin typeface="宋体" panose="02010600030101010101" pitchFamily="2" charset="-122"/>
              </a:rPr>
              <a:t>	 1.5: 3FC00000</a:t>
            </a:r>
          </a:p>
          <a:p>
            <a:pPr algn="ctr">
              <a:spcBef>
                <a:spcPts val="600"/>
              </a:spcBef>
            </a:pPr>
            <a:r>
              <a:rPr lang="en-US" altLang="zh-CN" sz="3200">
                <a:latin typeface="宋体" panose="02010600030101010101" pitchFamily="2" charset="-122"/>
              </a:rPr>
              <a:t>	 1.5: 3FF8000000000000</a:t>
            </a:r>
            <a:r>
              <a:rPr lang="zh-CN" altLang="en-US" sz="3200">
                <a:latin typeface="宋体" panose="02010600030101010101" pitchFamily="2" charset="-122"/>
              </a:rPr>
              <a:t>（双精度）</a:t>
            </a:r>
          </a:p>
        </p:txBody>
      </p:sp>
      <p:sp>
        <p:nvSpPr>
          <p:cNvPr id="130061" name="Text Box 1029">
            <a:extLst>
              <a:ext uri="{FF2B5EF4-FFF2-40B4-BE49-F238E27FC236}">
                <a16:creationId xmlns:a16="http://schemas.microsoft.com/office/drawing/2014/main" id="{1DF77150-9DAB-44D0-8C31-4E54B3021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1027">
            <a:extLst>
              <a:ext uri="{FF2B5EF4-FFF2-40B4-BE49-F238E27FC236}">
                <a16:creationId xmlns:a16="http://schemas.microsoft.com/office/drawing/2014/main" id="{5ED5DCD9-FF2D-4F9A-8BCE-335FDC35D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099" name="Line 1031">
            <a:extLst>
              <a:ext uri="{FF2B5EF4-FFF2-40B4-BE49-F238E27FC236}">
                <a16:creationId xmlns:a16="http://schemas.microsoft.com/office/drawing/2014/main" id="{CB304A0B-126D-4243-974B-5F453DE93D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2100" name="AutoShape 1032">
            <a:extLst>
              <a:ext uri="{FF2B5EF4-FFF2-40B4-BE49-F238E27FC236}">
                <a16:creationId xmlns:a16="http://schemas.microsoft.com/office/drawing/2014/main" id="{6FF594A5-0A6F-48CC-8D6C-A4D53147C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2101" name="AutoShape 1033">
            <a:extLst>
              <a:ext uri="{FF2B5EF4-FFF2-40B4-BE49-F238E27FC236}">
                <a16:creationId xmlns:a16="http://schemas.microsoft.com/office/drawing/2014/main" id="{FF8D4EB8-D2E8-4345-8E27-3F1627097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2102" name="日期占位符 12">
            <a:extLst>
              <a:ext uri="{FF2B5EF4-FFF2-40B4-BE49-F238E27FC236}">
                <a16:creationId xmlns:a16="http://schemas.microsoft.com/office/drawing/2014/main" id="{51A01FCE-9EDB-459C-A89E-A69E645053A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4EEBB93-4434-422A-8184-7B80DC7D10C4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3" name="灯片编号占位符 13">
            <a:extLst>
              <a:ext uri="{FF2B5EF4-FFF2-40B4-BE49-F238E27FC236}">
                <a16:creationId xmlns:a16="http://schemas.microsoft.com/office/drawing/2014/main" id="{C1955266-47CC-4970-918A-CC045BF81032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2CC8978-B912-4674-A1F4-D2F50D4DB5D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4" name="页脚占位符 14">
            <a:extLst>
              <a:ext uri="{FF2B5EF4-FFF2-40B4-BE49-F238E27FC236}">
                <a16:creationId xmlns:a16="http://schemas.microsoft.com/office/drawing/2014/main" id="{893FACC9-46F9-49B6-A360-F6E840D25C5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F3C3723-C1AC-4EEB-A430-C2023F4BCF7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2106" name="Rectangle 15">
            <a:extLst>
              <a:ext uri="{FF2B5EF4-FFF2-40B4-BE49-F238E27FC236}">
                <a16:creationId xmlns:a16="http://schemas.microsoft.com/office/drawing/2014/main" id="{37835465-2038-47DB-8ABD-D079C3B5C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2051855B-C51E-41FA-B87C-3C050DD28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836613"/>
            <a:ext cx="6048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zh-CN" altLang="en-US" sz="3600">
                <a:solidFill>
                  <a:srgbClr val="FF0000"/>
                </a:solidFill>
              </a:rPr>
              <a:t>三、二进制编码的十进制数*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2E6916C7-90F6-4CAB-A740-263D76BC6060}"/>
              </a:ext>
            </a:extLst>
          </p:cNvPr>
          <p:cNvSpPr txBox="1"/>
          <p:nvPr/>
        </p:nvSpPr>
        <p:spPr>
          <a:xfrm>
            <a:off x="684213" y="1557338"/>
            <a:ext cx="7929562" cy="1631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600" dirty="0">
                <a:latin typeface="宋体" pitchFamily="2" charset="-122"/>
              </a:rPr>
              <a:t>	</a:t>
            </a:r>
            <a:r>
              <a:rPr lang="en-US" altLang="zh-CN" sz="3200" dirty="0">
                <a:latin typeface="Times New Roman" charset="0"/>
              </a:rPr>
              <a:t>BCD</a:t>
            </a:r>
            <a:r>
              <a:rPr lang="zh-CN" altLang="en-US" sz="3200" dirty="0">
                <a:latin typeface="Times New Roman" charset="0"/>
              </a:rPr>
              <a:t>（</a:t>
            </a:r>
            <a:r>
              <a:rPr lang="en-US" altLang="zh-CN" sz="3200" dirty="0">
                <a:latin typeface="Times New Roman" charset="0"/>
              </a:rPr>
              <a:t>Binary Coded </a:t>
            </a:r>
            <a:r>
              <a:rPr lang="en-US" altLang="zh-CN" sz="3200" dirty="0" err="1">
                <a:latin typeface="Times New Roman" charset="0"/>
              </a:rPr>
              <a:t>Decinal</a:t>
            </a:r>
            <a:r>
              <a:rPr lang="zh-CN" altLang="en-US" sz="3200" dirty="0">
                <a:latin typeface="Times New Roman" charset="0"/>
              </a:rPr>
              <a:t>），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又称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8421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码</a:t>
            </a:r>
            <a:r>
              <a:rPr lang="zh-CN" altLang="en-US" sz="3200" dirty="0">
                <a:latin typeface="Times New Roman" charset="0"/>
              </a:rPr>
              <a:t>。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zh-CN" altLang="en-US" sz="32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压缩型</a:t>
            </a:r>
            <a:r>
              <a:rPr lang="en-US" altLang="zh-CN" sz="32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BCD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码和</a:t>
            </a:r>
            <a:r>
              <a:rPr lang="zh-CN" altLang="en-US" sz="32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非压缩型</a:t>
            </a:r>
            <a:r>
              <a:rPr lang="en-US" altLang="zh-CN" sz="32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BCD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码之分</a:t>
            </a:r>
            <a:r>
              <a:rPr lang="zh-CN" altLang="en-US" sz="3200" dirty="0">
                <a:latin typeface="Times New Roman" charset="0"/>
              </a:rPr>
              <a:t>。</a:t>
            </a: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E704FEB8-C600-4AEA-AEBC-CA26A84EA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214688"/>
            <a:ext cx="84296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600">
                <a:solidFill>
                  <a:srgbClr val="0000D6"/>
                </a:solidFill>
                <a:latin typeface="宋体" panose="02010600030101010101" pitchFamily="2" charset="-122"/>
              </a:rPr>
              <a:t>压缩</a:t>
            </a:r>
            <a:r>
              <a:rPr lang="en-US" altLang="zh-CN" sz="3600">
                <a:solidFill>
                  <a:srgbClr val="0000D6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3600">
                <a:solidFill>
                  <a:srgbClr val="0000D6"/>
                </a:solidFill>
                <a:latin typeface="宋体" panose="02010600030101010101" pitchFamily="2" charset="-122"/>
              </a:rPr>
              <a:t>码</a:t>
            </a:r>
          </a:p>
          <a:p>
            <a:pPr algn="just"/>
            <a:r>
              <a:rPr lang="zh-CN" altLang="en-US" sz="3200" b="0">
                <a:solidFill>
                  <a:srgbClr val="000000"/>
                </a:solidFill>
                <a:latin typeface="隶书" panose="02010509060101010101" pitchFamily="49" charset="-122"/>
              </a:rPr>
              <a:t>    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以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个二进制位表示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个十进制位，用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0000B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～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1001B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表示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～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9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。</a:t>
            </a:r>
          </a:p>
          <a:p>
            <a:pPr algn="just"/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例如，十进制数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6429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的压缩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码表示为</a:t>
            </a:r>
          </a:p>
          <a:p>
            <a:pPr algn="just"/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0110 0100 0010 1001 B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（即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6429H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）</a:t>
            </a:r>
          </a:p>
        </p:txBody>
      </p:sp>
      <p:sp>
        <p:nvSpPr>
          <p:cNvPr id="132110" name="Text Box 1029">
            <a:extLst>
              <a:ext uri="{FF2B5EF4-FFF2-40B4-BE49-F238E27FC236}">
                <a16:creationId xmlns:a16="http://schemas.microsoft.com/office/drawing/2014/main" id="{1625DFE0-8BEC-47FA-B005-6B3A6BC5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64517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Line 1027">
            <a:extLst>
              <a:ext uri="{FF2B5EF4-FFF2-40B4-BE49-F238E27FC236}">
                <a16:creationId xmlns:a16="http://schemas.microsoft.com/office/drawing/2014/main" id="{04D3A6D6-8C3C-440C-BF89-69A8ED60C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7" name="Line 1031">
            <a:extLst>
              <a:ext uri="{FF2B5EF4-FFF2-40B4-BE49-F238E27FC236}">
                <a16:creationId xmlns:a16="http://schemas.microsoft.com/office/drawing/2014/main" id="{10979F42-60E3-428A-ADDA-35068462B2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148" name="AutoShape 1032">
            <a:extLst>
              <a:ext uri="{FF2B5EF4-FFF2-40B4-BE49-F238E27FC236}">
                <a16:creationId xmlns:a16="http://schemas.microsoft.com/office/drawing/2014/main" id="{2FCA0CD9-77A7-4B46-92A0-2CD1CCDF7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4149" name="AutoShape 1033">
            <a:extLst>
              <a:ext uri="{FF2B5EF4-FFF2-40B4-BE49-F238E27FC236}">
                <a16:creationId xmlns:a16="http://schemas.microsoft.com/office/drawing/2014/main" id="{D7818627-E031-4C46-9ECF-F36999CF2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4150" name="日期占位符 12">
            <a:extLst>
              <a:ext uri="{FF2B5EF4-FFF2-40B4-BE49-F238E27FC236}">
                <a16:creationId xmlns:a16="http://schemas.microsoft.com/office/drawing/2014/main" id="{AFBD2730-FDC1-471E-AAC7-0287986A48F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8C447AF-33D6-469A-B420-9531E634C56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4151" name="灯片编号占位符 13">
            <a:extLst>
              <a:ext uri="{FF2B5EF4-FFF2-40B4-BE49-F238E27FC236}">
                <a16:creationId xmlns:a16="http://schemas.microsoft.com/office/drawing/2014/main" id="{649E843C-9791-4959-985D-0DC801871196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136A84C3-3BA6-4FDD-8EDB-8667601069E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4152" name="页脚占位符 14">
            <a:extLst>
              <a:ext uri="{FF2B5EF4-FFF2-40B4-BE49-F238E27FC236}">
                <a16:creationId xmlns:a16="http://schemas.microsoft.com/office/drawing/2014/main" id="{5AD0E907-9DEE-4809-8E23-B5338BDB961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A69761C-0320-4C05-9E39-D8F53088C17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4154" name="Rectangle 15">
            <a:extLst>
              <a:ext uri="{FF2B5EF4-FFF2-40B4-BE49-F238E27FC236}">
                <a16:creationId xmlns:a16="http://schemas.microsoft.com/office/drawing/2014/main" id="{91144483-4142-4F97-9C5E-F7E2DDD22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070BF264-C2F9-447E-AC04-18B7E7078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57250"/>
            <a:ext cx="8785225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600">
                <a:solidFill>
                  <a:srgbClr val="0000D6"/>
                </a:solidFill>
                <a:latin typeface="隶书" panose="02010509060101010101" pitchFamily="49" charset="-122"/>
              </a:rPr>
              <a:t>非</a:t>
            </a:r>
            <a:r>
              <a:rPr lang="zh-CN" altLang="en-US" sz="3600">
                <a:solidFill>
                  <a:srgbClr val="0000D6"/>
                </a:solidFill>
                <a:latin typeface="宋体" panose="02010600030101010101" pitchFamily="2" charset="-122"/>
              </a:rPr>
              <a:t>压缩</a:t>
            </a:r>
            <a:r>
              <a:rPr lang="en-US" altLang="zh-CN" sz="3600">
                <a:solidFill>
                  <a:srgbClr val="0000D6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3600">
                <a:solidFill>
                  <a:srgbClr val="0000D6"/>
                </a:solidFill>
                <a:latin typeface="宋体" panose="02010600030101010101" pitchFamily="2" charset="-122"/>
              </a:rPr>
              <a:t>码</a:t>
            </a:r>
          </a:p>
          <a:p>
            <a:pPr algn="just"/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以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个二进制位表示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个十进制位，低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位与压缩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码相同，高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位无意义。</a:t>
            </a:r>
          </a:p>
          <a:p>
            <a:pPr algn="just"/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例如，十进制数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6429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的非压缩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码表示为</a:t>
            </a:r>
          </a:p>
          <a:p>
            <a:pPr algn="just"/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en-US" altLang="zh-CN" sz="2800">
                <a:solidFill>
                  <a:schemeClr val="accent1"/>
                </a:solidFill>
                <a:latin typeface="楷体_GB2312"/>
                <a:ea typeface="楷体_GB2312"/>
                <a:cs typeface="楷体_GB2312"/>
              </a:rPr>
              <a:t>xxxx0110 xxxx0100 xxxx0010 xxxx1001 </a:t>
            </a:r>
            <a:r>
              <a:rPr lang="en-US" altLang="zh-CN" sz="28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</a:t>
            </a:r>
          </a:p>
          <a:p>
            <a:pPr algn="just"/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有时，要求非压缩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码的高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位为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，这时，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6429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的非压缩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码为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06040209H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。</a:t>
            </a:r>
            <a:endParaRPr lang="en-US" altLang="zh-CN" sz="32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algn="just"/>
            <a:endParaRPr lang="zh-CN" altLang="en-US" sz="32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algn="just"/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可以看出，数字字符 </a:t>
            </a:r>
            <a:r>
              <a:rPr lang="en-US" altLang="zh-CN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'0'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～</a:t>
            </a:r>
            <a:r>
              <a:rPr lang="en-US" altLang="zh-CN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'9' 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</a:t>
            </a:r>
            <a:r>
              <a:rPr lang="en-US" altLang="zh-CN" sz="32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ASCII</a:t>
            </a:r>
            <a:r>
              <a:rPr lang="zh-CN" altLang="en-US" sz="320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码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恰好是</a:t>
            </a:r>
            <a:r>
              <a:rPr lang="en-US" altLang="zh-CN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～</a:t>
            </a:r>
            <a:r>
              <a:rPr lang="en-US" altLang="zh-CN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9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的非压缩</a:t>
            </a:r>
            <a:r>
              <a:rPr lang="en-US" altLang="zh-CN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BCD</a:t>
            </a:r>
            <a:r>
              <a:rPr lang="zh-CN" altLang="en-US" sz="3200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码。</a:t>
            </a:r>
          </a:p>
        </p:txBody>
      </p:sp>
      <p:sp>
        <p:nvSpPr>
          <p:cNvPr id="134156" name="Text Box 1029">
            <a:extLst>
              <a:ext uri="{FF2B5EF4-FFF2-40B4-BE49-F238E27FC236}">
                <a16:creationId xmlns:a16="http://schemas.microsoft.com/office/drawing/2014/main" id="{F8641A49-2445-4B50-8214-6B80C6E34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Line 1027">
            <a:extLst>
              <a:ext uri="{FF2B5EF4-FFF2-40B4-BE49-F238E27FC236}">
                <a16:creationId xmlns:a16="http://schemas.microsoft.com/office/drawing/2014/main" id="{40798149-7929-4C9F-BB6D-8BB93A72F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195" name="Line 1031">
            <a:extLst>
              <a:ext uri="{FF2B5EF4-FFF2-40B4-BE49-F238E27FC236}">
                <a16:creationId xmlns:a16="http://schemas.microsoft.com/office/drawing/2014/main" id="{7EDCA9DA-9A6B-4889-9888-8012B0F058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196" name="AutoShape 1032">
            <a:extLst>
              <a:ext uri="{FF2B5EF4-FFF2-40B4-BE49-F238E27FC236}">
                <a16:creationId xmlns:a16="http://schemas.microsoft.com/office/drawing/2014/main" id="{86352247-D10A-4850-9429-88E0D10CD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6197" name="AutoShape 1033">
            <a:extLst>
              <a:ext uri="{FF2B5EF4-FFF2-40B4-BE49-F238E27FC236}">
                <a16:creationId xmlns:a16="http://schemas.microsoft.com/office/drawing/2014/main" id="{F84EDFF5-F9DC-408A-B12F-8F58D5F5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6198" name="日期占位符 12">
            <a:extLst>
              <a:ext uri="{FF2B5EF4-FFF2-40B4-BE49-F238E27FC236}">
                <a16:creationId xmlns:a16="http://schemas.microsoft.com/office/drawing/2014/main" id="{BED0C9A5-3C97-4D12-8BDF-95B0B9350C5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BC933C5E-4BB1-4CA7-B875-579A578B12EC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6199" name="灯片编号占位符 13">
            <a:extLst>
              <a:ext uri="{FF2B5EF4-FFF2-40B4-BE49-F238E27FC236}">
                <a16:creationId xmlns:a16="http://schemas.microsoft.com/office/drawing/2014/main" id="{52CB3E95-6397-46CA-A206-CA14548F548A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C5CC1E7-54A8-4BD2-83D4-997289389DFD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6200" name="页脚占位符 14">
            <a:extLst>
              <a:ext uri="{FF2B5EF4-FFF2-40B4-BE49-F238E27FC236}">
                <a16:creationId xmlns:a16="http://schemas.microsoft.com/office/drawing/2014/main" id="{5D7F1FFA-210A-429D-8555-6819D19AB4C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15671778-C847-4ADD-8998-FED16786F74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6202" name="Rectangle 15">
            <a:extLst>
              <a:ext uri="{FF2B5EF4-FFF2-40B4-BE49-F238E27FC236}">
                <a16:creationId xmlns:a16="http://schemas.microsoft.com/office/drawing/2014/main" id="{5D794DC5-C5F2-4224-8566-0A79BF71E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8F7EDB6-A522-405D-9CD2-3A5F53C0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836613"/>
            <a:ext cx="525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FF0000"/>
                </a:solidFill>
              </a:rPr>
              <a:t>四、字符表示法</a:t>
            </a:r>
          </a:p>
        </p:txBody>
      </p:sp>
      <p:sp>
        <p:nvSpPr>
          <p:cNvPr id="50182" name="Text Box 6">
            <a:extLst>
              <a:ext uri="{FF2B5EF4-FFF2-40B4-BE49-F238E27FC236}">
                <a16:creationId xmlns:a16="http://schemas.microsoft.com/office/drawing/2014/main" id="{E70278BF-BC66-4265-B28D-F69524FD6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84313"/>
            <a:ext cx="81534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800">
                <a:latin typeface="宋体" panose="02010600030101010101" pitchFamily="2" charset="-122"/>
              </a:rPr>
              <a:t>	</a:t>
            </a:r>
            <a:r>
              <a:rPr lang="en-US" altLang="zh-CN" sz="3200">
                <a:latin typeface="宋体" panose="02010600030101010101" pitchFamily="2" charset="-122"/>
              </a:rPr>
              <a:t>PC</a:t>
            </a:r>
            <a:r>
              <a:rPr lang="zh-CN" altLang="en-US" sz="3200">
                <a:latin typeface="宋体" panose="02010600030101010101" pitchFamily="2" charset="-122"/>
              </a:rPr>
              <a:t>机采用</a:t>
            </a:r>
            <a:r>
              <a:rPr lang="en-US" altLang="zh-CN" sz="3200">
                <a:solidFill>
                  <a:srgbClr val="0000D6"/>
                </a:solidFill>
                <a:latin typeface="宋体" panose="02010600030101010101" pitchFamily="2" charset="-122"/>
              </a:rPr>
              <a:t>ASCII</a:t>
            </a:r>
            <a:r>
              <a:rPr lang="zh-CN" altLang="en-US" sz="3200">
                <a:latin typeface="宋体" panose="02010600030101010101" pitchFamily="2" charset="-122"/>
              </a:rPr>
              <a:t>（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3200">
                <a:latin typeface="宋体" panose="02010600030101010101" pitchFamily="2" charset="-122"/>
              </a:rPr>
              <a:t>merican 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3200">
                <a:latin typeface="宋体" panose="02010600030101010101" pitchFamily="2" charset="-122"/>
              </a:rPr>
              <a:t>tandard 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3200">
                <a:latin typeface="宋体" panose="02010600030101010101" pitchFamily="2" charset="-122"/>
              </a:rPr>
              <a:t>ode for 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3200">
                <a:latin typeface="宋体" panose="02010600030101010101" pitchFamily="2" charset="-122"/>
              </a:rPr>
              <a:t>nformation 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3200">
                <a:latin typeface="宋体" panose="02010600030101010101" pitchFamily="2" charset="-122"/>
              </a:rPr>
              <a:t>nterchange</a:t>
            </a:r>
            <a:r>
              <a:rPr lang="zh-CN" altLang="en-US" sz="3200">
                <a:latin typeface="宋体" panose="02010600030101010101" pitchFamily="2" charset="-122"/>
              </a:rPr>
              <a:t>，美国信息交换标准代码）来表示西文字符。</a:t>
            </a:r>
          </a:p>
          <a:p>
            <a:pPr algn="just"/>
            <a:endParaRPr lang="zh-CN" altLang="en-US" sz="3200">
              <a:latin typeface="宋体" panose="02010600030101010101" pitchFamily="2" charset="-122"/>
            </a:endParaRPr>
          </a:p>
          <a:p>
            <a:pPr algn="just"/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标准</a:t>
            </a:r>
            <a:r>
              <a:rPr lang="en-US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ASCII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用</a:t>
            </a:r>
            <a:r>
              <a:rPr lang="en-US" altLang="zh-CN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7</a:t>
            </a:r>
            <a:r>
              <a:rPr lang="zh-CN" altLang="en-US" sz="32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位二进制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表示，有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128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个（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0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～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127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）。含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10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个阿拉伯数字、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52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个字母、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33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个符号、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33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个控制符。</a:t>
            </a:r>
          </a:p>
          <a:p>
            <a:pPr algn="just"/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algn="just"/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 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另有扩充Ａ</a:t>
            </a:r>
            <a:r>
              <a:rPr lang="en-US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SCI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Ｉ码</a:t>
            </a:r>
            <a:r>
              <a:rPr lang="en-US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128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个（</a:t>
            </a:r>
            <a:r>
              <a:rPr lang="en-US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128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～</a:t>
            </a:r>
            <a:r>
              <a:rPr lang="en-US" altLang="zh-CN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255</a:t>
            </a:r>
            <a:r>
              <a:rPr lang="zh-CN" altLang="en-US" sz="32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）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</a:p>
        </p:txBody>
      </p:sp>
      <p:sp>
        <p:nvSpPr>
          <p:cNvPr id="136205" name="Text Box 1029">
            <a:extLst>
              <a:ext uri="{FF2B5EF4-FFF2-40B4-BE49-F238E27FC236}">
                <a16:creationId xmlns:a16="http://schemas.microsoft.com/office/drawing/2014/main" id="{501BD2BC-9E2E-4434-8A56-63E64C9E0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50182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Line 1027">
            <a:extLst>
              <a:ext uri="{FF2B5EF4-FFF2-40B4-BE49-F238E27FC236}">
                <a16:creationId xmlns:a16="http://schemas.microsoft.com/office/drawing/2014/main" id="{A330CCBD-A604-438F-901F-F6FA3BB18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3" name="Line 1031">
            <a:extLst>
              <a:ext uri="{FF2B5EF4-FFF2-40B4-BE49-F238E27FC236}">
                <a16:creationId xmlns:a16="http://schemas.microsoft.com/office/drawing/2014/main" id="{E0058AD2-2BEB-4750-862E-FD1F301043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8244" name="AutoShape 1032">
            <a:extLst>
              <a:ext uri="{FF2B5EF4-FFF2-40B4-BE49-F238E27FC236}">
                <a16:creationId xmlns:a16="http://schemas.microsoft.com/office/drawing/2014/main" id="{1957B04C-BD78-49C4-ACE5-B8C13716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8245" name="AutoShape 1033">
            <a:extLst>
              <a:ext uri="{FF2B5EF4-FFF2-40B4-BE49-F238E27FC236}">
                <a16:creationId xmlns:a16="http://schemas.microsoft.com/office/drawing/2014/main" id="{DA00A76E-3AAE-4039-A47E-EE296A34C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8246" name="日期占位符 12">
            <a:extLst>
              <a:ext uri="{FF2B5EF4-FFF2-40B4-BE49-F238E27FC236}">
                <a16:creationId xmlns:a16="http://schemas.microsoft.com/office/drawing/2014/main" id="{AC42FA29-EEE0-4CF0-829F-F7EFBE091E6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51F8BF73-509E-471D-AF31-5C51A689ABE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8247" name="灯片编号占位符 13">
            <a:extLst>
              <a:ext uri="{FF2B5EF4-FFF2-40B4-BE49-F238E27FC236}">
                <a16:creationId xmlns:a16="http://schemas.microsoft.com/office/drawing/2014/main" id="{7DCF19A4-CB27-4B45-96FF-BDF3FBED84D7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6FFB8F6-A7B5-42BB-A3C2-05AD80F9317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8248" name="页脚占位符 14">
            <a:extLst>
              <a:ext uri="{FF2B5EF4-FFF2-40B4-BE49-F238E27FC236}">
                <a16:creationId xmlns:a16="http://schemas.microsoft.com/office/drawing/2014/main" id="{92F2EB34-FD26-4759-8EF0-2BA131726B1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17BF6F1-E09F-461E-B977-79543ED965D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8250" name="Rectangle 15">
            <a:extLst>
              <a:ext uri="{FF2B5EF4-FFF2-40B4-BE49-F238E27FC236}">
                <a16:creationId xmlns:a16="http://schemas.microsoft.com/office/drawing/2014/main" id="{137F3DFD-5B1E-43A5-A8C9-8286D09B3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8251" name="TextBox 12">
            <a:extLst>
              <a:ext uri="{FF2B5EF4-FFF2-40B4-BE49-F238E27FC236}">
                <a16:creationId xmlns:a16="http://schemas.microsoft.com/office/drawing/2014/main" id="{120FC32D-0F37-41BF-BC49-4A641DB1C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765175"/>
            <a:ext cx="550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常用字符的</a:t>
            </a:r>
            <a:r>
              <a:rPr lang="en-US" altLang="zh-CN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lang="zh-CN" altLang="en-US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800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800">
              <a:solidFill>
                <a:srgbClr val="0000D6"/>
              </a:solidFill>
              <a:latin typeface="隶书" panose="020105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08AD7F5D-30B9-485E-ACC9-5C54A4CC7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12875"/>
            <a:ext cx="79248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2800">
                <a:latin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‘0’~‘9’		30H~39H		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48~57</a:t>
            </a:r>
          </a:p>
          <a:p>
            <a:pPr lvl="2" algn="just"/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‘A’~‘Z’		41H~5AH		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65~90</a:t>
            </a:r>
          </a:p>
          <a:p>
            <a:pPr lvl="2" algn="just"/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‘a’~‘z’		61H~7AH		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97~122</a:t>
            </a:r>
          </a:p>
          <a:p>
            <a:pPr lvl="2" algn="just"/>
            <a:r>
              <a:rPr lang="zh-CN" altLang="en-US" sz="3200">
                <a:solidFill>
                  <a:srgbClr val="FF3300"/>
                </a:solidFill>
                <a:ea typeface="楷体_GB2312"/>
                <a:cs typeface="楷体_GB2312"/>
              </a:rPr>
              <a:t>空格		</a:t>
            </a:r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	20H			</a:t>
            </a:r>
            <a:r>
              <a:rPr lang="en-US" altLang="zh-CN" sz="3200">
                <a:solidFill>
                  <a:schemeClr val="tx2"/>
                </a:solidFill>
                <a:ea typeface="楷体_GB2312"/>
                <a:cs typeface="楷体_GB2312"/>
              </a:rPr>
              <a:t>32</a:t>
            </a:r>
          </a:p>
          <a:p>
            <a:pPr algn="just"/>
            <a:r>
              <a:rPr lang="en-US" altLang="zh-CN" sz="28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ea typeface="楷体_GB2312"/>
                <a:cs typeface="楷体_GB2312"/>
              </a:rPr>
              <a:t>CR</a:t>
            </a:r>
            <a:r>
              <a:rPr lang="zh-CN" altLang="en-US" sz="3200">
                <a:ea typeface="楷体_GB2312"/>
                <a:cs typeface="楷体_GB2312"/>
              </a:rPr>
              <a:t>（回车）</a:t>
            </a:r>
            <a:r>
              <a:rPr lang="en-US" altLang="zh-CN" sz="3200">
                <a:ea typeface="楷体_GB2312"/>
                <a:cs typeface="楷体_GB231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0DH</a:t>
            </a:r>
            <a:r>
              <a:rPr lang="en-US" altLang="zh-CN" sz="3200">
                <a:ea typeface="楷体_GB2312"/>
                <a:cs typeface="楷体_GB2312"/>
              </a:rPr>
              <a:t>			13</a:t>
            </a:r>
          </a:p>
          <a:p>
            <a:pPr algn="just"/>
            <a:r>
              <a:rPr lang="en-US" altLang="zh-CN" sz="3200">
                <a:ea typeface="楷体_GB2312"/>
                <a:cs typeface="楷体_GB2312"/>
              </a:rPr>
              <a:t>	LF</a:t>
            </a:r>
            <a:r>
              <a:rPr lang="zh-CN" altLang="en-US" sz="3200">
                <a:ea typeface="楷体_GB2312"/>
                <a:cs typeface="楷体_GB2312"/>
              </a:rPr>
              <a:t>（换行）</a:t>
            </a:r>
            <a:r>
              <a:rPr lang="en-US" altLang="zh-CN" sz="3200">
                <a:ea typeface="楷体_GB2312"/>
                <a:cs typeface="楷体_GB231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楷体_GB2312"/>
                <a:cs typeface="楷体_GB2312"/>
              </a:rPr>
              <a:t>0AH</a:t>
            </a:r>
            <a:r>
              <a:rPr lang="en-US" altLang="zh-CN" sz="3200">
                <a:ea typeface="楷体_GB2312"/>
                <a:cs typeface="楷体_GB2312"/>
              </a:rPr>
              <a:t>			10</a:t>
            </a:r>
            <a:endParaRPr lang="en-US" altLang="zh-CN" sz="3200" b="0"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EE344139-871E-4633-997E-E319E6709866}"/>
              </a:ext>
            </a:extLst>
          </p:cNvPr>
          <p:cNvSpPr txBox="1"/>
          <p:nvPr/>
        </p:nvSpPr>
        <p:spPr>
          <a:xfrm>
            <a:off x="611188" y="4508500"/>
            <a:ext cx="8001000" cy="1373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注意回车与换行的差别：</a:t>
            </a:r>
            <a:endParaRPr lang="en-US" altLang="zh-CN" sz="2800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spcBef>
                <a:spcPts val="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CR</a:t>
            </a:r>
            <a:r>
              <a:rPr lang="zh-CN" altLang="en-US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用来控制光标回到当前行的最左端；</a:t>
            </a:r>
            <a:r>
              <a:rPr lang="en-US" altLang="zh-CN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LF</a:t>
            </a:r>
            <a:r>
              <a:rPr lang="zh-CN" altLang="en-US" sz="2800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用来移动光标到下一行，而所在列不变。</a:t>
            </a:r>
            <a:endParaRPr lang="zh-CN" altLang="en-US" sz="4000" dirty="0">
              <a:latin typeface="隶书" pitchFamily="49" charset="-122"/>
            </a:endParaRPr>
          </a:p>
        </p:txBody>
      </p:sp>
      <p:sp>
        <p:nvSpPr>
          <p:cNvPr id="138254" name="Text Box 1029">
            <a:extLst>
              <a:ext uri="{FF2B5EF4-FFF2-40B4-BE49-F238E27FC236}">
                <a16:creationId xmlns:a16="http://schemas.microsoft.com/office/drawing/2014/main" id="{E6F1C295-6E64-4D44-810B-F080F817C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89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1.3 </a:t>
            </a:r>
            <a:r>
              <a:rPr lang="zh-CN" altLang="en-US" sz="2400">
                <a:solidFill>
                  <a:srgbClr val="FF3300"/>
                </a:solidFill>
              </a:rPr>
              <a:t>数与字符的表示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Line 1027">
            <a:extLst>
              <a:ext uri="{FF2B5EF4-FFF2-40B4-BE49-F238E27FC236}">
                <a16:creationId xmlns:a16="http://schemas.microsoft.com/office/drawing/2014/main" id="{5BBF28DF-0E04-40DA-A402-0EFDFF59D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1" name="Line 1031">
            <a:extLst>
              <a:ext uri="{FF2B5EF4-FFF2-40B4-BE49-F238E27FC236}">
                <a16:creationId xmlns:a16="http://schemas.microsoft.com/office/drawing/2014/main" id="{86AAF5F4-8D26-46FD-BD38-EDC15B10FC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0292" name="AutoShape 1032">
            <a:extLst>
              <a:ext uri="{FF2B5EF4-FFF2-40B4-BE49-F238E27FC236}">
                <a16:creationId xmlns:a16="http://schemas.microsoft.com/office/drawing/2014/main" id="{B5365E9E-B256-4C2D-B07F-A2FA0BC39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0293" name="AutoShape 1033">
            <a:extLst>
              <a:ext uri="{FF2B5EF4-FFF2-40B4-BE49-F238E27FC236}">
                <a16:creationId xmlns:a16="http://schemas.microsoft.com/office/drawing/2014/main" id="{1341940D-4287-4927-B750-CC435F126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0294" name="日期占位符 12">
            <a:extLst>
              <a:ext uri="{FF2B5EF4-FFF2-40B4-BE49-F238E27FC236}">
                <a16:creationId xmlns:a16="http://schemas.microsoft.com/office/drawing/2014/main" id="{AD081A01-4CB3-4DB9-B684-700225C0B99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26A584BE-EC61-4207-8225-C169B74F8F6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5" name="灯片编号占位符 13">
            <a:extLst>
              <a:ext uri="{FF2B5EF4-FFF2-40B4-BE49-F238E27FC236}">
                <a16:creationId xmlns:a16="http://schemas.microsoft.com/office/drawing/2014/main" id="{8DFB67EE-C6A1-42B0-8AA6-A7E53B919726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0A29964-3E8C-4622-AC57-1960063F1C6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40742E7-EF0F-4213-969D-791DC543C231}"/>
              </a:ext>
            </a:extLst>
          </p:cNvPr>
          <p:cNvSpPr txBox="1">
            <a:spLocks noChangeArrowheads="1"/>
          </p:cNvSpPr>
          <p:nvPr/>
        </p:nvSpPr>
        <p:spPr>
          <a:xfrm>
            <a:off x="4211638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0297" name="页脚占位符 14">
            <a:extLst>
              <a:ext uri="{FF2B5EF4-FFF2-40B4-BE49-F238E27FC236}">
                <a16:creationId xmlns:a16="http://schemas.microsoft.com/office/drawing/2014/main" id="{1F6F77A1-CEEB-4702-A41E-5E3FE861AE4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9672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140298" name="Rectangle 7">
            <a:extLst>
              <a:ext uri="{FF2B5EF4-FFF2-40B4-BE49-F238E27FC236}">
                <a16:creationId xmlns:a16="http://schemas.microsoft.com/office/drawing/2014/main" id="{DA54CDE0-4088-4B0C-BA48-5C615EEB3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052513"/>
            <a:ext cx="54721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rgbClr val="FF3300"/>
                </a:solidFill>
              </a:rPr>
              <a:t>1.4 </a:t>
            </a:r>
            <a:r>
              <a:rPr lang="zh-CN" altLang="en-US" sz="3600">
                <a:solidFill>
                  <a:srgbClr val="FF3300"/>
                </a:solidFill>
              </a:rPr>
              <a:t>二进制基本的逻辑运算</a:t>
            </a: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963A929E-C354-47AD-B65D-E030CE665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2205038"/>
            <a:ext cx="5329237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一、 “与”运算（</a:t>
            </a:r>
            <a:r>
              <a:rPr lang="en-US" altLang="zh-CN" sz="3200" dirty="0">
                <a:latin typeface="+mn-ea"/>
                <a:ea typeface="+mn-ea"/>
              </a:rPr>
              <a:t>AND</a:t>
            </a: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）</a:t>
            </a:r>
          </a:p>
          <a:p>
            <a:pPr>
              <a:defRPr/>
            </a:pPr>
            <a:endParaRPr lang="zh-CN" altLang="en-US" sz="3200" dirty="0"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二、 “或”运算（</a:t>
            </a:r>
            <a:r>
              <a:rPr lang="en-US" altLang="zh-CN" sz="3200" dirty="0">
                <a:latin typeface="+mn-ea"/>
                <a:ea typeface="+mn-ea"/>
              </a:rPr>
              <a:t>OR</a:t>
            </a: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）</a:t>
            </a:r>
          </a:p>
          <a:p>
            <a:pPr>
              <a:defRPr/>
            </a:pPr>
            <a:endParaRPr lang="zh-CN" altLang="en-US" sz="3200" dirty="0"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三、 “非”运算（</a:t>
            </a:r>
            <a:r>
              <a:rPr lang="en-US" altLang="zh-CN" sz="3200" dirty="0">
                <a:latin typeface="+mn-ea"/>
                <a:ea typeface="+mn-ea"/>
              </a:rPr>
              <a:t>NOT</a:t>
            </a: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）</a:t>
            </a:r>
          </a:p>
          <a:p>
            <a:pPr>
              <a:defRPr/>
            </a:pPr>
            <a:endParaRPr lang="zh-CN" altLang="en-US" sz="3200" dirty="0"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四、 “异或”运算（</a:t>
            </a:r>
            <a:r>
              <a:rPr lang="en-US" altLang="zh-CN" sz="3200" dirty="0">
                <a:latin typeface="+mn-ea"/>
                <a:ea typeface="+mn-ea"/>
              </a:rPr>
              <a:t>XOR</a:t>
            </a: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）</a:t>
            </a:r>
          </a:p>
        </p:txBody>
      </p:sp>
      <p:sp>
        <p:nvSpPr>
          <p:cNvPr id="140300" name="Text Box 1029">
            <a:extLst>
              <a:ext uri="{FF2B5EF4-FFF2-40B4-BE49-F238E27FC236}">
                <a16:creationId xmlns:a16="http://schemas.microsoft.com/office/drawing/2014/main" id="{4176C43D-2EA4-40A0-B098-89C9764EC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</a:rPr>
              <a:t>章 基础知识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Line 1027">
            <a:extLst>
              <a:ext uri="{FF2B5EF4-FFF2-40B4-BE49-F238E27FC236}">
                <a16:creationId xmlns:a16="http://schemas.microsoft.com/office/drawing/2014/main" id="{E2D02EA3-B37E-4038-9704-4B2E125EF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39" name="Line 1031">
            <a:extLst>
              <a:ext uri="{FF2B5EF4-FFF2-40B4-BE49-F238E27FC236}">
                <a16:creationId xmlns:a16="http://schemas.microsoft.com/office/drawing/2014/main" id="{B8826F86-4CE6-43C4-BF3D-500254858E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40" name="AutoShape 1032">
            <a:extLst>
              <a:ext uri="{FF2B5EF4-FFF2-40B4-BE49-F238E27FC236}">
                <a16:creationId xmlns:a16="http://schemas.microsoft.com/office/drawing/2014/main" id="{1E7FCCC6-819E-4762-BA5C-5AB237E67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2341" name="AutoShape 1033">
            <a:extLst>
              <a:ext uri="{FF2B5EF4-FFF2-40B4-BE49-F238E27FC236}">
                <a16:creationId xmlns:a16="http://schemas.microsoft.com/office/drawing/2014/main" id="{00AF6155-B813-48CD-8C6F-F83781D2B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2342" name="日期占位符 12">
            <a:extLst>
              <a:ext uri="{FF2B5EF4-FFF2-40B4-BE49-F238E27FC236}">
                <a16:creationId xmlns:a16="http://schemas.microsoft.com/office/drawing/2014/main" id="{AF9DB5F8-2674-474B-ACC1-AF75E9C41F0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40B6A52A-8399-4124-98E1-7BED7A7FEFC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2343" name="灯片编号占位符 13">
            <a:extLst>
              <a:ext uri="{FF2B5EF4-FFF2-40B4-BE49-F238E27FC236}">
                <a16:creationId xmlns:a16="http://schemas.microsoft.com/office/drawing/2014/main" id="{DE3C6942-AE53-43A1-A793-F42C152552EC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249CB441-F443-43B0-B30B-888C47849648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2344" name="页脚占位符 14">
            <a:extLst>
              <a:ext uri="{FF2B5EF4-FFF2-40B4-BE49-F238E27FC236}">
                <a16:creationId xmlns:a16="http://schemas.microsoft.com/office/drawing/2014/main" id="{E248F6D4-3A47-4E70-8096-D748C416611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33055E8-D588-4360-87FF-5F0E7642EC44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2346" name="Text Box 1029">
            <a:extLst>
              <a:ext uri="{FF2B5EF4-FFF2-40B4-BE49-F238E27FC236}">
                <a16:creationId xmlns:a16="http://schemas.microsoft.com/office/drawing/2014/main" id="{3DF9CBD6-9CEA-4A57-8793-048BC33FB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1.4 </a:t>
            </a:r>
            <a:r>
              <a:rPr lang="zh-CN" altLang="en-US" sz="2400">
                <a:solidFill>
                  <a:srgbClr val="FF3300"/>
                </a:solidFill>
              </a:rPr>
              <a:t>基本的逻辑运算</a:t>
            </a:r>
          </a:p>
        </p:txBody>
      </p:sp>
      <p:sp>
        <p:nvSpPr>
          <p:cNvPr id="142347" name="Rectangle 15">
            <a:extLst>
              <a:ext uri="{FF2B5EF4-FFF2-40B4-BE49-F238E27FC236}">
                <a16:creationId xmlns:a16="http://schemas.microsoft.com/office/drawing/2014/main" id="{AF93F1D5-EFFD-46C7-95D6-630103D85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98C2EE3B-2652-44A3-8E03-A9D181E23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95400"/>
            <a:ext cx="6629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accent2"/>
                </a:solidFill>
              </a:rPr>
              <a:t>	</a:t>
            </a:r>
            <a:r>
              <a:rPr lang="en-US" altLang="zh-CN" sz="3200">
                <a:ea typeface="楷体_GB2312"/>
                <a:cs typeface="楷体_GB2312"/>
              </a:rPr>
              <a:t>“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与</a:t>
            </a:r>
            <a:r>
              <a:rPr lang="zh-CN" altLang="en-US" sz="3200">
                <a:ea typeface="楷体_GB2312"/>
                <a:cs typeface="楷体_GB2312"/>
              </a:rPr>
              <a:t>”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运算又称逻辑乘，其运算规则如下表所示，可以概括为</a:t>
            </a:r>
            <a:r>
              <a:rPr lang="zh-CN" altLang="en-US" sz="3200">
                <a:ea typeface="楷体_GB2312"/>
                <a:cs typeface="楷体_GB2312"/>
              </a:rPr>
              <a:t>“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全</a:t>
            </a:r>
            <a:r>
              <a:rPr lang="en-US" altLang="zh-CN" sz="3200">
                <a:solidFill>
                  <a:srgbClr val="0000D6"/>
                </a:solidFill>
                <a:ea typeface="楷体_GB2312"/>
                <a:cs typeface="楷体_GB2312"/>
              </a:rPr>
              <a:t>1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出</a:t>
            </a:r>
            <a:r>
              <a:rPr lang="en-US" altLang="zh-CN" sz="3200">
                <a:solidFill>
                  <a:srgbClr val="0000D6"/>
                </a:solidFill>
                <a:ea typeface="楷体_GB2312"/>
                <a:cs typeface="楷体_GB2312"/>
              </a:rPr>
              <a:t>1</a:t>
            </a:r>
            <a:r>
              <a:rPr lang="en-US" altLang="zh-CN" sz="3200">
                <a:ea typeface="楷体_GB2312"/>
                <a:cs typeface="楷体_GB2312"/>
              </a:rPr>
              <a:t>”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。</a:t>
            </a:r>
          </a:p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a		b		a AND b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0		   0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1		   0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0		   0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1		   1	</a:t>
            </a:r>
          </a:p>
        </p:txBody>
      </p:sp>
      <p:sp>
        <p:nvSpPr>
          <p:cNvPr id="142349" name="Rectangle 11">
            <a:extLst>
              <a:ext uri="{FF2B5EF4-FFF2-40B4-BE49-F238E27FC236}">
                <a16:creationId xmlns:a16="http://schemas.microsoft.com/office/drawing/2014/main" id="{B916B373-04ED-4889-99EB-41B662FD6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4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一、“与”运算（</a:t>
            </a:r>
            <a:r>
              <a:rPr kumimoji="0" lang="en-US" altLang="zh-CN" sz="3600">
                <a:solidFill>
                  <a:srgbClr val="FF3300"/>
                </a:solidFill>
                <a:latin typeface="Calibri" panose="020F0502020204030204" pitchFamily="34" charset="0"/>
              </a:rPr>
              <a:t>AND</a:t>
            </a:r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）</a:t>
            </a:r>
          </a:p>
        </p:txBody>
      </p:sp>
      <p:sp>
        <p:nvSpPr>
          <p:cNvPr id="142350" name="Text Box 12">
            <a:extLst>
              <a:ext uri="{FF2B5EF4-FFF2-40B4-BE49-F238E27FC236}">
                <a16:creationId xmlns:a16="http://schemas.microsoft.com/office/drawing/2014/main" id="{CA976A6B-9D51-4AF9-8D91-D37F73181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373688"/>
            <a:ext cx="7056437" cy="6413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主要用于对二进制数的某些位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清</a:t>
            </a:r>
            <a:r>
              <a:rPr lang="en-US" altLang="zh-CN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3600" b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Line 1027">
            <a:extLst>
              <a:ext uri="{FF2B5EF4-FFF2-40B4-BE49-F238E27FC236}">
                <a16:creationId xmlns:a16="http://schemas.microsoft.com/office/drawing/2014/main" id="{F26771AE-220D-4EA5-A7CB-12C283CD3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387" name="Line 1031">
            <a:extLst>
              <a:ext uri="{FF2B5EF4-FFF2-40B4-BE49-F238E27FC236}">
                <a16:creationId xmlns:a16="http://schemas.microsoft.com/office/drawing/2014/main" id="{C6DA380B-C952-4D13-92EE-3FC0929907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388" name="AutoShape 1032">
            <a:extLst>
              <a:ext uri="{FF2B5EF4-FFF2-40B4-BE49-F238E27FC236}">
                <a16:creationId xmlns:a16="http://schemas.microsoft.com/office/drawing/2014/main" id="{587DE66A-120D-4CC0-9116-CAF0330E4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4389" name="AutoShape 1033">
            <a:extLst>
              <a:ext uri="{FF2B5EF4-FFF2-40B4-BE49-F238E27FC236}">
                <a16:creationId xmlns:a16="http://schemas.microsoft.com/office/drawing/2014/main" id="{999E7674-20CF-42AE-B07D-C5D4F6BA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4390" name="日期占位符 12">
            <a:extLst>
              <a:ext uri="{FF2B5EF4-FFF2-40B4-BE49-F238E27FC236}">
                <a16:creationId xmlns:a16="http://schemas.microsoft.com/office/drawing/2014/main" id="{93A827C3-8808-41CD-AF40-A4D3AD3F152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3F55AB1C-0FA0-4A03-A9A8-A3AB626CF55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4391" name="灯片编号占位符 13">
            <a:extLst>
              <a:ext uri="{FF2B5EF4-FFF2-40B4-BE49-F238E27FC236}">
                <a16:creationId xmlns:a16="http://schemas.microsoft.com/office/drawing/2014/main" id="{8F8591A6-A61B-4C9C-ACAC-D0D5189AD4CC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D386DBA-25BC-441D-8FDF-D9E39C7E7D3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4392" name="页脚占位符 14">
            <a:extLst>
              <a:ext uri="{FF2B5EF4-FFF2-40B4-BE49-F238E27FC236}">
                <a16:creationId xmlns:a16="http://schemas.microsoft.com/office/drawing/2014/main" id="{F0FA33BB-EF3A-40D6-BF69-0924FF47FEE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E5F6CAC-D133-4BA0-B661-BC284A2657C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4394" name="Rectangle 15">
            <a:extLst>
              <a:ext uri="{FF2B5EF4-FFF2-40B4-BE49-F238E27FC236}">
                <a16:creationId xmlns:a16="http://schemas.microsoft.com/office/drawing/2014/main" id="{268CE277-F548-4037-8AB4-888256465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4395" name="Rectangle 11">
            <a:extLst>
              <a:ext uri="{FF2B5EF4-FFF2-40B4-BE49-F238E27FC236}">
                <a16:creationId xmlns:a16="http://schemas.microsoft.com/office/drawing/2014/main" id="{04250375-D707-4DD5-A660-8F6AC9737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二、“或”运算（</a:t>
            </a:r>
            <a:r>
              <a:rPr kumimoji="0" lang="en-US" altLang="zh-CN" sz="3600">
                <a:solidFill>
                  <a:srgbClr val="FF3300"/>
                </a:solidFill>
                <a:latin typeface="Calibri" panose="020F0502020204030204" pitchFamily="34" charset="0"/>
              </a:rPr>
              <a:t>OR</a:t>
            </a:r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）</a:t>
            </a:r>
          </a:p>
        </p:txBody>
      </p:sp>
      <p:sp>
        <p:nvSpPr>
          <p:cNvPr id="144396" name="Text Box 12">
            <a:extLst>
              <a:ext uri="{FF2B5EF4-FFF2-40B4-BE49-F238E27FC236}">
                <a16:creationId xmlns:a16="http://schemas.microsoft.com/office/drawing/2014/main" id="{CD62933E-FC07-4786-9AE3-23EB95A7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373688"/>
            <a:ext cx="7056437" cy="6413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主要用于对二进制数的某些位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置</a:t>
            </a:r>
            <a:r>
              <a:rPr lang="en-US" altLang="zh-CN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3600" b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6C09206F-FBBA-4A5F-B937-FC54733BC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74676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</a:rPr>
              <a:t>	</a:t>
            </a:r>
            <a:r>
              <a:rPr lang="en-US" altLang="zh-CN" sz="3200">
                <a:ea typeface="楷体_GB2312"/>
                <a:cs typeface="楷体_GB2312"/>
              </a:rPr>
              <a:t>“</a:t>
            </a:r>
            <a:r>
              <a:rPr lang="zh-CN" altLang="en-US" sz="3200">
                <a:ea typeface="楷体_GB2312"/>
                <a:cs typeface="楷体_GB2312"/>
              </a:rPr>
              <a:t>或”运算又称逻辑加，其运算规则如下表所示，可以概括为“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有</a:t>
            </a:r>
            <a:r>
              <a:rPr lang="en-US" altLang="zh-CN" sz="3200">
                <a:solidFill>
                  <a:srgbClr val="0000D6"/>
                </a:solidFill>
                <a:ea typeface="楷体_GB2312"/>
                <a:cs typeface="楷体_GB2312"/>
              </a:rPr>
              <a:t>1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出</a:t>
            </a:r>
            <a:r>
              <a:rPr lang="en-US" altLang="zh-CN" sz="3200">
                <a:solidFill>
                  <a:srgbClr val="0000D6"/>
                </a:solidFill>
                <a:ea typeface="楷体_GB2312"/>
                <a:cs typeface="楷体_GB2312"/>
              </a:rPr>
              <a:t>1</a:t>
            </a:r>
            <a:r>
              <a:rPr lang="en-US" altLang="zh-CN" sz="3200">
                <a:ea typeface="楷体_GB2312"/>
                <a:cs typeface="楷体_GB2312"/>
              </a:rPr>
              <a:t>”</a:t>
            </a:r>
            <a:r>
              <a:rPr lang="zh-CN" altLang="en-US" sz="3200">
                <a:ea typeface="楷体_GB2312"/>
                <a:cs typeface="楷体_GB2312"/>
              </a:rPr>
              <a:t>。</a:t>
            </a:r>
            <a:endParaRPr lang="zh-CN" altLang="en-US" sz="3200">
              <a:latin typeface="楷体_GB2312"/>
              <a:ea typeface="楷体_GB2312"/>
              <a:cs typeface="楷体_GB2312"/>
            </a:endParaRPr>
          </a:p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a		b		a OR b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0		   0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1		   1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0		   1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1		   1	</a:t>
            </a:r>
          </a:p>
        </p:txBody>
      </p:sp>
      <p:sp>
        <p:nvSpPr>
          <p:cNvPr id="144398" name="Text Box 1029">
            <a:extLst>
              <a:ext uri="{FF2B5EF4-FFF2-40B4-BE49-F238E27FC236}">
                <a16:creationId xmlns:a16="http://schemas.microsoft.com/office/drawing/2014/main" id="{80DE82DF-7F09-497D-91A0-03F9487EC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1.4 </a:t>
            </a:r>
            <a:r>
              <a:rPr lang="zh-CN" altLang="en-US" sz="2400">
                <a:solidFill>
                  <a:srgbClr val="FF3300"/>
                </a:solidFill>
              </a:rPr>
              <a:t>基本的逻辑运算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Line 1027">
            <a:extLst>
              <a:ext uri="{FF2B5EF4-FFF2-40B4-BE49-F238E27FC236}">
                <a16:creationId xmlns:a16="http://schemas.microsoft.com/office/drawing/2014/main" id="{B19C78CC-6855-4B71-82C7-FD5B3A403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5" name="Line 1031">
            <a:extLst>
              <a:ext uri="{FF2B5EF4-FFF2-40B4-BE49-F238E27FC236}">
                <a16:creationId xmlns:a16="http://schemas.microsoft.com/office/drawing/2014/main" id="{438AF265-6D49-4E28-9573-895395F27B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36" name="AutoShape 1032">
            <a:extLst>
              <a:ext uri="{FF2B5EF4-FFF2-40B4-BE49-F238E27FC236}">
                <a16:creationId xmlns:a16="http://schemas.microsoft.com/office/drawing/2014/main" id="{2FEF7933-F2FB-46DA-A6DF-81918A7E2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6437" name="AutoShape 1033">
            <a:extLst>
              <a:ext uri="{FF2B5EF4-FFF2-40B4-BE49-F238E27FC236}">
                <a16:creationId xmlns:a16="http://schemas.microsoft.com/office/drawing/2014/main" id="{625FFE09-52FE-4442-AFED-A7C73FCD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6438" name="日期占位符 12">
            <a:extLst>
              <a:ext uri="{FF2B5EF4-FFF2-40B4-BE49-F238E27FC236}">
                <a16:creationId xmlns:a16="http://schemas.microsoft.com/office/drawing/2014/main" id="{904DB0B1-7FB4-463C-89BF-CBE245623D3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1CF94CFD-F38F-4E30-8BF1-047B7100713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6439" name="灯片编号占位符 13">
            <a:extLst>
              <a:ext uri="{FF2B5EF4-FFF2-40B4-BE49-F238E27FC236}">
                <a16:creationId xmlns:a16="http://schemas.microsoft.com/office/drawing/2014/main" id="{4D3206AE-F31E-41E6-86B5-CBFEABB07DB8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362CF00E-9B9A-453D-9335-676ABCCBB2A1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6440" name="页脚占位符 14">
            <a:extLst>
              <a:ext uri="{FF2B5EF4-FFF2-40B4-BE49-F238E27FC236}">
                <a16:creationId xmlns:a16="http://schemas.microsoft.com/office/drawing/2014/main" id="{80998FB5-6CC4-4E03-AB30-C7ACC01731F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989D626-B368-4BC8-9283-EAEFF19BA3D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6442" name="Rectangle 15">
            <a:extLst>
              <a:ext uri="{FF2B5EF4-FFF2-40B4-BE49-F238E27FC236}">
                <a16:creationId xmlns:a16="http://schemas.microsoft.com/office/drawing/2014/main" id="{9D152052-A964-4B3A-9B02-8C38C9098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6443" name="Rectangle 11">
            <a:extLst>
              <a:ext uri="{FF2B5EF4-FFF2-40B4-BE49-F238E27FC236}">
                <a16:creationId xmlns:a16="http://schemas.microsoft.com/office/drawing/2014/main" id="{3695C5A8-2C97-459C-AF7D-7F54F2D00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921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三、“非</a:t>
            </a:r>
            <a:r>
              <a:rPr kumimoji="0" lang="en-US" altLang="zh-CN" sz="3600">
                <a:solidFill>
                  <a:srgbClr val="FF3300"/>
                </a:solidFill>
                <a:latin typeface="Calibri" panose="020F0502020204030204" pitchFamily="34" charset="0"/>
              </a:rPr>
              <a:t>”</a:t>
            </a:r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运算（</a:t>
            </a:r>
            <a:r>
              <a:rPr kumimoji="0" lang="en-US" altLang="zh-CN" sz="3600">
                <a:solidFill>
                  <a:srgbClr val="FF3300"/>
                </a:solidFill>
                <a:latin typeface="Calibri" panose="020F0502020204030204" pitchFamily="34" charset="0"/>
              </a:rPr>
              <a:t>NOT</a:t>
            </a:r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）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BC4D7BB1-056F-43C6-83DA-995D7F48D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133600"/>
            <a:ext cx="63246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accent2"/>
                </a:solidFill>
              </a:rPr>
              <a:t>	</a:t>
            </a:r>
            <a:r>
              <a:rPr lang="en-US" altLang="zh-CN" sz="3200">
                <a:ea typeface="楷体_GB2312"/>
                <a:cs typeface="楷体_GB2312"/>
              </a:rPr>
              <a:t>“</a:t>
            </a:r>
            <a:r>
              <a:rPr lang="zh-CN" altLang="en-US" sz="3200">
                <a:ea typeface="楷体_GB2312"/>
                <a:cs typeface="楷体_GB2312"/>
              </a:rPr>
              <a:t>非”运算的运算规则如下表所示，实际上就是“</a:t>
            </a:r>
            <a:r>
              <a:rPr lang="zh-CN" altLang="en-US" sz="3200">
                <a:solidFill>
                  <a:srgbClr val="0000D6"/>
                </a:solidFill>
                <a:ea typeface="楷体_GB2312"/>
                <a:cs typeface="楷体_GB2312"/>
              </a:rPr>
              <a:t>取反</a:t>
            </a:r>
            <a:r>
              <a:rPr lang="zh-CN" altLang="en-US" sz="3200">
                <a:ea typeface="楷体_GB2312"/>
                <a:cs typeface="楷体_GB2312"/>
              </a:rPr>
              <a:t>”。</a:t>
            </a:r>
            <a:endParaRPr lang="zh-CN" altLang="en-US" sz="3200">
              <a:latin typeface="楷体_GB2312"/>
              <a:ea typeface="楷体_GB2312"/>
              <a:cs typeface="楷体_GB2312"/>
            </a:endParaRPr>
          </a:p>
          <a:p>
            <a:pPr algn="ctr"/>
            <a:endParaRPr lang="zh-CN" altLang="en-US" sz="3200">
              <a:latin typeface="楷体_GB2312"/>
              <a:ea typeface="楷体_GB2312"/>
              <a:cs typeface="楷体_GB2312"/>
            </a:endParaRPr>
          </a:p>
          <a:p>
            <a:pPr algn="ctr"/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a		NOT a	</a:t>
            </a:r>
          </a:p>
          <a:p>
            <a:pPr algn="ctr"/>
            <a:r>
              <a:rPr lang="en-US" altLang="zh-CN" sz="3200">
                <a:latin typeface="楷体_GB2312"/>
                <a:ea typeface="楷体_GB2312"/>
                <a:cs typeface="楷体_GB2312"/>
              </a:rPr>
              <a:t>	0		 1		</a:t>
            </a:r>
          </a:p>
          <a:p>
            <a:pPr algn="ctr"/>
            <a:r>
              <a:rPr lang="en-US" altLang="zh-CN" sz="3200">
                <a:latin typeface="楷体_GB2312"/>
                <a:ea typeface="楷体_GB2312"/>
                <a:cs typeface="楷体_GB2312"/>
              </a:rPr>
              <a:t>	1		 0		</a:t>
            </a:r>
          </a:p>
        </p:txBody>
      </p:sp>
      <p:sp>
        <p:nvSpPr>
          <p:cNvPr id="146445" name="Text Box 1029">
            <a:extLst>
              <a:ext uri="{FF2B5EF4-FFF2-40B4-BE49-F238E27FC236}">
                <a16:creationId xmlns:a16="http://schemas.microsoft.com/office/drawing/2014/main" id="{28B43113-092E-4D17-AC00-21C6304E9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1.4 </a:t>
            </a:r>
            <a:r>
              <a:rPr lang="zh-CN" altLang="en-US" sz="2400">
                <a:solidFill>
                  <a:srgbClr val="FF3300"/>
                </a:solidFill>
              </a:rPr>
              <a:t>基本的逻辑运算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Line 1027">
            <a:extLst>
              <a:ext uri="{FF2B5EF4-FFF2-40B4-BE49-F238E27FC236}">
                <a16:creationId xmlns:a16="http://schemas.microsoft.com/office/drawing/2014/main" id="{1343A23A-8F33-406E-95ED-D733ECE3F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3" name="Line 1031">
            <a:extLst>
              <a:ext uri="{FF2B5EF4-FFF2-40B4-BE49-F238E27FC236}">
                <a16:creationId xmlns:a16="http://schemas.microsoft.com/office/drawing/2014/main" id="{D409C39A-DBF6-48D9-AE66-9D8CEE4D2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4" name="AutoShape 1032">
            <a:extLst>
              <a:ext uri="{FF2B5EF4-FFF2-40B4-BE49-F238E27FC236}">
                <a16:creationId xmlns:a16="http://schemas.microsoft.com/office/drawing/2014/main" id="{10C22296-B675-4704-8DBA-455E62D7E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8485" name="AutoShape 1033">
            <a:extLst>
              <a:ext uri="{FF2B5EF4-FFF2-40B4-BE49-F238E27FC236}">
                <a16:creationId xmlns:a16="http://schemas.microsoft.com/office/drawing/2014/main" id="{12127823-2F11-4402-BDB3-070FE4F50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8486" name="日期占位符 12">
            <a:extLst>
              <a:ext uri="{FF2B5EF4-FFF2-40B4-BE49-F238E27FC236}">
                <a16:creationId xmlns:a16="http://schemas.microsoft.com/office/drawing/2014/main" id="{DE6E5499-40E8-4E83-AC47-5886B921C82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9BD7D67D-306A-4474-A6A6-D3628E6AC2F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8487" name="灯片编号占位符 13">
            <a:extLst>
              <a:ext uri="{FF2B5EF4-FFF2-40B4-BE49-F238E27FC236}">
                <a16:creationId xmlns:a16="http://schemas.microsoft.com/office/drawing/2014/main" id="{4CC8A5EF-79A0-4606-B87A-8DFA52AEB80F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ECA7D1C-27F5-4EB5-B28D-32179BD7577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8488" name="页脚占位符 14">
            <a:extLst>
              <a:ext uri="{FF2B5EF4-FFF2-40B4-BE49-F238E27FC236}">
                <a16:creationId xmlns:a16="http://schemas.microsoft.com/office/drawing/2014/main" id="{02A90F3D-2788-454D-8553-FDEA12E35BF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9CF6188-4135-42EA-86A8-AE836681EE48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8490" name="Rectangle 15">
            <a:extLst>
              <a:ext uri="{FF2B5EF4-FFF2-40B4-BE49-F238E27FC236}">
                <a16:creationId xmlns:a16="http://schemas.microsoft.com/office/drawing/2014/main" id="{CA802E0D-C8DA-4259-8B91-70019A648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8491" name="Rectangle 11">
            <a:extLst>
              <a:ext uri="{FF2B5EF4-FFF2-40B4-BE49-F238E27FC236}">
                <a16:creationId xmlns:a16="http://schemas.microsoft.com/office/drawing/2014/main" id="{B6F2C7ED-BA68-4B76-8142-B8F41AD81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921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四、“异或”运算（</a:t>
            </a:r>
            <a:r>
              <a:rPr kumimoji="0" lang="en-US" altLang="zh-CN" sz="3600">
                <a:solidFill>
                  <a:srgbClr val="FF3300"/>
                </a:solidFill>
                <a:latin typeface="Calibri" panose="020F0502020204030204" pitchFamily="34" charset="0"/>
              </a:rPr>
              <a:t>XOR</a:t>
            </a:r>
            <a:r>
              <a:rPr kumimoji="0" lang="zh-CN" altLang="en-US" sz="3600">
                <a:solidFill>
                  <a:srgbClr val="FF3300"/>
                </a:solidFill>
                <a:latin typeface="Calibri" panose="020F0502020204030204" pitchFamily="34" charset="0"/>
              </a:rPr>
              <a:t>）</a:t>
            </a:r>
          </a:p>
        </p:txBody>
      </p:sp>
      <p:sp>
        <p:nvSpPr>
          <p:cNvPr id="148492" name="Text Box 12">
            <a:extLst>
              <a:ext uri="{FF2B5EF4-FFF2-40B4-BE49-F238E27FC236}">
                <a16:creationId xmlns:a16="http://schemas.microsoft.com/office/drawing/2014/main" id="{3D06DC25-B538-43E0-BEEC-367038A5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373688"/>
            <a:ext cx="7272337" cy="6413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主要用于对二进制数的某些位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取反</a:t>
            </a:r>
            <a:endParaRPr lang="zh-CN" altLang="en-US" sz="3600" b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326" name="Text Box 6">
            <a:extLst>
              <a:ext uri="{FF2B5EF4-FFF2-40B4-BE49-F238E27FC236}">
                <a16:creationId xmlns:a16="http://schemas.microsoft.com/office/drawing/2014/main" id="{7A773793-D8A7-4DA6-A9AB-D918EBAF2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752600"/>
            <a:ext cx="66294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accent2"/>
                </a:solidFill>
              </a:rPr>
              <a:t>	</a:t>
            </a:r>
            <a:r>
              <a:rPr lang="en-US" altLang="zh-CN" sz="3200">
                <a:ea typeface="楷体_GB2312"/>
                <a:cs typeface="楷体_GB2312"/>
              </a:rPr>
              <a:t>“</a:t>
            </a:r>
            <a:r>
              <a:rPr lang="zh-CN" altLang="en-US" sz="3200">
                <a:ea typeface="楷体_GB2312"/>
                <a:cs typeface="楷体_GB2312"/>
              </a:rPr>
              <a:t>异或”运算的运算规则如下表所示，可以概括为“</a:t>
            </a:r>
            <a:r>
              <a:rPr lang="zh-CN" altLang="en-US" sz="3200">
                <a:solidFill>
                  <a:schemeClr val="accent2"/>
                </a:solidFill>
                <a:ea typeface="楷体_GB2312"/>
                <a:cs typeface="楷体_GB2312"/>
              </a:rPr>
              <a:t>相反出</a:t>
            </a:r>
            <a:r>
              <a:rPr lang="en-US" altLang="zh-CN" sz="3200">
                <a:solidFill>
                  <a:schemeClr val="accent2"/>
                </a:solidFill>
                <a:ea typeface="楷体_GB2312"/>
                <a:cs typeface="楷体_GB2312"/>
              </a:rPr>
              <a:t>1</a:t>
            </a:r>
            <a:r>
              <a:rPr lang="en-US" altLang="zh-CN" sz="3200">
                <a:ea typeface="楷体_GB2312"/>
                <a:cs typeface="楷体_GB2312"/>
              </a:rPr>
              <a:t>”</a:t>
            </a:r>
            <a:r>
              <a:rPr lang="zh-CN" altLang="en-US" sz="3200">
                <a:ea typeface="楷体_GB2312"/>
                <a:cs typeface="楷体_GB2312"/>
              </a:rPr>
              <a:t>。</a:t>
            </a:r>
            <a:r>
              <a:rPr lang="zh-CN" altLang="en-US" sz="2400" b="0"/>
              <a:t> </a:t>
            </a:r>
            <a:endParaRPr lang="zh-CN" altLang="en-US" sz="3200">
              <a:latin typeface="楷体_GB2312"/>
              <a:ea typeface="楷体_GB2312"/>
              <a:cs typeface="楷体_GB2312"/>
            </a:endParaRPr>
          </a:p>
          <a:p>
            <a:r>
              <a:rPr lang="zh-CN" altLang="en-US" sz="3200">
                <a:latin typeface="楷体_GB2312"/>
                <a:ea typeface="楷体_GB2312"/>
                <a:cs typeface="楷体_GB2312"/>
              </a:rPr>
              <a:t>	</a:t>
            </a:r>
            <a:r>
              <a:rPr lang="en-US" altLang="zh-CN" sz="3200">
                <a:latin typeface="楷体_GB2312"/>
                <a:ea typeface="楷体_GB2312"/>
                <a:cs typeface="楷体_GB2312"/>
              </a:rPr>
              <a:t>a		b		a OR b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0		   0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0		1		   1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0		   1	</a:t>
            </a:r>
          </a:p>
          <a:p>
            <a:r>
              <a:rPr lang="en-US" altLang="zh-CN" sz="3200">
                <a:latin typeface="楷体_GB2312"/>
                <a:ea typeface="楷体_GB2312"/>
                <a:cs typeface="楷体_GB2312"/>
              </a:rPr>
              <a:t>	1		1		   0	</a:t>
            </a:r>
          </a:p>
        </p:txBody>
      </p:sp>
      <p:sp>
        <p:nvSpPr>
          <p:cNvPr id="148494" name="Text Box 1029">
            <a:extLst>
              <a:ext uri="{FF2B5EF4-FFF2-40B4-BE49-F238E27FC236}">
                <a16:creationId xmlns:a16="http://schemas.microsoft.com/office/drawing/2014/main" id="{64F6F5E6-E1AD-4FEA-B772-F0C070E2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1.4 </a:t>
            </a:r>
            <a:r>
              <a:rPr lang="zh-CN" altLang="en-US" sz="2400">
                <a:solidFill>
                  <a:srgbClr val="FF3300"/>
                </a:solidFill>
              </a:rPr>
              <a:t>基本的逻辑运算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Line 1027">
            <a:extLst>
              <a:ext uri="{FF2B5EF4-FFF2-40B4-BE49-F238E27FC236}">
                <a16:creationId xmlns:a16="http://schemas.microsoft.com/office/drawing/2014/main" id="{ED110125-5008-4CA8-9548-A50BBE65D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31" name="Line 1031">
            <a:extLst>
              <a:ext uri="{FF2B5EF4-FFF2-40B4-BE49-F238E27FC236}">
                <a16:creationId xmlns:a16="http://schemas.microsoft.com/office/drawing/2014/main" id="{3F2479DC-27C3-4D42-AD9B-C3396387E0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0532" name="AutoShape 1032">
            <a:extLst>
              <a:ext uri="{FF2B5EF4-FFF2-40B4-BE49-F238E27FC236}">
                <a16:creationId xmlns:a16="http://schemas.microsoft.com/office/drawing/2014/main" id="{B065F019-270C-444A-BDDF-2A4AB605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33" name="AutoShape 1033">
            <a:extLst>
              <a:ext uri="{FF2B5EF4-FFF2-40B4-BE49-F238E27FC236}">
                <a16:creationId xmlns:a16="http://schemas.microsoft.com/office/drawing/2014/main" id="{86A6287E-3D36-4B2F-897D-6087AC664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34" name="灯片编号占位符 13">
            <a:extLst>
              <a:ext uri="{FF2B5EF4-FFF2-40B4-BE49-F238E27FC236}">
                <a16:creationId xmlns:a16="http://schemas.microsoft.com/office/drawing/2014/main" id="{6D1A042A-3D22-4B37-8376-E95D69BFE8C4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3F4426E-CA31-418F-8C53-4BBA0D22448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0535" name="页脚占位符 14">
            <a:extLst>
              <a:ext uri="{FF2B5EF4-FFF2-40B4-BE49-F238E27FC236}">
                <a16:creationId xmlns:a16="http://schemas.microsoft.com/office/drawing/2014/main" id="{4513E527-A3AF-4C4D-95A4-2AB4A6E52A9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616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基础知识</a:t>
            </a: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3162E5D-82F4-493F-9272-50809C1E17A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0537" name="Rectangle 15">
            <a:extLst>
              <a:ext uri="{FF2B5EF4-FFF2-40B4-BE49-F238E27FC236}">
                <a16:creationId xmlns:a16="http://schemas.microsoft.com/office/drawing/2014/main" id="{80E8FB6E-774E-474F-A814-4C1892B9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1497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5EE72A80-6EEB-47A7-A5A5-23A3741A1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125538"/>
            <a:ext cx="8305800" cy="490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3200" dirty="0">
                <a:solidFill>
                  <a:srgbClr val="0000D6"/>
                </a:solidFill>
              </a:rPr>
              <a:t>[</a:t>
            </a:r>
            <a:r>
              <a:rPr lang="zh-CN" altLang="en-US" sz="3200" dirty="0">
                <a:solidFill>
                  <a:srgbClr val="0000D6"/>
                </a:solidFill>
                <a:latin typeface="+mn-ea"/>
                <a:ea typeface="+mn-ea"/>
              </a:rPr>
              <a:t>例</a:t>
            </a:r>
            <a:r>
              <a:rPr lang="en-US" altLang="zh-CN" sz="3200" dirty="0">
                <a:solidFill>
                  <a:srgbClr val="0000D6"/>
                </a:solidFill>
                <a:latin typeface="+mn-ea"/>
                <a:ea typeface="+mn-ea"/>
              </a:rPr>
              <a:t>1.11</a:t>
            </a:r>
            <a:r>
              <a:rPr lang="en-US" altLang="zh-CN" sz="3200" dirty="0">
                <a:solidFill>
                  <a:srgbClr val="0000D6"/>
                </a:solidFill>
              </a:rPr>
              <a:t>]</a:t>
            </a:r>
            <a:r>
              <a:rPr lang="en-US" altLang="zh-CN" sz="3200" dirty="0"/>
              <a:t>  </a:t>
            </a:r>
            <a:r>
              <a:rPr lang="zh-CN" altLang="en-US" sz="3200" dirty="0"/>
              <a:t>几种基本逻辑运算的运用</a:t>
            </a:r>
          </a:p>
          <a:p>
            <a:pPr algn="just">
              <a:defRPr/>
            </a:pPr>
            <a:endParaRPr lang="zh-CN" altLang="en-US" sz="3200" dirty="0">
              <a:ea typeface="楷体_GB2312" pitchFamily="49" charset="-122"/>
            </a:endParaRPr>
          </a:p>
          <a:p>
            <a:pPr algn="just">
              <a:defRPr/>
            </a:pPr>
            <a:r>
              <a:rPr lang="zh-CN" altLang="en-US" sz="2800" dirty="0"/>
              <a:t>	    	</a:t>
            </a:r>
            <a:r>
              <a:rPr lang="en-US" altLang="zh-CN" sz="2800" dirty="0"/>
              <a:t>36H				000</a:t>
            </a:r>
            <a:r>
              <a:rPr lang="en-US" altLang="zh-CN" sz="2800" dirty="0">
                <a:solidFill>
                  <a:srgbClr val="FF0000"/>
                </a:solidFill>
              </a:rPr>
              <a:t>11</a:t>
            </a:r>
            <a:r>
              <a:rPr lang="en-US" altLang="zh-CN" sz="2800" dirty="0"/>
              <a:t>00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</a:p>
          <a:p>
            <a:pPr algn="just">
              <a:defRPr/>
            </a:pPr>
            <a:r>
              <a:rPr lang="en-US" altLang="zh-CN" sz="2800" dirty="0"/>
              <a:t>         AND	0FH			OR	00</a:t>
            </a:r>
            <a:r>
              <a:rPr lang="en-US" altLang="zh-CN" sz="2800" dirty="0">
                <a:solidFill>
                  <a:srgbClr val="FF0000"/>
                </a:solidFill>
              </a:rPr>
              <a:t>11</a:t>
            </a:r>
            <a:r>
              <a:rPr lang="en-US" altLang="zh-CN" sz="2800" dirty="0"/>
              <a:t>0000</a:t>
            </a:r>
          </a:p>
          <a:p>
            <a:pPr algn="just">
              <a:defRPr/>
            </a:pPr>
            <a:r>
              <a:rPr lang="en-US" altLang="zh-CN" sz="2800" dirty="0"/>
              <a:t>	    	06H	  			00</a:t>
            </a:r>
            <a:r>
              <a:rPr lang="en-US" altLang="zh-CN" sz="2800" dirty="0">
                <a:solidFill>
                  <a:srgbClr val="FF0000"/>
                </a:solidFill>
              </a:rPr>
              <a:t>111</a:t>
            </a:r>
            <a:r>
              <a:rPr lang="en-US" altLang="zh-CN" sz="2800" dirty="0"/>
              <a:t>00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</a:p>
          <a:p>
            <a:pPr algn="just">
              <a:defRPr/>
            </a:pPr>
            <a:endParaRPr lang="en-US" altLang="zh-CN" sz="2800" dirty="0"/>
          </a:p>
          <a:p>
            <a:pPr algn="just">
              <a:defRPr/>
            </a:pPr>
            <a:r>
              <a:rPr lang="en-US" altLang="zh-CN" sz="2800" dirty="0"/>
              <a:t>						11100111	</a:t>
            </a:r>
          </a:p>
          <a:p>
            <a:pPr algn="just">
              <a:defRPr/>
            </a:pPr>
            <a:r>
              <a:rPr lang="en-US" altLang="zh-CN" sz="2800" dirty="0"/>
              <a:t>	NOT	10101100		XOR	101</a:t>
            </a:r>
            <a:r>
              <a:rPr lang="en-US" altLang="zh-CN" sz="2800" dirty="0">
                <a:solidFill>
                  <a:schemeClr val="accent1"/>
                </a:solidFill>
              </a:rPr>
              <a:t>01</a:t>
            </a:r>
            <a:r>
              <a:rPr lang="en-US" altLang="zh-CN" sz="2800" dirty="0"/>
              <a:t>010</a:t>
            </a:r>
          </a:p>
          <a:p>
            <a:pPr algn="just">
              <a:defRPr/>
            </a:pPr>
            <a:r>
              <a:rPr lang="en-US" altLang="zh-CN" sz="2800" dirty="0"/>
              <a:t>		01010011			</a:t>
            </a:r>
            <a:r>
              <a:rPr lang="en-US" altLang="zh-CN" sz="2800" dirty="0">
                <a:solidFill>
                  <a:srgbClr val="FF0000"/>
                </a:solidFill>
              </a:rPr>
              <a:t>010</a:t>
            </a:r>
            <a:r>
              <a:rPr lang="en-US" altLang="zh-CN" sz="2800" dirty="0">
                <a:solidFill>
                  <a:schemeClr val="accent1"/>
                </a:solidFill>
              </a:rPr>
              <a:t>01</a:t>
            </a:r>
            <a:r>
              <a:rPr lang="en-US" altLang="zh-CN" sz="2800" dirty="0">
                <a:solidFill>
                  <a:srgbClr val="FF0000"/>
                </a:solidFill>
              </a:rPr>
              <a:t>101</a:t>
            </a:r>
          </a:p>
          <a:p>
            <a:pPr algn="just">
              <a:defRPr/>
            </a:pPr>
            <a:r>
              <a:rPr lang="en-US" altLang="zh-CN" sz="2800" dirty="0"/>
              <a:t>						</a:t>
            </a:r>
            <a:endParaRPr lang="zh-CN" altLang="en-US" sz="2400" dirty="0">
              <a:solidFill>
                <a:srgbClr val="FF0000"/>
              </a:solidFill>
              <a:ea typeface="楷体_GB2312" pitchFamily="49" charset="-122"/>
            </a:endParaRPr>
          </a:p>
          <a:p>
            <a:pPr algn="just">
              <a:defRPr/>
            </a:pPr>
            <a:endParaRPr lang="zh-CN" altLang="en-US" sz="2800" dirty="0"/>
          </a:p>
        </p:txBody>
      </p:sp>
      <p:sp>
        <p:nvSpPr>
          <p:cNvPr id="150539" name="Line 10">
            <a:extLst>
              <a:ext uri="{FF2B5EF4-FFF2-40B4-BE49-F238E27FC236}">
                <a16:creationId xmlns:a16="http://schemas.microsoft.com/office/drawing/2014/main" id="{8CD10B16-246E-4E19-934F-FB62F7FAF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2924175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0" name="Line 10">
            <a:extLst>
              <a:ext uri="{FF2B5EF4-FFF2-40B4-BE49-F238E27FC236}">
                <a16:creationId xmlns:a16="http://schemas.microsoft.com/office/drawing/2014/main" id="{9D7704D6-0579-4C37-84DE-48554B0BD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4652963"/>
            <a:ext cx="2520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1" name="Line 10">
            <a:extLst>
              <a:ext uri="{FF2B5EF4-FFF2-40B4-BE49-F238E27FC236}">
                <a16:creationId xmlns:a16="http://schemas.microsoft.com/office/drawing/2014/main" id="{9DB17BDF-5DF4-42E6-8C92-CE1F6A16B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924175"/>
            <a:ext cx="264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2" name="Line 10">
            <a:extLst>
              <a:ext uri="{FF2B5EF4-FFF2-40B4-BE49-F238E27FC236}">
                <a16:creationId xmlns:a16="http://schemas.microsoft.com/office/drawing/2014/main" id="{20CD0606-E606-44F1-AF75-5E5DA03FF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6825" y="4652963"/>
            <a:ext cx="2568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3" name="日期占位符 12">
            <a:extLst>
              <a:ext uri="{FF2B5EF4-FFF2-40B4-BE49-F238E27FC236}">
                <a16:creationId xmlns:a16="http://schemas.microsoft.com/office/drawing/2014/main" id="{3B13DDEB-D36D-42E5-9D67-A7376BAF06A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662812F2-4E02-451F-AD23-9A14F405471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0544" name="Text Box 1029">
            <a:extLst>
              <a:ext uri="{FF2B5EF4-FFF2-40B4-BE49-F238E27FC236}">
                <a16:creationId xmlns:a16="http://schemas.microsoft.com/office/drawing/2014/main" id="{B2B29F1F-F8AD-471C-A022-89B7C8F0F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8891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FF3300"/>
                </a:solidFill>
              </a:rPr>
              <a:t>1.4 </a:t>
            </a:r>
            <a:r>
              <a:rPr lang="zh-CN" altLang="en-US" sz="2400">
                <a:solidFill>
                  <a:srgbClr val="FF3300"/>
                </a:solidFill>
              </a:rPr>
              <a:t>基本的逻辑运算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Line 1027">
            <a:extLst>
              <a:ext uri="{FF2B5EF4-FFF2-40B4-BE49-F238E27FC236}">
                <a16:creationId xmlns:a16="http://schemas.microsoft.com/office/drawing/2014/main" id="{6E6D1B1C-81E5-4DEB-89D1-4A85CBF1E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79" name="Line 1031">
            <a:extLst>
              <a:ext uri="{FF2B5EF4-FFF2-40B4-BE49-F238E27FC236}">
                <a16:creationId xmlns:a16="http://schemas.microsoft.com/office/drawing/2014/main" id="{490B226A-90D8-4114-9C87-EEF4D21D8A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580" name="AutoShape 1032">
            <a:extLst>
              <a:ext uri="{FF2B5EF4-FFF2-40B4-BE49-F238E27FC236}">
                <a16:creationId xmlns:a16="http://schemas.microsoft.com/office/drawing/2014/main" id="{0FD52B95-9689-4881-AF88-1DE9FA2C1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2581" name="AutoShape 1033">
            <a:extLst>
              <a:ext uri="{FF2B5EF4-FFF2-40B4-BE49-F238E27FC236}">
                <a16:creationId xmlns:a16="http://schemas.microsoft.com/office/drawing/2014/main" id="{B758967C-9F22-455B-9685-4FF78501B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2582" name="日期占位符 12">
            <a:extLst>
              <a:ext uri="{FF2B5EF4-FFF2-40B4-BE49-F238E27FC236}">
                <a16:creationId xmlns:a16="http://schemas.microsoft.com/office/drawing/2014/main" id="{418E6908-DA9D-49E5-A4D5-1BD157A7318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A3E0D544-4F97-4CDB-8156-382A10EE2EC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2583" name="灯片编号占位符 13">
            <a:extLst>
              <a:ext uri="{FF2B5EF4-FFF2-40B4-BE49-F238E27FC236}">
                <a16:creationId xmlns:a16="http://schemas.microsoft.com/office/drawing/2014/main" id="{E85C63E1-0287-4E53-900E-F7B1804B7785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C5D5BD15-2237-43AF-BE5B-68BAA5952FC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F6F3221-4A5F-477F-A6B4-9E21583D1E6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2585" name="页脚占位符 14">
            <a:extLst>
              <a:ext uri="{FF2B5EF4-FFF2-40B4-BE49-F238E27FC236}">
                <a16:creationId xmlns:a16="http://schemas.microsoft.com/office/drawing/2014/main" id="{06C0509D-7524-4793-B8A0-E4CFBD781E1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7513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152586" name="Rectangle 8">
            <a:extLst>
              <a:ext uri="{FF2B5EF4-FFF2-40B4-BE49-F238E27FC236}">
                <a16:creationId xmlns:a16="http://schemas.microsoft.com/office/drawing/2014/main" id="{0531AC05-44B7-486F-9B4B-A3EF28CCA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88913"/>
            <a:ext cx="15859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44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小结</a:t>
            </a: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id="{A77A44E3-C3A2-4543-9361-1B3687D0E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96975"/>
            <a:ext cx="7543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计算机系统使用二进制表示数据。为了书写方便常采用十六进制形式。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用补码表示带符号数时，不同位数的二进制形式可能完全不同。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在计算机内部的一个二进制数表示，其具体含义由使用者解释。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逻辑操作</a:t>
            </a:r>
            <a:r>
              <a:rPr lang="en-US" altLang="zh-CN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AND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OR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NOT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XOR</a:t>
            </a:r>
            <a:r>
              <a:rPr lang="zh-CN" altLang="en-US" sz="3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可用于有选择地对某些位进行处理。</a:t>
            </a:r>
          </a:p>
        </p:txBody>
      </p:sp>
      <p:sp>
        <p:nvSpPr>
          <p:cNvPr id="152588" name="Text Box 1029">
            <a:extLst>
              <a:ext uri="{FF2B5EF4-FFF2-40B4-BE49-F238E27FC236}">
                <a16:creationId xmlns:a16="http://schemas.microsoft.com/office/drawing/2014/main" id="{0F120615-8713-4151-A2DF-CE0BF02C0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</a:rPr>
              <a:t>章 基础知识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8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Line 1027">
            <a:extLst>
              <a:ext uri="{FF2B5EF4-FFF2-40B4-BE49-F238E27FC236}">
                <a16:creationId xmlns:a16="http://schemas.microsoft.com/office/drawing/2014/main" id="{8CE7D4DB-F0A3-4233-B93E-B41747433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27" name="Line 1031">
            <a:extLst>
              <a:ext uri="{FF2B5EF4-FFF2-40B4-BE49-F238E27FC236}">
                <a16:creationId xmlns:a16="http://schemas.microsoft.com/office/drawing/2014/main" id="{4D4EA7EB-39EF-4273-9DCA-80837841AC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628" name="AutoShape 1032">
            <a:extLst>
              <a:ext uri="{FF2B5EF4-FFF2-40B4-BE49-F238E27FC236}">
                <a16:creationId xmlns:a16="http://schemas.microsoft.com/office/drawing/2014/main" id="{BDB0F1B3-2F49-44B6-892B-184EEEEF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4629" name="AutoShape 1033">
            <a:extLst>
              <a:ext uri="{FF2B5EF4-FFF2-40B4-BE49-F238E27FC236}">
                <a16:creationId xmlns:a16="http://schemas.microsoft.com/office/drawing/2014/main" id="{035098A7-8680-440D-96B6-7C622F3E0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4630" name="日期占位符 12">
            <a:extLst>
              <a:ext uri="{FF2B5EF4-FFF2-40B4-BE49-F238E27FC236}">
                <a16:creationId xmlns:a16="http://schemas.microsoft.com/office/drawing/2014/main" id="{9AD262F6-8A58-4D55-A239-A6758D0F523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fld id="{1E5E2B69-938E-4EA5-BCCF-E8848440336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/>
              <a:t>2023/6/21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4631" name="灯片编号占位符 13">
            <a:extLst>
              <a:ext uri="{FF2B5EF4-FFF2-40B4-BE49-F238E27FC236}">
                <a16:creationId xmlns:a16="http://schemas.microsoft.com/office/drawing/2014/main" id="{38CA77AC-03E3-44AA-81CB-056869D70330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912C8CB-ED0D-4578-9EC4-2BE9782C58F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37B21B2-D9CE-4836-B8F3-D742624FEDCB}"/>
              </a:ext>
            </a:extLst>
          </p:cNvPr>
          <p:cNvSpPr txBox="1">
            <a:spLocks noChangeArrowheads="1"/>
          </p:cNvSpPr>
          <p:nvPr/>
        </p:nvSpPr>
        <p:spPr>
          <a:xfrm>
            <a:off x="4356100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4633" name="页脚占位符 14">
            <a:extLst>
              <a:ext uri="{FF2B5EF4-FFF2-40B4-BE49-F238E27FC236}">
                <a16:creationId xmlns:a16="http://schemas.microsoft.com/office/drawing/2014/main" id="{85EB6E36-D51F-4319-8F84-62C1BEB0917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7513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154634" name="Text Box 8">
            <a:extLst>
              <a:ext uri="{FF2B5EF4-FFF2-40B4-BE49-F238E27FC236}">
                <a16:creationId xmlns:a16="http://schemas.microsoft.com/office/drawing/2014/main" id="{BD503FDD-A2B4-447E-A09D-B4021BB5A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28775"/>
            <a:ext cx="727075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accent2"/>
                </a:solidFill>
              </a:rPr>
              <a:t>思考题：</a:t>
            </a:r>
            <a:endParaRPr lang="en-US" altLang="zh-CN" sz="360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	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二进制数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00110010B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，即</a:t>
            </a:r>
            <a:r>
              <a:rPr lang="en-US" altLang="zh-CN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32H</a:t>
            </a:r>
            <a:r>
              <a:rPr lang="zh-CN" altLang="en-US" sz="32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，可以表示哪几种含义</a:t>
            </a:r>
            <a:r>
              <a:rPr lang="zh-CN" altLang="en-US" sz="3200">
                <a:latin typeface="楷体_GB2312"/>
                <a:ea typeface="楷体_GB2312"/>
                <a:cs typeface="楷体_GB2312"/>
              </a:rPr>
              <a:t>？</a:t>
            </a:r>
          </a:p>
        </p:txBody>
      </p:sp>
      <p:sp>
        <p:nvSpPr>
          <p:cNvPr id="154635" name="Text Box 10">
            <a:extLst>
              <a:ext uri="{FF2B5EF4-FFF2-40B4-BE49-F238E27FC236}">
                <a16:creationId xmlns:a16="http://schemas.microsoft.com/office/drawing/2014/main" id="{43F6DC42-C694-466D-88DF-46842D2F0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149725"/>
            <a:ext cx="5616575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/>
            <a:r>
              <a:rPr lang="zh-CN" altLang="en-US" sz="3200"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注意：所有关于数制及其转换的习题不能使用计算器</a:t>
            </a:r>
            <a:endParaRPr lang="zh-CN" altLang="en-US" sz="4000" b="0"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154636" name="Text Box 1029">
            <a:extLst>
              <a:ext uri="{FF2B5EF4-FFF2-40B4-BE49-F238E27FC236}">
                <a16:creationId xmlns:a16="http://schemas.microsoft.com/office/drawing/2014/main" id="{BF842916-5383-4803-B86E-7124F482A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kumimoji="0" lang="zh-CN" altLang="en-US" sz="2800">
                <a:solidFill>
                  <a:srgbClr val="FF3300"/>
                </a:solidFill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</a:rPr>
              <a:t>1</a:t>
            </a:r>
            <a:r>
              <a:rPr kumimoji="0" lang="zh-CN" altLang="en-US" sz="2800">
                <a:solidFill>
                  <a:srgbClr val="FF3300"/>
                </a:solidFill>
              </a:rPr>
              <a:t>章 基础知识</a:t>
            </a:r>
          </a:p>
        </p:txBody>
      </p:sp>
    </p:spTree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txDef>
      <a:spPr>
        <a:noFill/>
      </a:spPr>
      <a:bodyPr vert="eaVert" wrap="square" rtlCol="0">
        <a:spAutoFit/>
      </a:bodyPr>
      <a:lstStyle>
        <a:defPPr>
          <a:defRPr sz="3600" dirty="0" smtClean="0">
            <a:solidFill>
              <a:srgbClr val="660066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9783</TotalTime>
  <Words>6274</Words>
  <Application>Microsoft Office PowerPoint</Application>
  <PresentationFormat>全屏显示(4:3)</PresentationFormat>
  <Paragraphs>920</Paragraphs>
  <Slides>75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94" baseType="lpstr">
      <vt:lpstr>等线</vt:lpstr>
      <vt:lpstr>仿宋</vt:lpstr>
      <vt:lpstr>黑体</vt:lpstr>
      <vt:lpstr>华文楷体</vt:lpstr>
      <vt:lpstr>华文细黑</vt:lpstr>
      <vt:lpstr>华文新魏</vt:lpstr>
      <vt:lpstr>华文行楷</vt:lpstr>
      <vt:lpstr>华文中宋</vt:lpstr>
      <vt:lpstr>楷体</vt:lpstr>
      <vt:lpstr>楷体_GB2312</vt:lpstr>
      <vt:lpstr>隶书</vt:lpstr>
      <vt:lpstr>宋体</vt:lpstr>
      <vt:lpstr>Arial</vt:lpstr>
      <vt:lpstr>Calibri</vt:lpstr>
      <vt:lpstr>Constantia</vt:lpstr>
      <vt:lpstr>Times New Roman</vt:lpstr>
      <vt:lpstr>Wingdings</vt:lpstr>
      <vt:lpstr>Wingdings 2</vt:lpstr>
      <vt:lpstr>流畅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shcd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guoq</dc:creator>
  <cp:lastModifiedBy>Pei Xilong</cp:lastModifiedBy>
  <cp:revision>370</cp:revision>
  <cp:lastPrinted>2001-07-13T01:42:42Z</cp:lastPrinted>
  <dcterms:created xsi:type="dcterms:W3CDTF">2000-06-04T03:21:47Z</dcterms:created>
  <dcterms:modified xsi:type="dcterms:W3CDTF">2023-06-21T01:49:37Z</dcterms:modified>
</cp:coreProperties>
</file>