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1"/>
  </p:notesMasterIdLst>
  <p:sldIdLst>
    <p:sldId id="326" r:id="rId2"/>
    <p:sldId id="403" r:id="rId3"/>
    <p:sldId id="327" r:id="rId4"/>
    <p:sldId id="420" r:id="rId5"/>
    <p:sldId id="421" r:id="rId6"/>
    <p:sldId id="423" r:id="rId7"/>
    <p:sldId id="425" r:id="rId8"/>
    <p:sldId id="426" r:id="rId9"/>
    <p:sldId id="427" r:id="rId10"/>
    <p:sldId id="428" r:id="rId11"/>
    <p:sldId id="429" r:id="rId12"/>
    <p:sldId id="430" r:id="rId13"/>
    <p:sldId id="431" r:id="rId14"/>
    <p:sldId id="468" r:id="rId15"/>
    <p:sldId id="432" r:id="rId16"/>
    <p:sldId id="433" r:id="rId17"/>
    <p:sldId id="434" r:id="rId18"/>
    <p:sldId id="449" r:id="rId19"/>
    <p:sldId id="435" r:id="rId20"/>
    <p:sldId id="436" r:id="rId21"/>
    <p:sldId id="437" r:id="rId22"/>
    <p:sldId id="438" r:id="rId23"/>
    <p:sldId id="349" r:id="rId24"/>
    <p:sldId id="350" r:id="rId25"/>
    <p:sldId id="351" r:id="rId26"/>
    <p:sldId id="281" r:id="rId27"/>
    <p:sldId id="282" r:id="rId28"/>
    <p:sldId id="283" r:id="rId29"/>
    <p:sldId id="284" r:id="rId30"/>
    <p:sldId id="467" r:id="rId31"/>
    <p:sldId id="285" r:id="rId32"/>
    <p:sldId id="288" r:id="rId33"/>
    <p:sldId id="286" r:id="rId34"/>
    <p:sldId id="287" r:id="rId35"/>
    <p:sldId id="465" r:id="rId36"/>
    <p:sldId id="289" r:id="rId37"/>
    <p:sldId id="290" r:id="rId38"/>
    <p:sldId id="291" r:id="rId39"/>
    <p:sldId id="297" r:id="rId40"/>
    <p:sldId id="298" r:id="rId41"/>
    <p:sldId id="354" r:id="rId42"/>
    <p:sldId id="355" r:id="rId43"/>
    <p:sldId id="356" r:id="rId44"/>
    <p:sldId id="357" r:id="rId45"/>
    <p:sldId id="352" r:id="rId46"/>
    <p:sldId id="292" r:id="rId47"/>
    <p:sldId id="299" r:id="rId48"/>
    <p:sldId id="353" r:id="rId49"/>
    <p:sldId id="358" r:id="rId50"/>
    <p:sldId id="359" r:id="rId51"/>
    <p:sldId id="360" r:id="rId52"/>
    <p:sldId id="361" r:id="rId53"/>
    <p:sldId id="293" r:id="rId54"/>
    <p:sldId id="300" r:id="rId55"/>
    <p:sldId id="301" r:id="rId56"/>
    <p:sldId id="399" r:id="rId57"/>
    <p:sldId id="400" r:id="rId58"/>
    <p:sldId id="401" r:id="rId59"/>
    <p:sldId id="294" r:id="rId60"/>
    <p:sldId id="402" r:id="rId61"/>
    <p:sldId id="362" r:id="rId62"/>
    <p:sldId id="363" r:id="rId63"/>
    <p:sldId id="365" r:id="rId64"/>
    <p:sldId id="364" r:id="rId65"/>
    <p:sldId id="367" r:id="rId66"/>
    <p:sldId id="368" r:id="rId67"/>
    <p:sldId id="305" r:id="rId68"/>
    <p:sldId id="369" r:id="rId69"/>
    <p:sldId id="325" r:id="rId70"/>
    <p:sldId id="307" r:id="rId71"/>
    <p:sldId id="370" r:id="rId72"/>
    <p:sldId id="371" r:id="rId73"/>
    <p:sldId id="372" r:id="rId74"/>
    <p:sldId id="308" r:id="rId75"/>
    <p:sldId id="373" r:id="rId76"/>
    <p:sldId id="310" r:id="rId77"/>
    <p:sldId id="374" r:id="rId78"/>
    <p:sldId id="375" r:id="rId79"/>
    <p:sldId id="376" r:id="rId80"/>
    <p:sldId id="377" r:id="rId81"/>
    <p:sldId id="378" r:id="rId82"/>
    <p:sldId id="379" r:id="rId83"/>
    <p:sldId id="380" r:id="rId84"/>
    <p:sldId id="381" r:id="rId85"/>
    <p:sldId id="382" r:id="rId86"/>
    <p:sldId id="383" r:id="rId87"/>
    <p:sldId id="384" r:id="rId88"/>
    <p:sldId id="385" r:id="rId89"/>
    <p:sldId id="386" r:id="rId90"/>
    <p:sldId id="387" r:id="rId91"/>
    <p:sldId id="388" r:id="rId92"/>
    <p:sldId id="389" r:id="rId93"/>
    <p:sldId id="390" r:id="rId94"/>
    <p:sldId id="311" r:id="rId95"/>
    <p:sldId id="312" r:id="rId96"/>
    <p:sldId id="313" r:id="rId97"/>
    <p:sldId id="314" r:id="rId98"/>
    <p:sldId id="315" r:id="rId99"/>
    <p:sldId id="319" r:id="rId100"/>
    <p:sldId id="320" r:id="rId101"/>
    <p:sldId id="391" r:id="rId102"/>
    <p:sldId id="392" r:id="rId103"/>
    <p:sldId id="393" r:id="rId104"/>
    <p:sldId id="394" r:id="rId105"/>
    <p:sldId id="395" r:id="rId106"/>
    <p:sldId id="396" r:id="rId107"/>
    <p:sldId id="321" r:id="rId108"/>
    <p:sldId id="322" r:id="rId109"/>
    <p:sldId id="323" r:id="rId110"/>
    <p:sldId id="397" r:id="rId111"/>
    <p:sldId id="398" r:id="rId112"/>
    <p:sldId id="317" r:id="rId113"/>
    <p:sldId id="261" r:id="rId114"/>
    <p:sldId id="450" r:id="rId115"/>
    <p:sldId id="451" r:id="rId116"/>
    <p:sldId id="452" r:id="rId117"/>
    <p:sldId id="453" r:id="rId118"/>
    <p:sldId id="454" r:id="rId119"/>
    <p:sldId id="455" r:id="rId120"/>
    <p:sldId id="456" r:id="rId121"/>
    <p:sldId id="457" r:id="rId122"/>
    <p:sldId id="458" r:id="rId123"/>
    <p:sldId id="459" r:id="rId124"/>
    <p:sldId id="460" r:id="rId125"/>
    <p:sldId id="461" r:id="rId126"/>
    <p:sldId id="462" r:id="rId127"/>
    <p:sldId id="463" r:id="rId128"/>
    <p:sldId id="464" r:id="rId129"/>
    <p:sldId id="411" r:id="rId13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03DB"/>
    <a:srgbClr val="FF0000"/>
    <a:srgbClr val="FF66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2787"/>
    <p:restoredTop sz="90862" autoAdjust="0"/>
  </p:normalViewPr>
  <p:slideViewPr>
    <p:cSldViewPr>
      <p:cViewPr varScale="1">
        <p:scale>
          <a:sx n="74" d="100"/>
          <a:sy n="74" d="100"/>
        </p:scale>
        <p:origin x="102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18"/>
    </p:cViewPr>
  </p:sorterViewPr>
  <p:notesViewPr>
    <p:cSldViewPr>
      <p:cViewPr varScale="1">
        <p:scale>
          <a:sx n="40" d="100"/>
          <a:sy n="40" d="100"/>
        </p:scale>
        <p:origin x="-148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C6C143C-CC19-418F-86C7-774C029E73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5CE067F-3BBF-4FFE-A3F7-930F5916995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60231E3E-47F6-411F-9AD6-A969F4C1B07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2663E06-F38C-44FB-8BC8-B21B0728D40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8958DE1-20D6-4D07-AB17-724A172842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10CB0CA-44D2-48EF-AEA8-BD236508A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59EAC8E-7F28-4F96-8531-C01AD342A3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AC8657C3-1284-43C8-BD86-F3E100D8A3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EB5506AF-D741-4EE0-97AC-CF124B598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DBD586DE-06AF-4BB1-A657-7AD5F510A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F178CCF-5332-4E13-B9B9-3553F1B1A5F8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F52A090E-F239-4B05-80E5-3ED967659A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63646B0F-EFD5-4A0C-B522-1506B171D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26FA67B6-3309-4166-AB61-83F55D64195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D3C8415-65E0-4B02-BD76-8819E3CE9BD8}" type="slidenum">
              <a:rPr lang="en-US" altLang="zh-CN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08B162A-CD7C-4985-8DC6-C949DF8E5C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FA3BF4C3-12AF-4D65-B6EB-6BA5C0A28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E492BB88-8AF3-459D-B6AA-541112010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1F88D7D-FA55-4FF9-9F22-043417BBFB19}" type="slidenum">
              <a:rPr lang="en-US" altLang="zh-CN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A9F130C-8915-4EC3-9F6A-1FE3BF7A21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06E177E-0473-4718-ADDD-AB0FF2A6B567}" type="slidenum">
              <a:rPr lang="en-US" altLang="zh-CN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FE67A8E-1D4F-4C1A-86BD-A91349D8E4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3D12DF70-BE1A-4740-A766-415674FAD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F01641D6-65B9-482E-9F04-7AA86457E4D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9474E7-DCEF-4392-B00E-4AFE20409D5F}" type="slidenum">
              <a:rPr lang="en-US" altLang="zh-CN"/>
              <a:pPr algn="r" eaLnBrk="1" hangingPunct="1"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5950395-5F14-4073-B21F-BC6DF18B6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5072C4EA-26AD-4346-8650-2378704BA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A4789E2-D150-45EA-9619-5C882540FBB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F6818A0-FE5C-4C3B-8827-426105EC8A45}" type="slidenum">
              <a:rPr lang="en-US" altLang="zh-CN"/>
              <a:pPr algn="r" eaLnBrk="1" hangingPunct="1"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E3C1C3B-3D26-49DF-B48B-CE694842A77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3F6F359-1BBC-41B9-B68A-CAF3C5EAF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B6335C98-A64C-4E79-BA0E-A5609604618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058BCED-B204-4331-A6B6-49C337130535}" type="slidenum">
              <a:rPr lang="en-US" altLang="zh-CN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E969D59-531F-49D6-A7A6-4E876B4E1C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43160050-E3B8-42AD-ADAB-974A7C6CC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78BD44BB-FD16-4086-9095-DF03DF8CB0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A117141-93E5-4602-8979-7407383F3F93}" type="slidenum">
              <a:rPr lang="en-US" altLang="zh-CN"/>
              <a:pPr algn="r" eaLnBrk="1" hangingPunct="1"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B43228F5-40B4-4863-B731-686BDF9A5F8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72C4796-2392-42BD-86BB-2DDA4188C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2C028199-2AB3-4025-A61E-CED84AD136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98E6FB-50D9-46A1-ADE9-101CC6650A83}" type="slidenum">
              <a:rPr lang="en-US" altLang="zh-CN"/>
              <a:pPr algn="r" eaLnBrk="1" hangingPunct="1"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DE8CA74-85C0-4310-91B0-9A70BEF51EE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8FB50F3F-BCA3-476C-B08E-FDA8BA376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4D503A56-362A-48D1-869A-81502F21F5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1F0EDC8A-B00A-41A8-B6D8-7BE0A978B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158AC71B-BFA3-4C13-A78E-D152F4CC5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31AF684-4656-4A90-86BE-B73DBBB89B29}" type="slidenum">
              <a:rPr lang="en-US" altLang="zh-CN" smtClean="0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108F108F-931F-4DF0-B719-13E0A2E18D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A66C46D-F36A-4A48-BE6C-E9210C218EF0}" type="slidenum">
              <a:rPr lang="en-US" altLang="zh-CN" smtClean="0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5A8379AA-49F0-416B-BA4D-95E8EF90F33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B30689D0-6F86-4408-99BE-1DA779AC5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5D269C38-29A8-446C-AC95-2AE5A094F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C5953D-6FB1-4BC7-85F8-3EAF04FA16BE}" type="slidenum">
              <a:rPr lang="en-US" altLang="zh-CN" smtClean="0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4F05A7C2-E56C-4A57-B3AC-8E73D9A1F4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F7ECC88E-A26D-4E50-9E4D-272D78FBC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E474F63F-3CFF-404D-82E5-5AF1A4B78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0F6CBA-D8F8-4DD9-890B-6C8FA6C150E0}" type="slidenum">
              <a:rPr lang="en-US" altLang="zh-CN" smtClean="0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B38B9538-4687-4912-B72A-81CF94EE963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FF0A8BB-3B1A-48EF-9854-BF812D65D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E5B36733-07B4-45F3-B649-D4EA57FD83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4E605E2-0FA9-4E4A-B1AE-8368EFD5300B}" type="slidenum">
              <a:rPr lang="en-US" altLang="zh-CN" smtClean="0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EAC342CC-B7A2-407A-AF17-116424AD589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59AEAFD-CB1C-4E97-82BC-D8E6B43DC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5751CAB0-1008-44D7-8575-645C13C936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7807B1D-00A3-45FE-B84F-4759A76F27C4}" type="slidenum">
              <a:rPr lang="en-US" altLang="zh-CN" smtClean="0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41D07D99-9BFE-4CE5-9637-17FC3F65D2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475FB1CD-9C9A-40A4-BCB4-0364EF262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DD5358C7-8F78-48EB-A7F0-3779ABCC53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B337B4E-1892-46B2-B288-46C27DC677B1}" type="slidenum">
              <a:rPr lang="en-US" altLang="zh-CN" smtClean="0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0432009E-2DB0-4340-A89B-CFF4B8F8483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31CB56A-8744-40A3-85EA-813AE54E7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8B7A24C-622F-4C4B-B2A1-7C424ECCB8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3102BB6-B0D7-4A38-945B-E3DCE5A1CE3D}" type="slidenum">
              <a:rPr lang="en-US" altLang="zh-CN" smtClean="0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326075E-6374-4A57-86E1-171BFAE5C86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6F008DEF-8C8B-4BF1-BAE3-1D2B23698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89AC7DBB-89AD-49E7-AE78-AA0661A335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1BB84A-F672-4F28-BCC6-6D20DDBCDF32}" type="slidenum">
              <a:rPr lang="en-US" altLang="zh-CN" smtClean="0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2B0AB05-ACC4-4EE2-BA62-2EE8FA790A5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82F45B8-7B90-459C-AD27-CF597A705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09C19F2C-787D-4F87-919A-FA7F9A2BCF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D85795C-7E5B-4007-B022-0D1292B567D5}" type="slidenum">
              <a:rPr lang="en-US" altLang="zh-CN" smtClean="0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E2B7000-5C2A-48BC-B414-4B36F2BF4FE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C3DBE50F-710F-41DC-92C8-092B71D65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A719F14F-5C09-453F-A5DB-828D873AB2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04240A4-4511-4F83-A1A0-7C0C9116ECCF}" type="slidenum">
              <a:rPr lang="en-US" altLang="zh-CN" smtClean="0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87D64B06-4E5D-4596-A6FF-CAAD2133231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E1DF8325-1F93-4350-90B2-C0D1EA46A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DBBB31B-A8D3-4010-93AA-CF6ED59334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00474A-9461-4EFA-9466-BB9FE4C12D55}" type="slidenum">
              <a:rPr lang="en-US" altLang="zh-CN" smtClean="0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0099FA6E-96F2-4DB1-AA8D-5C86305AB1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AAFDF86D-B664-4FAF-BC13-A953ABA95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2C02FCA8-A46E-4AB8-98A5-AE574292AE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FEBDF5-D930-4F02-961D-DDA653D978CC}" type="slidenum">
              <a:rPr lang="en-US" altLang="zh-CN" smtClean="0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BDA4902-DF88-4618-BC47-D0F378DFB0B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569F3051-3417-485A-A81C-E33DA3DDB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70FABF79-27AC-4606-B68A-0C4B324D28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AFB6A1-909A-42AA-A848-E1C20282508D}" type="slidenum">
              <a:rPr lang="en-US" altLang="zh-CN" smtClean="0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4A35A9FB-1D13-4778-83FC-19D201DC8B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000D8B23-BE2D-4727-AB3B-ACC75D8F8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846A8507-CF81-4E31-B583-3EEC7937D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78443F-695E-45ED-BC63-C219E14D777A}" type="slidenum">
              <a:rPr lang="en-US" altLang="zh-CN" smtClean="0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DE578476-1C38-4C56-8C04-1CE73CF1767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B70B66AF-6312-4598-BFC6-88C94A518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061282F1-5827-4F83-BF46-CB4A8124D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2801012-F60C-4E75-A4CA-2C1117513472}" type="slidenum">
              <a:rPr lang="en-US" altLang="zh-CN" smtClean="0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B8C381AC-39F1-4CF0-9BD4-F71C3A1D7FE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2B4B0BB8-D3AD-4F9A-B8E5-3E670A453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16390EFA-1171-4CD1-B279-3517E2CD2A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5AF9066-7D11-46AF-B269-7C449C8452DC}" type="slidenum">
              <a:rPr lang="en-US" altLang="zh-CN" smtClean="0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A838AC93-A803-4839-8676-2E6E7E3323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BA6FFA4F-D63C-48C8-AA5C-D61B9E03D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2DF6A09-BDF3-4010-83E8-A53E14A6A2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302E06B-7059-4630-AA86-3E53582B9FC4}" type="slidenum">
              <a:rPr lang="en-US" altLang="zh-CN" smtClean="0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BCF4BCB-F845-4551-B094-1D2120CCBEB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EE399FF-AD4C-4A4C-B384-C285A537C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8C49568E-032F-4D62-9756-0A684A2771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B31DDC-2480-42F3-AB9D-2C2E92D9A6E8}" type="slidenum">
              <a:rPr lang="en-US" altLang="zh-CN" smtClean="0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1699EF5-543E-4441-A6A0-3067A624295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3AA0D7F3-41EB-40CD-BC3F-5098663D93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8B3FAC9C-A6F0-42A7-8F6B-9DB54D65E5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463CA03-3E04-47D8-B852-54D456A3298B}" type="slidenum">
              <a:rPr lang="en-US" altLang="zh-CN" smtClean="0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F4389566-3081-4883-AFED-11989C89C49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4537E004-20DC-455B-A534-F6E7F4A67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013FB97B-1EED-4D76-A35F-8A7A2150B1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405B2DA-E86C-476D-A63C-C64102FA8469}" type="slidenum">
              <a:rPr lang="en-US" altLang="zh-CN" smtClean="0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89156D6B-ADD6-4E94-BDCD-5AA1DBE1740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D0CB0CFD-A71E-44BE-BF02-BF0BDEEAD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29ACC78-4B53-4E14-AE4D-C4C9E25F7A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52BF40F-332B-42F6-B389-7AF83BC3A3F5}" type="slidenum">
              <a:rPr lang="en-US" altLang="zh-CN" smtClean="0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43B9D0C7-6430-4C08-B720-664AD70095B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634D9D39-DC23-487B-9BC4-E2FB0DA91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51628B12-53B7-4AB8-BD76-3A41246F21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DABDBF3-FFE5-448E-9742-3A466CCF6C6A}" type="slidenum">
              <a:rPr lang="en-US" altLang="zh-CN" smtClean="0"/>
              <a:pPr>
                <a:spcBef>
                  <a:spcPct val="0"/>
                </a:spcBef>
              </a:pPr>
              <a:t>45</a:t>
            </a:fld>
            <a:endParaRPr lang="en-US" altLang="zh-CN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85D5FADB-2971-4D7F-AEEB-13D3E32E17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CB522761-BCF7-427E-9BD8-ED7C9C576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9279BA7C-DAB9-4E31-B467-A5C85CF9A9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068DCAF-7C9B-4DA2-B272-7658FA70BB7B}" type="slidenum">
              <a:rPr lang="en-US" altLang="zh-CN" smtClean="0"/>
              <a:pPr>
                <a:spcBef>
                  <a:spcPct val="0"/>
                </a:spcBef>
              </a:pPr>
              <a:t>46</a:t>
            </a:fld>
            <a:endParaRPr lang="en-US" altLang="zh-CN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7E09ED33-EF2D-4854-9D4B-CFAB97777D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3DA4FBF0-96BF-44D6-AF32-03DB5076B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1EF8E657-7BDF-48E4-A6B5-B41CB74AA4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60EA30A-98EA-476D-BEB8-F5E794929617}" type="slidenum">
              <a:rPr lang="en-US" altLang="zh-CN" smtClean="0"/>
              <a:pPr>
                <a:spcBef>
                  <a:spcPct val="0"/>
                </a:spcBef>
              </a:pPr>
              <a:t>47</a:t>
            </a:fld>
            <a:endParaRPr lang="en-US" altLang="zh-CN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13885DF-AA12-48C6-95F9-AA1EE81463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F2EA315C-4F44-4DD2-A782-99494FFF6D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21F4B40D-95E6-43C7-91FC-D4B5B39778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F0F71D5-122E-4507-8685-53EF14584FB1}" type="slidenum">
              <a:rPr lang="en-US" altLang="zh-CN" smtClean="0"/>
              <a:pPr>
                <a:spcBef>
                  <a:spcPct val="0"/>
                </a:spcBef>
              </a:pPr>
              <a:t>48</a:t>
            </a:fld>
            <a:endParaRPr lang="en-US" altLang="zh-CN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A4DF061E-895B-4536-B6DC-D246F28B94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687AED69-4A08-4AA0-AF91-FCC9C32EE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1A5F82B9-9744-49CF-977C-75586A3CCC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1B80763-2910-488E-905E-BE0A31F89D1B}" type="slidenum">
              <a:rPr lang="en-US" altLang="zh-CN" smtClean="0"/>
              <a:pPr>
                <a:spcBef>
                  <a:spcPct val="0"/>
                </a:spcBef>
              </a:pPr>
              <a:t>49</a:t>
            </a:fld>
            <a:endParaRPr lang="en-US" altLang="zh-CN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41174DA8-75CE-48F2-991D-F92AC7B31A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61843A9D-08D8-4721-89EF-391E7C899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B48673DA-5B40-45FF-8611-3939A612A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1FC4CF-9056-449F-A6BE-A978B5F9CA28}" type="slidenum">
              <a:rPr lang="en-US" altLang="zh-CN" smtClean="0"/>
              <a:pPr>
                <a:spcBef>
                  <a:spcPct val="0"/>
                </a:spcBef>
              </a:pPr>
              <a:t>50</a:t>
            </a:fld>
            <a:endParaRPr lang="en-US" altLang="zh-CN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012A572F-1164-4082-B169-C757D73628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A7468E0A-95DD-4CC0-8D83-5AE461CE2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E92315AD-5EA8-45B6-ADC5-636E4319DB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17C5105-8494-49C1-B89A-811DED65E0AE}" type="slidenum">
              <a:rPr lang="en-US" altLang="zh-CN" smtClean="0"/>
              <a:pPr>
                <a:spcBef>
                  <a:spcPct val="0"/>
                </a:spcBef>
              </a:pPr>
              <a:t>51</a:t>
            </a:fld>
            <a:endParaRPr lang="en-US" altLang="zh-CN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5563EE7F-127A-4530-A49A-8AEA1507492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CF3FEF73-9290-4BC4-8921-4B4B5F2AD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E0B2F85D-94BC-4F42-BA9D-4B0D6A33C4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2984BC-D295-4BDB-A22F-4A966CCB6979}" type="slidenum">
              <a:rPr lang="en-US" altLang="zh-CN" smtClean="0"/>
              <a:pPr>
                <a:spcBef>
                  <a:spcPct val="0"/>
                </a:spcBef>
              </a:pPr>
              <a:t>52</a:t>
            </a:fld>
            <a:endParaRPr lang="en-US" altLang="zh-CN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9F693C8-D74C-401F-BF74-FB6CE4DD71F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6DB3A994-5C20-4240-B47C-8B007F2114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1BD180A8-8E93-4E4B-95F4-CF1D24CDFA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DB6403F-4939-4951-B880-058702A6F4AF}" type="slidenum">
              <a:rPr lang="en-US" altLang="zh-CN" smtClean="0"/>
              <a:pPr>
                <a:spcBef>
                  <a:spcPct val="0"/>
                </a:spcBef>
              </a:pPr>
              <a:t>53</a:t>
            </a:fld>
            <a:endParaRPr lang="en-US" altLang="zh-CN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C14FB575-D0D7-4E3D-9359-BA4E23CA967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36B861A5-948D-4B07-9590-27DAE8991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42CEB1FA-B1F6-4106-AB56-CDDEDB292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4FE5888-0D95-44B6-A4A9-12739281E5D8}" type="slidenum">
              <a:rPr lang="en-US" altLang="zh-CN" smtClean="0"/>
              <a:pPr>
                <a:spcBef>
                  <a:spcPct val="0"/>
                </a:spcBef>
              </a:pPr>
              <a:t>54</a:t>
            </a:fld>
            <a:endParaRPr lang="en-US" altLang="zh-CN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911D9481-1BB6-4970-A304-17838D1EA12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D84E48E0-EF2B-4416-AF4A-68A7067FB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096FC943-E7C8-42B1-80F7-5BDF1E589D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920BAB5-702B-4FFE-8FA5-3D6DA681F0C1}" type="slidenum">
              <a:rPr lang="en-US" altLang="zh-CN" smtClean="0"/>
              <a:pPr>
                <a:spcBef>
                  <a:spcPct val="0"/>
                </a:spcBef>
              </a:pPr>
              <a:t>55</a:t>
            </a:fld>
            <a:endParaRPr lang="en-US" altLang="zh-CN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2D1F0315-DBA8-4883-87CB-7A314309B2D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3B892EA2-8981-49C1-9071-B75D795E2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6D474F5D-C267-41A0-B702-D67E1B70B9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C88421-A654-4162-ABAF-F60D0959EEFB}" type="slidenum">
              <a:rPr lang="en-US" altLang="zh-CN" smtClean="0"/>
              <a:pPr>
                <a:spcBef>
                  <a:spcPct val="0"/>
                </a:spcBef>
              </a:pPr>
              <a:t>56</a:t>
            </a:fld>
            <a:endParaRPr lang="en-US" altLang="zh-CN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3D5C79B6-9BCD-446D-8C02-08E2B31C351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63112E39-79FC-477A-988F-08CCF371DF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F03C0090-D73D-434C-8B80-81DA53E15F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D98D1BB-B8B7-4478-8947-D8025FDA537B}" type="slidenum">
              <a:rPr lang="en-US" altLang="zh-CN" smtClean="0"/>
              <a:pPr>
                <a:spcBef>
                  <a:spcPct val="0"/>
                </a:spcBef>
              </a:pPr>
              <a:t>57</a:t>
            </a:fld>
            <a:endParaRPr lang="en-US" altLang="zh-CN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E3DF261-BF32-4E7D-8EDF-57AF1691B6C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578EA182-B6C4-4A17-BDD5-79FBD6228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748A0E89-121A-4F52-BD08-00AEAA48E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371B67-C782-4BEE-964A-AF7CAA836493}" type="slidenum">
              <a:rPr lang="en-US" altLang="zh-CN" smtClean="0"/>
              <a:pPr>
                <a:spcBef>
                  <a:spcPct val="0"/>
                </a:spcBef>
              </a:pPr>
              <a:t>58</a:t>
            </a:fld>
            <a:endParaRPr lang="en-US" altLang="zh-CN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C58036CC-2E10-4783-A86F-2EB3F1CD3D1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C8299589-CE1B-4AE9-BE07-1AF26CBB3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9BC5BD1E-4E7F-4A21-8919-29324C3DF5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2ED5B86-DAEB-42B5-930D-4FF9C125CBD5}" type="slidenum">
              <a:rPr lang="en-US" altLang="zh-CN" smtClean="0"/>
              <a:pPr>
                <a:spcBef>
                  <a:spcPct val="0"/>
                </a:spcBef>
              </a:pPr>
              <a:t>59</a:t>
            </a:fld>
            <a:endParaRPr lang="en-US" altLang="zh-CN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E002CBDD-743F-4E43-B6BE-CC9EF7FD18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A1CA493C-7C98-47D2-8AB9-189047068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C71B024A-71C9-465C-92CA-6F016DCEA3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CE9AC8-E6F6-4834-9E71-00AB210AC4C5}" type="slidenum">
              <a:rPr lang="en-US" altLang="zh-CN" smtClean="0"/>
              <a:pPr>
                <a:spcBef>
                  <a:spcPct val="0"/>
                </a:spcBef>
              </a:pPr>
              <a:t>60</a:t>
            </a:fld>
            <a:endParaRPr lang="en-US" altLang="zh-CN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578D2EFB-231F-4274-9FBD-2F9EC9BF01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409EDABD-D701-4144-905F-510AB71DE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>
            <a:extLst>
              <a:ext uri="{FF2B5EF4-FFF2-40B4-BE49-F238E27FC236}">
                <a16:creationId xmlns:a16="http://schemas.microsoft.com/office/drawing/2014/main" id="{C0278DC6-7700-4E97-9A68-17B9FECC1A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备注占位符 2">
            <a:extLst>
              <a:ext uri="{FF2B5EF4-FFF2-40B4-BE49-F238E27FC236}">
                <a16:creationId xmlns:a16="http://schemas.microsoft.com/office/drawing/2014/main" id="{096842A1-49C0-4CAB-89B4-81B31051A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36196" name="灯片编号占位符 3">
            <a:extLst>
              <a:ext uri="{FF2B5EF4-FFF2-40B4-BE49-F238E27FC236}">
                <a16:creationId xmlns:a16="http://schemas.microsoft.com/office/drawing/2014/main" id="{0F3C6235-41E5-4DDA-A0CE-5AFEC0238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C63B93-A2FF-4BD3-A0AB-2CEA6BB0B5CF}" type="slidenum">
              <a:rPr lang="en-US" altLang="zh-CN" smtClean="0"/>
              <a:pPr>
                <a:spcBef>
                  <a:spcPct val="0"/>
                </a:spcBef>
              </a:pPr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>
            <a:extLst>
              <a:ext uri="{FF2B5EF4-FFF2-40B4-BE49-F238E27FC236}">
                <a16:creationId xmlns:a16="http://schemas.microsoft.com/office/drawing/2014/main" id="{6A81B083-7F78-44F1-A02F-FF48F44601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备注占位符 2">
            <a:extLst>
              <a:ext uri="{FF2B5EF4-FFF2-40B4-BE49-F238E27FC236}">
                <a16:creationId xmlns:a16="http://schemas.microsoft.com/office/drawing/2014/main" id="{16C1E88E-025C-4AA0-A4B1-91FFC620A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38244" name="灯片编号占位符 3">
            <a:extLst>
              <a:ext uri="{FF2B5EF4-FFF2-40B4-BE49-F238E27FC236}">
                <a16:creationId xmlns:a16="http://schemas.microsoft.com/office/drawing/2014/main" id="{B27A7373-E07A-4E80-9343-E8055646E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86A1E89-93C1-4D4B-8AD4-55B5D693E2D7}" type="slidenum">
              <a:rPr lang="en-US" altLang="zh-CN" smtClean="0"/>
              <a:pPr>
                <a:spcBef>
                  <a:spcPct val="0"/>
                </a:spcBef>
              </a:pPr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>
            <a:extLst>
              <a:ext uri="{FF2B5EF4-FFF2-40B4-BE49-F238E27FC236}">
                <a16:creationId xmlns:a16="http://schemas.microsoft.com/office/drawing/2014/main" id="{B8BD28F4-CB09-45C9-A2A4-88218F37D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备注占位符 2">
            <a:extLst>
              <a:ext uri="{FF2B5EF4-FFF2-40B4-BE49-F238E27FC236}">
                <a16:creationId xmlns:a16="http://schemas.microsoft.com/office/drawing/2014/main" id="{FEA17252-2F77-4E77-83DE-A0B843DE6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40292" name="灯片编号占位符 3">
            <a:extLst>
              <a:ext uri="{FF2B5EF4-FFF2-40B4-BE49-F238E27FC236}">
                <a16:creationId xmlns:a16="http://schemas.microsoft.com/office/drawing/2014/main" id="{2F761432-91F6-4DA1-AC2D-B385FAE22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8CFB8C9-FECA-4BA8-8DB3-EFA7CDC5ECE3}" type="slidenum">
              <a:rPr lang="en-US" altLang="zh-CN" smtClean="0"/>
              <a:pPr>
                <a:spcBef>
                  <a:spcPct val="0"/>
                </a:spcBef>
              </a:pPr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>
            <a:extLst>
              <a:ext uri="{FF2B5EF4-FFF2-40B4-BE49-F238E27FC236}">
                <a16:creationId xmlns:a16="http://schemas.microsoft.com/office/drawing/2014/main" id="{D9C476C6-E899-4F1B-9621-C325AFB9BF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备注占位符 2">
            <a:extLst>
              <a:ext uri="{FF2B5EF4-FFF2-40B4-BE49-F238E27FC236}">
                <a16:creationId xmlns:a16="http://schemas.microsoft.com/office/drawing/2014/main" id="{EA6F3058-AD80-439B-8C05-A93CF97C5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42340" name="灯片编号占位符 3">
            <a:extLst>
              <a:ext uri="{FF2B5EF4-FFF2-40B4-BE49-F238E27FC236}">
                <a16:creationId xmlns:a16="http://schemas.microsoft.com/office/drawing/2014/main" id="{21E92686-EFF4-4A8D-8735-EFB70F6CC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8656DA-4AE3-4C47-93A5-D78BD58BEE09}" type="slidenum">
              <a:rPr lang="en-US" altLang="zh-CN" smtClean="0"/>
              <a:pPr>
                <a:spcBef>
                  <a:spcPct val="0"/>
                </a:spcBef>
              </a:pPr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>
            <a:extLst>
              <a:ext uri="{FF2B5EF4-FFF2-40B4-BE49-F238E27FC236}">
                <a16:creationId xmlns:a16="http://schemas.microsoft.com/office/drawing/2014/main" id="{8466ECE8-E959-488B-828F-8618FA2329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备注占位符 2">
            <a:extLst>
              <a:ext uri="{FF2B5EF4-FFF2-40B4-BE49-F238E27FC236}">
                <a16:creationId xmlns:a16="http://schemas.microsoft.com/office/drawing/2014/main" id="{0F86CDDF-DCC8-46C8-8990-2EAB94032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44388" name="灯片编号占位符 3">
            <a:extLst>
              <a:ext uri="{FF2B5EF4-FFF2-40B4-BE49-F238E27FC236}">
                <a16:creationId xmlns:a16="http://schemas.microsoft.com/office/drawing/2014/main" id="{6C1F2617-3211-44F0-9911-B4990D726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A17EE9-0B70-4445-983B-1C8A9776A4E7}" type="slidenum">
              <a:rPr lang="en-US" altLang="zh-CN" smtClean="0"/>
              <a:pPr>
                <a:spcBef>
                  <a:spcPct val="0"/>
                </a:spcBef>
              </a:pPr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幻灯片图像占位符 1">
            <a:extLst>
              <a:ext uri="{FF2B5EF4-FFF2-40B4-BE49-F238E27FC236}">
                <a16:creationId xmlns:a16="http://schemas.microsoft.com/office/drawing/2014/main" id="{29A392CC-B79E-4054-BA6D-FE899DE5E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备注占位符 2">
            <a:extLst>
              <a:ext uri="{FF2B5EF4-FFF2-40B4-BE49-F238E27FC236}">
                <a16:creationId xmlns:a16="http://schemas.microsoft.com/office/drawing/2014/main" id="{8320900A-9EFA-496B-A897-CD81BA148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46436" name="灯片编号占位符 3">
            <a:extLst>
              <a:ext uri="{FF2B5EF4-FFF2-40B4-BE49-F238E27FC236}">
                <a16:creationId xmlns:a16="http://schemas.microsoft.com/office/drawing/2014/main" id="{D91CDB71-519C-4469-ADBD-8D62B5B21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9388E4-8DA9-4785-88D4-A89AC9DCDAC6}" type="slidenum">
              <a:rPr lang="en-US" altLang="zh-CN" smtClean="0"/>
              <a:pPr>
                <a:spcBef>
                  <a:spcPct val="0"/>
                </a:spcBef>
              </a:pPr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DA738CA3-5EAA-4280-B84C-5B52C1CAD8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86294A3-EABC-44D9-BCE7-9A88B55ECB69}" type="slidenum">
              <a:rPr lang="en-US" altLang="zh-CN" smtClean="0"/>
              <a:pPr>
                <a:spcBef>
                  <a:spcPct val="0"/>
                </a:spcBef>
              </a:pPr>
              <a:t>67</a:t>
            </a:fld>
            <a:endParaRPr lang="en-US" altLang="zh-CN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C7E46BC6-A9AE-49A4-81B5-616254AF41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5AEF0B52-1B72-4C65-BBFA-8385ADD90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(1)</a:t>
            </a:r>
            <a:r>
              <a:rPr lang="zh-CN" altLang="en-US"/>
              <a:t>和</a:t>
            </a:r>
            <a:r>
              <a:rPr lang="en-US" altLang="zh-CN"/>
              <a:t>(3)</a:t>
            </a:r>
            <a:r>
              <a:rPr lang="zh-CN" altLang="en-US"/>
              <a:t>部分只执行一次，</a:t>
            </a:r>
            <a:r>
              <a:rPr lang="en-US" altLang="zh-CN"/>
              <a:t>(2)</a:t>
            </a:r>
            <a:r>
              <a:rPr lang="zh-CN" altLang="en-US"/>
              <a:t>部分每循环一次就执行一次。</a:t>
            </a:r>
          </a:p>
          <a:p>
            <a:pPr eaLnBrk="1" hangingPunct="1"/>
            <a:endParaRPr lang="zh-CN" altLang="en-US" sz="1000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幻灯片图像占位符 1">
            <a:extLst>
              <a:ext uri="{FF2B5EF4-FFF2-40B4-BE49-F238E27FC236}">
                <a16:creationId xmlns:a16="http://schemas.microsoft.com/office/drawing/2014/main" id="{070F4928-12C7-493F-BEFD-A3FDDB2F5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备注占位符 2">
            <a:extLst>
              <a:ext uri="{FF2B5EF4-FFF2-40B4-BE49-F238E27FC236}">
                <a16:creationId xmlns:a16="http://schemas.microsoft.com/office/drawing/2014/main" id="{7101B6C4-E284-4047-BE80-38EBD343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50532" name="灯片编号占位符 3">
            <a:extLst>
              <a:ext uri="{FF2B5EF4-FFF2-40B4-BE49-F238E27FC236}">
                <a16:creationId xmlns:a16="http://schemas.microsoft.com/office/drawing/2014/main" id="{8FD65B8C-D77E-49BD-BC35-172AEF795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0CDD6AE-4899-4A41-A6B3-CDBB68931F8A}" type="slidenum">
              <a:rPr lang="en-US" altLang="zh-CN" smtClean="0"/>
              <a:pPr>
                <a:spcBef>
                  <a:spcPct val="0"/>
                </a:spcBef>
              </a:pPr>
              <a:t>68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4BE7D2D3-2E95-45B7-89FE-A3C894274D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470D78-92F8-407F-B54D-752D162D1408}" type="slidenum">
              <a:rPr lang="en-US" altLang="zh-CN" smtClean="0"/>
              <a:pPr>
                <a:spcBef>
                  <a:spcPct val="0"/>
                </a:spcBef>
              </a:pPr>
              <a:t>69</a:t>
            </a:fld>
            <a:endParaRPr lang="en-US" altLang="zh-CN"/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955138BA-A346-462E-987B-5CF436F458C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4ED294E7-E460-4C11-B952-DB1BDEA2DCC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47826552-0778-4B6A-A0F7-466F967AD6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22AA9E-EF52-41DA-84A3-CEF2F2D09729}" type="slidenum">
              <a:rPr lang="en-US" altLang="zh-CN" smtClean="0"/>
              <a:pPr>
                <a:spcBef>
                  <a:spcPct val="0"/>
                </a:spcBef>
              </a:pPr>
              <a:t>70</a:t>
            </a:fld>
            <a:endParaRPr lang="en-US" altLang="zh-CN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298548E4-FCBA-4044-9B2C-5674BF7A3E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CC007546-142F-4C7B-B1CD-C77843A17C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幻灯片图像占位符 1">
            <a:extLst>
              <a:ext uri="{FF2B5EF4-FFF2-40B4-BE49-F238E27FC236}">
                <a16:creationId xmlns:a16="http://schemas.microsoft.com/office/drawing/2014/main" id="{15707AEC-DC12-4AC7-AB23-647F0EDB22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备注占位符 2">
            <a:extLst>
              <a:ext uri="{FF2B5EF4-FFF2-40B4-BE49-F238E27FC236}">
                <a16:creationId xmlns:a16="http://schemas.microsoft.com/office/drawing/2014/main" id="{8E35489E-ECFC-45B1-B6FE-C8F2532A5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56676" name="灯片编号占位符 3">
            <a:extLst>
              <a:ext uri="{FF2B5EF4-FFF2-40B4-BE49-F238E27FC236}">
                <a16:creationId xmlns:a16="http://schemas.microsoft.com/office/drawing/2014/main" id="{1838F9C1-9BE5-431B-879E-3ED29C50E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E0E0BC-3504-45FF-8D50-3DC77681F918}" type="slidenum">
              <a:rPr lang="en-US" altLang="zh-CN" smtClean="0"/>
              <a:pPr>
                <a:spcBef>
                  <a:spcPct val="0"/>
                </a:spcBef>
              </a:pPr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幻灯片图像占位符 1">
            <a:extLst>
              <a:ext uri="{FF2B5EF4-FFF2-40B4-BE49-F238E27FC236}">
                <a16:creationId xmlns:a16="http://schemas.microsoft.com/office/drawing/2014/main" id="{0D6CAB50-A299-4290-94AE-3537D885DA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备注占位符 2">
            <a:extLst>
              <a:ext uri="{FF2B5EF4-FFF2-40B4-BE49-F238E27FC236}">
                <a16:creationId xmlns:a16="http://schemas.microsoft.com/office/drawing/2014/main" id="{2988EDEF-4833-4E52-92E4-7B58A6BA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58724" name="灯片编号占位符 3">
            <a:extLst>
              <a:ext uri="{FF2B5EF4-FFF2-40B4-BE49-F238E27FC236}">
                <a16:creationId xmlns:a16="http://schemas.microsoft.com/office/drawing/2014/main" id="{FD8BAB57-111B-4389-9F9F-037E1FDF9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E0EA017-C641-4C72-986B-4B0C0AC43DFD}" type="slidenum">
              <a:rPr lang="en-US" altLang="zh-CN" smtClean="0"/>
              <a:pPr>
                <a:spcBef>
                  <a:spcPct val="0"/>
                </a:spcBef>
              </a:pPr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>
            <a:extLst>
              <a:ext uri="{FF2B5EF4-FFF2-40B4-BE49-F238E27FC236}">
                <a16:creationId xmlns:a16="http://schemas.microsoft.com/office/drawing/2014/main" id="{45D0A714-F381-443C-8D89-41BAD19E4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备注占位符 2">
            <a:extLst>
              <a:ext uri="{FF2B5EF4-FFF2-40B4-BE49-F238E27FC236}">
                <a16:creationId xmlns:a16="http://schemas.microsoft.com/office/drawing/2014/main" id="{C4206159-A9C5-443D-9D4A-4348A411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60772" name="灯片编号占位符 3">
            <a:extLst>
              <a:ext uri="{FF2B5EF4-FFF2-40B4-BE49-F238E27FC236}">
                <a16:creationId xmlns:a16="http://schemas.microsoft.com/office/drawing/2014/main" id="{7D6AA13D-6529-4439-9CCE-10336A10D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B6FE343-45F1-4BD3-86E2-D34553902EE9}" type="slidenum">
              <a:rPr lang="en-US" altLang="zh-CN" smtClean="0"/>
              <a:pPr>
                <a:spcBef>
                  <a:spcPct val="0"/>
                </a:spcBef>
              </a:pPr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15195DF2-2187-484C-90EA-139FB419DB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2339B6E-07D3-4B71-9D72-78A6401D1393}" type="slidenum">
              <a:rPr lang="en-US" altLang="zh-CN" smtClean="0"/>
              <a:pPr>
                <a:spcBef>
                  <a:spcPct val="0"/>
                </a:spcBef>
              </a:pPr>
              <a:t>74</a:t>
            </a:fld>
            <a:endParaRPr lang="en-US" altLang="zh-CN"/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BDFAD601-F836-4EDC-9C31-BD6E2A84CCD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B4907347-4C12-4646-ABEF-153192F21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幻灯片图像占位符 1">
            <a:extLst>
              <a:ext uri="{FF2B5EF4-FFF2-40B4-BE49-F238E27FC236}">
                <a16:creationId xmlns:a16="http://schemas.microsoft.com/office/drawing/2014/main" id="{11710759-C2D4-4250-A428-BB51479DD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备注占位符 2">
            <a:extLst>
              <a:ext uri="{FF2B5EF4-FFF2-40B4-BE49-F238E27FC236}">
                <a16:creationId xmlns:a16="http://schemas.microsoft.com/office/drawing/2014/main" id="{0136B4BE-C542-4F1B-8B2D-CFCDA61DE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64868" name="灯片编号占位符 3">
            <a:extLst>
              <a:ext uri="{FF2B5EF4-FFF2-40B4-BE49-F238E27FC236}">
                <a16:creationId xmlns:a16="http://schemas.microsoft.com/office/drawing/2014/main" id="{C8901CF6-EC22-4017-9FC5-71D2C4B54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1221A74-11F4-4DDE-9A7E-8FDE121A9DE5}" type="slidenum">
              <a:rPr lang="en-US" altLang="zh-CN" smtClean="0"/>
              <a:pPr>
                <a:spcBef>
                  <a:spcPct val="0"/>
                </a:spcBef>
              </a:pPr>
              <a:t>75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:a16="http://schemas.microsoft.com/office/drawing/2014/main" id="{FDD6B829-0603-4B90-9B5F-C5F22853F2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A8E961-84F5-4B1E-9C93-648CE797B455}" type="slidenum">
              <a:rPr lang="en-US" altLang="zh-CN" smtClean="0"/>
              <a:pPr>
                <a:spcBef>
                  <a:spcPct val="0"/>
                </a:spcBef>
              </a:pPr>
              <a:t>76</a:t>
            </a:fld>
            <a:endParaRPr lang="en-US" altLang="zh-CN"/>
          </a:p>
        </p:txBody>
      </p:sp>
      <p:sp>
        <p:nvSpPr>
          <p:cNvPr id="166915" name="Rectangle 2">
            <a:extLst>
              <a:ext uri="{FF2B5EF4-FFF2-40B4-BE49-F238E27FC236}">
                <a16:creationId xmlns:a16="http://schemas.microsoft.com/office/drawing/2014/main" id="{ACF30AEF-C6C0-4CEC-BC98-E05D161ACB1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>
            <a:extLst>
              <a:ext uri="{FF2B5EF4-FFF2-40B4-BE49-F238E27FC236}">
                <a16:creationId xmlns:a16="http://schemas.microsoft.com/office/drawing/2014/main" id="{29481A4F-089F-46F0-B85F-55F52F1A2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幻灯片图像占位符 1">
            <a:extLst>
              <a:ext uri="{FF2B5EF4-FFF2-40B4-BE49-F238E27FC236}">
                <a16:creationId xmlns:a16="http://schemas.microsoft.com/office/drawing/2014/main" id="{E038AB8E-2B76-4BDA-A471-1119EA738B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备注占位符 2">
            <a:extLst>
              <a:ext uri="{FF2B5EF4-FFF2-40B4-BE49-F238E27FC236}">
                <a16:creationId xmlns:a16="http://schemas.microsoft.com/office/drawing/2014/main" id="{F176856E-FDE9-4199-85AD-48E7F7450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68964" name="灯片编号占位符 3">
            <a:extLst>
              <a:ext uri="{FF2B5EF4-FFF2-40B4-BE49-F238E27FC236}">
                <a16:creationId xmlns:a16="http://schemas.microsoft.com/office/drawing/2014/main" id="{DAAB2E6C-F76D-464B-ABED-B32EF3815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2070A9E-A403-4163-955A-9CCFCBB4E196}" type="slidenum">
              <a:rPr lang="en-US" altLang="zh-CN" smtClean="0"/>
              <a:pPr>
                <a:spcBef>
                  <a:spcPct val="0"/>
                </a:spcBef>
              </a:pPr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幻灯片图像占位符 1">
            <a:extLst>
              <a:ext uri="{FF2B5EF4-FFF2-40B4-BE49-F238E27FC236}">
                <a16:creationId xmlns:a16="http://schemas.microsoft.com/office/drawing/2014/main" id="{27444C53-60B3-4105-BE54-0597B350D5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备注占位符 2">
            <a:extLst>
              <a:ext uri="{FF2B5EF4-FFF2-40B4-BE49-F238E27FC236}">
                <a16:creationId xmlns:a16="http://schemas.microsoft.com/office/drawing/2014/main" id="{ECB0921E-77C9-4EFD-94B1-275A57538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71012" name="灯片编号占位符 3">
            <a:extLst>
              <a:ext uri="{FF2B5EF4-FFF2-40B4-BE49-F238E27FC236}">
                <a16:creationId xmlns:a16="http://schemas.microsoft.com/office/drawing/2014/main" id="{C85BF302-E403-478F-9E84-20DF05C07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B8C73E-C14E-4167-9344-9CF03C306822}" type="slidenum">
              <a:rPr lang="en-US" altLang="zh-CN" smtClean="0"/>
              <a:pPr>
                <a:spcBef>
                  <a:spcPct val="0"/>
                </a:spcBef>
              </a:pPr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幻灯片图像占位符 1">
            <a:extLst>
              <a:ext uri="{FF2B5EF4-FFF2-40B4-BE49-F238E27FC236}">
                <a16:creationId xmlns:a16="http://schemas.microsoft.com/office/drawing/2014/main" id="{43A29D13-D9E9-4C8E-A6EC-14EC452183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备注占位符 2">
            <a:extLst>
              <a:ext uri="{FF2B5EF4-FFF2-40B4-BE49-F238E27FC236}">
                <a16:creationId xmlns:a16="http://schemas.microsoft.com/office/drawing/2014/main" id="{4725E0AB-AA07-4D75-9BE4-671E1C043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73060" name="灯片编号占位符 3">
            <a:extLst>
              <a:ext uri="{FF2B5EF4-FFF2-40B4-BE49-F238E27FC236}">
                <a16:creationId xmlns:a16="http://schemas.microsoft.com/office/drawing/2014/main" id="{55915FC8-FA01-4E65-A491-7E9E0E9FD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3010AE8-FD61-400E-BEAF-711C4E35683A}" type="slidenum">
              <a:rPr lang="en-US" altLang="zh-CN" smtClean="0"/>
              <a:pPr>
                <a:spcBef>
                  <a:spcPct val="0"/>
                </a:spcBef>
              </a:pPr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幻灯片图像占位符 1">
            <a:extLst>
              <a:ext uri="{FF2B5EF4-FFF2-40B4-BE49-F238E27FC236}">
                <a16:creationId xmlns:a16="http://schemas.microsoft.com/office/drawing/2014/main" id="{5A9C6528-68CF-45CE-81A6-8527D16E0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备注占位符 2">
            <a:extLst>
              <a:ext uri="{FF2B5EF4-FFF2-40B4-BE49-F238E27FC236}">
                <a16:creationId xmlns:a16="http://schemas.microsoft.com/office/drawing/2014/main" id="{92EFE898-C317-4896-B8F2-F724BB1E3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75108" name="灯片编号占位符 3">
            <a:extLst>
              <a:ext uri="{FF2B5EF4-FFF2-40B4-BE49-F238E27FC236}">
                <a16:creationId xmlns:a16="http://schemas.microsoft.com/office/drawing/2014/main" id="{FBD115B7-5DFE-408C-9E5F-4D28D010D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43F36E-3B0E-416D-8E1A-23172B9EEDDA}" type="slidenum">
              <a:rPr lang="en-US" altLang="zh-CN" smtClean="0"/>
              <a:pPr>
                <a:spcBef>
                  <a:spcPct val="0"/>
                </a:spcBef>
              </a:pPr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>
            <a:extLst>
              <a:ext uri="{FF2B5EF4-FFF2-40B4-BE49-F238E27FC236}">
                <a16:creationId xmlns:a16="http://schemas.microsoft.com/office/drawing/2014/main" id="{EA2CC329-C39D-459D-8030-7570E10DF0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备注占位符 2">
            <a:extLst>
              <a:ext uri="{FF2B5EF4-FFF2-40B4-BE49-F238E27FC236}">
                <a16:creationId xmlns:a16="http://schemas.microsoft.com/office/drawing/2014/main" id="{F51C208C-CE64-4C1A-97B1-9D359C1F9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77156" name="灯片编号占位符 3">
            <a:extLst>
              <a:ext uri="{FF2B5EF4-FFF2-40B4-BE49-F238E27FC236}">
                <a16:creationId xmlns:a16="http://schemas.microsoft.com/office/drawing/2014/main" id="{A9EF46F5-DEC3-4D56-AB51-CA104F162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548C18-EDC8-4147-A91B-0B863EB093F7}" type="slidenum">
              <a:rPr lang="en-US" altLang="zh-CN" smtClean="0"/>
              <a:pPr>
                <a:spcBef>
                  <a:spcPct val="0"/>
                </a:spcBef>
              </a:pPr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幻灯片图像占位符 1">
            <a:extLst>
              <a:ext uri="{FF2B5EF4-FFF2-40B4-BE49-F238E27FC236}">
                <a16:creationId xmlns:a16="http://schemas.microsoft.com/office/drawing/2014/main" id="{7108D63B-2B9F-442D-B11A-E59A906466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备注占位符 2">
            <a:extLst>
              <a:ext uri="{FF2B5EF4-FFF2-40B4-BE49-F238E27FC236}">
                <a16:creationId xmlns:a16="http://schemas.microsoft.com/office/drawing/2014/main" id="{E750A551-D606-413A-97D9-26F0B3B47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79204" name="灯片编号占位符 3">
            <a:extLst>
              <a:ext uri="{FF2B5EF4-FFF2-40B4-BE49-F238E27FC236}">
                <a16:creationId xmlns:a16="http://schemas.microsoft.com/office/drawing/2014/main" id="{551D6DA9-3AA4-4C6D-906C-ED9C2065D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A799AE-BD7C-4F87-BD16-D6A58CEA5F38}" type="slidenum">
              <a:rPr lang="en-US" altLang="zh-CN" smtClean="0"/>
              <a:pPr>
                <a:spcBef>
                  <a:spcPct val="0"/>
                </a:spcBef>
              </a:pPr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幻灯片图像占位符 1">
            <a:extLst>
              <a:ext uri="{FF2B5EF4-FFF2-40B4-BE49-F238E27FC236}">
                <a16:creationId xmlns:a16="http://schemas.microsoft.com/office/drawing/2014/main" id="{99BF333E-541B-4A28-89FE-A342C6A8E4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备注占位符 2">
            <a:extLst>
              <a:ext uri="{FF2B5EF4-FFF2-40B4-BE49-F238E27FC236}">
                <a16:creationId xmlns:a16="http://schemas.microsoft.com/office/drawing/2014/main" id="{CB80FC96-2855-4E0E-9BFE-AABB3704B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1252" name="灯片编号占位符 3">
            <a:extLst>
              <a:ext uri="{FF2B5EF4-FFF2-40B4-BE49-F238E27FC236}">
                <a16:creationId xmlns:a16="http://schemas.microsoft.com/office/drawing/2014/main" id="{017D50AB-1DFB-4403-83A1-6BE322B30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C8494FE-5722-40E6-9ECD-4E1D588D4269}" type="slidenum">
              <a:rPr lang="en-US" altLang="zh-CN" smtClean="0"/>
              <a:pPr>
                <a:spcBef>
                  <a:spcPct val="0"/>
                </a:spcBef>
              </a:pPr>
              <a:t>83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幻灯片图像占位符 1">
            <a:extLst>
              <a:ext uri="{FF2B5EF4-FFF2-40B4-BE49-F238E27FC236}">
                <a16:creationId xmlns:a16="http://schemas.microsoft.com/office/drawing/2014/main" id="{7BE8CD38-C3E3-4FDD-81BA-EBE3AC7C8A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备注占位符 2">
            <a:extLst>
              <a:ext uri="{FF2B5EF4-FFF2-40B4-BE49-F238E27FC236}">
                <a16:creationId xmlns:a16="http://schemas.microsoft.com/office/drawing/2014/main" id="{7901EEF9-CB3B-4827-A2A1-7C1676A7D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3300" name="灯片编号占位符 3">
            <a:extLst>
              <a:ext uri="{FF2B5EF4-FFF2-40B4-BE49-F238E27FC236}">
                <a16:creationId xmlns:a16="http://schemas.microsoft.com/office/drawing/2014/main" id="{4B77F29C-FF95-4C01-AB2A-D71085A92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3E56803-082C-42BC-A056-7F2D9BC8CA69}" type="slidenum">
              <a:rPr lang="en-US" altLang="zh-CN" smtClean="0"/>
              <a:pPr>
                <a:spcBef>
                  <a:spcPct val="0"/>
                </a:spcBef>
              </a:pPr>
              <a:t>84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幻灯片图像占位符 1">
            <a:extLst>
              <a:ext uri="{FF2B5EF4-FFF2-40B4-BE49-F238E27FC236}">
                <a16:creationId xmlns:a16="http://schemas.microsoft.com/office/drawing/2014/main" id="{6705969E-9655-4C08-8FC3-B5D7383D4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备注占位符 2">
            <a:extLst>
              <a:ext uri="{FF2B5EF4-FFF2-40B4-BE49-F238E27FC236}">
                <a16:creationId xmlns:a16="http://schemas.microsoft.com/office/drawing/2014/main" id="{0241835E-7F05-4C0B-A7EC-CDE324D67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5348" name="灯片编号占位符 3">
            <a:extLst>
              <a:ext uri="{FF2B5EF4-FFF2-40B4-BE49-F238E27FC236}">
                <a16:creationId xmlns:a16="http://schemas.microsoft.com/office/drawing/2014/main" id="{E6AACD83-974E-4AE2-B1C4-1812F5D01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E588AE-4C0A-4FCA-9C08-E455D99B15BC}" type="slidenum">
              <a:rPr lang="en-US" altLang="zh-CN" smtClean="0"/>
              <a:pPr>
                <a:spcBef>
                  <a:spcPct val="0"/>
                </a:spcBef>
              </a:pPr>
              <a:t>85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幻灯片图像占位符 1">
            <a:extLst>
              <a:ext uri="{FF2B5EF4-FFF2-40B4-BE49-F238E27FC236}">
                <a16:creationId xmlns:a16="http://schemas.microsoft.com/office/drawing/2014/main" id="{3118CC2A-2BDB-486B-8E25-D0F42315D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备注占位符 2">
            <a:extLst>
              <a:ext uri="{FF2B5EF4-FFF2-40B4-BE49-F238E27FC236}">
                <a16:creationId xmlns:a16="http://schemas.microsoft.com/office/drawing/2014/main" id="{DDE00BFC-70A0-4E9E-AED3-0E63162C4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7396" name="灯片编号占位符 3">
            <a:extLst>
              <a:ext uri="{FF2B5EF4-FFF2-40B4-BE49-F238E27FC236}">
                <a16:creationId xmlns:a16="http://schemas.microsoft.com/office/drawing/2014/main" id="{32D85E36-ACC4-4075-8118-2A0A5E260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47ABD-1CBF-400A-99B7-A2A921FC2F70}" type="slidenum">
              <a:rPr lang="en-US" altLang="zh-CN" smtClean="0"/>
              <a:pPr>
                <a:spcBef>
                  <a:spcPct val="0"/>
                </a:spcBef>
              </a:pPr>
              <a:t>86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幻灯片图像占位符 1">
            <a:extLst>
              <a:ext uri="{FF2B5EF4-FFF2-40B4-BE49-F238E27FC236}">
                <a16:creationId xmlns:a16="http://schemas.microsoft.com/office/drawing/2014/main" id="{DA26936F-073E-4218-8ACC-A1A22C8FE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备注占位符 2">
            <a:extLst>
              <a:ext uri="{FF2B5EF4-FFF2-40B4-BE49-F238E27FC236}">
                <a16:creationId xmlns:a16="http://schemas.microsoft.com/office/drawing/2014/main" id="{5401CFDE-925B-4074-B41F-F352559A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89444" name="灯片编号占位符 3">
            <a:extLst>
              <a:ext uri="{FF2B5EF4-FFF2-40B4-BE49-F238E27FC236}">
                <a16:creationId xmlns:a16="http://schemas.microsoft.com/office/drawing/2014/main" id="{5BBAC1B1-3EBD-4504-9E46-AF35D7161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2518A8-3BEB-448C-BC8D-D9CF9D95CB93}" type="slidenum">
              <a:rPr lang="en-US" altLang="zh-CN" smtClean="0"/>
              <a:pPr>
                <a:spcBef>
                  <a:spcPct val="0"/>
                </a:spcBef>
              </a:pPr>
              <a:t>87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幻灯片图像占位符 1">
            <a:extLst>
              <a:ext uri="{FF2B5EF4-FFF2-40B4-BE49-F238E27FC236}">
                <a16:creationId xmlns:a16="http://schemas.microsoft.com/office/drawing/2014/main" id="{56279B02-3C2E-4915-9152-BB758B856A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备注占位符 2">
            <a:extLst>
              <a:ext uri="{FF2B5EF4-FFF2-40B4-BE49-F238E27FC236}">
                <a16:creationId xmlns:a16="http://schemas.microsoft.com/office/drawing/2014/main" id="{697D142A-05F5-4F91-A6CE-003C0C1D1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1492" name="灯片编号占位符 3">
            <a:extLst>
              <a:ext uri="{FF2B5EF4-FFF2-40B4-BE49-F238E27FC236}">
                <a16:creationId xmlns:a16="http://schemas.microsoft.com/office/drawing/2014/main" id="{B07AEA3B-CC4C-419A-9638-03028AF7C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53A3EC0-DAE9-4734-8042-3451908317BB}" type="slidenum">
              <a:rPr lang="en-US" altLang="zh-CN" smtClean="0"/>
              <a:pPr>
                <a:spcBef>
                  <a:spcPct val="0"/>
                </a:spcBef>
              </a:pPr>
              <a:t>88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幻灯片图像占位符 1">
            <a:extLst>
              <a:ext uri="{FF2B5EF4-FFF2-40B4-BE49-F238E27FC236}">
                <a16:creationId xmlns:a16="http://schemas.microsoft.com/office/drawing/2014/main" id="{121DC74B-BDB7-4F1A-86F0-8040992BA9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备注占位符 2">
            <a:extLst>
              <a:ext uri="{FF2B5EF4-FFF2-40B4-BE49-F238E27FC236}">
                <a16:creationId xmlns:a16="http://schemas.microsoft.com/office/drawing/2014/main" id="{8D19FD4E-B599-4295-A62E-DDDD6B449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93540" name="灯片编号占位符 3">
            <a:extLst>
              <a:ext uri="{FF2B5EF4-FFF2-40B4-BE49-F238E27FC236}">
                <a16:creationId xmlns:a16="http://schemas.microsoft.com/office/drawing/2014/main" id="{E7310522-6449-4192-A5E2-F73914BFC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97C9F80-D234-4CE1-8619-0D82546C235B}" type="slidenum">
              <a:rPr lang="en-US" altLang="zh-CN" smtClean="0"/>
              <a:pPr>
                <a:spcBef>
                  <a:spcPct val="0"/>
                </a:spcBef>
              </a:pPr>
              <a:t>89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>
            <a:extLst>
              <a:ext uri="{FF2B5EF4-FFF2-40B4-BE49-F238E27FC236}">
                <a16:creationId xmlns:a16="http://schemas.microsoft.com/office/drawing/2014/main" id="{212EBA96-5604-405E-A1EE-CC84031B76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79C8A6C-51D7-44C1-A618-3FB70C1E4C0E}" type="slidenum">
              <a:rPr lang="en-US" altLang="zh-CN" smtClean="0"/>
              <a:pPr>
                <a:spcBef>
                  <a:spcPct val="0"/>
                </a:spcBef>
              </a:pPr>
              <a:t>90</a:t>
            </a:fld>
            <a:endParaRPr lang="en-US" altLang="zh-CN"/>
          </a:p>
        </p:txBody>
      </p:sp>
      <p:sp>
        <p:nvSpPr>
          <p:cNvPr id="195587" name="Rectangle 2">
            <a:extLst>
              <a:ext uri="{FF2B5EF4-FFF2-40B4-BE49-F238E27FC236}">
                <a16:creationId xmlns:a16="http://schemas.microsoft.com/office/drawing/2014/main" id="{73391089-C513-46D9-9399-42B4A2E537A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>
            <a:extLst>
              <a:ext uri="{FF2B5EF4-FFF2-40B4-BE49-F238E27FC236}">
                <a16:creationId xmlns:a16="http://schemas.microsoft.com/office/drawing/2014/main" id="{80609EF8-D715-48E9-BC56-30A38A09F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>
            <a:extLst>
              <a:ext uri="{FF2B5EF4-FFF2-40B4-BE49-F238E27FC236}">
                <a16:creationId xmlns:a16="http://schemas.microsoft.com/office/drawing/2014/main" id="{71AC4055-6DFD-4836-A794-A08B683E08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FB2B1DD-4911-47E0-A429-ACB3D328F6AA}" type="slidenum">
              <a:rPr lang="en-US" altLang="zh-CN" smtClean="0"/>
              <a:pPr>
                <a:spcBef>
                  <a:spcPct val="0"/>
                </a:spcBef>
              </a:pPr>
              <a:t>91</a:t>
            </a:fld>
            <a:endParaRPr lang="en-US" altLang="zh-CN"/>
          </a:p>
        </p:txBody>
      </p:sp>
      <p:sp>
        <p:nvSpPr>
          <p:cNvPr id="197635" name="Rectangle 2">
            <a:extLst>
              <a:ext uri="{FF2B5EF4-FFF2-40B4-BE49-F238E27FC236}">
                <a16:creationId xmlns:a16="http://schemas.microsoft.com/office/drawing/2014/main" id="{C54AAC0D-F689-4172-817A-2A1CCD57B39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>
            <a:extLst>
              <a:ext uri="{FF2B5EF4-FFF2-40B4-BE49-F238E27FC236}">
                <a16:creationId xmlns:a16="http://schemas.microsoft.com/office/drawing/2014/main" id="{8ADEDA7D-72D3-43B7-B72E-AEF5DE3C3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>
            <a:extLst>
              <a:ext uri="{FF2B5EF4-FFF2-40B4-BE49-F238E27FC236}">
                <a16:creationId xmlns:a16="http://schemas.microsoft.com/office/drawing/2014/main" id="{6B75C2F1-C887-4513-91FB-8A5E7CE564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B1B866-2E52-4B0A-858F-E970F41352E9}" type="slidenum">
              <a:rPr lang="en-US" altLang="zh-CN" smtClean="0"/>
              <a:pPr>
                <a:spcBef>
                  <a:spcPct val="0"/>
                </a:spcBef>
              </a:pPr>
              <a:t>92</a:t>
            </a:fld>
            <a:endParaRPr lang="en-US" altLang="zh-CN"/>
          </a:p>
        </p:txBody>
      </p:sp>
      <p:sp>
        <p:nvSpPr>
          <p:cNvPr id="199683" name="Rectangle 2">
            <a:extLst>
              <a:ext uri="{FF2B5EF4-FFF2-40B4-BE49-F238E27FC236}">
                <a16:creationId xmlns:a16="http://schemas.microsoft.com/office/drawing/2014/main" id="{2736111D-A9F5-4D2D-B9CF-97766AF1A5D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>
            <a:extLst>
              <a:ext uri="{FF2B5EF4-FFF2-40B4-BE49-F238E27FC236}">
                <a16:creationId xmlns:a16="http://schemas.microsoft.com/office/drawing/2014/main" id="{804BD4E6-1849-45D4-A924-7BF6E43F4D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>
            <a:extLst>
              <a:ext uri="{FF2B5EF4-FFF2-40B4-BE49-F238E27FC236}">
                <a16:creationId xmlns:a16="http://schemas.microsoft.com/office/drawing/2014/main" id="{6ABD5F56-4725-4975-AA24-D030600769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B837023-5BDA-42BA-BBEB-F3435A1578D5}" type="slidenum">
              <a:rPr lang="en-US" altLang="zh-CN" smtClean="0"/>
              <a:pPr>
                <a:spcBef>
                  <a:spcPct val="0"/>
                </a:spcBef>
              </a:pPr>
              <a:t>93</a:t>
            </a:fld>
            <a:endParaRPr lang="en-US" altLang="zh-CN"/>
          </a:p>
        </p:txBody>
      </p:sp>
      <p:sp>
        <p:nvSpPr>
          <p:cNvPr id="201731" name="Rectangle 2">
            <a:extLst>
              <a:ext uri="{FF2B5EF4-FFF2-40B4-BE49-F238E27FC236}">
                <a16:creationId xmlns:a16="http://schemas.microsoft.com/office/drawing/2014/main" id="{5B6FE018-8FB9-4140-B567-D60D92DFCDE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>
            <a:extLst>
              <a:ext uri="{FF2B5EF4-FFF2-40B4-BE49-F238E27FC236}">
                <a16:creationId xmlns:a16="http://schemas.microsoft.com/office/drawing/2014/main" id="{14E6FA24-EF59-4FFF-8818-1F45C64E7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>
            <a:extLst>
              <a:ext uri="{FF2B5EF4-FFF2-40B4-BE49-F238E27FC236}">
                <a16:creationId xmlns:a16="http://schemas.microsoft.com/office/drawing/2014/main" id="{609F583E-F23A-4F64-8E03-BEE78F558E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6CD3B4-3EC4-428A-8A45-2A42208B52FF}" type="slidenum">
              <a:rPr lang="en-US" altLang="zh-CN" smtClean="0"/>
              <a:pPr>
                <a:spcBef>
                  <a:spcPct val="0"/>
                </a:spcBef>
              </a:pPr>
              <a:t>94</a:t>
            </a:fld>
            <a:endParaRPr lang="en-US" altLang="zh-CN"/>
          </a:p>
        </p:txBody>
      </p:sp>
      <p:sp>
        <p:nvSpPr>
          <p:cNvPr id="203779" name="Rectangle 2">
            <a:extLst>
              <a:ext uri="{FF2B5EF4-FFF2-40B4-BE49-F238E27FC236}">
                <a16:creationId xmlns:a16="http://schemas.microsoft.com/office/drawing/2014/main" id="{63E3D103-1572-49D5-8E13-C9916E87A7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>
            <a:extLst>
              <a:ext uri="{FF2B5EF4-FFF2-40B4-BE49-F238E27FC236}">
                <a16:creationId xmlns:a16="http://schemas.microsoft.com/office/drawing/2014/main" id="{16F11942-DF86-4417-97C9-7D5789298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>
            <a:extLst>
              <a:ext uri="{FF2B5EF4-FFF2-40B4-BE49-F238E27FC236}">
                <a16:creationId xmlns:a16="http://schemas.microsoft.com/office/drawing/2014/main" id="{B1FAA478-6B29-4C22-948D-3F2F6D21E3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129701-625A-4E35-A79C-F74824FFB28E}" type="slidenum">
              <a:rPr lang="en-US" altLang="zh-CN" smtClean="0"/>
              <a:pPr>
                <a:spcBef>
                  <a:spcPct val="0"/>
                </a:spcBef>
              </a:pPr>
              <a:t>95</a:t>
            </a:fld>
            <a:endParaRPr lang="en-US" altLang="zh-CN"/>
          </a:p>
        </p:txBody>
      </p:sp>
      <p:sp>
        <p:nvSpPr>
          <p:cNvPr id="205827" name="Rectangle 2">
            <a:extLst>
              <a:ext uri="{FF2B5EF4-FFF2-40B4-BE49-F238E27FC236}">
                <a16:creationId xmlns:a16="http://schemas.microsoft.com/office/drawing/2014/main" id="{82282AA0-59D9-4254-B45D-1A23D5E03ED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>
            <a:extLst>
              <a:ext uri="{FF2B5EF4-FFF2-40B4-BE49-F238E27FC236}">
                <a16:creationId xmlns:a16="http://schemas.microsoft.com/office/drawing/2014/main" id="{929C723C-997C-4CAE-A56C-650FC8CA4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>
            <a:extLst>
              <a:ext uri="{FF2B5EF4-FFF2-40B4-BE49-F238E27FC236}">
                <a16:creationId xmlns:a16="http://schemas.microsoft.com/office/drawing/2014/main" id="{2D3FDD0F-A507-4FA5-B39E-B60CEBDED5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BEAD67C-3223-4A6A-B5E0-74D0FDF07426}" type="slidenum">
              <a:rPr lang="en-US" altLang="zh-CN" smtClean="0"/>
              <a:pPr>
                <a:spcBef>
                  <a:spcPct val="0"/>
                </a:spcBef>
              </a:pPr>
              <a:t>96</a:t>
            </a:fld>
            <a:endParaRPr lang="en-US" altLang="zh-CN"/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4F28E2FD-AE01-488F-913C-AB96A5596A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DB17E936-09AF-4AFB-909D-2EE7600865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>
            <a:extLst>
              <a:ext uri="{FF2B5EF4-FFF2-40B4-BE49-F238E27FC236}">
                <a16:creationId xmlns:a16="http://schemas.microsoft.com/office/drawing/2014/main" id="{DACF0B78-239D-4A59-8A5B-7558B80E0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7A6855-D60A-40A4-B8A7-53CCBBFE91B6}" type="slidenum">
              <a:rPr lang="en-US" altLang="zh-CN" smtClean="0"/>
              <a:pPr>
                <a:spcBef>
                  <a:spcPct val="0"/>
                </a:spcBef>
              </a:pPr>
              <a:t>97</a:t>
            </a:fld>
            <a:endParaRPr lang="en-US" altLang="zh-CN"/>
          </a:p>
        </p:txBody>
      </p:sp>
      <p:sp>
        <p:nvSpPr>
          <p:cNvPr id="209923" name="Rectangle 2">
            <a:extLst>
              <a:ext uri="{FF2B5EF4-FFF2-40B4-BE49-F238E27FC236}">
                <a16:creationId xmlns:a16="http://schemas.microsoft.com/office/drawing/2014/main" id="{AB5AE0E6-7F82-4CD2-824A-76CDF5EBCE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>
            <a:extLst>
              <a:ext uri="{FF2B5EF4-FFF2-40B4-BE49-F238E27FC236}">
                <a16:creationId xmlns:a16="http://schemas.microsoft.com/office/drawing/2014/main" id="{27B45A8B-6891-4D9E-A692-81D39D6C6B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>
            <a:extLst>
              <a:ext uri="{FF2B5EF4-FFF2-40B4-BE49-F238E27FC236}">
                <a16:creationId xmlns:a16="http://schemas.microsoft.com/office/drawing/2014/main" id="{BA47590D-B1D0-493F-99D7-E431DF4F04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9411D0-8B57-4661-B52F-76AADB07886B}" type="slidenum">
              <a:rPr lang="en-US" altLang="zh-CN" smtClean="0"/>
              <a:pPr>
                <a:spcBef>
                  <a:spcPct val="0"/>
                </a:spcBef>
              </a:pPr>
              <a:t>98</a:t>
            </a:fld>
            <a:endParaRPr lang="en-US" altLang="zh-CN"/>
          </a:p>
        </p:txBody>
      </p:sp>
      <p:sp>
        <p:nvSpPr>
          <p:cNvPr id="211971" name="Rectangle 2">
            <a:extLst>
              <a:ext uri="{FF2B5EF4-FFF2-40B4-BE49-F238E27FC236}">
                <a16:creationId xmlns:a16="http://schemas.microsoft.com/office/drawing/2014/main" id="{1AB5215D-5D85-4D29-A7DF-CDC3F608C25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2" name="Rectangle 3">
            <a:extLst>
              <a:ext uri="{FF2B5EF4-FFF2-40B4-BE49-F238E27FC236}">
                <a16:creationId xmlns:a16="http://schemas.microsoft.com/office/drawing/2014/main" id="{3BCA5DE9-7A05-437F-91F3-574D8B23B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>
            <a:extLst>
              <a:ext uri="{FF2B5EF4-FFF2-40B4-BE49-F238E27FC236}">
                <a16:creationId xmlns:a16="http://schemas.microsoft.com/office/drawing/2014/main" id="{16CA4562-2D34-4A76-8475-F7994ACBCB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1A8D32B-5A75-42CC-B053-E53C9771CE31}" type="slidenum">
              <a:rPr lang="en-US" altLang="zh-CN" smtClean="0"/>
              <a:pPr>
                <a:spcBef>
                  <a:spcPct val="0"/>
                </a:spcBef>
              </a:pPr>
              <a:t>99</a:t>
            </a:fld>
            <a:endParaRPr lang="en-US" altLang="zh-CN"/>
          </a:p>
        </p:txBody>
      </p:sp>
      <p:sp>
        <p:nvSpPr>
          <p:cNvPr id="214019" name="Rectangle 2">
            <a:extLst>
              <a:ext uri="{FF2B5EF4-FFF2-40B4-BE49-F238E27FC236}">
                <a16:creationId xmlns:a16="http://schemas.microsoft.com/office/drawing/2014/main" id="{DE8654C7-2E18-4E1C-8006-08E83D8C8E7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>
            <a:extLst>
              <a:ext uri="{FF2B5EF4-FFF2-40B4-BE49-F238E27FC236}">
                <a16:creationId xmlns:a16="http://schemas.microsoft.com/office/drawing/2014/main" id="{121BDD45-B0CD-4CA2-AF39-E6A37ED9FA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>
            <a:extLst>
              <a:ext uri="{FF2B5EF4-FFF2-40B4-BE49-F238E27FC236}">
                <a16:creationId xmlns:a16="http://schemas.microsoft.com/office/drawing/2014/main" id="{46580394-A671-4428-B008-927A1D8BB5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A94C14-D11E-435C-B55C-5356150942A4}" type="slidenum">
              <a:rPr lang="en-US" altLang="zh-CN" smtClean="0"/>
              <a:pPr>
                <a:spcBef>
                  <a:spcPct val="0"/>
                </a:spcBef>
              </a:pPr>
              <a:t>100</a:t>
            </a:fld>
            <a:endParaRPr lang="en-US" altLang="zh-CN"/>
          </a:p>
        </p:txBody>
      </p:sp>
      <p:sp>
        <p:nvSpPr>
          <p:cNvPr id="216067" name="Rectangle 2">
            <a:extLst>
              <a:ext uri="{FF2B5EF4-FFF2-40B4-BE49-F238E27FC236}">
                <a16:creationId xmlns:a16="http://schemas.microsoft.com/office/drawing/2014/main" id="{7D691727-EA0C-4CD1-8636-B247E90DC04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>
            <a:extLst>
              <a:ext uri="{FF2B5EF4-FFF2-40B4-BE49-F238E27FC236}">
                <a16:creationId xmlns:a16="http://schemas.microsoft.com/office/drawing/2014/main" id="{BEDBD3C8-A8BE-40E2-B075-09918674A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>
            <a:extLst>
              <a:ext uri="{FF2B5EF4-FFF2-40B4-BE49-F238E27FC236}">
                <a16:creationId xmlns:a16="http://schemas.microsoft.com/office/drawing/2014/main" id="{40DF773B-0C04-4BE2-8827-6FA7C89433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AAF58A-32C1-4572-8147-0FB521DEB93F}" type="slidenum">
              <a:rPr lang="en-US" altLang="zh-CN" smtClean="0"/>
              <a:pPr>
                <a:spcBef>
                  <a:spcPct val="0"/>
                </a:spcBef>
              </a:pPr>
              <a:t>101</a:t>
            </a:fld>
            <a:endParaRPr lang="en-US" altLang="zh-CN"/>
          </a:p>
        </p:txBody>
      </p:sp>
      <p:sp>
        <p:nvSpPr>
          <p:cNvPr id="218115" name="Rectangle 2">
            <a:extLst>
              <a:ext uri="{FF2B5EF4-FFF2-40B4-BE49-F238E27FC236}">
                <a16:creationId xmlns:a16="http://schemas.microsoft.com/office/drawing/2014/main" id="{2DE3B768-F491-4637-9195-6D9137982F6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>
            <a:extLst>
              <a:ext uri="{FF2B5EF4-FFF2-40B4-BE49-F238E27FC236}">
                <a16:creationId xmlns:a16="http://schemas.microsoft.com/office/drawing/2014/main" id="{2484F0AC-01C3-4FAD-B5A7-9B8FCCF3F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>
            <a:extLst>
              <a:ext uri="{FF2B5EF4-FFF2-40B4-BE49-F238E27FC236}">
                <a16:creationId xmlns:a16="http://schemas.microsoft.com/office/drawing/2014/main" id="{1737E201-9F37-4F81-80AE-62C2DD84EF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DDD21B9-1810-483B-BB77-E7815FBCA627}" type="slidenum">
              <a:rPr lang="en-US" altLang="zh-CN" smtClean="0"/>
              <a:pPr>
                <a:spcBef>
                  <a:spcPct val="0"/>
                </a:spcBef>
              </a:pPr>
              <a:t>102</a:t>
            </a:fld>
            <a:endParaRPr lang="en-US" altLang="zh-CN"/>
          </a:p>
        </p:txBody>
      </p:sp>
      <p:sp>
        <p:nvSpPr>
          <p:cNvPr id="220163" name="Rectangle 2">
            <a:extLst>
              <a:ext uri="{FF2B5EF4-FFF2-40B4-BE49-F238E27FC236}">
                <a16:creationId xmlns:a16="http://schemas.microsoft.com/office/drawing/2014/main" id="{C29BC1A8-623A-409D-837C-63C982969DB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4" name="Rectangle 3">
            <a:extLst>
              <a:ext uri="{FF2B5EF4-FFF2-40B4-BE49-F238E27FC236}">
                <a16:creationId xmlns:a16="http://schemas.microsoft.com/office/drawing/2014/main" id="{72D4E88C-99CD-4ACC-8E5E-27A21CDBA4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>
            <a:extLst>
              <a:ext uri="{FF2B5EF4-FFF2-40B4-BE49-F238E27FC236}">
                <a16:creationId xmlns:a16="http://schemas.microsoft.com/office/drawing/2014/main" id="{02EA410B-2BB1-4C2D-9693-4E2A7D943C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9CB0A47-0A77-4680-BC8E-944240E82387}" type="slidenum">
              <a:rPr lang="en-US" altLang="zh-CN" smtClean="0"/>
              <a:pPr>
                <a:spcBef>
                  <a:spcPct val="0"/>
                </a:spcBef>
              </a:pPr>
              <a:t>103</a:t>
            </a:fld>
            <a:endParaRPr lang="en-US" altLang="zh-CN"/>
          </a:p>
        </p:txBody>
      </p:sp>
      <p:sp>
        <p:nvSpPr>
          <p:cNvPr id="222211" name="Rectangle 2">
            <a:extLst>
              <a:ext uri="{FF2B5EF4-FFF2-40B4-BE49-F238E27FC236}">
                <a16:creationId xmlns:a16="http://schemas.microsoft.com/office/drawing/2014/main" id="{8FFA4D42-4EA3-474C-88A9-8397CA4C15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2" name="Rectangle 3">
            <a:extLst>
              <a:ext uri="{FF2B5EF4-FFF2-40B4-BE49-F238E27FC236}">
                <a16:creationId xmlns:a16="http://schemas.microsoft.com/office/drawing/2014/main" id="{EF010D2D-DAD6-4C84-BB94-FDF4233B2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>
            <a:extLst>
              <a:ext uri="{FF2B5EF4-FFF2-40B4-BE49-F238E27FC236}">
                <a16:creationId xmlns:a16="http://schemas.microsoft.com/office/drawing/2014/main" id="{73CC47E5-5786-4D14-ADED-FC0B1A588A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2452E52-B04C-4358-A795-1F5AA020BFF2}" type="slidenum">
              <a:rPr lang="en-US" altLang="zh-CN" smtClean="0"/>
              <a:pPr>
                <a:spcBef>
                  <a:spcPct val="0"/>
                </a:spcBef>
              </a:pPr>
              <a:t>104</a:t>
            </a:fld>
            <a:endParaRPr lang="en-US" altLang="zh-CN"/>
          </a:p>
        </p:txBody>
      </p:sp>
      <p:sp>
        <p:nvSpPr>
          <p:cNvPr id="224259" name="Rectangle 2">
            <a:extLst>
              <a:ext uri="{FF2B5EF4-FFF2-40B4-BE49-F238E27FC236}">
                <a16:creationId xmlns:a16="http://schemas.microsoft.com/office/drawing/2014/main" id="{DA9635DF-D58A-4517-A773-F3E0749A78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0" name="Rectangle 3">
            <a:extLst>
              <a:ext uri="{FF2B5EF4-FFF2-40B4-BE49-F238E27FC236}">
                <a16:creationId xmlns:a16="http://schemas.microsoft.com/office/drawing/2014/main" id="{DE2D135F-494F-4A65-B3D1-5143EFF6B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>
            <a:extLst>
              <a:ext uri="{FF2B5EF4-FFF2-40B4-BE49-F238E27FC236}">
                <a16:creationId xmlns:a16="http://schemas.microsoft.com/office/drawing/2014/main" id="{0625FFB5-9D47-454F-AE9B-8ADE33D221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7E3BD05-0DFF-4A58-BA07-227F7C5C3501}" type="slidenum">
              <a:rPr lang="en-US" altLang="zh-CN" smtClean="0"/>
              <a:pPr>
                <a:spcBef>
                  <a:spcPct val="0"/>
                </a:spcBef>
              </a:pPr>
              <a:t>105</a:t>
            </a:fld>
            <a:endParaRPr lang="en-US" altLang="zh-CN"/>
          </a:p>
        </p:txBody>
      </p:sp>
      <p:sp>
        <p:nvSpPr>
          <p:cNvPr id="226307" name="Rectangle 2">
            <a:extLst>
              <a:ext uri="{FF2B5EF4-FFF2-40B4-BE49-F238E27FC236}">
                <a16:creationId xmlns:a16="http://schemas.microsoft.com/office/drawing/2014/main" id="{35D662CA-254A-42F0-B190-122BE64563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8" name="Rectangle 3">
            <a:extLst>
              <a:ext uri="{FF2B5EF4-FFF2-40B4-BE49-F238E27FC236}">
                <a16:creationId xmlns:a16="http://schemas.microsoft.com/office/drawing/2014/main" id="{B9EA7B5C-58A0-4320-905E-EA08FBA18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>
            <a:extLst>
              <a:ext uri="{FF2B5EF4-FFF2-40B4-BE49-F238E27FC236}">
                <a16:creationId xmlns:a16="http://schemas.microsoft.com/office/drawing/2014/main" id="{05F0CD9D-0CCE-41E2-8427-7EAC0EAF52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8738D9-54D2-4A27-9FD7-71435304250B}" type="slidenum">
              <a:rPr lang="en-US" altLang="zh-CN" smtClean="0"/>
              <a:pPr>
                <a:spcBef>
                  <a:spcPct val="0"/>
                </a:spcBef>
              </a:pPr>
              <a:t>106</a:t>
            </a:fld>
            <a:endParaRPr lang="en-US" altLang="zh-CN"/>
          </a:p>
        </p:txBody>
      </p:sp>
      <p:sp>
        <p:nvSpPr>
          <p:cNvPr id="228355" name="Rectangle 2">
            <a:extLst>
              <a:ext uri="{FF2B5EF4-FFF2-40B4-BE49-F238E27FC236}">
                <a16:creationId xmlns:a16="http://schemas.microsoft.com/office/drawing/2014/main" id="{036D599A-0246-4573-AD10-50C966263A3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6" name="Rectangle 3">
            <a:extLst>
              <a:ext uri="{FF2B5EF4-FFF2-40B4-BE49-F238E27FC236}">
                <a16:creationId xmlns:a16="http://schemas.microsoft.com/office/drawing/2014/main" id="{4FC2EDEA-1A6C-4E89-904E-AA30B3E27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>
            <a:extLst>
              <a:ext uri="{FF2B5EF4-FFF2-40B4-BE49-F238E27FC236}">
                <a16:creationId xmlns:a16="http://schemas.microsoft.com/office/drawing/2014/main" id="{A91C3DBD-847B-4AA8-B3ED-ACAC070F3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6441EC0-7B8A-47F3-9EB7-88161D5AD01D}" type="slidenum">
              <a:rPr lang="en-US" altLang="zh-CN" smtClean="0"/>
              <a:pPr>
                <a:spcBef>
                  <a:spcPct val="0"/>
                </a:spcBef>
              </a:pPr>
              <a:t>107</a:t>
            </a:fld>
            <a:endParaRPr lang="en-US" altLang="zh-CN"/>
          </a:p>
        </p:txBody>
      </p:sp>
      <p:sp>
        <p:nvSpPr>
          <p:cNvPr id="230403" name="Rectangle 2">
            <a:extLst>
              <a:ext uri="{FF2B5EF4-FFF2-40B4-BE49-F238E27FC236}">
                <a16:creationId xmlns:a16="http://schemas.microsoft.com/office/drawing/2014/main" id="{64DAF586-704E-42DB-A4BE-3BF6350241F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>
            <a:extLst>
              <a:ext uri="{FF2B5EF4-FFF2-40B4-BE49-F238E27FC236}">
                <a16:creationId xmlns:a16="http://schemas.microsoft.com/office/drawing/2014/main" id="{729C4682-7A94-4BCA-AB26-6AC170321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>
            <a:extLst>
              <a:ext uri="{FF2B5EF4-FFF2-40B4-BE49-F238E27FC236}">
                <a16:creationId xmlns:a16="http://schemas.microsoft.com/office/drawing/2014/main" id="{194E8CF0-DDCD-45B2-B135-FB8F545CF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36A9F8-F4D3-4617-A70E-3804CCB5FD1A}" type="slidenum">
              <a:rPr lang="en-US" altLang="zh-CN" smtClean="0"/>
              <a:pPr>
                <a:spcBef>
                  <a:spcPct val="0"/>
                </a:spcBef>
              </a:pPr>
              <a:t>108</a:t>
            </a:fld>
            <a:endParaRPr lang="en-US" altLang="zh-CN"/>
          </a:p>
        </p:txBody>
      </p:sp>
      <p:sp>
        <p:nvSpPr>
          <p:cNvPr id="232451" name="Rectangle 2">
            <a:extLst>
              <a:ext uri="{FF2B5EF4-FFF2-40B4-BE49-F238E27FC236}">
                <a16:creationId xmlns:a16="http://schemas.microsoft.com/office/drawing/2014/main" id="{F968294C-C41E-4175-AA10-0A0F7EDF497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>
            <a:extLst>
              <a:ext uri="{FF2B5EF4-FFF2-40B4-BE49-F238E27FC236}">
                <a16:creationId xmlns:a16="http://schemas.microsoft.com/office/drawing/2014/main" id="{A611500B-A378-40FA-BBAA-9CCC29201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>
            <a:extLst>
              <a:ext uri="{FF2B5EF4-FFF2-40B4-BE49-F238E27FC236}">
                <a16:creationId xmlns:a16="http://schemas.microsoft.com/office/drawing/2014/main" id="{9F427ACA-0EF2-4459-9249-701DC30041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1BFCCAD-2355-4013-8B54-1651EB121890}" type="slidenum">
              <a:rPr lang="en-US" altLang="zh-CN" smtClean="0"/>
              <a:pPr>
                <a:spcBef>
                  <a:spcPct val="0"/>
                </a:spcBef>
              </a:pPr>
              <a:t>109</a:t>
            </a:fld>
            <a:endParaRPr lang="en-US" altLang="zh-CN"/>
          </a:p>
        </p:txBody>
      </p:sp>
      <p:sp>
        <p:nvSpPr>
          <p:cNvPr id="234499" name="Rectangle 2">
            <a:extLst>
              <a:ext uri="{FF2B5EF4-FFF2-40B4-BE49-F238E27FC236}">
                <a16:creationId xmlns:a16="http://schemas.microsoft.com/office/drawing/2014/main" id="{F60B339D-EC35-4E4E-8F6D-BA6F52E39E0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>
            <a:extLst>
              <a:ext uri="{FF2B5EF4-FFF2-40B4-BE49-F238E27FC236}">
                <a16:creationId xmlns:a16="http://schemas.microsoft.com/office/drawing/2014/main" id="{39E46DD4-9444-4893-8336-F32CE6ECE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>
            <a:extLst>
              <a:ext uri="{FF2B5EF4-FFF2-40B4-BE49-F238E27FC236}">
                <a16:creationId xmlns:a16="http://schemas.microsoft.com/office/drawing/2014/main" id="{C1EF942E-6F20-4B08-B70B-BBB7C33AD5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C28F149-8C9D-405B-AFCE-46D31155BB2C}" type="slidenum">
              <a:rPr lang="en-US" altLang="zh-CN" smtClean="0"/>
              <a:pPr>
                <a:spcBef>
                  <a:spcPct val="0"/>
                </a:spcBef>
              </a:pPr>
              <a:t>110</a:t>
            </a:fld>
            <a:endParaRPr lang="en-US" altLang="zh-CN"/>
          </a:p>
        </p:txBody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B7AB6FF7-2958-486E-A673-98B2664072B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8" name="Rectangle 3">
            <a:extLst>
              <a:ext uri="{FF2B5EF4-FFF2-40B4-BE49-F238E27FC236}">
                <a16:creationId xmlns:a16="http://schemas.microsoft.com/office/drawing/2014/main" id="{84202697-045D-4BF4-92E0-A8DE7AD007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>
            <a:extLst>
              <a:ext uri="{FF2B5EF4-FFF2-40B4-BE49-F238E27FC236}">
                <a16:creationId xmlns:a16="http://schemas.microsoft.com/office/drawing/2014/main" id="{42926737-C402-4625-82BC-E606EB1B5F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90E6804-48E6-458A-892A-D78C7EC2EC0B}" type="slidenum">
              <a:rPr lang="en-US" altLang="zh-CN" smtClean="0"/>
              <a:pPr>
                <a:spcBef>
                  <a:spcPct val="0"/>
                </a:spcBef>
              </a:pPr>
              <a:t>111</a:t>
            </a:fld>
            <a:endParaRPr lang="en-US" altLang="zh-CN"/>
          </a:p>
        </p:txBody>
      </p:sp>
      <p:sp>
        <p:nvSpPr>
          <p:cNvPr id="238595" name="Rectangle 2">
            <a:extLst>
              <a:ext uri="{FF2B5EF4-FFF2-40B4-BE49-F238E27FC236}">
                <a16:creationId xmlns:a16="http://schemas.microsoft.com/office/drawing/2014/main" id="{0AB06932-860D-4276-B4C1-8711DE472F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6" name="Rectangle 3">
            <a:extLst>
              <a:ext uri="{FF2B5EF4-FFF2-40B4-BE49-F238E27FC236}">
                <a16:creationId xmlns:a16="http://schemas.microsoft.com/office/drawing/2014/main" id="{3E6D5A23-BD62-4871-8A90-4DD406D4E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>
            <a:extLst>
              <a:ext uri="{FF2B5EF4-FFF2-40B4-BE49-F238E27FC236}">
                <a16:creationId xmlns:a16="http://schemas.microsoft.com/office/drawing/2014/main" id="{299EB01A-EB7A-4898-B53C-691DE4E29B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2D22A3C-56DB-42EA-93C1-64B055A682F4}" type="slidenum">
              <a:rPr lang="en-US" altLang="zh-CN" smtClean="0"/>
              <a:pPr>
                <a:spcBef>
                  <a:spcPct val="0"/>
                </a:spcBef>
              </a:pPr>
              <a:t>113</a:t>
            </a:fld>
            <a:endParaRPr lang="en-US" altLang="zh-CN"/>
          </a:p>
        </p:txBody>
      </p:sp>
      <p:sp>
        <p:nvSpPr>
          <p:cNvPr id="241667" name="Rectangle 2">
            <a:extLst>
              <a:ext uri="{FF2B5EF4-FFF2-40B4-BE49-F238E27FC236}">
                <a16:creationId xmlns:a16="http://schemas.microsoft.com/office/drawing/2014/main" id="{6864CDB6-36B7-4E5E-B5E9-9644A092031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>
            <a:extLst>
              <a:ext uri="{FF2B5EF4-FFF2-40B4-BE49-F238E27FC236}">
                <a16:creationId xmlns:a16="http://schemas.microsoft.com/office/drawing/2014/main" id="{57FD6618-2AB0-492F-9781-0A110DDC9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幻灯片图像占位符 1">
            <a:extLst>
              <a:ext uri="{FF2B5EF4-FFF2-40B4-BE49-F238E27FC236}">
                <a16:creationId xmlns:a16="http://schemas.microsoft.com/office/drawing/2014/main" id="{3852E81B-B31E-4E17-9060-4822536FCA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备注占位符 2">
            <a:extLst>
              <a:ext uri="{FF2B5EF4-FFF2-40B4-BE49-F238E27FC236}">
                <a16:creationId xmlns:a16="http://schemas.microsoft.com/office/drawing/2014/main" id="{8D8405BB-030D-4144-97FE-A7ED6B2C6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3716" name="灯片编号占位符 3">
            <a:extLst>
              <a:ext uri="{FF2B5EF4-FFF2-40B4-BE49-F238E27FC236}">
                <a16:creationId xmlns:a16="http://schemas.microsoft.com/office/drawing/2014/main" id="{062C48FF-7815-4539-9E21-0FFD4812CE77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511CA8B-F126-497D-A516-0AE73326BFD6}" type="slidenum">
              <a:rPr lang="en-US" altLang="zh-CN"/>
              <a:pPr algn="r" eaLnBrk="1" hangingPunct="1">
                <a:spcBef>
                  <a:spcPct val="0"/>
                </a:spcBef>
              </a:pPr>
              <a:t>114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幻灯片图像占位符 1">
            <a:extLst>
              <a:ext uri="{FF2B5EF4-FFF2-40B4-BE49-F238E27FC236}">
                <a16:creationId xmlns:a16="http://schemas.microsoft.com/office/drawing/2014/main" id="{31F9E92C-3E86-43B3-9971-50E7DBBFB1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备注占位符 2">
            <a:extLst>
              <a:ext uri="{FF2B5EF4-FFF2-40B4-BE49-F238E27FC236}">
                <a16:creationId xmlns:a16="http://schemas.microsoft.com/office/drawing/2014/main" id="{A3A7CCB6-D4D0-48D5-90E9-6CE4E3FB8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60100" name="灯片编号占位符 3">
            <a:extLst>
              <a:ext uri="{FF2B5EF4-FFF2-40B4-BE49-F238E27FC236}">
                <a16:creationId xmlns:a16="http://schemas.microsoft.com/office/drawing/2014/main" id="{3713DEF1-F13D-4910-8A81-A208EC1F80A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4A2C660-DD77-44F0-B1BC-02ECEDC406AC}" type="slidenum">
              <a:rPr lang="en-US" altLang="zh-CN"/>
              <a:pPr algn="r" eaLnBrk="1" hangingPunct="1">
                <a:spcBef>
                  <a:spcPct val="0"/>
                </a:spcBef>
              </a:pPr>
              <a:t>129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21BB7CD4-1959-40C3-905B-D847998D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8">
            <a:extLst>
              <a:ext uri="{FF2B5EF4-FFF2-40B4-BE49-F238E27FC236}">
                <a16:creationId xmlns:a16="http://schemas.microsoft.com/office/drawing/2014/main" id="{CAAB4BC7-FDE7-45FA-98A9-744D2BAE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6">
            <a:extLst>
              <a:ext uri="{FF2B5EF4-FFF2-40B4-BE49-F238E27FC236}">
                <a16:creationId xmlns:a16="http://schemas.microsoft.com/office/drawing/2014/main" id="{24BD4B90-F6FD-4AFD-9193-77FA83E7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A6224AF7-D887-40EE-B070-93E20DE2F7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89692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95F2A53F-C2DD-4A3B-9E1A-7DF791C4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D808BA27-E5EB-46A2-94FF-1A66F824C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0FFAD12F-5CF3-43C9-A2B1-4AE9E79C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65ADC-75E4-49B6-9F6E-8B44FEE448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054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DBA4D-B768-4F55-A063-AFFE4F04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408FD-C4B7-45B9-B6F6-80388399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B9C2DC-A0C0-4C7E-B323-CA1ADA40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0103D3D3-F99A-479B-996B-DF98E575EA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6435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3C9B8164-9592-475A-A4E0-3078E149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A804956A-E1AC-4AB4-A910-D6F63B6E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1E9B31E5-C818-49B3-A36B-7597D514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3B7EA-31E2-49C4-8D75-5FEA3AA8A7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8685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9">
            <a:extLst>
              <a:ext uri="{FF2B5EF4-FFF2-40B4-BE49-F238E27FC236}">
                <a16:creationId xmlns:a16="http://schemas.microsoft.com/office/drawing/2014/main" id="{9CA3932C-531C-4860-8CBD-39E09550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21">
            <a:extLst>
              <a:ext uri="{FF2B5EF4-FFF2-40B4-BE49-F238E27FC236}">
                <a16:creationId xmlns:a16="http://schemas.microsoft.com/office/drawing/2014/main" id="{A114DBF8-4CEA-41C3-881C-1A1261A5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17">
            <a:extLst>
              <a:ext uri="{FF2B5EF4-FFF2-40B4-BE49-F238E27FC236}">
                <a16:creationId xmlns:a16="http://schemas.microsoft.com/office/drawing/2014/main" id="{7F07618E-901A-4533-8F49-06EDD9A3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A4D32-4DC8-4642-A25E-1F3965BFCE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58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9">
            <a:extLst>
              <a:ext uri="{FF2B5EF4-FFF2-40B4-BE49-F238E27FC236}">
                <a16:creationId xmlns:a16="http://schemas.microsoft.com/office/drawing/2014/main" id="{74705213-3E8E-4487-9ACA-404489278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21">
            <a:extLst>
              <a:ext uri="{FF2B5EF4-FFF2-40B4-BE49-F238E27FC236}">
                <a16:creationId xmlns:a16="http://schemas.microsoft.com/office/drawing/2014/main" id="{A632E465-AA96-4216-AD83-9415DCCD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17">
            <a:extLst>
              <a:ext uri="{FF2B5EF4-FFF2-40B4-BE49-F238E27FC236}">
                <a16:creationId xmlns:a16="http://schemas.microsoft.com/office/drawing/2014/main" id="{DD48D2B8-B9D9-4265-9A7C-8BFEEC39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1A8F2-90B4-4A62-B2CF-9686CED683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740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>
            <a:extLst>
              <a:ext uri="{FF2B5EF4-FFF2-40B4-BE49-F238E27FC236}">
                <a16:creationId xmlns:a16="http://schemas.microsoft.com/office/drawing/2014/main" id="{2079737B-F095-4558-B7BD-6C407321F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1">
            <a:extLst>
              <a:ext uri="{FF2B5EF4-FFF2-40B4-BE49-F238E27FC236}">
                <a16:creationId xmlns:a16="http://schemas.microsoft.com/office/drawing/2014/main" id="{8C85A2E0-86C2-4253-B6F6-473D7BD5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17">
            <a:extLst>
              <a:ext uri="{FF2B5EF4-FFF2-40B4-BE49-F238E27FC236}">
                <a16:creationId xmlns:a16="http://schemas.microsoft.com/office/drawing/2014/main" id="{09A5CDD7-7298-4259-87A1-80FEC983E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B189E-8288-46C4-9920-ACB5873ACE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060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4217F179-5702-461B-A807-0898CC01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FF889F5B-3EDE-439B-8CCD-7A541D5D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A14CBDC0-E58C-41ED-864C-AA518410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C9DDB-30E0-4959-8C71-6A9882B0A0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118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13">
            <a:extLst>
              <a:ext uri="{FF2B5EF4-FFF2-40B4-BE49-F238E27FC236}">
                <a16:creationId xmlns:a16="http://schemas.microsoft.com/office/drawing/2014/main" id="{2A60FAA3-25AD-4CFB-932D-B7D50369EDC2}"/>
              </a:ext>
            </a:extLst>
          </p:cNvPr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F8F255A7-2568-44B1-8A7E-77A0C3DDAB45}"/>
              </a:ext>
            </a:extLst>
          </p:cNvPr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任意多边形 15">
            <a:extLst>
              <a:ext uri="{FF2B5EF4-FFF2-40B4-BE49-F238E27FC236}">
                <a16:creationId xmlns:a16="http://schemas.microsoft.com/office/drawing/2014/main" id="{D07DA54F-29BC-4277-A3CC-6631E05C1C0E}"/>
              </a:ext>
            </a:extLst>
          </p:cNvPr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8" name="任意多边形 16">
            <a:extLst>
              <a:ext uri="{FF2B5EF4-FFF2-40B4-BE49-F238E27FC236}">
                <a16:creationId xmlns:a16="http://schemas.microsoft.com/office/drawing/2014/main" id="{1F87DE9F-6DDA-4452-AB2F-BEBBE1849214}"/>
              </a:ext>
            </a:extLst>
          </p:cNvPr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EDA4B2D3-2251-4C9E-BBF8-3C69BB3A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EDA8C4C1-39BC-419A-B0D8-1A2B3D23B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A28A3C4D-9D76-4564-8A23-F7FE4F6F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BFB4E-F066-4A46-9871-EBF0DA9A29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58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9D1A1313-4FDB-43DA-BA1F-1A3AF151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B3834CBA-3786-482D-BC05-F06860DCC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DAC66D20-6180-4CE8-AF6D-40464437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59364-D8A2-4235-A7B9-F6502FD9D8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02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435E1F3A-526D-473A-871F-FF837E30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7BB816FA-7905-44C1-B475-3A2D51196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D643C0EE-FBFF-49FF-BBCB-263CA99E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62E13-0826-4D0F-8FB0-EBDAA7C15A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919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>
            <a:extLst>
              <a:ext uri="{FF2B5EF4-FFF2-40B4-BE49-F238E27FC236}">
                <a16:creationId xmlns:a16="http://schemas.microsoft.com/office/drawing/2014/main" id="{02D8CCD2-7FBD-4300-BF04-30AC26BE664E}"/>
              </a:ext>
            </a:extLst>
          </p:cNvPr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4EE6E8BF-FF82-4E45-81BB-5810910CC2FF}"/>
              </a:ext>
            </a:extLst>
          </p:cNvPr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1028" name="标题占位符 8">
            <a:extLst>
              <a:ext uri="{FF2B5EF4-FFF2-40B4-BE49-F238E27FC236}">
                <a16:creationId xmlns:a16="http://schemas.microsoft.com/office/drawing/2014/main" id="{179D6E37-E33B-452C-B1DC-5AAC62FE8B2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9" name="文本占位符 29">
            <a:extLst>
              <a:ext uri="{FF2B5EF4-FFF2-40B4-BE49-F238E27FC236}">
                <a16:creationId xmlns:a16="http://schemas.microsoft.com/office/drawing/2014/main" id="{68FA5E76-EC29-4F91-80F6-C937F480CF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C7F85A06-A9B2-45CF-AB5E-B1C46221C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页脚占位符 21">
            <a:extLst>
              <a:ext uri="{FF2B5EF4-FFF2-40B4-BE49-F238E27FC236}">
                <a16:creationId xmlns:a16="http://schemas.microsoft.com/office/drawing/2014/main" id="{FB3F7108-390E-4FED-BBF8-64916E1E2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247ECDA9-39A4-4D30-96A6-AA122F637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045C75"/>
                </a:solidFill>
              </a:defRPr>
            </a:lvl1pPr>
          </a:lstStyle>
          <a:p>
            <a:pPr>
              <a:defRPr/>
            </a:pPr>
            <a:fld id="{B13997C4-B90F-42EE-9057-C8462D13F1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3" name="组合 1">
            <a:extLst>
              <a:ext uri="{FF2B5EF4-FFF2-40B4-BE49-F238E27FC236}">
                <a16:creationId xmlns:a16="http://schemas.microsoft.com/office/drawing/2014/main" id="{29F931AC-3C44-40D6-A4BD-32008E0769C2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8572E947-D4C1-4EA3-B52C-471E126686D6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en-US"/>
            </a:p>
          </p:txBody>
        </p:sp>
        <p:sp>
          <p:nvSpPr>
            <p:cNvPr id="13" name="任意多边形 12">
              <a:extLst>
                <a:ext uri="{FF2B5EF4-FFF2-40B4-BE49-F238E27FC236}">
                  <a16:creationId xmlns:a16="http://schemas.microsoft.com/office/drawing/2014/main" id="{7010F1EB-8DCB-4674-86D5-A7725B46F2E3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23" r:id="rId2"/>
    <p:sldLayoutId id="2147484132" r:id="rId3"/>
    <p:sldLayoutId id="2147484124" r:id="rId4"/>
    <p:sldLayoutId id="2147484125" r:id="rId5"/>
    <p:sldLayoutId id="2147484126" r:id="rId6"/>
    <p:sldLayoutId id="2147484127" r:id="rId7"/>
    <p:sldLayoutId id="2147484128" r:id="rId8"/>
    <p:sldLayoutId id="2147484133" r:id="rId9"/>
    <p:sldLayoutId id="2147484129" r:id="rId10"/>
    <p:sldLayoutId id="214748413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 pitchFamily="49" charset="-122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01.as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02.ASM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03.ASM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04.asm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05.asm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06.ASM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07.asm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08.ASM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09.ASM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0.asm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1.ASM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2.ASM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3.ASM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4.ASM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5.ASM" TargetMode="Externa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6.ASM" TargetMode="Externa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7.ASM" TargetMode="Externa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8.ASM" TargetMode="Externa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19A.ASM" TargetMode="Externa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Relationship Id="rId6" Type="http://schemas.openxmlformats.org/officeDocument/2006/relationships/hyperlink" Target="&#20363;&#39064;/EP519D.ASM" TargetMode="External"/><Relationship Id="rId5" Type="http://schemas.openxmlformats.org/officeDocument/2006/relationships/hyperlink" Target="&#20363;&#39064;/EP519C.ASM" TargetMode="External"/><Relationship Id="rId4" Type="http://schemas.openxmlformats.org/officeDocument/2006/relationships/hyperlink" Target="&#20363;&#39064;/EP519B.ASM" TargetMode="Externa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20.ASM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21.ASM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22.ASM" TargetMode="Externa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hyperlink" Target="&#20363;&#39064;/EP523.asm" TargetMode="Externa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1027">
            <a:extLst>
              <a:ext uri="{FF2B5EF4-FFF2-40B4-BE49-F238E27FC236}">
                <a16:creationId xmlns:a16="http://schemas.microsoft.com/office/drawing/2014/main" id="{F1DB81C9-5435-4949-9E3A-D9B07255F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" name="Line 1031">
            <a:extLst>
              <a:ext uri="{FF2B5EF4-FFF2-40B4-BE49-F238E27FC236}">
                <a16:creationId xmlns:a16="http://schemas.microsoft.com/office/drawing/2014/main" id="{A14D20B6-442B-490B-B989-E430C25E88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48" name="AutoShape 1032">
            <a:extLst>
              <a:ext uri="{FF2B5EF4-FFF2-40B4-BE49-F238E27FC236}">
                <a16:creationId xmlns:a16="http://schemas.microsoft.com/office/drawing/2014/main" id="{08198D64-2ED9-4A55-95EA-CC12DC02D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149" name="AutoShape 1033">
            <a:extLst>
              <a:ext uri="{FF2B5EF4-FFF2-40B4-BE49-F238E27FC236}">
                <a16:creationId xmlns:a16="http://schemas.microsoft.com/office/drawing/2014/main" id="{45CD17FB-A8E0-4A32-AA42-F8090E18B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150" name="Text Box 36">
            <a:extLst>
              <a:ext uri="{FF2B5EF4-FFF2-40B4-BE49-F238E27FC236}">
                <a16:creationId xmlns:a16="http://schemas.microsoft.com/office/drawing/2014/main" id="{B18C635E-A5C6-46A4-B0E4-5B3465635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0" y="2579688"/>
            <a:ext cx="547370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5.1  </a:t>
            </a:r>
            <a:r>
              <a:rPr lang="zh-CN" altLang="en-US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转移指令的寻址方式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5.2  </a:t>
            </a:r>
            <a:r>
              <a:rPr lang="zh-CN" altLang="en-US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控制转移指令</a:t>
            </a:r>
            <a:endParaRPr lang="zh-CN" altLang="en-US" sz="36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5.3  </a:t>
            </a:r>
            <a:r>
              <a:rPr lang="zh-CN" altLang="en-US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分支程序设计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5.4  </a:t>
            </a:r>
            <a:r>
              <a:rPr lang="zh-CN" altLang="en-US" sz="3600" b="1">
                <a:solidFill>
                  <a:schemeClr val="accent2"/>
                </a:solidFill>
                <a:latin typeface="Times New Roman" panose="02020603050405020304" pitchFamily="18" charset="0"/>
              </a:rPr>
              <a:t>循环程序设计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80D82068-FBDA-431D-BBE5-7203BBB1D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450" y="1249363"/>
            <a:ext cx="71278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kumimoji="0" lang="en-US" altLang="zh-CN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kumimoji="0"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 分支、循环程序设计</a:t>
            </a:r>
          </a:p>
        </p:txBody>
      </p:sp>
      <p:pic>
        <p:nvPicPr>
          <p:cNvPr id="6152" name="图片 14" descr="logo.jpg">
            <a:extLst>
              <a:ext uri="{FF2B5EF4-FFF2-40B4-BE49-F238E27FC236}">
                <a16:creationId xmlns:a16="http://schemas.microsoft.com/office/drawing/2014/main" id="{979378B9-3B2B-42EE-8923-52EA641BE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741363"/>
            <a:ext cx="1752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0">
            <a:extLst>
              <a:ext uri="{FF2B5EF4-FFF2-40B4-BE49-F238E27FC236}">
                <a16:creationId xmlns:a16="http://schemas.microsoft.com/office/drawing/2014/main" id="{118422FB-4E0D-4EA0-9C03-EECF530F5582}"/>
              </a:ext>
            </a:extLst>
          </p:cNvPr>
          <p:cNvSpPr txBox="1">
            <a:spLocks noGrp="1"/>
          </p:cNvSpPr>
          <p:nvPr/>
        </p:nvSpPr>
        <p:spPr>
          <a:xfrm>
            <a:off x="457200" y="6308725"/>
            <a:ext cx="1666875" cy="4127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1A15DB0-C7B6-4C60-AB99-58B8902D16A1}" type="datetime1">
              <a:rPr kumimoji="0" lang="zh-CN" altLang="en-US" b="1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b="1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6154" name="灯片编号占位符 11">
            <a:extLst>
              <a:ext uri="{FF2B5EF4-FFF2-40B4-BE49-F238E27FC236}">
                <a16:creationId xmlns:a16="http://schemas.microsoft.com/office/drawing/2014/main" id="{B0BEB0AC-5BB6-4AB4-9C82-5E0A809B639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A876760D-C6F0-4CC7-866D-A21E28EDE59F}" type="slidenum">
              <a:rPr kumimoji="0" lang="en-US" altLang="zh-CN" sz="2400" b="1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CN" sz="2400" b="1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5" name="页脚占位符 12">
            <a:extLst>
              <a:ext uri="{FF2B5EF4-FFF2-40B4-BE49-F238E27FC236}">
                <a16:creationId xmlns:a16="http://schemas.microsoft.com/office/drawing/2014/main" id="{3BADD0DF-D9D7-4D74-B94E-D8E76FAD89DB}"/>
              </a:ext>
            </a:extLst>
          </p:cNvPr>
          <p:cNvSpPr txBox="1">
            <a:spLocks noGrp="1"/>
          </p:cNvSpPr>
          <p:nvPr/>
        </p:nvSpPr>
        <p:spPr bwMode="auto">
          <a:xfrm>
            <a:off x="2484438" y="6308725"/>
            <a:ext cx="44640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045C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汇编语言程序设计  </a:t>
            </a:r>
            <a:endParaRPr kumimoji="0" lang="en-US" altLang="zh-CN" sz="2400" b="1">
              <a:solidFill>
                <a:srgbClr val="045C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1027">
            <a:extLst>
              <a:ext uri="{FF2B5EF4-FFF2-40B4-BE49-F238E27FC236}">
                <a16:creationId xmlns:a16="http://schemas.microsoft.com/office/drawing/2014/main" id="{A8BB7FDE-4956-4C57-BAB5-DB904B356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" name="Line 1031">
            <a:extLst>
              <a:ext uri="{FF2B5EF4-FFF2-40B4-BE49-F238E27FC236}">
                <a16:creationId xmlns:a16="http://schemas.microsoft.com/office/drawing/2014/main" id="{D4303613-BAED-434E-8C2F-D097144AAC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6" name="AutoShape 1032">
            <a:extLst>
              <a:ext uri="{FF2B5EF4-FFF2-40B4-BE49-F238E27FC236}">
                <a16:creationId xmlns:a16="http://schemas.microsoft.com/office/drawing/2014/main" id="{37B1E71E-E423-4C61-895D-B10F267F4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8197" name="AutoShape 1033">
            <a:extLst>
              <a:ext uri="{FF2B5EF4-FFF2-40B4-BE49-F238E27FC236}">
                <a16:creationId xmlns:a16="http://schemas.microsoft.com/office/drawing/2014/main" id="{8FB4E604-0A44-47BA-9270-FCFA600B1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2" name="Rectangle 37">
            <a:extLst>
              <a:ext uri="{FF2B5EF4-FFF2-40B4-BE49-F238E27FC236}">
                <a16:creationId xmlns:a16="http://schemas.microsoft.com/office/drawing/2014/main" id="{88BE92E0-2C5B-4B68-878A-E3243C24E085}"/>
              </a:ext>
            </a:extLst>
          </p:cNvPr>
          <p:cNvSpPr txBox="1">
            <a:spLocks noChangeArrowheads="1"/>
          </p:cNvSpPr>
          <p:nvPr/>
        </p:nvSpPr>
        <p:spPr>
          <a:xfrm>
            <a:off x="900113" y="1125538"/>
            <a:ext cx="7920037" cy="1008062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zh-CN" altLang="en-US" dirty="0">
              <a:solidFill>
                <a:srgbClr val="FF33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199" name="Text Box 36">
            <a:extLst>
              <a:ext uri="{FF2B5EF4-FFF2-40B4-BE49-F238E27FC236}">
                <a16:creationId xmlns:a16="http://schemas.microsoft.com/office/drawing/2014/main" id="{271BDD4A-B670-40D9-83AC-F63A99BF3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1844675"/>
            <a:ext cx="7056437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buClrTx/>
              <a:buSzTx/>
              <a:buFontTx/>
              <a:buNone/>
            </a:pPr>
            <a:r>
              <a:rPr lang="zh-CN" altLang="en-US" sz="3200" b="1">
                <a:latin typeface="宋体" panose="02010600030101010101" pitchFamily="2" charset="-122"/>
              </a:rPr>
              <a:t>	</a:t>
            </a:r>
            <a:r>
              <a:rPr lang="zh-CN" altLang="en-US" sz="4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掌握</a:t>
            </a:r>
            <a:r>
              <a:rPr lang="zh-CN" altLang="en-US" sz="4000" b="1">
                <a:latin typeface="楷体" panose="02010609060101010101" pitchFamily="49" charset="-122"/>
                <a:ea typeface="楷体" panose="02010609060101010101" pitchFamily="49" charset="-122"/>
              </a:rPr>
              <a:t>转移指令的寻址方式及其执行过程。</a:t>
            </a:r>
            <a:r>
              <a:rPr lang="zh-CN" altLang="en-US" sz="4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掌握</a:t>
            </a:r>
            <a:r>
              <a:rPr lang="zh-CN" altLang="en-US" sz="4000" b="1">
                <a:latin typeface="楷体" panose="02010609060101010101" pitchFamily="49" charset="-122"/>
                <a:ea typeface="楷体" panose="02010609060101010101" pitchFamily="49" charset="-122"/>
              </a:rPr>
              <a:t>控制转移类指令的使用，</a:t>
            </a:r>
            <a:r>
              <a:rPr lang="zh-CN" altLang="en-US" sz="4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掌握</a:t>
            </a:r>
            <a:r>
              <a:rPr lang="zh-CN" altLang="en-US" sz="4000" b="1">
                <a:latin typeface="楷体" panose="02010609060101010101" pitchFamily="49" charset="-122"/>
                <a:ea typeface="楷体" panose="02010609060101010101" pitchFamily="49" charset="-122"/>
              </a:rPr>
              <a:t>分支和循环程序的设计和应用。</a:t>
            </a:r>
            <a:r>
              <a:rPr lang="zh-CN" altLang="en-US" sz="40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进一步熟练上机操作和程序调试的方法。 </a:t>
            </a:r>
          </a:p>
        </p:txBody>
      </p:sp>
      <p:pic>
        <p:nvPicPr>
          <p:cNvPr id="8200" name="图片 14" descr="logo.jpg">
            <a:extLst>
              <a:ext uri="{FF2B5EF4-FFF2-40B4-BE49-F238E27FC236}">
                <a16:creationId xmlns:a16="http://schemas.microsoft.com/office/drawing/2014/main" id="{F817B5BB-CAEE-4756-ACF1-EBE3AB680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836613"/>
            <a:ext cx="1752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1" name="Text Box 9">
            <a:extLst>
              <a:ext uri="{FF2B5EF4-FFF2-40B4-BE49-F238E27FC236}">
                <a16:creationId xmlns:a16="http://schemas.microsoft.com/office/drawing/2014/main" id="{B3FE716F-4017-42F5-B994-05BCB14C0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349500"/>
            <a:ext cx="733425" cy="2449513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>
                <a:latin typeface="Times New Roman" panose="02020603050405020304" pitchFamily="18" charset="0"/>
                <a:ea typeface="楷体" panose="02010609060101010101" pitchFamily="49" charset="-122"/>
              </a:rPr>
              <a:t>本章要点</a:t>
            </a:r>
          </a:p>
        </p:txBody>
      </p:sp>
      <p:sp>
        <p:nvSpPr>
          <p:cNvPr id="8202" name="Text Box 1029">
            <a:extLst>
              <a:ext uri="{FF2B5EF4-FFF2-40B4-BE49-F238E27FC236}">
                <a16:creationId xmlns:a16="http://schemas.microsoft.com/office/drawing/2014/main" id="{149F8812-19E0-4F40-9C38-1201CD867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第</a:t>
            </a: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章 分支、循环程序设计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B318176D-FDCC-4687-84DD-2C24C72946D6}"/>
              </a:ext>
            </a:extLst>
          </p:cNvPr>
          <p:cNvSpPr txBox="1">
            <a:spLocks noGrp="1"/>
          </p:cNvSpPr>
          <p:nvPr/>
        </p:nvSpPr>
        <p:spPr>
          <a:xfrm>
            <a:off x="457200" y="6308725"/>
            <a:ext cx="1666875" cy="4127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1A15DB0-C7B6-4C60-AB99-58B8902D16A1}" type="datetime1">
              <a:rPr kumimoji="0" lang="zh-CN" altLang="en-US" b="1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b="1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8204" name="灯片编号占位符 11">
            <a:extLst>
              <a:ext uri="{FF2B5EF4-FFF2-40B4-BE49-F238E27FC236}">
                <a16:creationId xmlns:a16="http://schemas.microsoft.com/office/drawing/2014/main" id="{756EBBBF-9021-48EE-A1A9-CEEBA9115F5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11A00E33-D1BD-4BC5-A35C-24086DAB886F}" type="slidenum">
              <a:rPr kumimoji="0" lang="en-US" altLang="zh-CN" sz="2400" b="1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CN" sz="2400" b="1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5" name="页脚占位符 12">
            <a:extLst>
              <a:ext uri="{FF2B5EF4-FFF2-40B4-BE49-F238E27FC236}">
                <a16:creationId xmlns:a16="http://schemas.microsoft.com/office/drawing/2014/main" id="{6E5A202C-9A50-4F8B-A9B6-DDE41F43AD12}"/>
              </a:ext>
            </a:extLst>
          </p:cNvPr>
          <p:cNvSpPr txBox="1">
            <a:spLocks noGrp="1"/>
          </p:cNvSpPr>
          <p:nvPr/>
        </p:nvSpPr>
        <p:spPr bwMode="auto">
          <a:xfrm>
            <a:off x="2484438" y="6308725"/>
            <a:ext cx="44640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045C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汇编语言程序设计  </a:t>
            </a:r>
            <a:endParaRPr kumimoji="0" lang="en-US" altLang="zh-CN" sz="2400" b="1">
              <a:solidFill>
                <a:srgbClr val="045C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1027">
            <a:extLst>
              <a:ext uri="{FF2B5EF4-FFF2-40B4-BE49-F238E27FC236}">
                <a16:creationId xmlns:a16="http://schemas.microsoft.com/office/drawing/2014/main" id="{306CCB69-76C0-4A26-B717-D9BAA7CC4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" name="Line 1031">
            <a:extLst>
              <a:ext uri="{FF2B5EF4-FFF2-40B4-BE49-F238E27FC236}">
                <a16:creationId xmlns:a16="http://schemas.microsoft.com/office/drawing/2014/main" id="{CD87241D-8575-45D9-AAD9-311E2BF00D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44" name="AutoShape 1032">
            <a:extLst>
              <a:ext uri="{FF2B5EF4-FFF2-40B4-BE49-F238E27FC236}">
                <a16:creationId xmlns:a16="http://schemas.microsoft.com/office/drawing/2014/main" id="{DC9E37E3-65D2-42B5-AAA0-97649F6BA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245" name="AutoShape 1033">
            <a:extLst>
              <a:ext uri="{FF2B5EF4-FFF2-40B4-BE49-F238E27FC236}">
                <a16:creationId xmlns:a16="http://schemas.microsoft.com/office/drawing/2014/main" id="{F7E4E100-9EFE-4542-9DDE-5774F7417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246" name="Rectangle 10">
            <a:extLst>
              <a:ext uri="{FF2B5EF4-FFF2-40B4-BE49-F238E27FC236}">
                <a16:creationId xmlns:a16="http://schemas.microsoft.com/office/drawing/2014/main" id="{7A3882CF-F7CE-4F42-8633-5E07FB29D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1233488"/>
            <a:ext cx="5903912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3900" b="1">
                <a:solidFill>
                  <a:srgbClr val="FF3300"/>
                </a:solidFill>
                <a:latin typeface="Calibri" panose="020F0502020204030204" pitchFamily="34" charset="0"/>
                <a:ea typeface="隶书" panose="02010509060101010101" pitchFamily="49" charset="-122"/>
              </a:rPr>
              <a:t>5.1  </a:t>
            </a:r>
            <a:r>
              <a:rPr kumimoji="0" lang="zh-CN" altLang="en-US" sz="3900" b="1">
                <a:solidFill>
                  <a:srgbClr val="FF3300"/>
                </a:solidFill>
                <a:latin typeface="Calibri" panose="020F0502020204030204" pitchFamily="34" charset="0"/>
                <a:ea typeface="隶书" panose="02010509060101010101" pitchFamily="49" charset="-122"/>
              </a:rPr>
              <a:t>转移指令的寻址方式</a:t>
            </a:r>
          </a:p>
        </p:txBody>
      </p:sp>
      <p:sp>
        <p:nvSpPr>
          <p:cNvPr id="307206" name="Text Box 6">
            <a:extLst>
              <a:ext uri="{FF2B5EF4-FFF2-40B4-BE49-F238E27FC236}">
                <a16:creationId xmlns:a16="http://schemas.microsoft.com/office/drawing/2014/main" id="{392DA654-4464-4ED0-8BBD-4023EA24C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2163763"/>
            <a:ext cx="62484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3600" b="1">
                <a:latin typeface="Times New Roman" panose="02020603050405020304" pitchFamily="18" charset="0"/>
              </a:rPr>
              <a:t>用来确定转移指令（如</a:t>
            </a:r>
            <a:r>
              <a:rPr lang="en-US" altLang="zh-CN" sz="3600" b="1">
                <a:solidFill>
                  <a:srgbClr val="3103DB"/>
                </a:solidFill>
                <a:latin typeface="Times New Roman" panose="02020603050405020304" pitchFamily="18" charset="0"/>
              </a:rPr>
              <a:t>JMP</a:t>
            </a:r>
            <a:r>
              <a:rPr lang="zh-CN" altLang="en-US" sz="3600" b="1">
                <a:latin typeface="Times New Roman" panose="02020603050405020304" pitchFamily="18" charset="0"/>
              </a:rPr>
              <a:t>、</a:t>
            </a:r>
            <a:r>
              <a:rPr lang="en-US" altLang="zh-CN" sz="3600" b="1">
                <a:latin typeface="Times New Roman" panose="02020603050405020304" pitchFamily="18" charset="0"/>
              </a:rPr>
              <a:t>JC</a:t>
            </a:r>
            <a:r>
              <a:rPr lang="zh-CN" altLang="en-US" sz="3600" b="1">
                <a:latin typeface="Times New Roman" panose="02020603050405020304" pitchFamily="18" charset="0"/>
              </a:rPr>
              <a:t>、</a:t>
            </a:r>
            <a:r>
              <a:rPr lang="en-US" altLang="zh-CN" sz="3600" b="1">
                <a:latin typeface="Times New Roman" panose="02020603050405020304" pitchFamily="18" charset="0"/>
              </a:rPr>
              <a:t>LOOP</a:t>
            </a:r>
            <a:r>
              <a:rPr lang="zh-CN" altLang="en-US" sz="3600" b="1">
                <a:latin typeface="Times New Roman" panose="02020603050405020304" pitchFamily="18" charset="0"/>
              </a:rPr>
              <a:t>等）以及</a:t>
            </a:r>
            <a:r>
              <a:rPr lang="en-US" altLang="zh-CN" sz="3600" b="1">
                <a:latin typeface="Times New Roman" panose="02020603050405020304" pitchFamily="18" charset="0"/>
              </a:rPr>
              <a:t>CALL</a:t>
            </a:r>
            <a:r>
              <a:rPr lang="zh-CN" altLang="en-US" sz="3600" b="1">
                <a:latin typeface="Times New Roman" panose="02020603050405020304" pitchFamily="18" charset="0"/>
              </a:rPr>
              <a:t>、</a:t>
            </a:r>
            <a:r>
              <a:rPr lang="en-US" altLang="zh-CN" sz="3600" b="1">
                <a:latin typeface="Times New Roman" panose="02020603050405020304" pitchFamily="18" charset="0"/>
              </a:rPr>
              <a:t>INT</a:t>
            </a:r>
            <a:r>
              <a:rPr lang="zh-CN" altLang="en-US" sz="3600" b="1">
                <a:latin typeface="Times New Roman" panose="02020603050405020304" pitchFamily="18" charset="0"/>
              </a:rPr>
              <a:t>指令的转向地址。</a:t>
            </a:r>
            <a:endParaRPr lang="zh-CN" altLang="en-US" sz="32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10248" name="页脚占位符 14">
            <a:extLst>
              <a:ext uri="{FF2B5EF4-FFF2-40B4-BE49-F238E27FC236}">
                <a16:creationId xmlns:a16="http://schemas.microsoft.com/office/drawing/2014/main" id="{8F600976-3761-4D90-9F43-8E79096F1B1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0249" name="灯片编号占位符 13">
            <a:extLst>
              <a:ext uri="{FF2B5EF4-FFF2-40B4-BE49-F238E27FC236}">
                <a16:creationId xmlns:a16="http://schemas.microsoft.com/office/drawing/2014/main" id="{2FF5767B-02B1-47BE-9E81-9F3CA549EE3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2F60893-00F2-4680-B01F-EE78C2AFAD8F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50" name="日期占位符 12">
            <a:extLst>
              <a:ext uri="{FF2B5EF4-FFF2-40B4-BE49-F238E27FC236}">
                <a16:creationId xmlns:a16="http://schemas.microsoft.com/office/drawing/2014/main" id="{73EF8AAE-7D96-40A5-9C23-3F3C5CBAA95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1B9D1EF-95DA-40A5-A864-6C23CAD50E83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51" name="Text Box 1029">
            <a:extLst>
              <a:ext uri="{FF2B5EF4-FFF2-40B4-BE49-F238E27FC236}">
                <a16:creationId xmlns:a16="http://schemas.microsoft.com/office/drawing/2014/main" id="{F6BC27CB-89C8-48FC-852E-087A80AB2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第</a:t>
            </a: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章 分支、循环程序设计</a:t>
            </a:r>
          </a:p>
        </p:txBody>
      </p:sp>
      <p:sp>
        <p:nvSpPr>
          <p:cNvPr id="10252" name="灯片编号占位符 13">
            <a:extLst>
              <a:ext uri="{FF2B5EF4-FFF2-40B4-BE49-F238E27FC236}">
                <a16:creationId xmlns:a16="http://schemas.microsoft.com/office/drawing/2014/main" id="{E7DA4A3A-23E0-4EDE-860B-07BC0A66ECC7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831F5A2D-B9B2-48D2-8620-AFEE9F3B82D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53" name="日期占位符 12">
            <a:extLst>
              <a:ext uri="{FF2B5EF4-FFF2-40B4-BE49-F238E27FC236}">
                <a16:creationId xmlns:a16="http://schemas.microsoft.com/office/drawing/2014/main" id="{978E866A-8588-44D6-9B99-BD703708CB9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1E47CAE-75D0-4C75-8605-9DFAB75080CF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54" name="灯片编号占位符 13">
            <a:extLst>
              <a:ext uri="{FF2B5EF4-FFF2-40B4-BE49-F238E27FC236}">
                <a16:creationId xmlns:a16="http://schemas.microsoft.com/office/drawing/2014/main" id="{A8526214-06D9-421F-B677-97F89CC04DEE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27C36B6-A5D4-4E19-A112-A9AF50E0021B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55" name="日期占位符 12">
            <a:extLst>
              <a:ext uri="{FF2B5EF4-FFF2-40B4-BE49-F238E27FC236}">
                <a16:creationId xmlns:a16="http://schemas.microsoft.com/office/drawing/2014/main" id="{46666FCC-E3E5-4FB0-988C-AFEFA8A9BAD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51CDE69-F178-4F2C-BB21-E6D063033AAF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B8849D-1C3C-4092-96DE-8B7BE9F60DA8}"/>
              </a:ext>
            </a:extLst>
          </p:cNvPr>
          <p:cNvSpPr txBox="1"/>
          <p:nvPr/>
        </p:nvSpPr>
        <p:spPr>
          <a:xfrm>
            <a:off x="1697038" y="4365625"/>
            <a:ext cx="5324475" cy="1200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</a:rPr>
              <a:t>转移指令是指会使</a:t>
            </a:r>
            <a:r>
              <a:rPr lang="en-US" altLang="zh-CN" sz="3600" b="1" dirty="0">
                <a:latin typeface="仿宋" panose="02010609060101010101" pitchFamily="49" charset="-122"/>
                <a:ea typeface="仿宋" panose="02010609060101010101" pitchFamily="49" charset="-122"/>
              </a:rPr>
              <a:t>IP</a:t>
            </a:r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</a:rPr>
              <a:t>发生跳变的一类指令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1027">
            <a:extLst>
              <a:ext uri="{FF2B5EF4-FFF2-40B4-BE49-F238E27FC236}">
                <a16:creationId xmlns:a16="http://schemas.microsoft.com/office/drawing/2014/main" id="{C2DE4FDE-D914-4F4F-A422-A121029AB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38A0F8-5305-48FF-9522-80BAA597640E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9EB904C-2C4D-4CDF-AA92-00FBB958FDDB}" type="datetime1">
              <a:rPr kumimoji="0" lang="zh-CN" altLang="en-US" sz="2000" b="1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b="1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9460" name="灯片编号占位符 7">
            <a:extLst>
              <a:ext uri="{FF2B5EF4-FFF2-40B4-BE49-F238E27FC236}">
                <a16:creationId xmlns:a16="http://schemas.microsoft.com/office/drawing/2014/main" id="{338A3414-019A-438D-95CD-2693E452C3E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3BA70223-4E8D-42C5-B1D6-D96FBC36CC38}" type="slidenum">
              <a:rPr kumimoji="0" lang="en-US" altLang="zh-CN" sz="2000" b="1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CN" sz="2000" b="1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7ED41467-6663-4680-A71C-7F5303D2B3DA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b="1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b="1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2CD7AE7F-A399-4784-BE69-4C399C7BC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65175"/>
            <a:ext cx="439261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 b="1">
                <a:solidFill>
                  <a:srgbClr val="FF0000"/>
                </a:solidFill>
                <a:latin typeface="宋体" panose="02010600030101010101" pitchFamily="2" charset="-122"/>
              </a:rPr>
              <a:t>5.2 </a:t>
            </a:r>
            <a:r>
              <a:rPr lang="zh-CN" altLang="zh-CN" sz="4000" b="1">
                <a:solidFill>
                  <a:srgbClr val="FF0000"/>
                </a:solidFill>
                <a:latin typeface="宋体" panose="02010600030101010101" pitchFamily="2" charset="-122"/>
              </a:rPr>
              <a:t>控制转移指令</a:t>
            </a:r>
            <a:br>
              <a:rPr kumimoji="0" lang="zh-CN" altLang="zh-CN" sz="1000" b="1">
                <a:solidFill>
                  <a:srgbClr val="FF0000"/>
                </a:solidFill>
                <a:latin typeface="宋体" panose="02010600030101010101" pitchFamily="2" charset="-122"/>
              </a:rPr>
            </a:br>
            <a:endParaRPr kumimoji="0" lang="zh-CN" altLang="en-US" sz="10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B0AF122F-4B9E-476E-B3A5-07BD283CF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700213"/>
            <a:ext cx="70564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D6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200" b="1">
                <a:solidFill>
                  <a:srgbClr val="0000D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为了实现分支和循环，用控制转移指令来控制程序的执行流程。</a:t>
            </a:r>
            <a:endParaRPr lang="zh-CN" altLang="en-US" sz="2400" b="1">
              <a:solidFill>
                <a:srgbClr val="0000D6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0BB4E0-950C-4DE6-98AF-C106903DFA59}"/>
              </a:ext>
            </a:extLst>
          </p:cNvPr>
          <p:cNvSpPr/>
          <p:nvPr/>
        </p:nvSpPr>
        <p:spPr>
          <a:xfrm>
            <a:off x="1547813" y="3068638"/>
            <a:ext cx="5616575" cy="28622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 lvl="2" eaLnBrk="1" hangingPunct="1">
              <a:buFontTx/>
              <a:buChar char="•"/>
              <a:defRPr/>
            </a:pPr>
            <a:r>
              <a:rPr lang="zh-CN" altLang="en-US" sz="3600" b="1" dirty="0">
                <a:ea typeface="隶书" pitchFamily="49" charset="-122"/>
              </a:rPr>
              <a:t>  无条件转移指令</a:t>
            </a:r>
          </a:p>
          <a:p>
            <a:pPr lvl="2" eaLnBrk="1" hangingPunct="1">
              <a:buFontTx/>
              <a:buChar char="•"/>
              <a:defRPr/>
            </a:pPr>
            <a:r>
              <a:rPr lang="zh-CN" altLang="en-US" sz="3600" b="1" dirty="0">
                <a:ea typeface="隶书" pitchFamily="49" charset="-122"/>
              </a:rPr>
              <a:t>  条件转移指令</a:t>
            </a:r>
          </a:p>
          <a:p>
            <a:pPr lvl="2" eaLnBrk="1" hangingPunct="1">
              <a:buFontTx/>
              <a:buChar char="•"/>
              <a:defRPr/>
            </a:pPr>
            <a:r>
              <a:rPr lang="zh-CN" altLang="en-US" sz="3600" b="1" dirty="0">
                <a:ea typeface="隶书" pitchFamily="49" charset="-122"/>
              </a:rPr>
              <a:t>  循环指令</a:t>
            </a:r>
          </a:p>
          <a:p>
            <a:pPr lvl="2" eaLnBrk="1" hangingPunct="1">
              <a:buFontTx/>
              <a:buChar char="•"/>
              <a:defRPr/>
            </a:pPr>
            <a:r>
              <a:rPr lang="zh-CN" altLang="en-US" sz="3600" b="1" dirty="0">
                <a:ea typeface="隶书" pitchFamily="49" charset="-122"/>
              </a:rPr>
              <a:t>  子程序调用指令</a:t>
            </a:r>
          </a:p>
          <a:p>
            <a:pPr lvl="2" eaLnBrk="1" hangingPunct="1">
              <a:buFontTx/>
              <a:buChar char="•"/>
              <a:defRPr/>
            </a:pPr>
            <a:r>
              <a:rPr lang="zh-CN" altLang="en-US" sz="3600" b="1" dirty="0">
                <a:ea typeface="隶书" pitchFamily="49" charset="-122"/>
              </a:rPr>
              <a:t>  中断指令</a:t>
            </a:r>
            <a:endParaRPr lang="en-US" altLang="zh-CN" sz="3200" b="1" dirty="0"/>
          </a:p>
        </p:txBody>
      </p:sp>
      <p:sp>
        <p:nvSpPr>
          <p:cNvPr id="19465" name="Text Box 1029">
            <a:extLst>
              <a:ext uri="{FF2B5EF4-FFF2-40B4-BE49-F238E27FC236}">
                <a16:creationId xmlns:a16="http://schemas.microsoft.com/office/drawing/2014/main" id="{C7EE569A-93B5-4FAB-90EE-5B4B95F6D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第</a:t>
            </a: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章 分支、循环程序设计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3">
            <a:extLst>
              <a:ext uri="{FF2B5EF4-FFF2-40B4-BE49-F238E27FC236}">
                <a16:creationId xmlns:a16="http://schemas.microsoft.com/office/drawing/2014/main" id="{598B6B4C-7E80-4F3F-B37C-9783D6B45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8" name="Text Box 6">
            <a:extLst>
              <a:ext uri="{FF2B5EF4-FFF2-40B4-BE49-F238E27FC236}">
                <a16:creationId xmlns:a16="http://schemas.microsoft.com/office/drawing/2014/main" id="{C4D88D9E-72A9-4169-8254-5166C910C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773238"/>
            <a:ext cx="695325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JMP</a:t>
            </a: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</a:rPr>
              <a:t>JuMP</a:t>
            </a:r>
            <a:r>
              <a:rPr lang="zh-CN" altLang="en-US" sz="2400" b="1">
                <a:latin typeface="Times New Roman" panose="02020603050405020304" pitchFamily="18" charset="0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格式：</a:t>
            </a:r>
            <a:r>
              <a:rPr lang="en-US" altLang="zh-CN" sz="2800" b="1">
                <a:solidFill>
                  <a:srgbClr val="0000D6"/>
                </a:solidFill>
                <a:latin typeface="Times New Roman" panose="02020603050405020304" pitchFamily="18" charset="0"/>
              </a:rPr>
              <a:t>JMP	 </a:t>
            </a:r>
            <a:r>
              <a:rPr lang="zh-CN" altLang="en-US" sz="2800" b="1">
                <a:solidFill>
                  <a:srgbClr val="0000D6"/>
                </a:solidFill>
                <a:latin typeface="Times New Roman" panose="02020603050405020304" pitchFamily="18" charset="0"/>
              </a:rPr>
              <a:t>目标地址</a:t>
            </a:r>
            <a:endParaRPr lang="zh-CN" altLang="en-US" sz="2800">
              <a:solidFill>
                <a:srgbClr val="0000D6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无条件地转移到指令指定的地址去执行该地址开始的指令。</a:t>
            </a:r>
            <a:r>
              <a:rPr lang="zh-CN" altLang="en-US" sz="2400" b="1"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20484" name="Line 7">
            <a:extLst>
              <a:ext uri="{FF2B5EF4-FFF2-40B4-BE49-F238E27FC236}">
                <a16:creationId xmlns:a16="http://schemas.microsoft.com/office/drawing/2014/main" id="{4471C9CE-34CB-417A-849A-60F52E07B8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485" name="AutoShape 8">
            <a:extLst>
              <a:ext uri="{FF2B5EF4-FFF2-40B4-BE49-F238E27FC236}">
                <a16:creationId xmlns:a16="http://schemas.microsoft.com/office/drawing/2014/main" id="{0C0B0DE3-9715-42C1-ADFE-63AE040F5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0486" name="Rectangle 10">
            <a:extLst>
              <a:ext uri="{FF2B5EF4-FFF2-40B4-BE49-F238E27FC236}">
                <a16:creationId xmlns:a16="http://schemas.microsoft.com/office/drawing/2014/main" id="{1BFDB5EA-5232-403A-8609-031B2045D2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16013" y="765175"/>
            <a:ext cx="5003800" cy="758825"/>
          </a:xfrm>
        </p:spPr>
        <p:txBody>
          <a:bodyPr/>
          <a:lstStyle/>
          <a:p>
            <a:pPr eaLnBrk="1" hangingPunct="1"/>
            <a:r>
              <a:rPr lang="zh-CN" altLang="en-US" sz="4000" b="1">
                <a:solidFill>
                  <a:srgbClr val="FF3300"/>
                </a:solidFill>
                <a:ea typeface="楷体" panose="02010609060101010101" pitchFamily="49" charset="-122"/>
              </a:rPr>
              <a:t>一、无条件转移指令</a:t>
            </a:r>
          </a:p>
        </p:txBody>
      </p:sp>
      <p:sp>
        <p:nvSpPr>
          <p:cNvPr id="20487" name="Text Box 10">
            <a:extLst>
              <a:ext uri="{FF2B5EF4-FFF2-40B4-BE49-F238E27FC236}">
                <a16:creationId xmlns:a16="http://schemas.microsoft.com/office/drawing/2014/main" id="{8D7055E4-0314-4A98-A978-D67BA80CD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933825"/>
            <a:ext cx="6192838" cy="1066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JMP </a:t>
            </a:r>
            <a:r>
              <a:rPr lang="zh-CN" altLang="en-US" sz="3200" b="1">
                <a:latin typeface="Times New Roman" panose="02020603050405020304" pitchFamily="18" charset="0"/>
              </a:rPr>
              <a:t>含上面所讲的</a:t>
            </a:r>
            <a:r>
              <a:rPr lang="en-US" altLang="zh-CN" sz="3200" b="1">
                <a:latin typeface="Times New Roman" panose="02020603050405020304" pitchFamily="18" charset="0"/>
              </a:rPr>
              <a:t>5</a:t>
            </a:r>
            <a:r>
              <a:rPr lang="zh-CN" altLang="en-US" sz="3200" b="1">
                <a:latin typeface="Times New Roman" panose="02020603050405020304" pitchFamily="18" charset="0"/>
              </a:rPr>
              <a:t>中寻址方式（加上段内直接短转移）</a:t>
            </a:r>
          </a:p>
        </p:txBody>
      </p:sp>
      <p:sp>
        <p:nvSpPr>
          <p:cNvPr id="20488" name="Text Box 11">
            <a:extLst>
              <a:ext uri="{FF2B5EF4-FFF2-40B4-BE49-F238E27FC236}">
                <a16:creationId xmlns:a16="http://schemas.microsoft.com/office/drawing/2014/main" id="{BDD6D0D0-C32A-43BA-9235-134796CA8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5445125"/>
            <a:ext cx="4105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JMP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指令不影响标志位</a:t>
            </a:r>
          </a:p>
        </p:txBody>
      </p:sp>
      <p:sp>
        <p:nvSpPr>
          <p:cNvPr id="20489" name="Text Box 1029">
            <a:extLst>
              <a:ext uri="{FF2B5EF4-FFF2-40B4-BE49-F238E27FC236}">
                <a16:creationId xmlns:a16="http://schemas.microsoft.com/office/drawing/2014/main" id="{93EB7810-D415-4229-9FDF-B0A6B6FD7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1.2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20490" name="页脚占位符 14">
            <a:extLst>
              <a:ext uri="{FF2B5EF4-FFF2-40B4-BE49-F238E27FC236}">
                <a16:creationId xmlns:a16="http://schemas.microsoft.com/office/drawing/2014/main" id="{B735FBD9-DB17-4FFE-B785-2807ACE2731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0491" name="灯片编号占位符 13">
            <a:extLst>
              <a:ext uri="{FF2B5EF4-FFF2-40B4-BE49-F238E27FC236}">
                <a16:creationId xmlns:a16="http://schemas.microsoft.com/office/drawing/2014/main" id="{E84E26DC-F387-4B46-A661-94E16512912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E69B286-7E67-403C-A4A0-71136F7E2DF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492" name="日期占位符 12">
            <a:extLst>
              <a:ext uri="{FF2B5EF4-FFF2-40B4-BE49-F238E27FC236}">
                <a16:creationId xmlns:a16="http://schemas.microsoft.com/office/drawing/2014/main" id="{FB12116A-EBAA-4A4E-A6E4-68EDE201985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7B2DD8-D0C3-43C8-8C71-D34919FF648B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3">
            <a:extLst>
              <a:ext uri="{FF2B5EF4-FFF2-40B4-BE49-F238E27FC236}">
                <a16:creationId xmlns:a16="http://schemas.microsoft.com/office/drawing/2014/main" id="{B69B8116-A511-4CFD-9DF4-7FE1A6B7C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50" name="Text Box 6">
            <a:extLst>
              <a:ext uri="{FF2B5EF4-FFF2-40B4-BE49-F238E27FC236}">
                <a16:creationId xmlns:a16="http://schemas.microsoft.com/office/drawing/2014/main" id="{3AFA6558-4CEF-418A-96CA-2A4D4E2E4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700213"/>
            <a:ext cx="7086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</a:t>
            </a: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条件转移指令是根据上一条指令所设置的条件码（标志位）来判断测试条件。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	每一条条件转移指令都有它的测试条件，满足条件则转移到指令指定的地址去执行该地址开始的指令，不满足条件则顺序执行下一条指令。</a:t>
            </a:r>
          </a:p>
        </p:txBody>
      </p:sp>
      <p:sp>
        <p:nvSpPr>
          <p:cNvPr id="22532" name="Line 7">
            <a:extLst>
              <a:ext uri="{FF2B5EF4-FFF2-40B4-BE49-F238E27FC236}">
                <a16:creationId xmlns:a16="http://schemas.microsoft.com/office/drawing/2014/main" id="{4BC6D422-2D94-4E08-B0FD-0B59DED92F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3" name="AutoShape 8">
            <a:extLst>
              <a:ext uri="{FF2B5EF4-FFF2-40B4-BE49-F238E27FC236}">
                <a16:creationId xmlns:a16="http://schemas.microsoft.com/office/drawing/2014/main" id="{14AFB0E1-15B8-46C3-B7EE-02BD46500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2534" name="AutoShape 9">
            <a:extLst>
              <a:ext uri="{FF2B5EF4-FFF2-40B4-BE49-F238E27FC236}">
                <a16:creationId xmlns:a16="http://schemas.microsoft.com/office/drawing/2014/main" id="{9BCFE0C6-8E01-424E-92B7-C92929AEC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2535" name="AutoShape 12">
            <a:extLst>
              <a:ext uri="{FF2B5EF4-FFF2-40B4-BE49-F238E27FC236}">
                <a16:creationId xmlns:a16="http://schemas.microsoft.com/office/drawing/2014/main" id="{96C686D2-F032-4CD4-8CE4-081A2A8AF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962400"/>
            <a:ext cx="1371600" cy="1066800"/>
          </a:xfrm>
          <a:prstGeom prst="flowChartDecisi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grpSp>
        <p:nvGrpSpPr>
          <p:cNvPr id="22536" name="Group 31">
            <a:extLst>
              <a:ext uri="{FF2B5EF4-FFF2-40B4-BE49-F238E27FC236}">
                <a16:creationId xmlns:a16="http://schemas.microsoft.com/office/drawing/2014/main" id="{725B7289-CAEE-46FB-B605-E17ED0682543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3644900"/>
            <a:ext cx="3276600" cy="2332038"/>
            <a:chOff x="4947" y="1128"/>
            <a:chExt cx="4410" cy="3432"/>
          </a:xfrm>
        </p:grpSpPr>
        <p:grpSp>
          <p:nvGrpSpPr>
            <p:cNvPr id="22542" name="Group 32">
              <a:extLst>
                <a:ext uri="{FF2B5EF4-FFF2-40B4-BE49-F238E27FC236}">
                  <a16:creationId xmlns:a16="http://schemas.microsoft.com/office/drawing/2014/main" id="{39FBFBEB-764D-4A04-8C3B-EAD11A066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7" y="1128"/>
              <a:ext cx="3570" cy="2808"/>
              <a:chOff x="4947" y="1128"/>
              <a:chExt cx="3570" cy="2808"/>
            </a:xfrm>
          </p:grpSpPr>
          <p:sp>
            <p:nvSpPr>
              <p:cNvPr id="22548" name="AutoShape 33">
                <a:extLst>
                  <a:ext uri="{FF2B5EF4-FFF2-40B4-BE49-F238E27FC236}">
                    <a16:creationId xmlns:a16="http://schemas.microsoft.com/office/drawing/2014/main" id="{36D673FF-3A15-4DB0-881A-28B5B4041B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7" y="2064"/>
                <a:ext cx="2730" cy="936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1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9" name="Line 34">
                <a:extLst>
                  <a:ext uri="{FF2B5EF4-FFF2-40B4-BE49-F238E27FC236}">
                    <a16:creationId xmlns:a16="http://schemas.microsoft.com/office/drawing/2014/main" id="{33E7A311-BAF2-45BE-8B08-C01F5B15E6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2" y="3000"/>
                <a:ext cx="0" cy="9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0" name="Line 35">
                <a:extLst>
                  <a:ext uri="{FF2B5EF4-FFF2-40B4-BE49-F238E27FC236}">
                    <a16:creationId xmlns:a16="http://schemas.microsoft.com/office/drawing/2014/main" id="{12872072-E0A6-4344-B330-2FAC29A75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2" y="1128"/>
                <a:ext cx="0" cy="9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1" name="Line 36">
                <a:extLst>
                  <a:ext uri="{FF2B5EF4-FFF2-40B4-BE49-F238E27FC236}">
                    <a16:creationId xmlns:a16="http://schemas.microsoft.com/office/drawing/2014/main" id="{AA75C09F-D6D8-4618-9EC2-1803681646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7" y="2532"/>
                <a:ext cx="8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2" name="Line 37">
                <a:extLst>
                  <a:ext uri="{FF2B5EF4-FFF2-40B4-BE49-F238E27FC236}">
                    <a16:creationId xmlns:a16="http://schemas.microsoft.com/office/drawing/2014/main" id="{D8CE82DC-6EE8-4153-80CD-5BCC1593C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7" y="2532"/>
                <a:ext cx="0" cy="7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43" name="Text Box 38">
              <a:extLst>
                <a:ext uri="{FF2B5EF4-FFF2-40B4-BE49-F238E27FC236}">
                  <a16:creationId xmlns:a16="http://schemas.microsoft.com/office/drawing/2014/main" id="{049129B7-22A9-42CE-85D7-AB1B3CF2E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2220"/>
              <a:ext cx="1890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  <a:ea typeface="楷体_GB2312" pitchFamily="49" charset="-122"/>
                </a:rPr>
                <a:t>条件满足？</a:t>
              </a:r>
            </a:p>
          </p:txBody>
        </p:sp>
        <p:sp>
          <p:nvSpPr>
            <p:cNvPr id="22544" name="Text Box 39">
              <a:extLst>
                <a:ext uri="{FF2B5EF4-FFF2-40B4-BE49-F238E27FC236}">
                  <a16:creationId xmlns:a16="http://schemas.microsoft.com/office/drawing/2014/main" id="{0316B855-F12B-44BC-985A-9F1E4ECA1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2" y="3156"/>
              <a:ext cx="630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  <a:ea typeface="楷体_GB2312" pitchFamily="49" charset="-122"/>
                </a:rPr>
                <a:t>否</a:t>
              </a:r>
            </a:p>
          </p:txBody>
        </p:sp>
        <p:sp>
          <p:nvSpPr>
            <p:cNvPr id="22545" name="Text Box 40">
              <a:extLst>
                <a:ext uri="{FF2B5EF4-FFF2-40B4-BE49-F238E27FC236}">
                  <a16:creationId xmlns:a16="http://schemas.microsoft.com/office/drawing/2014/main" id="{11130750-EABF-4F38-BBE8-C71E0A6990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2" y="1908"/>
              <a:ext cx="630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</a:p>
          </p:txBody>
        </p:sp>
        <p:sp>
          <p:nvSpPr>
            <p:cNvPr id="22546" name="Text Box 41">
              <a:extLst>
                <a:ext uri="{FF2B5EF4-FFF2-40B4-BE49-F238E27FC236}">
                  <a16:creationId xmlns:a16="http://schemas.microsoft.com/office/drawing/2014/main" id="{8529104F-05CC-4E70-9503-06FD40CCA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7" y="3780"/>
              <a:ext cx="1575" cy="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  <a:ea typeface="楷体_GB2312" pitchFamily="49" charset="-122"/>
                </a:rPr>
                <a:t>顺序执行</a:t>
              </a:r>
            </a:p>
          </p:txBody>
        </p:sp>
        <p:sp>
          <p:nvSpPr>
            <p:cNvPr id="22547" name="Text Box 42">
              <a:extLst>
                <a:ext uri="{FF2B5EF4-FFF2-40B4-BE49-F238E27FC236}">
                  <a16:creationId xmlns:a16="http://schemas.microsoft.com/office/drawing/2014/main" id="{52E5FADD-2B09-4896-AA46-E0B7CC668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7" y="3156"/>
              <a:ext cx="1470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  <a:ea typeface="楷体_GB2312" pitchFamily="49" charset="-122"/>
                </a:rPr>
                <a:t>转向转移地址执行</a:t>
              </a:r>
            </a:p>
          </p:txBody>
        </p:sp>
      </p:grpSp>
      <p:sp>
        <p:nvSpPr>
          <p:cNvPr id="22537" name="Rectangle 43">
            <a:extLst>
              <a:ext uri="{FF2B5EF4-FFF2-40B4-BE49-F238E27FC236}">
                <a16:creationId xmlns:a16="http://schemas.microsoft.com/office/drawing/2014/main" id="{702C5A46-BADB-44A5-AF4D-631BC719CB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16013" y="836613"/>
            <a:ext cx="4211637" cy="615950"/>
          </a:xfrm>
        </p:spPr>
        <p:txBody>
          <a:bodyPr/>
          <a:lstStyle/>
          <a:p>
            <a:pPr eaLnBrk="1" hangingPunct="1"/>
            <a:r>
              <a:rPr lang="zh-CN" altLang="en-US" sz="4000" b="1">
                <a:solidFill>
                  <a:srgbClr val="FF3300"/>
                </a:solidFill>
              </a:rPr>
              <a:t>二、条件转移指令</a:t>
            </a:r>
          </a:p>
        </p:txBody>
      </p:sp>
      <p:sp>
        <p:nvSpPr>
          <p:cNvPr id="22538" name="Text Box 1029">
            <a:extLst>
              <a:ext uri="{FF2B5EF4-FFF2-40B4-BE49-F238E27FC236}">
                <a16:creationId xmlns:a16="http://schemas.microsoft.com/office/drawing/2014/main" id="{2E52DC5E-7C0B-45B0-9933-74A8DF0EC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22539" name="页脚占位符 14">
            <a:extLst>
              <a:ext uri="{FF2B5EF4-FFF2-40B4-BE49-F238E27FC236}">
                <a16:creationId xmlns:a16="http://schemas.microsoft.com/office/drawing/2014/main" id="{08B06640-7375-4C23-9619-6AE8E7C89924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2540" name="灯片编号占位符 13">
            <a:extLst>
              <a:ext uri="{FF2B5EF4-FFF2-40B4-BE49-F238E27FC236}">
                <a16:creationId xmlns:a16="http://schemas.microsoft.com/office/drawing/2014/main" id="{4E8F729D-EE29-4AA0-837F-F8FCFF6EC7D3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4A47F10-A9B5-4518-9FA4-197593858C28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41" name="日期占位符 12">
            <a:extLst>
              <a:ext uri="{FF2B5EF4-FFF2-40B4-BE49-F238E27FC236}">
                <a16:creationId xmlns:a16="http://schemas.microsoft.com/office/drawing/2014/main" id="{3654EE94-FFF0-4B73-BF98-DD6C8721724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1326A6-7FE0-4399-B4AE-6EF13829CD10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5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3">
            <a:extLst>
              <a:ext uri="{FF2B5EF4-FFF2-40B4-BE49-F238E27FC236}">
                <a16:creationId xmlns:a16="http://schemas.microsoft.com/office/drawing/2014/main" id="{CD444D08-44FD-43EF-AC72-92FF9B84D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9" name="Text Box 5">
            <a:extLst>
              <a:ext uri="{FF2B5EF4-FFF2-40B4-BE49-F238E27FC236}">
                <a16:creationId xmlns:a16="http://schemas.microsoft.com/office/drawing/2014/main" id="{888AC09A-2AC4-4A23-9003-4D0F0BA1A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836613"/>
            <a:ext cx="4114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条件转移指令</a:t>
            </a:r>
            <a:r>
              <a:rPr lang="zh-CN" altLang="en-US" sz="2400">
                <a:latin typeface="宋体" panose="02010600030101010101" pitchFamily="2" charset="-122"/>
              </a:rPr>
              <a:t>   </a:t>
            </a:r>
          </a:p>
        </p:txBody>
      </p:sp>
      <p:sp>
        <p:nvSpPr>
          <p:cNvPr id="214022" name="Text Box 6">
            <a:extLst>
              <a:ext uri="{FF2B5EF4-FFF2-40B4-BE49-F238E27FC236}">
                <a16:creationId xmlns:a16="http://schemas.microsoft.com/office/drawing/2014/main" id="{EE5F6EBE-5AC2-43B6-9B7E-5B85C94CD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506" y="1855937"/>
            <a:ext cx="6934200" cy="4001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eaLnBrk="1" hangingPunct="1">
              <a:spcBef>
                <a:spcPts val="1200"/>
              </a:spcBef>
              <a:defRPr/>
            </a:pP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单个标志的条件转移指令（10）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2.无符号数的条件转移指令（4）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3.带符号数的条件转移指令（4）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4.测试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CX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转移指令（1）</a:t>
            </a:r>
          </a:p>
          <a:p>
            <a:pPr eaLnBrk="1" hangingPunct="1">
              <a:defRPr/>
            </a:pPr>
            <a:endParaRPr lang="zh-CN" altLang="zh-CN" sz="32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defRPr/>
            </a:pPr>
            <a:endParaRPr lang="zh-CN" altLang="zh-CN" sz="3200" b="1" dirty="0"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lang="zh-CN" altLang="zh-CN" sz="3200" b="1" dirty="0">
                <a:solidFill>
                  <a:schemeClr val="accent2"/>
                </a:solidFill>
                <a:latin typeface="楷体" pitchFamily="49" charset="-122"/>
                <a:ea typeface="楷体" pitchFamily="49" charset="-122"/>
              </a:rPr>
              <a:t>条件转移指令不影响标志位</a:t>
            </a:r>
            <a:endParaRPr lang="zh-CN" altLang="zh-CN" sz="32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4581" name="Line 7">
            <a:extLst>
              <a:ext uri="{FF2B5EF4-FFF2-40B4-BE49-F238E27FC236}">
                <a16:creationId xmlns:a16="http://schemas.microsoft.com/office/drawing/2014/main" id="{CFB5C5CF-B878-4735-923A-8944F6C8D0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2" name="AutoShape 8">
            <a:extLst>
              <a:ext uri="{FF2B5EF4-FFF2-40B4-BE49-F238E27FC236}">
                <a16:creationId xmlns:a16="http://schemas.microsoft.com/office/drawing/2014/main" id="{08B09301-C104-4E6D-AEBB-2156425EF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4583" name="AutoShape 9">
            <a:extLst>
              <a:ext uri="{FF2B5EF4-FFF2-40B4-BE49-F238E27FC236}">
                <a16:creationId xmlns:a16="http://schemas.microsoft.com/office/drawing/2014/main" id="{97F26982-73AC-4D96-B556-191B7BCBC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4584" name="Text Box 1029">
            <a:extLst>
              <a:ext uri="{FF2B5EF4-FFF2-40B4-BE49-F238E27FC236}">
                <a16:creationId xmlns:a16="http://schemas.microsoft.com/office/drawing/2014/main" id="{DE5CB739-23D5-45F5-92DA-D7AB9591D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24585" name="页脚占位符 14">
            <a:extLst>
              <a:ext uri="{FF2B5EF4-FFF2-40B4-BE49-F238E27FC236}">
                <a16:creationId xmlns:a16="http://schemas.microsoft.com/office/drawing/2014/main" id="{18DE1C50-9AA2-4C58-B22D-E195E715858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4586" name="灯片编号占位符 13">
            <a:extLst>
              <a:ext uri="{FF2B5EF4-FFF2-40B4-BE49-F238E27FC236}">
                <a16:creationId xmlns:a16="http://schemas.microsoft.com/office/drawing/2014/main" id="{7E843383-233D-4BD3-84A8-138E525D790D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B97CE50B-D163-4B41-83F8-110658507439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87" name="日期占位符 12">
            <a:extLst>
              <a:ext uri="{FF2B5EF4-FFF2-40B4-BE49-F238E27FC236}">
                <a16:creationId xmlns:a16="http://schemas.microsoft.com/office/drawing/2014/main" id="{DCC2BC65-B507-4238-9B02-7BB39CE7B5C4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31E8B26-C19F-42F7-9452-244FB8601335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3">
            <a:extLst>
              <a:ext uri="{FF2B5EF4-FFF2-40B4-BE49-F238E27FC236}">
                <a16:creationId xmlns:a16="http://schemas.microsoft.com/office/drawing/2014/main" id="{5AE8B82D-E169-4CC4-8784-A0CC508D83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046" name="Text Box 6">
            <a:extLst>
              <a:ext uri="{FF2B5EF4-FFF2-40B4-BE49-F238E27FC236}">
                <a16:creationId xmlns:a16="http://schemas.microsoft.com/office/drawing/2014/main" id="{6792DC5B-611A-4D1B-9F72-10A345538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060575"/>
            <a:ext cx="69342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适用于测试某一次运算的结果，根据不同的条件标志产生程序分支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200" b="1">
                <a:latin typeface="幼圆" panose="02010509060101010101" pitchFamily="49" charset="-122"/>
                <a:ea typeface="幼圆" panose="02010509060101010101" pitchFamily="49" charset="-122"/>
              </a:rPr>
              <a:t>根据</a:t>
            </a:r>
            <a:r>
              <a:rPr lang="zh-CN" altLang="en-US" sz="3200" b="1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五个</a:t>
            </a:r>
            <a:r>
              <a:rPr lang="zh-CN" altLang="en-US" sz="3200" b="1">
                <a:latin typeface="幼圆" panose="02010509060101010101" pitchFamily="49" charset="-122"/>
                <a:ea typeface="幼圆" panose="02010509060101010101" pitchFamily="49" charset="-122"/>
              </a:rPr>
              <a:t>标志位</a:t>
            </a:r>
            <a:r>
              <a:rPr lang="en-US" altLang="zh-CN" sz="3200" b="1">
                <a:solidFill>
                  <a:srgbClr val="3103DB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ZF</a:t>
            </a:r>
            <a:r>
              <a:rPr lang="zh-CN" altLang="en-US" sz="3200" b="1">
                <a:solidFill>
                  <a:srgbClr val="3103DB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en-US" altLang="zh-CN" sz="3200" b="1">
                <a:solidFill>
                  <a:srgbClr val="3103DB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SF</a:t>
            </a:r>
            <a:r>
              <a:rPr lang="zh-CN" altLang="en-US" sz="3200" b="1">
                <a:solidFill>
                  <a:srgbClr val="3103DB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en-US" altLang="zh-CN" sz="3200" b="1">
                <a:solidFill>
                  <a:srgbClr val="3103DB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OF</a:t>
            </a:r>
            <a:r>
              <a:rPr lang="zh-CN" altLang="en-US" sz="3200" b="1">
                <a:solidFill>
                  <a:srgbClr val="3103DB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en-US" altLang="zh-CN" sz="3200" b="1">
                <a:solidFill>
                  <a:srgbClr val="3103DB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PF</a:t>
            </a:r>
            <a:r>
              <a:rPr lang="zh-CN" altLang="en-US" sz="3200" b="1">
                <a:solidFill>
                  <a:srgbClr val="3103DB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en-US" altLang="zh-CN" sz="3200" b="1">
                <a:solidFill>
                  <a:srgbClr val="3103DB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CF</a:t>
            </a:r>
            <a:r>
              <a:rPr lang="zh-CN" altLang="en-US" sz="3200" b="1">
                <a:latin typeface="幼圆" panose="02010509060101010101" pitchFamily="49" charset="-122"/>
                <a:ea typeface="幼圆" panose="02010509060101010101" pitchFamily="49" charset="-122"/>
              </a:rPr>
              <a:t>的两种状态（</a:t>
            </a:r>
            <a:r>
              <a:rPr lang="en-US" altLang="zh-CN" sz="3200" b="1"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zh-CN" altLang="en-US" sz="3200" b="1">
                <a:latin typeface="幼圆" panose="02010509060101010101" pitchFamily="49" charset="-122"/>
                <a:ea typeface="幼圆" panose="02010509060101010101" pitchFamily="49" charset="-122"/>
              </a:rPr>
              <a:t>或</a:t>
            </a:r>
            <a:r>
              <a:rPr lang="en-US" altLang="zh-CN" sz="3200" b="1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3200" b="1">
                <a:latin typeface="幼圆" panose="02010509060101010101" pitchFamily="49" charset="-122"/>
                <a:ea typeface="幼圆" panose="02010509060101010101" pitchFamily="49" charset="-122"/>
              </a:rPr>
              <a:t>）产生十种测试条件。	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1">
                <a:latin typeface="幼圆" panose="02010509060101010101" pitchFamily="49" charset="-122"/>
                <a:ea typeface="幼圆" panose="02010509060101010101" pitchFamily="49" charset="-122"/>
              </a:rPr>
              <a:t>	</a:t>
            </a:r>
            <a:r>
              <a:rPr lang="zh-CN" altLang="zh-CN" sz="3600" b="1">
                <a:latin typeface="幼圆" panose="02010509060101010101" pitchFamily="49" charset="-122"/>
                <a:ea typeface="幼圆" panose="02010509060101010101" pitchFamily="49" charset="-122"/>
              </a:rPr>
              <a:t>共</a:t>
            </a:r>
            <a:r>
              <a:rPr lang="zh-CN" altLang="zh-CN" sz="2800" b="1">
                <a:solidFill>
                  <a:srgbClr val="6600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十条五对指令</a:t>
            </a:r>
            <a:endParaRPr lang="zh-CN" altLang="zh-CN" sz="3600" b="1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604" name="Line 7">
            <a:extLst>
              <a:ext uri="{FF2B5EF4-FFF2-40B4-BE49-F238E27FC236}">
                <a16:creationId xmlns:a16="http://schemas.microsoft.com/office/drawing/2014/main" id="{17BD2FB4-4C51-40C7-8D34-7DDFEC5E1E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05" name="AutoShape 8">
            <a:extLst>
              <a:ext uri="{FF2B5EF4-FFF2-40B4-BE49-F238E27FC236}">
                <a16:creationId xmlns:a16="http://schemas.microsoft.com/office/drawing/2014/main" id="{7191B6D1-E35C-488C-8A1C-7D09F6CF2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2384425"/>
            <a:ext cx="184150" cy="701675"/>
          </a:xfrm>
          <a:prstGeom prst="leftArrow">
            <a:avLst>
              <a:gd name="adj1" fmla="val 50000"/>
              <a:gd name="adj2" fmla="val 25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5606" name="AutoShape 9">
            <a:extLst>
              <a:ext uri="{FF2B5EF4-FFF2-40B4-BE49-F238E27FC236}">
                <a16:creationId xmlns:a16="http://schemas.microsoft.com/office/drawing/2014/main" id="{F679CD25-A18E-435A-B444-FC377C059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5607" name="AutoShape 10">
            <a:extLst>
              <a:ext uri="{FF2B5EF4-FFF2-40B4-BE49-F238E27FC236}">
                <a16:creationId xmlns:a16="http://schemas.microsoft.com/office/drawing/2014/main" id="{5E74899E-3D42-42B8-8AA6-39F32C7F8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962400"/>
            <a:ext cx="1371600" cy="1066800"/>
          </a:xfrm>
          <a:prstGeom prst="flowChartDecisi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5608" name="Rectangle 11">
            <a:extLst>
              <a:ext uri="{FF2B5EF4-FFF2-40B4-BE49-F238E27FC236}">
                <a16:creationId xmlns:a16="http://schemas.microsoft.com/office/drawing/2014/main" id="{93819708-FEB4-41B1-BC65-0057640AFF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2988" y="836613"/>
            <a:ext cx="5976937" cy="682625"/>
          </a:xfrm>
        </p:spPr>
        <p:txBody>
          <a:bodyPr/>
          <a:lstStyle/>
          <a:p>
            <a:pPr eaLnBrk="1" hangingPunct="1"/>
            <a:r>
              <a:rPr kumimoji="1"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kumimoji="1" lang="zh-CN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单个标志的条件转移指令</a:t>
            </a:r>
            <a:endParaRPr kumimoji="1" lang="zh-CN" altLang="en-US" sz="3200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9" name="Text Box 1029">
            <a:extLst>
              <a:ext uri="{FF2B5EF4-FFF2-40B4-BE49-F238E27FC236}">
                <a16:creationId xmlns:a16="http://schemas.microsoft.com/office/drawing/2014/main" id="{73409442-7D1F-4B52-AF9F-759DDB2CB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25610" name="页脚占位符 14">
            <a:extLst>
              <a:ext uri="{FF2B5EF4-FFF2-40B4-BE49-F238E27FC236}">
                <a16:creationId xmlns:a16="http://schemas.microsoft.com/office/drawing/2014/main" id="{3019CE43-752B-4681-A3FD-2345BCA9CB46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5611" name="灯片编号占位符 13">
            <a:extLst>
              <a:ext uri="{FF2B5EF4-FFF2-40B4-BE49-F238E27FC236}">
                <a16:creationId xmlns:a16="http://schemas.microsoft.com/office/drawing/2014/main" id="{20C12475-BD78-4669-9590-33045894C157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3A781E0-2E8D-412C-8E33-BFD1EFB4076B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12" name="日期占位符 12">
            <a:extLst>
              <a:ext uri="{FF2B5EF4-FFF2-40B4-BE49-F238E27FC236}">
                <a16:creationId xmlns:a16="http://schemas.microsoft.com/office/drawing/2014/main" id="{5284738F-66FB-4431-9F53-1F528C063D8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2CC42B-2A46-421F-A55F-AA5114416F85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3">
            <a:extLst>
              <a:ext uri="{FF2B5EF4-FFF2-40B4-BE49-F238E27FC236}">
                <a16:creationId xmlns:a16="http://schemas.microsoft.com/office/drawing/2014/main" id="{B8EFC9F5-35C0-4272-9998-983DAA7F8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7" name="Text Box 5">
            <a:extLst>
              <a:ext uri="{FF2B5EF4-FFF2-40B4-BE49-F238E27FC236}">
                <a16:creationId xmlns:a16="http://schemas.microsoft.com/office/drawing/2014/main" id="{4FAA9D3B-CE52-4692-BE32-335B8BF21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92150"/>
            <a:ext cx="510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单个标志的条件转移指令</a:t>
            </a: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7094" name="Text Box 6">
            <a:extLst>
              <a:ext uri="{FF2B5EF4-FFF2-40B4-BE49-F238E27FC236}">
                <a16:creationId xmlns:a16="http://schemas.microsoft.com/office/drawing/2014/main" id="{A6E4F490-B9C7-42F3-99CA-0921DD1BB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412875"/>
            <a:ext cx="60198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JZ</a:t>
            </a:r>
            <a:r>
              <a:rPr lang="zh-CN" altLang="en-US" sz="3200" b="1">
                <a:solidFill>
                  <a:srgbClr val="3103DB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JE</a:t>
            </a:r>
            <a:r>
              <a:rPr lang="zh-CN" altLang="en-US" sz="3200" b="1">
                <a:solidFill>
                  <a:srgbClr val="3103DB"/>
                </a:solidFill>
                <a:latin typeface="宋体" panose="02010600030101010101" pitchFamily="2" charset="-122"/>
              </a:rPr>
              <a:t>）			</a:t>
            </a: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JNZ</a:t>
            </a:r>
            <a:r>
              <a:rPr lang="zh-CN" altLang="en-US" sz="3200" b="1">
                <a:solidFill>
                  <a:srgbClr val="3103DB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JNE</a:t>
            </a:r>
            <a:r>
              <a:rPr lang="zh-CN" altLang="en-US" sz="3200" b="1">
                <a:solidFill>
                  <a:srgbClr val="3103DB"/>
                </a:solidFill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JS				JNS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JO				JNO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JP</a:t>
            </a:r>
            <a:r>
              <a:rPr lang="zh-CN" altLang="en-US" sz="3200" b="1">
                <a:solidFill>
                  <a:srgbClr val="3103DB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JPE</a:t>
            </a:r>
            <a:r>
              <a:rPr lang="zh-CN" altLang="en-US" sz="3200" b="1">
                <a:solidFill>
                  <a:srgbClr val="3103DB"/>
                </a:solidFill>
                <a:latin typeface="宋体" panose="02010600030101010101" pitchFamily="2" charset="-122"/>
              </a:rPr>
              <a:t>）		</a:t>
            </a: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JNP</a:t>
            </a:r>
            <a:r>
              <a:rPr lang="zh-CN" altLang="en-US" sz="3200" b="1">
                <a:solidFill>
                  <a:srgbClr val="3103DB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JPO</a:t>
            </a:r>
            <a:r>
              <a:rPr lang="zh-CN" altLang="en-US" sz="3200" b="1">
                <a:solidFill>
                  <a:srgbClr val="3103DB"/>
                </a:solidFill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3103DB"/>
                </a:solidFill>
                <a:latin typeface="宋体" panose="02010600030101010101" pitchFamily="2" charset="-122"/>
              </a:rPr>
              <a:t>JC				JNC</a:t>
            </a:r>
          </a:p>
        </p:txBody>
      </p:sp>
      <p:sp>
        <p:nvSpPr>
          <p:cNvPr id="26629" name="Line 7">
            <a:extLst>
              <a:ext uri="{FF2B5EF4-FFF2-40B4-BE49-F238E27FC236}">
                <a16:creationId xmlns:a16="http://schemas.microsoft.com/office/drawing/2014/main" id="{9BB43E50-3CCA-43EC-A05A-8D8C83D3FC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0" name="AutoShape 8">
            <a:extLst>
              <a:ext uri="{FF2B5EF4-FFF2-40B4-BE49-F238E27FC236}">
                <a16:creationId xmlns:a16="http://schemas.microsoft.com/office/drawing/2014/main" id="{52381FEB-EBAB-4F70-9ABE-4F17B80E5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6631" name="AutoShape 9">
            <a:extLst>
              <a:ext uri="{FF2B5EF4-FFF2-40B4-BE49-F238E27FC236}">
                <a16:creationId xmlns:a16="http://schemas.microsoft.com/office/drawing/2014/main" id="{9086F095-19E0-4E86-BC32-18AF2193C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6632" name="AutoShape 10">
            <a:extLst>
              <a:ext uri="{FF2B5EF4-FFF2-40B4-BE49-F238E27FC236}">
                <a16:creationId xmlns:a16="http://schemas.microsoft.com/office/drawing/2014/main" id="{294390EF-7A31-42FC-BBA9-36C37C19F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962400"/>
            <a:ext cx="1371600" cy="1066800"/>
          </a:xfrm>
          <a:prstGeom prst="flowChartDecisi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17099" name="Text Box 11">
            <a:extLst>
              <a:ext uri="{FF2B5EF4-FFF2-40B4-BE49-F238E27FC236}">
                <a16:creationId xmlns:a16="http://schemas.microsoft.com/office/drawing/2014/main" id="{49C27E88-83AF-42FE-9957-51B8A7C2E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149725"/>
            <a:ext cx="7162800" cy="193833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以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JC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为例，测试条件：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CF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格式：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JC  OPR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执行的操作：当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CF=1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则转移到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OPR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指定的目标地址		当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CF=0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则顺序执行下一条指令。</a:t>
            </a:r>
          </a:p>
        </p:txBody>
      </p:sp>
      <p:sp>
        <p:nvSpPr>
          <p:cNvPr id="26634" name="Text Box 1029">
            <a:extLst>
              <a:ext uri="{FF2B5EF4-FFF2-40B4-BE49-F238E27FC236}">
                <a16:creationId xmlns:a16="http://schemas.microsoft.com/office/drawing/2014/main" id="{FEEDEFE5-93CF-40B4-9D46-A8736D591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26635" name="页脚占位符 14">
            <a:extLst>
              <a:ext uri="{FF2B5EF4-FFF2-40B4-BE49-F238E27FC236}">
                <a16:creationId xmlns:a16="http://schemas.microsoft.com/office/drawing/2014/main" id="{FC4A5BA8-4AF4-42A0-90E7-8415A3B28FD6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6636" name="灯片编号占位符 13">
            <a:extLst>
              <a:ext uri="{FF2B5EF4-FFF2-40B4-BE49-F238E27FC236}">
                <a16:creationId xmlns:a16="http://schemas.microsoft.com/office/drawing/2014/main" id="{C0F785DF-C1BD-4C73-96A6-FB042905E83D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E33E87C1-10E7-4D87-B524-37063F24837C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37" name="日期占位符 12">
            <a:extLst>
              <a:ext uri="{FF2B5EF4-FFF2-40B4-BE49-F238E27FC236}">
                <a16:creationId xmlns:a16="http://schemas.microsoft.com/office/drawing/2014/main" id="{F23C6DBE-5B33-42E4-B7F8-02B4B04E61A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EC3FB6-0783-4012-9DC9-6585391744F1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7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7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4" grpId="0" autoUpdateAnimBg="0"/>
      <p:bldP spid="217099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3">
            <a:extLst>
              <a:ext uri="{FF2B5EF4-FFF2-40B4-BE49-F238E27FC236}">
                <a16:creationId xmlns:a16="http://schemas.microsoft.com/office/drawing/2014/main" id="{F2DC21B9-67AC-4DCD-B3AC-78F26ADF9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18" name="Text Box 6">
            <a:extLst>
              <a:ext uri="{FF2B5EF4-FFF2-40B4-BE49-F238E27FC236}">
                <a16:creationId xmlns:a16="http://schemas.microsoft.com/office/drawing/2014/main" id="{65A3915B-DDB1-4F39-8F4E-9EC8D5F62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700213"/>
            <a:ext cx="6624638" cy="246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>
                <a:latin typeface="宋体" panose="02010600030101010101" pitchFamily="2" charset="-122"/>
              </a:rPr>
              <a:t>比较两个无符号数，根据比较结果转移</a:t>
            </a:r>
            <a:endParaRPr lang="zh-CN" altLang="zh-CN" sz="3600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JB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JNAE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JC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JNB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JAE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JBE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JNA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JNBE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JA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7652" name="Line 7">
            <a:extLst>
              <a:ext uri="{FF2B5EF4-FFF2-40B4-BE49-F238E27FC236}">
                <a16:creationId xmlns:a16="http://schemas.microsoft.com/office/drawing/2014/main" id="{01FAC8F8-543A-40BB-BA66-B9B4422952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3" name="AutoShape 8">
            <a:extLst>
              <a:ext uri="{FF2B5EF4-FFF2-40B4-BE49-F238E27FC236}">
                <a16:creationId xmlns:a16="http://schemas.microsoft.com/office/drawing/2014/main" id="{33844F74-9F5D-4C8A-BD1B-A913CF426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7654" name="AutoShape 9">
            <a:extLst>
              <a:ext uri="{FF2B5EF4-FFF2-40B4-BE49-F238E27FC236}">
                <a16:creationId xmlns:a16="http://schemas.microsoft.com/office/drawing/2014/main" id="{C18F2765-A76C-407C-94CA-3C4A4876D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7655" name="AutoShape 10">
            <a:extLst>
              <a:ext uri="{FF2B5EF4-FFF2-40B4-BE49-F238E27FC236}">
                <a16:creationId xmlns:a16="http://schemas.microsoft.com/office/drawing/2014/main" id="{006D182A-A56D-47C6-B403-9C9A1197C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962400"/>
            <a:ext cx="1371600" cy="1066800"/>
          </a:xfrm>
          <a:prstGeom prst="flowChartDecisi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18123" name="Text Box 11">
            <a:extLst>
              <a:ext uri="{FF2B5EF4-FFF2-40B4-BE49-F238E27FC236}">
                <a16:creationId xmlns:a16="http://schemas.microsoft.com/office/drawing/2014/main" id="{8E221AC3-E7FB-4E14-9686-B61CB0C1C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221163"/>
            <a:ext cx="7921625" cy="15875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这是根据两个条件（标志位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CF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ZF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）同时测试的条件转移指令。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格式及执行的操作同单个标志位的条件转移指令</a:t>
            </a:r>
          </a:p>
        </p:txBody>
      </p:sp>
      <p:sp>
        <p:nvSpPr>
          <p:cNvPr id="27657" name="Rectangle 12">
            <a:extLst>
              <a:ext uri="{FF2B5EF4-FFF2-40B4-BE49-F238E27FC236}">
                <a16:creationId xmlns:a16="http://schemas.microsoft.com/office/drawing/2014/main" id="{5370BC61-616F-411D-BA7A-1859EB0C98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71550" y="765175"/>
            <a:ext cx="6121400" cy="677863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36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zh-CN" sz="36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无符号数的条件转移指令</a:t>
            </a:r>
            <a:endParaRPr lang="zh-CN" altLang="en-US" sz="36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8" name="Text Box 1029">
            <a:extLst>
              <a:ext uri="{FF2B5EF4-FFF2-40B4-BE49-F238E27FC236}">
                <a16:creationId xmlns:a16="http://schemas.microsoft.com/office/drawing/2014/main" id="{E1AFB0F0-B41C-4D7B-8D23-6C29D72EC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27659" name="页脚占位符 14">
            <a:extLst>
              <a:ext uri="{FF2B5EF4-FFF2-40B4-BE49-F238E27FC236}">
                <a16:creationId xmlns:a16="http://schemas.microsoft.com/office/drawing/2014/main" id="{7697B37E-F037-4C11-A22B-0ED1F21EFEFB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7660" name="灯片编号占位符 13">
            <a:extLst>
              <a:ext uri="{FF2B5EF4-FFF2-40B4-BE49-F238E27FC236}">
                <a16:creationId xmlns:a16="http://schemas.microsoft.com/office/drawing/2014/main" id="{6307BC65-7C80-40A4-BA8F-39BEABE93DE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B30A0F99-F790-4A9F-A280-268E2AAA4588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661" name="日期占位符 12">
            <a:extLst>
              <a:ext uri="{FF2B5EF4-FFF2-40B4-BE49-F238E27FC236}">
                <a16:creationId xmlns:a16="http://schemas.microsoft.com/office/drawing/2014/main" id="{9C3C7E4D-7C8D-42DC-8A0D-7819EC851665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BE2ED44-D230-4156-8EB2-8491730F6006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8" grpId="0" autoUpdateAnimBg="0"/>
      <p:bldP spid="218123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3">
            <a:extLst>
              <a:ext uri="{FF2B5EF4-FFF2-40B4-BE49-F238E27FC236}">
                <a16:creationId xmlns:a16="http://schemas.microsoft.com/office/drawing/2014/main" id="{EF19C3FB-36F0-413F-BD66-FDB210250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2" name="Text Box 6">
            <a:extLst>
              <a:ext uri="{FF2B5EF4-FFF2-40B4-BE49-F238E27FC236}">
                <a16:creationId xmlns:a16="http://schemas.microsoft.com/office/drawing/2014/main" id="{63D0EA31-00B6-4070-B095-C57C2E973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773238"/>
            <a:ext cx="6696075" cy="246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>
                <a:latin typeface="宋体" panose="02010600030101010101" pitchFamily="2" charset="-122"/>
              </a:rPr>
              <a:t>比较两个有符号数，根据比较结果转移</a:t>
            </a:r>
            <a:endParaRPr lang="zh-CN" altLang="zh-CN" sz="3600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JL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JNGE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JNL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JGE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JLE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JNG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JNLE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JG</a:t>
            </a:r>
            <a:r>
              <a:rPr lang="zh-CN" altLang="en-US" sz="3200" b="1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8676" name="Line 7">
            <a:extLst>
              <a:ext uri="{FF2B5EF4-FFF2-40B4-BE49-F238E27FC236}">
                <a16:creationId xmlns:a16="http://schemas.microsoft.com/office/drawing/2014/main" id="{7F168910-7EE8-4614-A49C-A0FA8EA6DD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7" name="AutoShape 8">
            <a:extLst>
              <a:ext uri="{FF2B5EF4-FFF2-40B4-BE49-F238E27FC236}">
                <a16:creationId xmlns:a16="http://schemas.microsoft.com/office/drawing/2014/main" id="{FC8B97A3-01EA-478E-AF37-7DCFBA694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8678" name="AutoShape 9">
            <a:extLst>
              <a:ext uri="{FF2B5EF4-FFF2-40B4-BE49-F238E27FC236}">
                <a16:creationId xmlns:a16="http://schemas.microsoft.com/office/drawing/2014/main" id="{BB57C990-C4DA-453F-8D40-C0A7BDFE7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8679" name="AutoShape 10">
            <a:extLst>
              <a:ext uri="{FF2B5EF4-FFF2-40B4-BE49-F238E27FC236}">
                <a16:creationId xmlns:a16="http://schemas.microsoft.com/office/drawing/2014/main" id="{62705107-FDF1-4430-851D-3A5452A2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962400"/>
            <a:ext cx="1371600" cy="1066800"/>
          </a:xfrm>
          <a:prstGeom prst="flowChartDecisi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19147" name="Text Box 11">
            <a:extLst>
              <a:ext uri="{FF2B5EF4-FFF2-40B4-BE49-F238E27FC236}">
                <a16:creationId xmlns:a16="http://schemas.microsoft.com/office/drawing/2014/main" id="{357AC316-6DAD-4072-BF49-7F5A17273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437063"/>
            <a:ext cx="8208962" cy="15875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这是根据三个条件（标志位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SF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OF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ZF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）同时测试的条件转移指令。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格式及执行的操作同单个标志位的条件转移指令</a:t>
            </a:r>
          </a:p>
        </p:txBody>
      </p:sp>
      <p:sp>
        <p:nvSpPr>
          <p:cNvPr id="28681" name="Rectangle 12">
            <a:extLst>
              <a:ext uri="{FF2B5EF4-FFF2-40B4-BE49-F238E27FC236}">
                <a16:creationId xmlns:a16="http://schemas.microsoft.com/office/drawing/2014/main" id="{E2E32566-57E0-4B33-8E28-136AD572FE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87450" y="836613"/>
            <a:ext cx="5616575" cy="682625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带符号数的条件转移指令</a:t>
            </a:r>
            <a:endParaRPr lang="zh-CN" altLang="en-US" sz="3200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2" name="Text Box 1029">
            <a:extLst>
              <a:ext uri="{FF2B5EF4-FFF2-40B4-BE49-F238E27FC236}">
                <a16:creationId xmlns:a16="http://schemas.microsoft.com/office/drawing/2014/main" id="{64D35D1D-BEFB-436A-9656-743B899B9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28683" name="页脚占位符 14">
            <a:extLst>
              <a:ext uri="{FF2B5EF4-FFF2-40B4-BE49-F238E27FC236}">
                <a16:creationId xmlns:a16="http://schemas.microsoft.com/office/drawing/2014/main" id="{2B66413A-8D8A-43AE-9FBA-7CE74BFEF3B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8684" name="灯片编号占位符 13">
            <a:extLst>
              <a:ext uri="{FF2B5EF4-FFF2-40B4-BE49-F238E27FC236}">
                <a16:creationId xmlns:a16="http://schemas.microsoft.com/office/drawing/2014/main" id="{0F3499AD-7222-4ECA-8E82-898EE9F0BA49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4022311-C16B-4812-A08A-FD9410A598F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85" name="日期占位符 12">
            <a:extLst>
              <a:ext uri="{FF2B5EF4-FFF2-40B4-BE49-F238E27FC236}">
                <a16:creationId xmlns:a16="http://schemas.microsoft.com/office/drawing/2014/main" id="{E9D7B4F8-A7D2-4C7F-B34B-E596C2D9143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2A418DA-7D0C-4BD5-8D9D-8E685DA43266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2" grpId="0" autoUpdateAnimBg="0"/>
      <p:bldP spid="21914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3">
            <a:extLst>
              <a:ext uri="{FF2B5EF4-FFF2-40B4-BE49-F238E27FC236}">
                <a16:creationId xmlns:a16="http://schemas.microsoft.com/office/drawing/2014/main" id="{8F815B2C-7EB5-41B7-9CF4-E6F7257F5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699" name="Text Box 5">
            <a:extLst>
              <a:ext uri="{FF2B5EF4-FFF2-40B4-BE49-F238E27FC236}">
                <a16:creationId xmlns:a16="http://schemas.microsoft.com/office/drawing/2014/main" id="{A758484E-4046-42BB-BB21-D742E83DA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33400"/>
            <a:ext cx="510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3200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0166" name="Text Box 6">
            <a:extLst>
              <a:ext uri="{FF2B5EF4-FFF2-40B4-BE49-F238E27FC236}">
                <a16:creationId xmlns:a16="http://schemas.microsoft.com/office/drawing/2014/main" id="{6B038EEE-9F7A-4F2F-8480-83B8E3CE2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773238"/>
            <a:ext cx="4267200" cy="252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JCXZ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3200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宋体" panose="02010600030101010101" pitchFamily="2" charset="-122"/>
              </a:rPr>
              <a:t>格式：	</a:t>
            </a:r>
            <a:r>
              <a:rPr lang="en-US" altLang="zh-CN" sz="3200" b="1">
                <a:latin typeface="宋体" panose="02010600030101010101" pitchFamily="2" charset="-122"/>
              </a:rPr>
              <a:t>JCXZ	 OPR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宋体" panose="02010600030101010101" pitchFamily="2" charset="-122"/>
              </a:rPr>
              <a:t>测试条件：（</a:t>
            </a:r>
            <a:r>
              <a:rPr lang="en-US" altLang="zh-CN" sz="3200" b="1">
                <a:latin typeface="宋体" panose="02010600030101010101" pitchFamily="2" charset="-122"/>
              </a:rPr>
              <a:t>CX</a:t>
            </a:r>
            <a:r>
              <a:rPr lang="zh-CN" altLang="en-US" sz="3200" b="1">
                <a:latin typeface="宋体" panose="02010600030101010101" pitchFamily="2" charset="-122"/>
              </a:rPr>
              <a:t>）</a:t>
            </a:r>
            <a:r>
              <a:rPr lang="en-US" altLang="zh-CN" sz="3200" b="1">
                <a:latin typeface="宋体" panose="02010600030101010101" pitchFamily="2" charset="-122"/>
              </a:rPr>
              <a:t>=0</a:t>
            </a:r>
            <a:endParaRPr lang="en-US" altLang="zh-CN" sz="3200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</a:p>
        </p:txBody>
      </p:sp>
      <p:sp>
        <p:nvSpPr>
          <p:cNvPr id="29701" name="Line 7">
            <a:extLst>
              <a:ext uri="{FF2B5EF4-FFF2-40B4-BE49-F238E27FC236}">
                <a16:creationId xmlns:a16="http://schemas.microsoft.com/office/drawing/2014/main" id="{60586F27-A96D-460F-B1F8-75DAD0F01A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2" name="AutoShape 8">
            <a:extLst>
              <a:ext uri="{FF2B5EF4-FFF2-40B4-BE49-F238E27FC236}">
                <a16:creationId xmlns:a16="http://schemas.microsoft.com/office/drawing/2014/main" id="{CF8CECC8-CC01-437E-83C2-2CE3622CD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9703" name="AutoShape 9">
            <a:extLst>
              <a:ext uri="{FF2B5EF4-FFF2-40B4-BE49-F238E27FC236}">
                <a16:creationId xmlns:a16="http://schemas.microsoft.com/office/drawing/2014/main" id="{F1A431E0-E6C5-4AAC-BF01-8C7731B40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9704" name="AutoShape 10">
            <a:extLst>
              <a:ext uri="{FF2B5EF4-FFF2-40B4-BE49-F238E27FC236}">
                <a16:creationId xmlns:a16="http://schemas.microsoft.com/office/drawing/2014/main" id="{9073A77B-8013-4FBB-B49E-F3267E01C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962400"/>
            <a:ext cx="1371600" cy="1066800"/>
          </a:xfrm>
          <a:prstGeom prst="flowChartDecisi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20171" name="Text Box 11">
            <a:extLst>
              <a:ext uri="{FF2B5EF4-FFF2-40B4-BE49-F238E27FC236}">
                <a16:creationId xmlns:a16="http://schemas.microsoft.com/office/drawing/2014/main" id="{8CA2E406-4FFF-4F40-83E5-845E4B011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508500"/>
            <a:ext cx="6019800" cy="143192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tx2"/>
                </a:solidFill>
                <a:latin typeface="宋体" panose="02010600030101010101" pitchFamily="2" charset="-122"/>
              </a:rPr>
              <a:t>当</a:t>
            </a: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</a:rPr>
              <a:t>CX=0</a:t>
            </a:r>
            <a:r>
              <a:rPr lang="zh-CN" altLang="en-US" sz="3200" b="1">
                <a:solidFill>
                  <a:schemeClr val="tx2"/>
                </a:solidFill>
                <a:latin typeface="宋体" panose="02010600030101010101" pitchFamily="2" charset="-122"/>
              </a:rPr>
              <a:t>时，则转移到</a:t>
            </a:r>
            <a:r>
              <a:rPr lang="en-US" altLang="zh-CN" sz="3200" b="1">
                <a:solidFill>
                  <a:schemeClr val="tx2"/>
                </a:solidFill>
                <a:latin typeface="宋体" panose="02010600030101010101" pitchFamily="2" charset="-122"/>
              </a:rPr>
              <a:t>OPR</a:t>
            </a:r>
            <a:r>
              <a:rPr lang="zh-CN" altLang="en-US" sz="3200" b="1">
                <a:solidFill>
                  <a:schemeClr val="tx2"/>
                </a:solidFill>
                <a:latin typeface="宋体" panose="02010600030101010101" pitchFamily="2" charset="-122"/>
              </a:rPr>
              <a:t>指出的转移地址去执行。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706" name="Rectangle 12">
            <a:extLst>
              <a:ext uri="{FF2B5EF4-FFF2-40B4-BE49-F238E27FC236}">
                <a16:creationId xmlns:a16="http://schemas.microsoft.com/office/drawing/2014/main" id="{3FCE92E8-3633-4E7F-8EF4-B82BB7E07B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92275" y="908050"/>
            <a:ext cx="3490913" cy="468313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测试</a:t>
            </a:r>
            <a:r>
              <a:rPr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CX</a:t>
            </a:r>
            <a:r>
              <a:rPr lang="zh-CN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转移指令</a:t>
            </a:r>
            <a:endParaRPr lang="zh-CN" altLang="en-US" sz="3200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07" name="Text Box 1029">
            <a:extLst>
              <a:ext uri="{FF2B5EF4-FFF2-40B4-BE49-F238E27FC236}">
                <a16:creationId xmlns:a16="http://schemas.microsoft.com/office/drawing/2014/main" id="{21898AC3-37D5-4EC0-8329-AD4BFFB75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29708" name="页脚占位符 14">
            <a:extLst>
              <a:ext uri="{FF2B5EF4-FFF2-40B4-BE49-F238E27FC236}">
                <a16:creationId xmlns:a16="http://schemas.microsoft.com/office/drawing/2014/main" id="{D7F47690-5E4C-482B-8095-64D067450C18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9709" name="灯片编号占位符 13">
            <a:extLst>
              <a:ext uri="{FF2B5EF4-FFF2-40B4-BE49-F238E27FC236}">
                <a16:creationId xmlns:a16="http://schemas.microsoft.com/office/drawing/2014/main" id="{FC88BA6B-F17E-4840-9D21-5F6AD30D2958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EE760DF-0378-4A43-A49B-20613B81FF1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710" name="日期占位符 12">
            <a:extLst>
              <a:ext uri="{FF2B5EF4-FFF2-40B4-BE49-F238E27FC236}">
                <a16:creationId xmlns:a16="http://schemas.microsoft.com/office/drawing/2014/main" id="{8F94B351-3736-4686-A3E6-E36DEE18AC9B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47920E2-66D3-4244-AC8E-7903DE7C9A3D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6" grpId="0" autoUpdateAnimBg="0"/>
      <p:bldP spid="220171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3">
            <a:extLst>
              <a:ext uri="{FF2B5EF4-FFF2-40B4-BE49-F238E27FC236}">
                <a16:creationId xmlns:a16="http://schemas.microsoft.com/office/drawing/2014/main" id="{EF1E8BED-D57F-4C18-8A43-A2C8E1C94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616585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3" name="Text Box 5">
            <a:extLst>
              <a:ext uri="{FF2B5EF4-FFF2-40B4-BE49-F238E27FC236}">
                <a16:creationId xmlns:a16="http://schemas.microsoft.com/office/drawing/2014/main" id="{4B58323C-F07C-43BB-ABA9-EBB75FB6F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92150"/>
            <a:ext cx="5029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转移指令举例</a:t>
            </a:r>
            <a:r>
              <a:rPr lang="zh-CN" altLang="en-US" sz="24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21190" name="Text Box 6">
            <a:extLst>
              <a:ext uri="{FF2B5EF4-FFF2-40B4-BE49-F238E27FC236}">
                <a16:creationId xmlns:a16="http://schemas.microsoft.com/office/drawing/2014/main" id="{A6F9DDAE-259A-4BBA-BA85-60C202CCC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628775"/>
            <a:ext cx="6624638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[</a:t>
            </a:r>
            <a:r>
              <a:rPr lang="zh-CN" altLang="en-US" sz="2800" b="1"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</a:rPr>
              <a:t>1] 	</a:t>
            </a:r>
            <a:r>
              <a:rPr lang="zh-CN" altLang="en-US" sz="2800" b="1">
                <a:latin typeface="Times New Roman" panose="02020603050405020304" pitchFamily="18" charset="0"/>
              </a:rPr>
              <a:t>比较两无符号字节数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</a:rPr>
              <a:t>的大小，将较大者存人</a:t>
            </a:r>
            <a:r>
              <a:rPr lang="en-US" altLang="zh-CN" sz="2800" b="1">
                <a:latin typeface="Times New Roman" panose="02020603050405020304" pitchFamily="18" charset="0"/>
              </a:rPr>
              <a:t>C</a:t>
            </a:r>
            <a:r>
              <a:rPr lang="zh-CN" altLang="en-US" sz="2800" b="1">
                <a:latin typeface="Times New Roman" panose="02020603050405020304" pitchFamily="18" charset="0"/>
              </a:rPr>
              <a:t>单元。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	</a:t>
            </a:r>
            <a:r>
              <a:rPr lang="en-US" altLang="zh-CN" sz="2800" b="1">
                <a:latin typeface="Times New Roman" panose="02020603050405020304" pitchFamily="18" charset="0"/>
              </a:rPr>
              <a:t>MOV	AL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	CMP	AL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B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	JNC	L		</a:t>
            </a:r>
            <a:r>
              <a:rPr lang="zh-CN" altLang="en-US" sz="2800" b="1">
                <a:latin typeface="Times New Roman" panose="02020603050405020304" pitchFamily="18" charset="0"/>
              </a:rPr>
              <a:t>；</a:t>
            </a:r>
            <a:r>
              <a:rPr lang="en-US" altLang="zh-CN" sz="2800" b="1">
                <a:latin typeface="Times New Roman" panose="02020603050405020304" pitchFamily="18" charset="0"/>
              </a:rPr>
              <a:t>JNB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JAE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	MOV	AL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B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</a:rPr>
              <a:t>：	</a:t>
            </a:r>
            <a:r>
              <a:rPr lang="en-US" altLang="zh-CN" sz="2800" b="1">
                <a:latin typeface="Times New Roman" panose="02020603050405020304" pitchFamily="18" charset="0"/>
              </a:rPr>
              <a:t>MOV	C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AL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思考</a:t>
            </a:r>
            <a:r>
              <a:rPr lang="zh-CN" altLang="en-US" sz="2800" b="1">
                <a:solidFill>
                  <a:srgbClr val="3103DB"/>
                </a:solidFill>
                <a:latin typeface="Times New Roman" panose="02020603050405020304" pitchFamily="18" charset="0"/>
              </a:rPr>
              <a:t>：改用“</a:t>
            </a:r>
            <a:r>
              <a:rPr lang="en-US" altLang="zh-CN" sz="2800" b="1">
                <a:solidFill>
                  <a:srgbClr val="3103DB"/>
                </a:solidFill>
                <a:latin typeface="Times New Roman" panose="02020603050405020304" pitchFamily="18" charset="0"/>
              </a:rPr>
              <a:t>JC  L”</a:t>
            </a:r>
            <a:r>
              <a:rPr lang="zh-CN" altLang="en-US" sz="2800" b="1">
                <a:solidFill>
                  <a:srgbClr val="3103DB"/>
                </a:solidFill>
                <a:latin typeface="Times New Roman" panose="02020603050405020304" pitchFamily="18" charset="0"/>
              </a:rPr>
              <a:t>可否？</a:t>
            </a:r>
          </a:p>
        </p:txBody>
      </p:sp>
      <p:sp>
        <p:nvSpPr>
          <p:cNvPr id="30725" name="Line 7">
            <a:extLst>
              <a:ext uri="{FF2B5EF4-FFF2-40B4-BE49-F238E27FC236}">
                <a16:creationId xmlns:a16="http://schemas.microsoft.com/office/drawing/2014/main" id="{AE0FB699-285E-4FDB-8D86-E692C8CBBA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6" name="AutoShape 8">
            <a:extLst>
              <a:ext uri="{FF2B5EF4-FFF2-40B4-BE49-F238E27FC236}">
                <a16:creationId xmlns:a16="http://schemas.microsoft.com/office/drawing/2014/main" id="{68A975F0-DCB7-4BDE-B62A-46F7D1F55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0727" name="AutoShape 9">
            <a:extLst>
              <a:ext uri="{FF2B5EF4-FFF2-40B4-BE49-F238E27FC236}">
                <a16:creationId xmlns:a16="http://schemas.microsoft.com/office/drawing/2014/main" id="{A2ABDBAB-361F-4C1D-BF09-2D87B6B88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0728" name="Text Box 1029">
            <a:extLst>
              <a:ext uri="{FF2B5EF4-FFF2-40B4-BE49-F238E27FC236}">
                <a16:creationId xmlns:a16="http://schemas.microsoft.com/office/drawing/2014/main" id="{0295C98D-B059-49BC-8C79-60BE19920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30729" name="页脚占位符 14">
            <a:extLst>
              <a:ext uri="{FF2B5EF4-FFF2-40B4-BE49-F238E27FC236}">
                <a16:creationId xmlns:a16="http://schemas.microsoft.com/office/drawing/2014/main" id="{8A0FDEB4-C0EF-4348-8466-9B56D39D01F7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30730" name="灯片编号占位符 13">
            <a:extLst>
              <a:ext uri="{FF2B5EF4-FFF2-40B4-BE49-F238E27FC236}">
                <a16:creationId xmlns:a16="http://schemas.microsoft.com/office/drawing/2014/main" id="{00439D30-A5C8-4DD4-8907-704A2BCA4178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15C3901E-47A5-4E48-9FBE-A2C22E970992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31" name="日期占位符 12">
            <a:extLst>
              <a:ext uri="{FF2B5EF4-FFF2-40B4-BE49-F238E27FC236}">
                <a16:creationId xmlns:a16="http://schemas.microsoft.com/office/drawing/2014/main" id="{1895E612-2679-4570-B92A-F64B0B36A2A9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62F89F5-9F24-4363-B5DB-D0966B4AD51D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3">
            <a:extLst>
              <a:ext uri="{FF2B5EF4-FFF2-40B4-BE49-F238E27FC236}">
                <a16:creationId xmlns:a16="http://schemas.microsoft.com/office/drawing/2014/main" id="{3E441C7E-53DA-48DB-BF49-BFB4C41BA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616585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1" name="Text Box 5">
            <a:extLst>
              <a:ext uri="{FF2B5EF4-FFF2-40B4-BE49-F238E27FC236}">
                <a16:creationId xmlns:a16="http://schemas.microsoft.com/office/drawing/2014/main" id="{272AAADE-D0D5-4DDC-89CA-DF36AF15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95388"/>
            <a:ext cx="242252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上例改用</a:t>
            </a:r>
            <a:r>
              <a: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”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JC  L</a:t>
            </a:r>
            <a:r>
              <a: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”:</a:t>
            </a:r>
            <a:r>
              <a:rPr lang="zh-CN" altLang="en-US" sz="18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21190" name="Text Box 6">
            <a:extLst>
              <a:ext uri="{FF2B5EF4-FFF2-40B4-BE49-F238E27FC236}">
                <a16:creationId xmlns:a16="http://schemas.microsoft.com/office/drawing/2014/main" id="{1AA849FF-B22E-4E83-8A17-D8CBD6C94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775" y="555625"/>
            <a:ext cx="4892675" cy="26781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	</a:t>
            </a:r>
            <a:r>
              <a:rPr lang="en-US" altLang="zh-CN" sz="2000" b="1" dirty="0">
                <a:latin typeface="Times New Roman" panose="02020603050405020304" pitchFamily="18" charset="0"/>
              </a:rPr>
              <a:t>MOV	AL,A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CMP	AL,B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JC	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MOV	C,AL	;</a:t>
            </a:r>
            <a:r>
              <a:rPr lang="zh-CN" altLang="en-US" sz="2000" b="1" dirty="0">
                <a:latin typeface="Times New Roman" panose="02020603050405020304" pitchFamily="18" charset="0"/>
              </a:rPr>
              <a:t>不能</a:t>
            </a:r>
            <a:r>
              <a:rPr lang="en-US" altLang="zh-CN" sz="2000" b="1" dirty="0">
                <a:latin typeface="Times New Roman" panose="02020603050405020304" pitchFamily="18" charset="0"/>
              </a:rPr>
              <a:t>MOV C,A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JMP	DOWN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3103DB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000" b="1" dirty="0">
                <a:solidFill>
                  <a:srgbClr val="3103DB"/>
                </a:solidFill>
                <a:latin typeface="Times New Roman" panose="02020603050405020304" pitchFamily="18" charset="0"/>
              </a:rPr>
              <a:t>：	</a:t>
            </a:r>
            <a:r>
              <a:rPr lang="en-US" altLang="zh-CN" sz="2000" b="1" dirty="0">
                <a:solidFill>
                  <a:srgbClr val="3103DB"/>
                </a:solidFill>
                <a:latin typeface="Times New Roman" panose="02020603050405020304" pitchFamily="18" charset="0"/>
              </a:rPr>
              <a:t>MOV	AL,B</a:t>
            </a:r>
            <a:r>
              <a:rPr lang="en-US" altLang="zh-CN" sz="2000" b="1" dirty="0">
                <a:latin typeface="Times New Roman" panose="02020603050405020304" pitchFamily="18" charset="0"/>
              </a:rPr>
              <a:t>	;</a:t>
            </a:r>
            <a:r>
              <a:rPr lang="zh-CN" altLang="en-US" sz="2000" b="1" dirty="0">
                <a:latin typeface="Times New Roman" panose="02020603050405020304" pitchFamily="18" charset="0"/>
              </a:rPr>
              <a:t>不能</a:t>
            </a:r>
            <a:r>
              <a:rPr lang="en-US" altLang="zh-CN" sz="2000" b="1" dirty="0">
                <a:latin typeface="Times New Roman" panose="02020603050405020304" pitchFamily="18" charset="0"/>
              </a:rPr>
              <a:t>MOV C,B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3103DB"/>
                </a:solidFill>
                <a:latin typeface="Times New Roman" panose="02020603050405020304" pitchFamily="18" charset="0"/>
              </a:rPr>
              <a:t>	MOV	C,AL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3103DB"/>
                </a:solidFill>
                <a:latin typeface="Times New Roman" panose="02020603050405020304" pitchFamily="18" charset="0"/>
              </a:rPr>
              <a:t>DOWN:</a:t>
            </a:r>
            <a:endParaRPr lang="zh-CN" altLang="en-US" sz="2800" b="1" dirty="0">
              <a:solidFill>
                <a:srgbClr val="3103DB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3" name="Line 7">
            <a:extLst>
              <a:ext uri="{FF2B5EF4-FFF2-40B4-BE49-F238E27FC236}">
                <a16:creationId xmlns:a16="http://schemas.microsoft.com/office/drawing/2014/main" id="{20707ED2-9F7D-4534-B85F-4B3688D5E1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4" name="AutoShape 8">
            <a:extLst>
              <a:ext uri="{FF2B5EF4-FFF2-40B4-BE49-F238E27FC236}">
                <a16:creationId xmlns:a16="http://schemas.microsoft.com/office/drawing/2014/main" id="{B17D5704-8825-4344-B2C8-DC391C487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2775" name="AutoShape 9">
            <a:extLst>
              <a:ext uri="{FF2B5EF4-FFF2-40B4-BE49-F238E27FC236}">
                <a16:creationId xmlns:a16="http://schemas.microsoft.com/office/drawing/2014/main" id="{45DC08A0-FFCF-44CD-9B8E-24AB89EAE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2776" name="Text Box 1029">
            <a:extLst>
              <a:ext uri="{FF2B5EF4-FFF2-40B4-BE49-F238E27FC236}">
                <a16:creationId xmlns:a16="http://schemas.microsoft.com/office/drawing/2014/main" id="{9D45E968-388B-4192-8008-B88386E4B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32777" name="页脚占位符 14">
            <a:extLst>
              <a:ext uri="{FF2B5EF4-FFF2-40B4-BE49-F238E27FC236}">
                <a16:creationId xmlns:a16="http://schemas.microsoft.com/office/drawing/2014/main" id="{04BD36C9-B25C-4A1A-BCF0-D405BEB0A1B1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32778" name="灯片编号占位符 13">
            <a:extLst>
              <a:ext uri="{FF2B5EF4-FFF2-40B4-BE49-F238E27FC236}">
                <a16:creationId xmlns:a16="http://schemas.microsoft.com/office/drawing/2014/main" id="{950505EF-8D82-4B8E-8833-84D397D7927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0763DD6-B525-4F3E-B62D-153D4797B0B1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79" name="日期占位符 12">
            <a:extLst>
              <a:ext uri="{FF2B5EF4-FFF2-40B4-BE49-F238E27FC236}">
                <a16:creationId xmlns:a16="http://schemas.microsoft.com/office/drawing/2014/main" id="{DF7082F8-380D-4629-B022-15F3D2681ADD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4A56FA0-986B-4C3F-AD42-755F7C294043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DDCE5BAA-5ACF-4184-8CF8-5AB0A2BD5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3333750"/>
            <a:ext cx="3384550" cy="2678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	</a:t>
            </a:r>
            <a:r>
              <a:rPr lang="en-US" altLang="zh-CN" sz="2000" b="1" dirty="0">
                <a:latin typeface="Times New Roman" panose="02020603050405020304" pitchFamily="18" charset="0"/>
              </a:rPr>
              <a:t>MOV	AL,A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MOV	BL,B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CMP	AL,BL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JC	L		MOV	C</a:t>
            </a:r>
            <a:r>
              <a:rPr lang="zh-CN" altLang="en-US" sz="2000" b="1" dirty="0"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</a:rPr>
              <a:t>AL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JMP	DOWN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L</a:t>
            </a:r>
            <a:r>
              <a:rPr lang="zh-CN" altLang="en-US" sz="2000" b="1" dirty="0">
                <a:latin typeface="Times New Roman" panose="02020603050405020304" pitchFamily="18" charset="0"/>
              </a:rPr>
              <a:t>：	</a:t>
            </a:r>
            <a:r>
              <a:rPr lang="en-US" altLang="zh-CN" sz="2000" b="1" dirty="0">
                <a:latin typeface="Times New Roman" panose="02020603050405020304" pitchFamily="18" charset="0"/>
              </a:rPr>
              <a:t>MOV	C</a:t>
            </a:r>
            <a:r>
              <a:rPr lang="zh-CN" altLang="en-US" sz="2000" b="1" dirty="0"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</a:rPr>
              <a:t>BL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3103DB"/>
                </a:solidFill>
                <a:latin typeface="Times New Roman" panose="02020603050405020304" pitchFamily="18" charset="0"/>
              </a:rPr>
              <a:t>DOWN:</a:t>
            </a:r>
            <a:endParaRPr lang="zh-CN" altLang="en-US" sz="2800" b="1" dirty="0">
              <a:solidFill>
                <a:srgbClr val="3103DB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9F3986A9-B382-4B86-AD2F-B9550C26C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238" y="3351213"/>
            <a:ext cx="3384550" cy="2678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Times New Roman" panose="02020603050405020304" pitchFamily="18" charset="0"/>
              </a:rPr>
              <a:t>	</a:t>
            </a:r>
            <a:r>
              <a:rPr lang="en-US" altLang="zh-CN" sz="2000" b="1" dirty="0">
                <a:latin typeface="Times New Roman" panose="02020603050405020304" pitchFamily="18" charset="0"/>
              </a:rPr>
              <a:t>MOV	AL,A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MOV	BL,B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CMP	AL,BL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JNC	L		MOV	C</a:t>
            </a:r>
            <a:r>
              <a:rPr lang="zh-CN" altLang="en-US" sz="2000" b="1" dirty="0"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</a:rPr>
              <a:t>BL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	JMP	DOWN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</a:rPr>
              <a:t>L</a:t>
            </a:r>
            <a:r>
              <a:rPr lang="zh-CN" altLang="en-US" sz="2000" b="1" dirty="0">
                <a:latin typeface="Times New Roman" panose="02020603050405020304" pitchFamily="18" charset="0"/>
              </a:rPr>
              <a:t>：	</a:t>
            </a:r>
            <a:r>
              <a:rPr lang="en-US" altLang="zh-CN" sz="2000" b="1" dirty="0">
                <a:latin typeface="Times New Roman" panose="02020603050405020304" pitchFamily="18" charset="0"/>
              </a:rPr>
              <a:t>MOV	C</a:t>
            </a:r>
            <a:r>
              <a:rPr lang="zh-CN" altLang="en-US" sz="2000" b="1" dirty="0"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</a:rPr>
              <a:t>AL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3103DB"/>
                </a:solidFill>
                <a:latin typeface="Times New Roman" panose="02020603050405020304" pitchFamily="18" charset="0"/>
              </a:rPr>
              <a:t>DOWN:</a:t>
            </a:r>
            <a:endParaRPr lang="zh-CN" altLang="en-US" sz="2800" b="1" dirty="0">
              <a:solidFill>
                <a:srgbClr val="3103DB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2" name="文本框 1">
            <a:extLst>
              <a:ext uri="{FF2B5EF4-FFF2-40B4-BE49-F238E27FC236}">
                <a16:creationId xmlns:a16="http://schemas.microsoft.com/office/drawing/2014/main" id="{5C6924EE-F24B-4720-A817-11F78B1FD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3573463"/>
            <a:ext cx="923925" cy="19589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IF-THEN-ELSE</a:t>
            </a:r>
            <a:r>
              <a:rPr lang="zh-CN" altLang="en-US"/>
              <a:t>的做法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3861A103-9C6A-44FA-B129-1A7A21F4B7F3}"/>
              </a:ext>
            </a:extLst>
          </p:cNvPr>
          <p:cNvSpPr/>
          <p:nvPr/>
        </p:nvSpPr>
        <p:spPr>
          <a:xfrm>
            <a:off x="1257300" y="4437063"/>
            <a:ext cx="479425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B68876DC-86F5-4D48-AEE0-1176A4C873CC}"/>
              </a:ext>
            </a:extLst>
          </p:cNvPr>
          <p:cNvSpPr/>
          <p:nvPr/>
        </p:nvSpPr>
        <p:spPr>
          <a:xfrm>
            <a:off x="5121275" y="4437063"/>
            <a:ext cx="207963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E7EB03F6-CC0C-4771-8753-F1BDDEBEC398}"/>
              </a:ext>
            </a:extLst>
          </p:cNvPr>
          <p:cNvSpPr/>
          <p:nvPr/>
        </p:nvSpPr>
        <p:spPr>
          <a:xfrm>
            <a:off x="2601913" y="1844675"/>
            <a:ext cx="530225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339B650B-1F4C-4192-B666-B69BBE511034}"/>
              </a:ext>
            </a:extLst>
          </p:cNvPr>
          <p:cNvSpPr/>
          <p:nvPr/>
        </p:nvSpPr>
        <p:spPr>
          <a:xfrm>
            <a:off x="5948363" y="2284413"/>
            <a:ext cx="144462" cy="4857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0" grpId="0" animBg="1" autoUpdateAnimBg="0"/>
      <p:bldP spid="12" grpId="0" animBg="1" autoUpdateAnimBg="0"/>
      <p:bldP spid="13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3">
            <a:extLst>
              <a:ext uri="{FF2B5EF4-FFF2-40B4-BE49-F238E27FC236}">
                <a16:creationId xmlns:a16="http://schemas.microsoft.com/office/drawing/2014/main" id="{A75C1518-91B3-4D44-9550-3571768DD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19" name="Text Box 5">
            <a:extLst>
              <a:ext uri="{FF2B5EF4-FFF2-40B4-BE49-F238E27FC236}">
                <a16:creationId xmlns:a16="http://schemas.microsoft.com/office/drawing/2014/main" id="{73D98513-7D6E-4339-A523-0F768DAE9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33400"/>
            <a:ext cx="5029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转移指令举例</a:t>
            </a:r>
            <a:r>
              <a:rPr lang="zh-CN" altLang="en-US" sz="24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23238" name="Text Box 6">
            <a:extLst>
              <a:ext uri="{FF2B5EF4-FFF2-40B4-BE49-F238E27FC236}">
                <a16:creationId xmlns:a16="http://schemas.microsoft.com/office/drawing/2014/main" id="{A7DD1C29-9869-4B0D-9087-F1F519900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295400"/>
            <a:ext cx="70866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[</a:t>
            </a:r>
            <a:r>
              <a:rPr lang="zh-CN" altLang="en-US" sz="2400" b="1"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latin typeface="Times New Roman" panose="02020603050405020304" pitchFamily="18" charset="0"/>
              </a:rPr>
              <a:t>2] 	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	</a:t>
            </a:r>
            <a:r>
              <a:rPr lang="en-US" altLang="zh-CN" sz="2400" b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</a:rPr>
              <a:t>B</a:t>
            </a:r>
            <a:r>
              <a:rPr lang="zh-CN" altLang="en-US" sz="2400" b="1">
                <a:latin typeface="Times New Roman" panose="02020603050405020304" pitchFamily="18" charset="0"/>
              </a:rPr>
              <a:t>为两个双精度数，分别存储于</a:t>
            </a:r>
            <a:r>
              <a:rPr lang="en-US" altLang="zh-CN" sz="2400" b="1">
                <a:latin typeface="Times New Roman" panose="02020603050405020304" pitchFamily="18" charset="0"/>
              </a:rPr>
              <a:t>DX</a:t>
            </a:r>
            <a:r>
              <a:rPr lang="zh-CN" altLang="en-US" sz="2400" b="1">
                <a:latin typeface="Times New Roman" panose="02020603050405020304" pitchFamily="18" charset="0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</a:rPr>
              <a:t>AX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latin typeface="Times New Roman" panose="02020603050405020304" pitchFamily="18" charset="0"/>
              </a:rPr>
              <a:t>BX</a:t>
            </a:r>
            <a:r>
              <a:rPr lang="zh-CN" altLang="en-US" sz="2400" b="1">
                <a:latin typeface="Times New Roman" panose="02020603050405020304" pitchFamily="18" charset="0"/>
              </a:rPr>
              <a:t>、</a:t>
            </a:r>
            <a:r>
              <a:rPr lang="en-US" altLang="zh-CN" sz="2400" b="1">
                <a:latin typeface="Times New Roman" panose="02020603050405020304" pitchFamily="18" charset="0"/>
              </a:rPr>
              <a:t>CX</a:t>
            </a:r>
            <a:r>
              <a:rPr lang="zh-CN" altLang="en-US" sz="2400" b="1">
                <a:latin typeface="Times New Roman" panose="02020603050405020304" pitchFamily="18" charset="0"/>
              </a:rPr>
              <a:t>中，编程使</a:t>
            </a:r>
            <a:r>
              <a:rPr lang="en-US" altLang="zh-CN" sz="2400" b="1">
                <a:latin typeface="Times New Roman" panose="02020603050405020304" pitchFamily="18" charset="0"/>
              </a:rPr>
              <a:t>A&gt;B</a:t>
            </a:r>
            <a:r>
              <a:rPr lang="zh-CN" altLang="zh-CN" sz="2400" b="1">
                <a:latin typeface="Times New Roman" panose="02020603050405020304" pitchFamily="18" charset="0"/>
              </a:rPr>
              <a:t>时转向</a:t>
            </a:r>
            <a:r>
              <a:rPr lang="en-US" altLang="zh-CN" sz="2400" b="1">
                <a:latin typeface="Times New Roman" panose="02020603050405020304" pitchFamily="18" charset="0"/>
              </a:rPr>
              <a:t>X</a:t>
            </a:r>
            <a:r>
              <a:rPr lang="zh-CN" altLang="zh-CN" sz="2400" b="1">
                <a:latin typeface="Times New Roman" panose="02020603050405020304" pitchFamily="18" charset="0"/>
              </a:rPr>
              <a:t>执行，否则转向</a:t>
            </a:r>
            <a:r>
              <a:rPr lang="en-US" altLang="zh-CN" sz="2400" b="1">
                <a:latin typeface="Times New Roman" panose="02020603050405020304" pitchFamily="18" charset="0"/>
              </a:rPr>
              <a:t>Y</a:t>
            </a:r>
            <a:r>
              <a:rPr lang="zh-CN" altLang="zh-CN" sz="2400" b="1">
                <a:latin typeface="Times New Roman" panose="02020603050405020304" pitchFamily="18" charset="0"/>
              </a:rPr>
              <a:t>执行。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	</a:t>
            </a:r>
            <a:r>
              <a:rPr lang="en-US" altLang="zh-CN" sz="2400" b="1">
                <a:latin typeface="Times New Roman" panose="02020603050405020304" pitchFamily="18" charset="0"/>
              </a:rPr>
              <a:t>CMP	DX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</a:rPr>
              <a:t>BX	</a:t>
            </a:r>
            <a:r>
              <a:rPr lang="zh-CN" altLang="en-US" sz="2400" b="1">
                <a:latin typeface="Times New Roman" panose="02020603050405020304" pitchFamily="18" charset="0"/>
              </a:rPr>
              <a:t>；先比较高位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	</a:t>
            </a:r>
            <a:r>
              <a:rPr lang="en-US" altLang="zh-CN" sz="2400" b="1">
                <a:latin typeface="Times New Roman" panose="02020603050405020304" pitchFamily="18" charset="0"/>
              </a:rPr>
              <a:t>JG	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JL	Y	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	CMP	AX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</a:rPr>
              <a:t>CX	</a:t>
            </a:r>
            <a:r>
              <a:rPr lang="zh-CN" altLang="en-US" sz="2400" b="1">
                <a:latin typeface="Times New Roman" panose="02020603050405020304" pitchFamily="18" charset="0"/>
              </a:rPr>
              <a:t>；相等时，再比较低位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	</a:t>
            </a:r>
            <a:r>
              <a:rPr lang="en-US" altLang="zh-CN" sz="2400" b="1">
                <a:latin typeface="Times New Roman" panose="02020603050405020304" pitchFamily="18" charset="0"/>
              </a:rPr>
              <a:t>JA	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Y</a:t>
            </a:r>
            <a:r>
              <a:rPr lang="zh-CN" altLang="en-US" sz="2400" b="1">
                <a:latin typeface="Times New Roman" panose="02020603050405020304" pitchFamily="18" charset="0"/>
              </a:rPr>
              <a:t>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	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34821" name="Line 7">
            <a:extLst>
              <a:ext uri="{FF2B5EF4-FFF2-40B4-BE49-F238E27FC236}">
                <a16:creationId xmlns:a16="http://schemas.microsoft.com/office/drawing/2014/main" id="{D7A30DD4-9B89-4606-8345-30ABF472C2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22" name="AutoShape 8">
            <a:extLst>
              <a:ext uri="{FF2B5EF4-FFF2-40B4-BE49-F238E27FC236}">
                <a16:creationId xmlns:a16="http://schemas.microsoft.com/office/drawing/2014/main" id="{D1C096B7-6A6E-4642-8018-12E851544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4823" name="AutoShape 9">
            <a:extLst>
              <a:ext uri="{FF2B5EF4-FFF2-40B4-BE49-F238E27FC236}">
                <a16:creationId xmlns:a16="http://schemas.microsoft.com/office/drawing/2014/main" id="{49EF785E-8680-48F8-AEB3-75BD1BE04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4824" name="Text Box 1029">
            <a:extLst>
              <a:ext uri="{FF2B5EF4-FFF2-40B4-BE49-F238E27FC236}">
                <a16:creationId xmlns:a16="http://schemas.microsoft.com/office/drawing/2014/main" id="{E636E5BA-CF28-4BA6-9B8B-A8D4A80D2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34825" name="页脚占位符 14">
            <a:extLst>
              <a:ext uri="{FF2B5EF4-FFF2-40B4-BE49-F238E27FC236}">
                <a16:creationId xmlns:a16="http://schemas.microsoft.com/office/drawing/2014/main" id="{62DA6DB5-01F7-43FC-B36E-9ADD6BEBE087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34826" name="灯片编号占位符 13">
            <a:extLst>
              <a:ext uri="{FF2B5EF4-FFF2-40B4-BE49-F238E27FC236}">
                <a16:creationId xmlns:a16="http://schemas.microsoft.com/office/drawing/2014/main" id="{26A5D25B-5DB0-4F2F-8E59-BC6D42730FB1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2FCC9AE-B53D-4ACD-9A8C-38D4A7A874A0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827" name="日期占位符 12">
            <a:extLst>
              <a:ext uri="{FF2B5EF4-FFF2-40B4-BE49-F238E27FC236}">
                <a16:creationId xmlns:a16="http://schemas.microsoft.com/office/drawing/2014/main" id="{90BD2324-5451-4624-88D7-DD0D63D008F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665D8A-01BC-40D4-A367-50D67F2678F0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3">
            <a:extLst>
              <a:ext uri="{FF2B5EF4-FFF2-40B4-BE49-F238E27FC236}">
                <a16:creationId xmlns:a16="http://schemas.microsoft.com/office/drawing/2014/main" id="{64DDDC6B-6FD9-4025-BE3F-767F6E78D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7" name="Text Box 5">
            <a:extLst>
              <a:ext uri="{FF2B5EF4-FFF2-40B4-BE49-F238E27FC236}">
                <a16:creationId xmlns:a16="http://schemas.microsoft.com/office/drawing/2014/main" id="{A4EE5114-190B-4DCF-AC67-91BC7B462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125538"/>
            <a:ext cx="5029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转移指令举例</a:t>
            </a:r>
            <a:r>
              <a:rPr lang="zh-CN" altLang="en-US" sz="24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25286" name="Text Box 6">
            <a:extLst>
              <a:ext uri="{FF2B5EF4-FFF2-40B4-BE49-F238E27FC236}">
                <a16:creationId xmlns:a16="http://schemas.microsoft.com/office/drawing/2014/main" id="{757487D1-4E60-4980-A0ED-989C75236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133600"/>
            <a:ext cx="6696075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[</a:t>
            </a:r>
            <a:r>
              <a:rPr lang="zh-CN" altLang="en-US" sz="3200" b="1">
                <a:latin typeface="Times New Roman" panose="02020603050405020304" pitchFamily="18" charset="0"/>
              </a:rPr>
              <a:t>例</a:t>
            </a:r>
            <a:r>
              <a:rPr lang="en-US" altLang="zh-CN" sz="3200" b="1">
                <a:latin typeface="Times New Roman" panose="02020603050405020304" pitchFamily="18" charset="0"/>
              </a:rPr>
              <a:t>3] </a:t>
            </a:r>
            <a:r>
              <a:rPr lang="zh-CN" altLang="en-US" sz="3200" b="1">
                <a:latin typeface="Times New Roman" panose="02020603050405020304" pitchFamily="18" charset="0"/>
              </a:rPr>
              <a:t>计算</a:t>
            </a:r>
            <a:r>
              <a:rPr lang="en-US" altLang="zh-CN" sz="3200" b="1">
                <a:latin typeface="Times New Roman" panose="02020603050405020304" pitchFamily="18" charset="0"/>
              </a:rPr>
              <a:t>CX=AX-BX</a:t>
            </a:r>
            <a:r>
              <a:rPr lang="zh-CN" altLang="en-US" sz="3200" b="1">
                <a:latin typeface="Times New Roman" panose="02020603050405020304" pitchFamily="18" charset="0"/>
              </a:rPr>
              <a:t>的绝对值</a:t>
            </a:r>
            <a:endParaRPr lang="en-US" altLang="zh-CN" sz="3200" b="1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		SUB		AX,BX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		JGE		SKIP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		NEG		AX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SKIP:	MOV	CX,AX</a:t>
            </a:r>
          </a:p>
        </p:txBody>
      </p:sp>
      <p:sp>
        <p:nvSpPr>
          <p:cNvPr id="36869" name="Line 7">
            <a:extLst>
              <a:ext uri="{FF2B5EF4-FFF2-40B4-BE49-F238E27FC236}">
                <a16:creationId xmlns:a16="http://schemas.microsoft.com/office/drawing/2014/main" id="{439EDEE4-838D-4391-8FA9-C8F7DCA88B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0" name="AutoShape 8">
            <a:extLst>
              <a:ext uri="{FF2B5EF4-FFF2-40B4-BE49-F238E27FC236}">
                <a16:creationId xmlns:a16="http://schemas.microsoft.com/office/drawing/2014/main" id="{85DF1272-1F2B-433D-944B-F6D146AC1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6871" name="AutoShape 9">
            <a:extLst>
              <a:ext uri="{FF2B5EF4-FFF2-40B4-BE49-F238E27FC236}">
                <a16:creationId xmlns:a16="http://schemas.microsoft.com/office/drawing/2014/main" id="{0D4FCE65-4B5B-4799-9119-5823B14BD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6872" name="Text Box 1029">
            <a:extLst>
              <a:ext uri="{FF2B5EF4-FFF2-40B4-BE49-F238E27FC236}">
                <a16:creationId xmlns:a16="http://schemas.microsoft.com/office/drawing/2014/main" id="{5F239BA0-D754-4BF6-8B42-C75331533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36873" name="页脚占位符 14">
            <a:extLst>
              <a:ext uri="{FF2B5EF4-FFF2-40B4-BE49-F238E27FC236}">
                <a16:creationId xmlns:a16="http://schemas.microsoft.com/office/drawing/2014/main" id="{33DC8D74-8DA5-47C7-B8AD-3539C4438694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36874" name="灯片编号占位符 13">
            <a:extLst>
              <a:ext uri="{FF2B5EF4-FFF2-40B4-BE49-F238E27FC236}">
                <a16:creationId xmlns:a16="http://schemas.microsoft.com/office/drawing/2014/main" id="{126E9219-042C-488F-8983-DB95FF17F589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734F7A6-FD3A-4BC5-AABA-324C2A19B4C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6875" name="日期占位符 12">
            <a:extLst>
              <a:ext uri="{FF2B5EF4-FFF2-40B4-BE49-F238E27FC236}">
                <a16:creationId xmlns:a16="http://schemas.microsoft.com/office/drawing/2014/main" id="{B6A73037-7A0A-46D2-9239-FD8EBE04DB9B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3A88E9-B1C3-4427-86D1-DBB704037819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3">
            <a:extLst>
              <a:ext uri="{FF2B5EF4-FFF2-40B4-BE49-F238E27FC236}">
                <a16:creationId xmlns:a16="http://schemas.microsoft.com/office/drawing/2014/main" id="{6F90B5CD-0600-4CA4-9B4E-DA051C254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58" name="Text Box 6">
            <a:extLst>
              <a:ext uri="{FF2B5EF4-FFF2-40B4-BE49-F238E27FC236}">
                <a16:creationId xmlns:a16="http://schemas.microsoft.com/office/drawing/2014/main" id="{684DF2A8-5472-467B-9A1A-BC7489134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0" y="1412875"/>
            <a:ext cx="7632700" cy="464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3200" b="1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LOOP  </a:t>
            </a:r>
            <a:r>
              <a:rPr lang="zh-CN" altLang="en-US" sz="2800" b="1">
                <a:solidFill>
                  <a:srgbClr val="0000D6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循环指令</a:t>
            </a:r>
            <a:endParaRPr lang="zh-CN" altLang="en-US" sz="2400" b="1">
              <a:solidFill>
                <a:srgbClr val="0000D6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格式：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LOOP  OPR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测试条件：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CX&lt;&gt;0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3200" b="1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LOOPZ/LOOPE  </a:t>
            </a:r>
            <a:r>
              <a:rPr lang="zh-CN" altLang="en-US" sz="2800" b="1">
                <a:solidFill>
                  <a:srgbClr val="0000D6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为零或相等时循环指令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格式：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LOOPZ  OPR	</a:t>
            </a: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或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LOOPE  OPR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测试条件：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ZF=1</a:t>
            </a: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且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CX&lt;&gt;0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3200" b="1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LOOPNZ/LOOPNE </a:t>
            </a:r>
            <a:r>
              <a:rPr lang="zh-CN" altLang="en-US" sz="2800" b="1">
                <a:solidFill>
                  <a:srgbClr val="0000D6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不为零或不相等时循环指令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格式：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LOOPNZ  OPR	</a:t>
            </a: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或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LOOPNE  OPR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测试条件：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ZF=0</a:t>
            </a: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且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CX&lt;&gt;0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测试条件就是循环条件</a:t>
            </a:r>
          </a:p>
        </p:txBody>
      </p:sp>
      <p:sp>
        <p:nvSpPr>
          <p:cNvPr id="38916" name="Line 7">
            <a:extLst>
              <a:ext uri="{FF2B5EF4-FFF2-40B4-BE49-F238E27FC236}">
                <a16:creationId xmlns:a16="http://schemas.microsoft.com/office/drawing/2014/main" id="{F2B52DE2-B5BD-4B30-8FA1-6716436F8C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917" name="AutoShape 8">
            <a:extLst>
              <a:ext uri="{FF2B5EF4-FFF2-40B4-BE49-F238E27FC236}">
                <a16:creationId xmlns:a16="http://schemas.microsoft.com/office/drawing/2014/main" id="{C9584074-241D-4706-99FE-7D23D8E98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8918" name="Rectangle 9">
            <a:extLst>
              <a:ext uri="{FF2B5EF4-FFF2-40B4-BE49-F238E27FC236}">
                <a16:creationId xmlns:a16="http://schemas.microsoft.com/office/drawing/2014/main" id="{64981A84-6CBC-47BE-AF31-4997A2FE142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9250" y="692150"/>
            <a:ext cx="3924300" cy="608013"/>
          </a:xfrm>
        </p:spPr>
        <p:txBody>
          <a:bodyPr/>
          <a:lstStyle/>
          <a:p>
            <a:pPr eaLnBrk="1" hangingPunct="1"/>
            <a:r>
              <a:rPr lang="zh-CN" altLang="en-US" sz="4000" b="1">
                <a:solidFill>
                  <a:srgbClr val="FF3300"/>
                </a:solidFill>
              </a:rPr>
              <a:t>三、循环指令</a:t>
            </a:r>
          </a:p>
        </p:txBody>
      </p:sp>
      <p:sp>
        <p:nvSpPr>
          <p:cNvPr id="38919" name="Text Box 1029">
            <a:extLst>
              <a:ext uri="{FF2B5EF4-FFF2-40B4-BE49-F238E27FC236}">
                <a16:creationId xmlns:a16="http://schemas.microsoft.com/office/drawing/2014/main" id="{940B878F-775C-4A99-BA5A-4AE6B0F6F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38920" name="页脚占位符 14">
            <a:extLst>
              <a:ext uri="{FF2B5EF4-FFF2-40B4-BE49-F238E27FC236}">
                <a16:creationId xmlns:a16="http://schemas.microsoft.com/office/drawing/2014/main" id="{BEAE6C2D-2CD1-49DF-9242-27A48F120188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38921" name="灯片编号占位符 13">
            <a:extLst>
              <a:ext uri="{FF2B5EF4-FFF2-40B4-BE49-F238E27FC236}">
                <a16:creationId xmlns:a16="http://schemas.microsoft.com/office/drawing/2014/main" id="{8E107A8D-DCBA-4241-BF41-4B6C33F27F6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D03BB2B-2D99-46B3-80A7-D47081A2AB7C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922" name="日期占位符 12">
            <a:extLst>
              <a:ext uri="{FF2B5EF4-FFF2-40B4-BE49-F238E27FC236}">
                <a16:creationId xmlns:a16="http://schemas.microsoft.com/office/drawing/2014/main" id="{C4B6E04D-5936-4F86-91FC-7C129AD73FDD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576A50F-9EFA-4CE9-BF81-04C2AEBF1136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3">
            <a:extLst>
              <a:ext uri="{FF2B5EF4-FFF2-40B4-BE49-F238E27FC236}">
                <a16:creationId xmlns:a16="http://schemas.microsoft.com/office/drawing/2014/main" id="{3C4F2C98-EA9B-49AC-A96B-9DBFAD487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358" name="Text Box 6">
            <a:extLst>
              <a:ext uri="{FF2B5EF4-FFF2-40B4-BE49-F238E27FC236}">
                <a16:creationId xmlns:a16="http://schemas.microsoft.com/office/drawing/2014/main" id="{CBDEC32F-3954-4B5D-8C2E-76AA1FD6C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387475"/>
            <a:ext cx="763270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Times New Roman" panose="02020603050405020304" pitchFamily="18" charset="0"/>
              </a:rPr>
              <a:t>	循环指令本质上是增强型的条件转移指令，也是测试标志位来判断是否控制程序的转移。</a:t>
            </a:r>
            <a:r>
              <a:rPr lang="en-US" altLang="zh-CN" sz="3600" b="1">
                <a:latin typeface="Times New Roman" panose="02020603050405020304" pitchFamily="18" charset="0"/>
              </a:rPr>
              <a:t>3</a:t>
            </a:r>
            <a:r>
              <a:rPr lang="zh-CN" altLang="en-US" sz="3600" b="1">
                <a:latin typeface="Times New Roman" panose="02020603050405020304" pitchFamily="18" charset="0"/>
              </a:rPr>
              <a:t>条循环指令都隐含使用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</a:rPr>
              <a:t>CX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作为循环计数器</a:t>
            </a:r>
            <a:r>
              <a:rPr lang="zh-CN" altLang="en-US" sz="3600" b="1">
                <a:latin typeface="Times New Roman" panose="02020603050405020304" pitchFamily="18" charset="0"/>
              </a:rPr>
              <a:t>，每次执行循环指令，先</a:t>
            </a:r>
            <a:r>
              <a:rPr lang="en-US" altLang="zh-CN" sz="3600" b="1">
                <a:latin typeface="Times New Roman" panose="02020603050405020304" pitchFamily="18" charset="0"/>
              </a:rPr>
              <a:t>CX-1</a:t>
            </a:r>
            <a:r>
              <a:rPr lang="zh-CN" altLang="en-US" sz="3600" b="1">
                <a:latin typeface="Times New Roman" panose="02020603050405020304" pitchFamily="18" charset="0"/>
              </a:rPr>
              <a:t>，再根据</a:t>
            </a:r>
            <a:r>
              <a:rPr lang="en-US" altLang="zh-CN" sz="3600" b="1">
                <a:latin typeface="Times New Roman" panose="02020603050405020304" pitchFamily="18" charset="0"/>
              </a:rPr>
              <a:t>CX</a:t>
            </a:r>
            <a:r>
              <a:rPr lang="zh-CN" altLang="en-US" sz="3600" b="1">
                <a:latin typeface="Times New Roman" panose="02020603050405020304" pitchFamily="18" charset="0"/>
              </a:rPr>
              <a:t>是否为</a:t>
            </a:r>
            <a:r>
              <a:rPr lang="en-US" altLang="zh-CN" sz="3600" b="1">
                <a:latin typeface="Times New Roman" panose="02020603050405020304" pitchFamily="18" charset="0"/>
              </a:rPr>
              <a:t>0</a:t>
            </a:r>
            <a:r>
              <a:rPr lang="zh-CN" altLang="en-US" sz="3600" b="1">
                <a:latin typeface="Times New Roman" panose="02020603050405020304" pitchFamily="18" charset="0"/>
              </a:rPr>
              <a:t>决定是否继续循环。</a:t>
            </a:r>
            <a:endParaRPr lang="en-US" altLang="zh-CN" sz="3600" b="1">
              <a:latin typeface="Times New Roman" panose="02020603050405020304" pitchFamily="18" charset="0"/>
            </a:endParaRPr>
          </a:p>
        </p:txBody>
      </p:sp>
      <p:sp>
        <p:nvSpPr>
          <p:cNvPr id="39940" name="Line 7">
            <a:extLst>
              <a:ext uri="{FF2B5EF4-FFF2-40B4-BE49-F238E27FC236}">
                <a16:creationId xmlns:a16="http://schemas.microsoft.com/office/drawing/2014/main" id="{1A0BFD20-8596-4D10-8B41-D9F4C52FBD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1" name="AutoShape 8">
            <a:extLst>
              <a:ext uri="{FF2B5EF4-FFF2-40B4-BE49-F238E27FC236}">
                <a16:creationId xmlns:a16="http://schemas.microsoft.com/office/drawing/2014/main" id="{B7FB6B44-D088-4680-B08C-198FDE384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9942" name="Text Box 10">
            <a:extLst>
              <a:ext uri="{FF2B5EF4-FFF2-40B4-BE49-F238E27FC236}">
                <a16:creationId xmlns:a16="http://schemas.microsoft.com/office/drawing/2014/main" id="{16E4A1A7-4AA4-4FE4-BE10-5C2729D33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5235575"/>
            <a:ext cx="5184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103DB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循环指令本身不影响标志位</a:t>
            </a:r>
            <a:endParaRPr lang="zh-CN" altLang="en-US" sz="3200">
              <a:solidFill>
                <a:srgbClr val="3103DB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9943" name="Text Box 1029">
            <a:extLst>
              <a:ext uri="{FF2B5EF4-FFF2-40B4-BE49-F238E27FC236}">
                <a16:creationId xmlns:a16="http://schemas.microsoft.com/office/drawing/2014/main" id="{873BC70D-7874-4B6F-87AA-B4B11BFBF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39944" name="页脚占位符 14">
            <a:extLst>
              <a:ext uri="{FF2B5EF4-FFF2-40B4-BE49-F238E27FC236}">
                <a16:creationId xmlns:a16="http://schemas.microsoft.com/office/drawing/2014/main" id="{4959B5E3-7429-4564-97C8-4F9792FC43B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39945" name="灯片编号占位符 13">
            <a:extLst>
              <a:ext uri="{FF2B5EF4-FFF2-40B4-BE49-F238E27FC236}">
                <a16:creationId xmlns:a16="http://schemas.microsoft.com/office/drawing/2014/main" id="{4E5F2E96-1577-417F-937B-CB954CFABEC1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DCFF3F6-6047-4C7F-8EE8-DB33B1B12A3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46" name="日期占位符 12">
            <a:extLst>
              <a:ext uri="{FF2B5EF4-FFF2-40B4-BE49-F238E27FC236}">
                <a16:creationId xmlns:a16="http://schemas.microsoft.com/office/drawing/2014/main" id="{8953EE0B-1BD1-4291-BB2A-8FE6641B59BC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DE8A62C-4A4F-4B8D-A5B9-B75C0ECDB552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Line 3">
            <a:extLst>
              <a:ext uri="{FF2B5EF4-FFF2-40B4-BE49-F238E27FC236}">
                <a16:creationId xmlns:a16="http://schemas.microsoft.com/office/drawing/2014/main" id="{B4407D5A-A330-4AB4-BFDA-2E7721FDD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3" name="Text Box 5">
            <a:extLst>
              <a:ext uri="{FF2B5EF4-FFF2-40B4-BE49-F238E27FC236}">
                <a16:creationId xmlns:a16="http://schemas.microsoft.com/office/drawing/2014/main" id="{9D794922-C751-4A9B-9893-218A36CDA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692150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三条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循环指令的执行步骤</a:t>
            </a:r>
            <a:r>
              <a:rPr lang="zh-CN" altLang="en-US" sz="24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29382" name="Text Box 6">
            <a:extLst>
              <a:ext uri="{FF2B5EF4-FFF2-40B4-BE49-F238E27FC236}">
                <a16:creationId xmlns:a16="http://schemas.microsoft.com/office/drawing/2014/main" id="{FB2DB4E2-117C-40AE-8BFA-B21A518BB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95400"/>
            <a:ext cx="67818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(1) CX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CX-1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(2)</a:t>
            </a:r>
            <a:r>
              <a:rPr lang="zh-CN" altLang="en-US" sz="2400" b="1">
                <a:latin typeface="Times New Roman" panose="02020603050405020304" pitchFamily="18" charset="0"/>
              </a:rPr>
              <a:t>检查是否满足信号条件，如满足则</a:t>
            </a:r>
            <a:r>
              <a:rPr lang="en-US" altLang="zh-CN" sz="2400" b="1">
                <a:latin typeface="Times New Roman" panose="02020603050405020304" pitchFamily="18" charset="0"/>
              </a:rPr>
              <a:t>IP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IP+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符号扩展的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D8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(3)</a:t>
            </a:r>
            <a:r>
              <a:rPr lang="zh-CN" altLang="en-US" sz="2400" b="1">
                <a:latin typeface="Times New Roman" panose="02020603050405020304" pitchFamily="18" charset="0"/>
              </a:rPr>
              <a:t>若不满足循环条件，则</a:t>
            </a:r>
            <a:r>
              <a:rPr lang="en-US" altLang="zh-CN" sz="2400" b="1">
                <a:latin typeface="Times New Roman" panose="02020603050405020304" pitchFamily="18" charset="0"/>
              </a:rPr>
              <a:t>IP</a:t>
            </a:r>
            <a:r>
              <a:rPr lang="zh-CN" altLang="en-US" sz="2400" b="1">
                <a:latin typeface="Times New Roman" panose="02020603050405020304" pitchFamily="18" charset="0"/>
              </a:rPr>
              <a:t>不变，继续顺序执行，退出循环。</a:t>
            </a:r>
            <a:endParaRPr lang="zh-CN" altLang="en-US" sz="2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965" name="Line 7">
            <a:extLst>
              <a:ext uri="{FF2B5EF4-FFF2-40B4-BE49-F238E27FC236}">
                <a16:creationId xmlns:a16="http://schemas.microsoft.com/office/drawing/2014/main" id="{E8CAE3B3-19C1-4CE1-AF9E-B16B93EBD8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66" name="AutoShape 8">
            <a:extLst>
              <a:ext uri="{FF2B5EF4-FFF2-40B4-BE49-F238E27FC236}">
                <a16:creationId xmlns:a16="http://schemas.microsoft.com/office/drawing/2014/main" id="{820B7D1A-886F-4C97-A08C-AB38A27E6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grpSp>
        <p:nvGrpSpPr>
          <p:cNvPr id="40967" name="Group 10">
            <a:extLst>
              <a:ext uri="{FF2B5EF4-FFF2-40B4-BE49-F238E27FC236}">
                <a16:creationId xmlns:a16="http://schemas.microsoft.com/office/drawing/2014/main" id="{37310CD7-3BA3-4669-8CE3-13E960E54958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124200"/>
            <a:ext cx="3200400" cy="3071813"/>
            <a:chOff x="2742" y="1596"/>
            <a:chExt cx="5040" cy="4836"/>
          </a:xfrm>
        </p:grpSpPr>
        <p:grpSp>
          <p:nvGrpSpPr>
            <p:cNvPr id="40972" name="Group 11">
              <a:extLst>
                <a:ext uri="{FF2B5EF4-FFF2-40B4-BE49-F238E27FC236}">
                  <a16:creationId xmlns:a16="http://schemas.microsoft.com/office/drawing/2014/main" id="{E7345482-9ED9-4A9C-A519-292B2D9151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2" y="3000"/>
              <a:ext cx="3570" cy="3432"/>
              <a:chOff x="5157" y="1368"/>
              <a:chExt cx="3570" cy="3432"/>
            </a:xfrm>
          </p:grpSpPr>
          <p:sp>
            <p:nvSpPr>
              <p:cNvPr id="40978" name="AutoShape 12">
                <a:extLst>
                  <a:ext uri="{FF2B5EF4-FFF2-40B4-BE49-F238E27FC236}">
                    <a16:creationId xmlns:a16="http://schemas.microsoft.com/office/drawing/2014/main" id="{30D320F9-07CE-494E-A396-11244830F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7" y="2304"/>
                <a:ext cx="2730" cy="936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1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79" name="Line 13">
                <a:extLst>
                  <a:ext uri="{FF2B5EF4-FFF2-40B4-BE49-F238E27FC236}">
                    <a16:creationId xmlns:a16="http://schemas.microsoft.com/office/drawing/2014/main" id="{AE501321-8E75-4E29-81BD-2954B0F82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2" y="3240"/>
                <a:ext cx="0" cy="9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0" name="Line 14">
                <a:extLst>
                  <a:ext uri="{FF2B5EF4-FFF2-40B4-BE49-F238E27FC236}">
                    <a16:creationId xmlns:a16="http://schemas.microsoft.com/office/drawing/2014/main" id="{B545976C-75CC-49DE-83D3-6938662B1C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22" y="1368"/>
                <a:ext cx="0" cy="9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1" name="Line 15">
                <a:extLst>
                  <a:ext uri="{FF2B5EF4-FFF2-40B4-BE49-F238E27FC236}">
                    <a16:creationId xmlns:a16="http://schemas.microsoft.com/office/drawing/2014/main" id="{5E36FEA4-D320-4456-ADFA-B791DA33DD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87" y="2772"/>
                <a:ext cx="8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2" name="Text Box 16">
                <a:extLst>
                  <a:ext uri="{FF2B5EF4-FFF2-40B4-BE49-F238E27FC236}">
                    <a16:creationId xmlns:a16="http://schemas.microsoft.com/office/drawing/2014/main" id="{73FCD096-8552-4697-B20F-BDA580298A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82" y="2460"/>
                <a:ext cx="1890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1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400" b="1">
                    <a:latin typeface="Times New Roman" panose="02020603050405020304" pitchFamily="18" charset="0"/>
                    <a:ea typeface="楷体_GB2312" pitchFamily="49" charset="-122"/>
                  </a:rPr>
                  <a:t>条件满足？</a:t>
                </a:r>
              </a:p>
            </p:txBody>
          </p:sp>
          <p:sp>
            <p:nvSpPr>
              <p:cNvPr id="40983" name="Text Box 17">
                <a:extLst>
                  <a:ext uri="{FF2B5EF4-FFF2-40B4-BE49-F238E27FC236}">
                    <a16:creationId xmlns:a16="http://schemas.microsoft.com/office/drawing/2014/main" id="{17BDA4C0-0606-461F-A338-08FEF3FB08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22" y="3396"/>
                <a:ext cx="630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1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400" b="1">
                    <a:latin typeface="Times New Roman" panose="02020603050405020304" pitchFamily="18" charset="0"/>
                    <a:ea typeface="楷体_GB2312" pitchFamily="49" charset="-122"/>
                  </a:rPr>
                  <a:t>否</a:t>
                </a:r>
              </a:p>
            </p:txBody>
          </p:sp>
          <p:sp>
            <p:nvSpPr>
              <p:cNvPr id="40984" name="Text Box 18">
                <a:extLst>
                  <a:ext uri="{FF2B5EF4-FFF2-40B4-BE49-F238E27FC236}">
                    <a16:creationId xmlns:a16="http://schemas.microsoft.com/office/drawing/2014/main" id="{46A4807D-B2E6-4C55-A559-0C35B81CC9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92" y="2148"/>
                <a:ext cx="630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1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400" b="1">
                    <a:latin typeface="Times New Roman" panose="02020603050405020304" pitchFamily="18" charset="0"/>
                    <a:ea typeface="楷体_GB2312" pitchFamily="49" charset="-122"/>
                  </a:rPr>
                  <a:t>是</a:t>
                </a:r>
              </a:p>
            </p:txBody>
          </p:sp>
          <p:sp>
            <p:nvSpPr>
              <p:cNvPr id="40985" name="Text Box 19">
                <a:extLst>
                  <a:ext uri="{FF2B5EF4-FFF2-40B4-BE49-F238E27FC236}">
                    <a16:creationId xmlns:a16="http://schemas.microsoft.com/office/drawing/2014/main" id="{11102587-3696-439D-97A9-54F5F19ADE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7" y="4020"/>
                <a:ext cx="1575" cy="7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1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400" b="1">
                    <a:latin typeface="Times New Roman" panose="02020603050405020304" pitchFamily="18" charset="0"/>
                    <a:ea typeface="楷体_GB2312" pitchFamily="49" charset="-122"/>
                  </a:rPr>
                  <a:t>顺序执行</a:t>
                </a:r>
              </a:p>
            </p:txBody>
          </p:sp>
        </p:grpSp>
        <p:sp>
          <p:nvSpPr>
            <p:cNvPr id="40973" name="Text Box 20">
              <a:extLst>
                <a:ext uri="{FF2B5EF4-FFF2-40B4-BE49-F238E27FC236}">
                  <a16:creationId xmlns:a16="http://schemas.microsoft.com/office/drawing/2014/main" id="{0A9CACFE-5559-415E-A074-1487DF776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2" y="3780"/>
              <a:ext cx="1470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  <a:ea typeface="楷体_GB2312" pitchFamily="49" charset="-122"/>
                </a:rPr>
                <a:t>转向转移地址执行</a:t>
              </a:r>
            </a:p>
          </p:txBody>
        </p:sp>
        <p:sp>
          <p:nvSpPr>
            <p:cNvPr id="40974" name="Rectangle 21">
              <a:extLst>
                <a:ext uri="{FF2B5EF4-FFF2-40B4-BE49-F238E27FC236}">
                  <a16:creationId xmlns:a16="http://schemas.microsoft.com/office/drawing/2014/main" id="{6F3DF61B-C260-4E42-9F14-1E322F381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7" y="2376"/>
              <a:ext cx="1365" cy="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1">
                  <a:latin typeface="Times New Roman" panose="02020603050405020304" pitchFamily="18" charset="0"/>
                  <a:ea typeface="楷体_GB2312" pitchFamily="49" charset="-122"/>
                </a:rPr>
                <a:t>循环体</a:t>
              </a:r>
            </a:p>
          </p:txBody>
        </p:sp>
        <p:sp>
          <p:nvSpPr>
            <p:cNvPr id="40975" name="Line 22">
              <a:extLst>
                <a:ext uri="{FF2B5EF4-FFF2-40B4-BE49-F238E27FC236}">
                  <a16:creationId xmlns:a16="http://schemas.microsoft.com/office/drawing/2014/main" id="{53BFB7C5-2043-4E44-BF81-2FFC0559F3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2" y="1908"/>
              <a:ext cx="0" cy="24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6" name="Line 23">
              <a:extLst>
                <a:ext uri="{FF2B5EF4-FFF2-40B4-BE49-F238E27FC236}">
                  <a16:creationId xmlns:a16="http://schemas.microsoft.com/office/drawing/2014/main" id="{AFD81EBD-8E09-4CB1-B4BC-3B65EEE40F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7" y="1908"/>
              <a:ext cx="2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7" name="Line 24">
              <a:extLst>
                <a:ext uri="{FF2B5EF4-FFF2-40B4-BE49-F238E27FC236}">
                  <a16:creationId xmlns:a16="http://schemas.microsoft.com/office/drawing/2014/main" id="{EE4A4240-FB8F-4681-9254-AA5E452D3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7" y="1596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968" name="Text Box 1029">
            <a:extLst>
              <a:ext uri="{FF2B5EF4-FFF2-40B4-BE49-F238E27FC236}">
                <a16:creationId xmlns:a16="http://schemas.microsoft.com/office/drawing/2014/main" id="{6C14ACB0-C79D-47BC-9007-F710CB45E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40969" name="页脚占位符 14">
            <a:extLst>
              <a:ext uri="{FF2B5EF4-FFF2-40B4-BE49-F238E27FC236}">
                <a16:creationId xmlns:a16="http://schemas.microsoft.com/office/drawing/2014/main" id="{64BD4805-68F8-49C0-979D-05AF9F54D9B1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40970" name="灯片编号占位符 13">
            <a:extLst>
              <a:ext uri="{FF2B5EF4-FFF2-40B4-BE49-F238E27FC236}">
                <a16:creationId xmlns:a16="http://schemas.microsoft.com/office/drawing/2014/main" id="{ABCB6F1B-FA7B-454B-92F4-43087A3DCC23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D94EAEE-B4B3-4C02-A612-BD837E878894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971" name="日期占位符 12">
            <a:extLst>
              <a:ext uri="{FF2B5EF4-FFF2-40B4-BE49-F238E27FC236}">
                <a16:creationId xmlns:a16="http://schemas.microsoft.com/office/drawing/2014/main" id="{4D3758C7-799D-4D69-8870-6FA28481F1C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3BB552C-F683-4707-ACC9-9B036FD1F5A1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3">
            <a:extLst>
              <a:ext uri="{FF2B5EF4-FFF2-40B4-BE49-F238E27FC236}">
                <a16:creationId xmlns:a16="http://schemas.microsoft.com/office/drawing/2014/main" id="{A1558F7D-7819-43DE-9F78-E27FC4808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7" name="Text Box 5">
            <a:extLst>
              <a:ext uri="{FF2B5EF4-FFF2-40B4-BE49-F238E27FC236}">
                <a16:creationId xmlns:a16="http://schemas.microsoft.com/office/drawing/2014/main" id="{4E4D90F2-9D5B-4589-809E-AFE1EF628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33400"/>
            <a:ext cx="5029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循环指令举例</a:t>
            </a:r>
            <a:r>
              <a:rPr lang="zh-CN" altLang="en-US" sz="24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32454" name="Text Box 6">
            <a:extLst>
              <a:ext uri="{FF2B5EF4-FFF2-40B4-BE49-F238E27FC236}">
                <a16:creationId xmlns:a16="http://schemas.microsoft.com/office/drawing/2014/main" id="{DED41317-EE4B-4176-8FA0-C4CDB275C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1246188"/>
            <a:ext cx="8777288" cy="478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[</a:t>
            </a:r>
            <a:r>
              <a:rPr lang="zh-CN" altLang="en-US" sz="2800" b="1"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</a:rPr>
              <a:t>4] 	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有一个首地址为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ARRAY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M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个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字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的数组，试编程求出该数组的内容之和（不考虑溢出），结果存入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TOTAL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单元中。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CX</a:t>
            </a:r>
            <a:r>
              <a:rPr lang="zh-CN" altLang="en-US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MOV	AX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MOV	SI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SLP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ADD	AX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ARRAY[SI]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INC	SI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INC	SI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LOOP	SLP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MOV	TOTAL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AX	</a:t>
            </a:r>
          </a:p>
        </p:txBody>
      </p:sp>
      <p:sp>
        <p:nvSpPr>
          <p:cNvPr id="41989" name="Line 7">
            <a:extLst>
              <a:ext uri="{FF2B5EF4-FFF2-40B4-BE49-F238E27FC236}">
                <a16:creationId xmlns:a16="http://schemas.microsoft.com/office/drawing/2014/main" id="{1E64F15D-3898-4F6D-B11D-1CEB75BB5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90" name="AutoShape 8">
            <a:extLst>
              <a:ext uri="{FF2B5EF4-FFF2-40B4-BE49-F238E27FC236}">
                <a16:creationId xmlns:a16="http://schemas.microsoft.com/office/drawing/2014/main" id="{FE3660F8-16E4-4E5E-8903-C373521BE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41991" name="AutoShape 9">
            <a:extLst>
              <a:ext uri="{FF2B5EF4-FFF2-40B4-BE49-F238E27FC236}">
                <a16:creationId xmlns:a16="http://schemas.microsoft.com/office/drawing/2014/main" id="{AA7AC1FE-C546-4A2B-B144-C7EC5F5A2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41992" name="Text Box 1029">
            <a:extLst>
              <a:ext uri="{FF2B5EF4-FFF2-40B4-BE49-F238E27FC236}">
                <a16:creationId xmlns:a16="http://schemas.microsoft.com/office/drawing/2014/main" id="{580C9EFF-1B11-479E-A299-766A502A7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41993" name="页脚占位符 14">
            <a:extLst>
              <a:ext uri="{FF2B5EF4-FFF2-40B4-BE49-F238E27FC236}">
                <a16:creationId xmlns:a16="http://schemas.microsoft.com/office/drawing/2014/main" id="{816353C6-8A10-413E-957C-FFDB213327CA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41994" name="灯片编号占位符 13">
            <a:extLst>
              <a:ext uri="{FF2B5EF4-FFF2-40B4-BE49-F238E27FC236}">
                <a16:creationId xmlns:a16="http://schemas.microsoft.com/office/drawing/2014/main" id="{525FD49C-C371-4817-8CF3-5990DE0CFD3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05E1EF42-D548-45B2-A271-869F33EAF63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995" name="日期占位符 12">
            <a:extLst>
              <a:ext uri="{FF2B5EF4-FFF2-40B4-BE49-F238E27FC236}">
                <a16:creationId xmlns:a16="http://schemas.microsoft.com/office/drawing/2014/main" id="{53BBC54E-66D5-4321-BB8F-47B2750E7ED5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CAA9EF3-E42F-4168-A269-C87A5A0B00DD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41996" name="Object 15">
            <a:extLst>
              <a:ext uri="{FF2B5EF4-FFF2-40B4-BE49-F238E27FC236}">
                <a16:creationId xmlns:a16="http://schemas.microsoft.com/office/drawing/2014/main" id="{21AF8F3B-681E-4B54-8CAA-93EFD15FCE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5675" y="3005138"/>
          <a:ext cx="5340350" cy="199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Document" r:id="rId4" imgW="5631328" imgH="2109182" progId="Word.Document.8">
                  <p:embed/>
                </p:oleObj>
              </mc:Choice>
              <mc:Fallback>
                <p:oleObj name="Document" r:id="rId4" imgW="5631328" imgH="2109182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5675" y="3005138"/>
                        <a:ext cx="5340350" cy="199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7" name="文本框 3">
            <a:extLst>
              <a:ext uri="{FF2B5EF4-FFF2-40B4-BE49-F238E27FC236}">
                <a16:creationId xmlns:a16="http://schemas.microsoft.com/office/drawing/2014/main" id="{4818B295-0036-4413-919F-D91D268A1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9013" y="2987675"/>
            <a:ext cx="769937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ARRAY</a:t>
            </a:r>
          </a:p>
          <a:p>
            <a:endParaRPr lang="en-US" altLang="zh-CN" sz="1200"/>
          </a:p>
          <a:p>
            <a:endParaRPr lang="en-US" altLang="zh-CN" sz="1200"/>
          </a:p>
          <a:p>
            <a:endParaRPr lang="en-US" altLang="zh-CN" sz="1200"/>
          </a:p>
          <a:p>
            <a:endParaRPr lang="en-US" altLang="zh-CN" sz="1200"/>
          </a:p>
          <a:p>
            <a:endParaRPr lang="en-US" altLang="zh-CN" sz="1200"/>
          </a:p>
          <a:p>
            <a:endParaRPr lang="en-US" altLang="zh-CN" sz="1200"/>
          </a:p>
          <a:p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 TOTAL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3">
            <a:extLst>
              <a:ext uri="{FF2B5EF4-FFF2-40B4-BE49-F238E27FC236}">
                <a16:creationId xmlns:a16="http://schemas.microsoft.com/office/drawing/2014/main" id="{9CE8508C-2313-413C-9979-945CD5330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574" name="Text Box 6">
            <a:extLst>
              <a:ext uri="{FF2B5EF4-FFF2-40B4-BE49-F238E27FC236}">
                <a16:creationId xmlns:a16="http://schemas.microsoft.com/office/drawing/2014/main" id="{D6EC50D1-D737-4F51-87E5-29FD1A3D0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692150"/>
            <a:ext cx="66294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[</a:t>
            </a:r>
            <a:r>
              <a:rPr lang="zh-CN" altLang="en-US" sz="2400" b="1"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latin typeface="Times New Roman" panose="02020603050405020304" pitchFamily="18" charset="0"/>
              </a:rPr>
              <a:t>5] 	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有一串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个字符的字符串，存放在首地址为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STR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的存储区中，编程查找第一个“空格”字符的位置。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STR	DB	‘GOOD EVENING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！’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		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	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MOV		CX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	MOV		SI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-1	;***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	MOV		AL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20H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NEXT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INC		SI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	CMP		AL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STR[SI]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	LOOPNE	NEXT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	JNZ		NOTFOUND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	MOV		BX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SI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		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NOTFOUND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</a:p>
        </p:txBody>
      </p:sp>
      <p:sp>
        <p:nvSpPr>
          <p:cNvPr id="44036" name="Line 7">
            <a:extLst>
              <a:ext uri="{FF2B5EF4-FFF2-40B4-BE49-F238E27FC236}">
                <a16:creationId xmlns:a16="http://schemas.microsoft.com/office/drawing/2014/main" id="{8CF7C778-8D51-447E-B5EC-9C340D7D7F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7" name="AutoShape 8">
            <a:extLst>
              <a:ext uri="{FF2B5EF4-FFF2-40B4-BE49-F238E27FC236}">
                <a16:creationId xmlns:a16="http://schemas.microsoft.com/office/drawing/2014/main" id="{0344ECDF-5F96-49EB-A576-32EBC58E8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44038" name="AutoShape 9">
            <a:extLst>
              <a:ext uri="{FF2B5EF4-FFF2-40B4-BE49-F238E27FC236}">
                <a16:creationId xmlns:a16="http://schemas.microsoft.com/office/drawing/2014/main" id="{3F25B2E2-49FB-4487-8C7A-044F914A2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44039" name="Text Box 1029">
            <a:extLst>
              <a:ext uri="{FF2B5EF4-FFF2-40B4-BE49-F238E27FC236}">
                <a16:creationId xmlns:a16="http://schemas.microsoft.com/office/drawing/2014/main" id="{6B272F0B-9F77-404C-A8DA-697C2FF67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44040" name="页脚占位符 14">
            <a:extLst>
              <a:ext uri="{FF2B5EF4-FFF2-40B4-BE49-F238E27FC236}">
                <a16:creationId xmlns:a16="http://schemas.microsoft.com/office/drawing/2014/main" id="{4F1B63FE-B36B-4E2C-A075-1C6F54544C49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44041" name="灯片编号占位符 13">
            <a:extLst>
              <a:ext uri="{FF2B5EF4-FFF2-40B4-BE49-F238E27FC236}">
                <a16:creationId xmlns:a16="http://schemas.microsoft.com/office/drawing/2014/main" id="{7FD5DBE7-6187-4D42-B3D2-8620E54651BA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0AD2D492-D831-49C2-9D73-173DC9FDB0F7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042" name="日期占位符 12">
            <a:extLst>
              <a:ext uri="{FF2B5EF4-FFF2-40B4-BE49-F238E27FC236}">
                <a16:creationId xmlns:a16="http://schemas.microsoft.com/office/drawing/2014/main" id="{C6EE7EDD-14A5-40DC-A54E-4BCCC00D0624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2744DB7-B9B7-492D-BBA4-FBCEE959EE39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44043" name="Object 15">
            <a:extLst>
              <a:ext uri="{FF2B5EF4-FFF2-40B4-BE49-F238E27FC236}">
                <a16:creationId xmlns:a16="http://schemas.microsoft.com/office/drawing/2014/main" id="{BCD78BCB-C2BB-4ECE-932A-9FC1ED6905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2019300"/>
          <a:ext cx="5222875" cy="298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6" name="Document" r:id="rId4" imgW="5631328" imgH="3221741" progId="Word.Document.8">
                  <p:embed/>
                </p:oleObj>
              </mc:Choice>
              <mc:Fallback>
                <p:oleObj name="Document" r:id="rId4" imgW="5631328" imgH="3221741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2019300"/>
                        <a:ext cx="5222875" cy="298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4" name="文本框 1">
            <a:extLst>
              <a:ext uri="{FF2B5EF4-FFF2-40B4-BE49-F238E27FC236}">
                <a16:creationId xmlns:a16="http://schemas.microsoft.com/office/drawing/2014/main" id="{3AAEDA09-0615-4E61-8773-618BA974F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019300"/>
            <a:ext cx="650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1"/>
              <a:t>STR</a:t>
            </a:r>
            <a:endParaRPr lang="zh-CN" altLang="en-US" sz="1400" b="1"/>
          </a:p>
        </p:txBody>
      </p:sp>
      <p:sp>
        <p:nvSpPr>
          <p:cNvPr id="44045" name="文本框 2">
            <a:extLst>
              <a:ext uri="{FF2B5EF4-FFF2-40B4-BE49-F238E27FC236}">
                <a16:creationId xmlns:a16="http://schemas.microsoft.com/office/drawing/2014/main" id="{D25B03F6-D1FE-40AB-9B92-AADD7D7F3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5573713"/>
            <a:ext cx="4540250" cy="4619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思考：</a:t>
            </a:r>
            <a:r>
              <a:rPr lang="en-US" altLang="zh-CN"/>
              <a:t>***SI</a:t>
            </a:r>
            <a:r>
              <a:rPr lang="zh-CN" altLang="en-US"/>
              <a:t>初值赋</a:t>
            </a:r>
            <a:r>
              <a:rPr lang="en-US" altLang="zh-CN"/>
              <a:t>0</a:t>
            </a:r>
            <a:r>
              <a:rPr lang="zh-CN" altLang="en-US"/>
              <a:t>的怎么做？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3">
            <a:extLst>
              <a:ext uri="{FF2B5EF4-FFF2-40B4-BE49-F238E27FC236}">
                <a16:creationId xmlns:a16="http://schemas.microsoft.com/office/drawing/2014/main" id="{06C7FD56-98EE-4A3B-B4B6-6B441078DC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550" name="Text Box 6">
            <a:extLst>
              <a:ext uri="{FF2B5EF4-FFF2-40B4-BE49-F238E27FC236}">
                <a16:creationId xmlns:a16="http://schemas.microsoft.com/office/drawing/2014/main" id="{6F1F3713-256A-46E9-BD41-3FD5281FD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1989138"/>
            <a:ext cx="453707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800" b="1">
                <a:solidFill>
                  <a:srgbClr val="3103DB"/>
                </a:solidFill>
                <a:latin typeface="楷体_GB2312" pitchFamily="49" charset="-122"/>
                <a:ea typeface="楷体_GB2312" pitchFamily="49" charset="-122"/>
              </a:rPr>
              <a:t>CALL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子程序调用指令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	段内直接调用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	段内间接调用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	段间直接调用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	段间间接调用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800" b="1">
                <a:solidFill>
                  <a:srgbClr val="3103DB"/>
                </a:solidFill>
                <a:latin typeface="楷体_GB2312" pitchFamily="49" charset="-122"/>
                <a:ea typeface="楷体_GB2312" pitchFamily="49" charset="-122"/>
              </a:rPr>
              <a:t>RET</a:t>
            </a: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从子程序返回指令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段内返回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	段内带立即数返回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	段间返回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	段间带立即数返回</a:t>
            </a:r>
            <a:endParaRPr lang="zh-CN" altLang="en-US" sz="3200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084" name="Line 7">
            <a:extLst>
              <a:ext uri="{FF2B5EF4-FFF2-40B4-BE49-F238E27FC236}">
                <a16:creationId xmlns:a16="http://schemas.microsoft.com/office/drawing/2014/main" id="{AFBB714F-898C-495D-9941-BEC10F3C97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085" name="AutoShape 8">
            <a:extLst>
              <a:ext uri="{FF2B5EF4-FFF2-40B4-BE49-F238E27FC236}">
                <a16:creationId xmlns:a16="http://schemas.microsoft.com/office/drawing/2014/main" id="{632DA5F4-5473-4302-9FB2-CF500F471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46086" name="Text Box 9">
            <a:extLst>
              <a:ext uri="{FF2B5EF4-FFF2-40B4-BE49-F238E27FC236}">
                <a16:creationId xmlns:a16="http://schemas.microsoft.com/office/drawing/2014/main" id="{20151D8E-0AF7-4EE9-9795-9DD6062B4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060575"/>
            <a:ext cx="1905000" cy="3416300"/>
          </a:xfrm>
          <a:prstGeom prst="rect">
            <a:avLst/>
          </a:prstGeom>
          <a:solidFill>
            <a:schemeClr val="hlink"/>
          </a:solidFill>
          <a:ln w="12700">
            <a:solidFill>
              <a:srgbClr val="FFCC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子程序</a:t>
            </a:r>
            <a:r>
              <a:rPr lang="en-US" altLang="zh-CN" sz="2400" b="1">
                <a:latin typeface="幼圆" panose="02010509060101010101" pitchFamily="49" charset="-122"/>
                <a:ea typeface="幼圆" panose="02010509060101010101" pitchFamily="49" charset="-122"/>
              </a:rPr>
              <a:t>——</a:t>
            </a:r>
            <a:r>
              <a:rPr lang="zh-CN" altLang="en-US" sz="2400" b="1">
                <a:latin typeface="幼圆" panose="02010509060101010101" pitchFamily="49" charset="-122"/>
                <a:ea typeface="幼圆" panose="02010509060101010101" pitchFamily="49" charset="-122"/>
              </a:rPr>
              <a:t>为了便于模块化程序设计，一般把程序中具有独立功能的程序段编写成独立的程序模块。</a:t>
            </a:r>
            <a:endParaRPr lang="zh-CN" altLang="en-US" sz="2000" b="1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6087" name="Rectangle 11">
            <a:extLst>
              <a:ext uri="{FF2B5EF4-FFF2-40B4-BE49-F238E27FC236}">
                <a16:creationId xmlns:a16="http://schemas.microsoft.com/office/drawing/2014/main" id="{36406EE3-A575-49FF-ABA8-28179A6316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16013" y="1052513"/>
            <a:ext cx="6696075" cy="606425"/>
          </a:xfrm>
        </p:spPr>
        <p:txBody>
          <a:bodyPr/>
          <a:lstStyle/>
          <a:p>
            <a:pPr eaLnBrk="1" hangingPunct="1"/>
            <a:r>
              <a:rPr lang="zh-CN" altLang="en-US" sz="4000" b="1">
                <a:solidFill>
                  <a:srgbClr val="FF3300"/>
                </a:solidFill>
              </a:rPr>
              <a:t>四、子程序调用和返回指令</a:t>
            </a:r>
          </a:p>
        </p:txBody>
      </p:sp>
      <p:sp>
        <p:nvSpPr>
          <p:cNvPr id="46088" name="Text Box 1029">
            <a:extLst>
              <a:ext uri="{FF2B5EF4-FFF2-40B4-BE49-F238E27FC236}">
                <a16:creationId xmlns:a16="http://schemas.microsoft.com/office/drawing/2014/main" id="{C80B44E4-4B1E-493A-9F72-158B2F94F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5.2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控制转移指令</a:t>
            </a:r>
          </a:p>
        </p:txBody>
      </p:sp>
      <p:sp>
        <p:nvSpPr>
          <p:cNvPr id="46089" name="页脚占位符 14">
            <a:extLst>
              <a:ext uri="{FF2B5EF4-FFF2-40B4-BE49-F238E27FC236}">
                <a16:creationId xmlns:a16="http://schemas.microsoft.com/office/drawing/2014/main" id="{111E0549-5763-4056-B2C4-99A3969CF9E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46090" name="灯片编号占位符 13">
            <a:extLst>
              <a:ext uri="{FF2B5EF4-FFF2-40B4-BE49-F238E27FC236}">
                <a16:creationId xmlns:a16="http://schemas.microsoft.com/office/drawing/2014/main" id="{D2BA3346-96EA-4A26-B458-04C7F7E3C8B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480A4F2-F4F2-4EA9-A772-212312DBEBB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91" name="日期占位符 12">
            <a:extLst>
              <a:ext uri="{FF2B5EF4-FFF2-40B4-BE49-F238E27FC236}">
                <a16:creationId xmlns:a16="http://schemas.microsoft.com/office/drawing/2014/main" id="{E43407E3-64BB-4043-A854-B1B38F89DB0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6D1C80F-39C9-42E4-A16C-CD4990E496C3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Line 1027">
            <a:extLst>
              <a:ext uri="{FF2B5EF4-FFF2-40B4-BE49-F238E27FC236}">
                <a16:creationId xmlns:a16="http://schemas.microsoft.com/office/drawing/2014/main" id="{62F22720-F8BD-44E3-9BAD-97D3C2AE8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47" name="Line 1031">
            <a:extLst>
              <a:ext uri="{FF2B5EF4-FFF2-40B4-BE49-F238E27FC236}">
                <a16:creationId xmlns:a16="http://schemas.microsoft.com/office/drawing/2014/main" id="{80239D47-10DE-49BE-96D8-9568AF79F9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7348" name="AutoShape 1032">
            <a:extLst>
              <a:ext uri="{FF2B5EF4-FFF2-40B4-BE49-F238E27FC236}">
                <a16:creationId xmlns:a16="http://schemas.microsoft.com/office/drawing/2014/main" id="{722A7B13-FAC9-4BCC-BED7-CD698F63E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7349" name="AutoShape 1033">
            <a:extLst>
              <a:ext uri="{FF2B5EF4-FFF2-40B4-BE49-F238E27FC236}">
                <a16:creationId xmlns:a16="http://schemas.microsoft.com/office/drawing/2014/main" id="{C11E705F-222B-4A11-A0DE-B29398C22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9F8D105-53D1-41AE-BAB5-394218B488AF}"/>
              </a:ext>
            </a:extLst>
          </p:cNvPr>
          <p:cNvSpPr txBox="1">
            <a:spLocks noChangeArrowheads="1"/>
          </p:cNvSpPr>
          <p:nvPr/>
        </p:nvSpPr>
        <p:spPr>
          <a:xfrm>
            <a:off x="827088" y="1773238"/>
            <a:ext cx="7632700" cy="18716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spcBef>
                <a:spcPct val="30000"/>
              </a:spcBef>
              <a:defRPr/>
            </a:pP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    分支程序结构</a:t>
            </a:r>
            <a:r>
              <a:rPr kumimoji="0" lang="en-US" altLang="zh-CN" sz="3600" b="1" dirty="0">
                <a:latin typeface="楷体" pitchFamily="49" charset="-122"/>
                <a:ea typeface="楷体" pitchFamily="49" charset="-122"/>
              </a:rPr>
              <a:t>——</a:t>
            </a: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根据某些条件进行逻辑判断，当满足时进行某种处理；当不满足时进行另一种处理。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15C4CAA7-58B0-4167-90DD-CC9CC6EBF495}"/>
              </a:ext>
            </a:extLst>
          </p:cNvPr>
          <p:cNvSpPr txBox="1">
            <a:spLocks noChangeArrowheads="1"/>
          </p:cNvSpPr>
          <p:nvPr/>
        </p:nvSpPr>
        <p:spPr>
          <a:xfrm>
            <a:off x="1403350" y="908050"/>
            <a:ext cx="5256213" cy="606425"/>
          </a:xfrm>
          <a:prstGeom prst="rect">
            <a:avLst/>
          </a:prstGeom>
        </p:spPr>
        <p:txBody>
          <a:bodyPr lIns="0" rIns="0" bIns="0" anchor="b">
            <a:normAutofit fontScale="97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4000" b="1" dirty="0">
                <a:solidFill>
                  <a:srgbClr val="FF3300"/>
                </a:solidFill>
                <a:latin typeface="+mj-lt"/>
                <a:ea typeface="+mj-ea"/>
                <a:cs typeface="+mj-cs"/>
              </a:rPr>
              <a:t>5.3  </a:t>
            </a:r>
            <a:r>
              <a:rPr kumimoji="0" lang="zh-CN" altLang="en-US" sz="4000" b="1" dirty="0">
                <a:solidFill>
                  <a:srgbClr val="FF3300"/>
                </a:solidFill>
                <a:latin typeface="+mj-lt"/>
                <a:ea typeface="+mj-ea"/>
                <a:cs typeface="+mj-cs"/>
              </a:rPr>
              <a:t>分支结构程序设计</a:t>
            </a:r>
          </a:p>
        </p:txBody>
      </p:sp>
      <p:sp>
        <p:nvSpPr>
          <p:cNvPr id="57352" name="矩形 12">
            <a:extLst>
              <a:ext uri="{FF2B5EF4-FFF2-40B4-BE49-F238E27FC236}">
                <a16:creationId xmlns:a16="http://schemas.microsoft.com/office/drawing/2014/main" id="{CFDBF1CF-451B-4063-9F4C-DA0341133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797425"/>
            <a:ext cx="54006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用条件转移指令实现，实现计算机的逻辑判断能力。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1AFF2D-95E6-45E5-A236-6033426F6C61}"/>
              </a:ext>
            </a:extLst>
          </p:cNvPr>
          <p:cNvSpPr/>
          <p:nvPr/>
        </p:nvSpPr>
        <p:spPr>
          <a:xfrm>
            <a:off x="684213" y="4005263"/>
            <a:ext cx="7991475" cy="584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特定</a:t>
            </a: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: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只执行二分支或多分支中的一个分支。</a:t>
            </a:r>
          </a:p>
        </p:txBody>
      </p:sp>
      <p:sp>
        <p:nvSpPr>
          <p:cNvPr id="57354" name="Text Box 1029">
            <a:extLst>
              <a:ext uri="{FF2B5EF4-FFF2-40B4-BE49-F238E27FC236}">
                <a16:creationId xmlns:a16="http://schemas.microsoft.com/office/drawing/2014/main" id="{91FB6DE5-3992-4F0A-93FF-EC1429D31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第</a:t>
            </a: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章 分支、循环程序设计</a:t>
            </a:r>
          </a:p>
        </p:txBody>
      </p:sp>
      <p:sp>
        <p:nvSpPr>
          <p:cNvPr id="2" name="日期占位符 10">
            <a:extLst>
              <a:ext uri="{FF2B5EF4-FFF2-40B4-BE49-F238E27FC236}">
                <a16:creationId xmlns:a16="http://schemas.microsoft.com/office/drawing/2014/main" id="{7ADED595-1504-492A-B66C-D681563DD06F}"/>
              </a:ext>
            </a:extLst>
          </p:cNvPr>
          <p:cNvSpPr txBox="1">
            <a:spLocks noGrp="1"/>
          </p:cNvSpPr>
          <p:nvPr/>
        </p:nvSpPr>
        <p:spPr>
          <a:xfrm>
            <a:off x="457200" y="6308725"/>
            <a:ext cx="1666875" cy="4127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1A15DB0-C7B6-4C60-AB99-58B8902D16A1}" type="datetime1">
              <a:rPr kumimoji="0" lang="zh-CN" altLang="en-US" b="1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b="1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57356" name="灯片编号占位符 11">
            <a:extLst>
              <a:ext uri="{FF2B5EF4-FFF2-40B4-BE49-F238E27FC236}">
                <a16:creationId xmlns:a16="http://schemas.microsoft.com/office/drawing/2014/main" id="{2C7824B1-BFCF-43C8-A7E6-8F4F2F92F5B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2DA35D92-DAF0-4F42-BB6E-83C28B08EA2F}" type="slidenum">
              <a:rPr kumimoji="0" lang="en-US" altLang="zh-CN" sz="2400" b="1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CN" sz="2400" b="1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7" name="页脚占位符 12">
            <a:extLst>
              <a:ext uri="{FF2B5EF4-FFF2-40B4-BE49-F238E27FC236}">
                <a16:creationId xmlns:a16="http://schemas.microsoft.com/office/drawing/2014/main" id="{68225474-5C3C-4013-B2AE-179A345B130A}"/>
              </a:ext>
            </a:extLst>
          </p:cNvPr>
          <p:cNvSpPr txBox="1">
            <a:spLocks noGrp="1"/>
          </p:cNvSpPr>
          <p:nvPr/>
        </p:nvSpPr>
        <p:spPr bwMode="auto">
          <a:xfrm>
            <a:off x="2484438" y="6308725"/>
            <a:ext cx="44640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045C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汇编语言程序设计  </a:t>
            </a:r>
            <a:endParaRPr kumimoji="0" lang="en-US" altLang="zh-CN" sz="2400" b="1">
              <a:solidFill>
                <a:srgbClr val="045C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Line 3">
            <a:extLst>
              <a:ext uri="{FF2B5EF4-FFF2-40B4-BE49-F238E27FC236}">
                <a16:creationId xmlns:a16="http://schemas.microsoft.com/office/drawing/2014/main" id="{D366301B-A928-4F94-9B3A-19964E1EC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5" name="Text Box 5">
            <a:extLst>
              <a:ext uri="{FF2B5EF4-FFF2-40B4-BE49-F238E27FC236}">
                <a16:creationId xmlns:a16="http://schemas.microsoft.com/office/drawing/2014/main" id="{63680184-C598-4977-9FD8-53C485C05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628775"/>
            <a:ext cx="568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一、分支结构的两种形式：</a:t>
            </a:r>
            <a:endParaRPr lang="zh-CN" altLang="en-US" sz="400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7EF5DBC2-996C-4FBF-BA3D-E98D884CF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524000"/>
            <a:ext cx="685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_GB2312" pitchFamily="49" charset="-122"/>
                <a:ea typeface="仿宋_GB2312" pitchFamily="49" charset="-122"/>
              </a:rPr>
              <a:t>	</a:t>
            </a:r>
            <a:endParaRPr lang="en-US" altLang="zh-CN" sz="32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9397" name="Line 7">
            <a:extLst>
              <a:ext uri="{FF2B5EF4-FFF2-40B4-BE49-F238E27FC236}">
                <a16:creationId xmlns:a16="http://schemas.microsoft.com/office/drawing/2014/main" id="{0819BD6B-5CB5-46FF-83F3-3B8184641A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398" name="AutoShape 9">
            <a:extLst>
              <a:ext uri="{FF2B5EF4-FFF2-40B4-BE49-F238E27FC236}">
                <a16:creationId xmlns:a16="http://schemas.microsoft.com/office/drawing/2014/main" id="{08B727F7-2E76-4DEA-9B52-4AC301289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9399" name="Text Box 14">
            <a:extLst>
              <a:ext uri="{FF2B5EF4-FFF2-40B4-BE49-F238E27FC236}">
                <a16:creationId xmlns:a16="http://schemas.microsoft.com/office/drawing/2014/main" id="{727D956E-0C68-4B9A-B41E-1865EC3A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997200"/>
            <a:ext cx="3313113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 二分支结构</a:t>
            </a:r>
            <a:endParaRPr lang="en-US" altLang="zh-CN" sz="3200" b="1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 多分支结构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9400" name="Text Box 1029">
            <a:extLst>
              <a:ext uri="{FF2B5EF4-FFF2-40B4-BE49-F238E27FC236}">
                <a16:creationId xmlns:a16="http://schemas.microsoft.com/office/drawing/2014/main" id="{D5E56E43-6DFD-4757-A293-51E1F0BC5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59401" name="页脚占位符 14">
            <a:extLst>
              <a:ext uri="{FF2B5EF4-FFF2-40B4-BE49-F238E27FC236}">
                <a16:creationId xmlns:a16="http://schemas.microsoft.com/office/drawing/2014/main" id="{E8922FB3-55E4-4A91-AAAD-6F5830A49DFB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59402" name="灯片编号占位符 13">
            <a:extLst>
              <a:ext uri="{FF2B5EF4-FFF2-40B4-BE49-F238E27FC236}">
                <a16:creationId xmlns:a16="http://schemas.microsoft.com/office/drawing/2014/main" id="{659A9D84-CC7C-49BF-AE7C-69D163CFD3C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C5AA24B-EA44-4E20-BC4E-48F5DCD7955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9403" name="日期占位符 12">
            <a:extLst>
              <a:ext uri="{FF2B5EF4-FFF2-40B4-BE49-F238E27FC236}">
                <a16:creationId xmlns:a16="http://schemas.microsoft.com/office/drawing/2014/main" id="{25EF5A6E-3120-4205-8EFB-2AD793BD23C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9BFC1F-8C39-4051-8252-79BA2E25875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Line 3">
            <a:extLst>
              <a:ext uri="{FF2B5EF4-FFF2-40B4-BE49-F238E27FC236}">
                <a16:creationId xmlns:a16="http://schemas.microsoft.com/office/drawing/2014/main" id="{A2072C1C-5FDC-40C6-9CB6-59E8F6D073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3" name="Text Box 5">
            <a:extLst>
              <a:ext uri="{FF2B5EF4-FFF2-40B4-BE49-F238E27FC236}">
                <a16:creationId xmlns:a16="http://schemas.microsoft.com/office/drawing/2014/main" id="{8049FD4E-CA36-4EEF-AEBF-37B73D8B0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836613"/>
            <a:ext cx="38163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1.</a:t>
            </a:r>
            <a:r>
              <a:rPr lang="zh-CN" altLang="en-US" sz="40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二分支结构</a:t>
            </a:r>
            <a:endParaRPr lang="zh-CN" altLang="en-US" sz="44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DF9E377C-C66D-4F50-A626-05A68110B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133600"/>
            <a:ext cx="685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_GB2312" pitchFamily="49" charset="-122"/>
                <a:ea typeface="仿宋_GB2312" pitchFamily="49" charset="-122"/>
              </a:rPr>
              <a:t>	</a:t>
            </a:r>
            <a:endParaRPr lang="en-US" altLang="zh-CN" sz="32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445" name="Line 7">
            <a:extLst>
              <a:ext uri="{FF2B5EF4-FFF2-40B4-BE49-F238E27FC236}">
                <a16:creationId xmlns:a16="http://schemas.microsoft.com/office/drawing/2014/main" id="{0DC03611-3CB0-433F-8814-272FD92F95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446" name="AutoShape 9">
            <a:extLst>
              <a:ext uri="{FF2B5EF4-FFF2-40B4-BE49-F238E27FC236}">
                <a16:creationId xmlns:a16="http://schemas.microsoft.com/office/drawing/2014/main" id="{7B72300B-7224-45F4-998C-D809658AF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61447" name="Group 10">
            <a:extLst>
              <a:ext uri="{FF2B5EF4-FFF2-40B4-BE49-F238E27FC236}">
                <a16:creationId xmlns:a16="http://schemas.microsoft.com/office/drawing/2014/main" id="{91DBDB33-0582-41B8-9C66-B0D412D8290A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628775"/>
            <a:ext cx="3810000" cy="3048000"/>
            <a:chOff x="1628" y="4092"/>
            <a:chExt cx="3675" cy="2652"/>
          </a:xfrm>
        </p:grpSpPr>
        <p:sp>
          <p:nvSpPr>
            <p:cNvPr id="61462" name="AutoShape 11">
              <a:extLst>
                <a:ext uri="{FF2B5EF4-FFF2-40B4-BE49-F238E27FC236}">
                  <a16:creationId xmlns:a16="http://schemas.microsoft.com/office/drawing/2014/main" id="{BD49A7D0-F1A8-4154-B044-DBEB92B38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0" y="4531"/>
              <a:ext cx="1649" cy="66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条件</a:t>
              </a:r>
            </a:p>
          </p:txBody>
        </p:sp>
        <p:sp>
          <p:nvSpPr>
            <p:cNvPr id="61463" name="Rectangle 12">
              <a:extLst>
                <a:ext uri="{FF2B5EF4-FFF2-40B4-BE49-F238E27FC236}">
                  <a16:creationId xmlns:a16="http://schemas.microsoft.com/office/drawing/2014/main" id="{158A78C0-8879-45BC-937A-A9D09D2F8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" y="5652"/>
              <a:ext cx="1575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" panose="02010609060101010101" pitchFamily="49" charset="-122"/>
                  <a:ea typeface="楷体" panose="02010609060101010101" pitchFamily="49" charset="-122"/>
                </a:rPr>
                <a:t>分支程序段</a:t>
              </a:r>
              <a:r>
                <a:rPr lang="en-US" altLang="zh-CN" sz="2000" b="1"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</a:p>
          </p:txBody>
        </p:sp>
        <p:sp>
          <p:nvSpPr>
            <p:cNvPr id="61464" name="Rectangle 13">
              <a:extLst>
                <a:ext uri="{FF2B5EF4-FFF2-40B4-BE49-F238E27FC236}">
                  <a16:creationId xmlns:a16="http://schemas.microsoft.com/office/drawing/2014/main" id="{7B79EDA7-C25C-4E1F-956F-C3D6426AE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8" y="5652"/>
              <a:ext cx="1575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" panose="02010609060101010101" pitchFamily="49" charset="-122"/>
                  <a:ea typeface="楷体" panose="02010609060101010101" pitchFamily="49" charset="-122"/>
                </a:rPr>
                <a:t>分支程序段</a:t>
              </a:r>
              <a:r>
                <a:rPr lang="en-US" altLang="zh-CN" sz="2000" b="1">
                  <a:latin typeface="楷体" panose="02010609060101010101" pitchFamily="49" charset="-122"/>
                  <a:ea typeface="楷体" panose="02010609060101010101" pitchFamily="49" charset="-122"/>
                </a:rPr>
                <a:t>2</a:t>
              </a:r>
            </a:p>
          </p:txBody>
        </p:sp>
        <p:sp>
          <p:nvSpPr>
            <p:cNvPr id="61465" name="Line 14">
              <a:extLst>
                <a:ext uri="{FF2B5EF4-FFF2-40B4-BE49-F238E27FC236}">
                  <a16:creationId xmlns:a16="http://schemas.microsoft.com/office/drawing/2014/main" id="{54F768C4-11FA-4355-803D-DF33B81CB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8" y="4092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6" name="Line 15">
              <a:extLst>
                <a:ext uri="{FF2B5EF4-FFF2-40B4-BE49-F238E27FC236}">
                  <a16:creationId xmlns:a16="http://schemas.microsoft.com/office/drawing/2014/main" id="{A17E64D0-5396-4DFE-A04F-B342154CC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" y="4844"/>
              <a:ext cx="3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7" name="Line 16">
              <a:extLst>
                <a:ext uri="{FF2B5EF4-FFF2-40B4-BE49-F238E27FC236}">
                  <a16:creationId xmlns:a16="http://schemas.microsoft.com/office/drawing/2014/main" id="{04BEAE42-AA2A-4058-BE10-1433889B7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487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8" name="Line 17">
              <a:extLst>
                <a:ext uri="{FF2B5EF4-FFF2-40B4-BE49-F238E27FC236}">
                  <a16:creationId xmlns:a16="http://schemas.microsoft.com/office/drawing/2014/main" id="{D34D70EA-B55A-42C9-A9EA-0429EAA2D4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3" y="4872"/>
              <a:ext cx="3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9" name="Line 18">
              <a:extLst>
                <a:ext uri="{FF2B5EF4-FFF2-40B4-BE49-F238E27FC236}">
                  <a16:creationId xmlns:a16="http://schemas.microsoft.com/office/drawing/2014/main" id="{C8364D24-B87C-4E04-8CBB-46FD435AA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487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0" name="Line 19">
              <a:extLst>
                <a:ext uri="{FF2B5EF4-FFF2-40B4-BE49-F238E27FC236}">
                  <a16:creationId xmlns:a16="http://schemas.microsoft.com/office/drawing/2014/main" id="{D0FB709F-7C8A-4BA6-A836-BF82A49D5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6120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1" name="Line 20">
              <a:extLst>
                <a:ext uri="{FF2B5EF4-FFF2-40B4-BE49-F238E27FC236}">
                  <a16:creationId xmlns:a16="http://schemas.microsoft.com/office/drawing/2014/main" id="{A99B5CA0-8AB0-4CAE-B28B-F4823EA73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6120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2" name="Line 21">
              <a:extLst>
                <a:ext uri="{FF2B5EF4-FFF2-40B4-BE49-F238E27FC236}">
                  <a16:creationId xmlns:a16="http://schemas.microsoft.com/office/drawing/2014/main" id="{B92B0F9F-8C22-49B8-8819-7E0DF225A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" y="6432"/>
              <a:ext cx="22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3" name="Line 22">
              <a:extLst>
                <a:ext uri="{FF2B5EF4-FFF2-40B4-BE49-F238E27FC236}">
                  <a16:creationId xmlns:a16="http://schemas.microsoft.com/office/drawing/2014/main" id="{D653C594-502F-4104-A866-E558F6DA5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8" y="6432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448" name="Group 23">
            <a:extLst>
              <a:ext uri="{FF2B5EF4-FFF2-40B4-BE49-F238E27FC236}">
                <a16:creationId xmlns:a16="http://schemas.microsoft.com/office/drawing/2014/main" id="{6E761DA6-3F70-4328-865B-68125C2C4EA5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1844675"/>
            <a:ext cx="2971800" cy="2971800"/>
            <a:chOff x="6563" y="4092"/>
            <a:chExt cx="2730" cy="2652"/>
          </a:xfrm>
        </p:grpSpPr>
        <p:sp>
          <p:nvSpPr>
            <p:cNvPr id="61454" name="AutoShape 24">
              <a:extLst>
                <a:ext uri="{FF2B5EF4-FFF2-40B4-BE49-F238E27FC236}">
                  <a16:creationId xmlns:a16="http://schemas.microsoft.com/office/drawing/2014/main" id="{5ABB23F4-79B1-47E3-B255-3A8349951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" y="4560"/>
              <a:ext cx="1680" cy="624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条件</a:t>
              </a:r>
            </a:p>
          </p:txBody>
        </p:sp>
        <p:sp>
          <p:nvSpPr>
            <p:cNvPr id="61455" name="Rectangle 25">
              <a:extLst>
                <a:ext uri="{FF2B5EF4-FFF2-40B4-BE49-F238E27FC236}">
                  <a16:creationId xmlns:a16="http://schemas.microsoft.com/office/drawing/2014/main" id="{1768B6FE-BAFA-45DB-AF6A-CC81234FD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8" y="5652"/>
              <a:ext cx="1575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" panose="02010609060101010101" pitchFamily="49" charset="-122"/>
                  <a:ea typeface="楷体" panose="02010609060101010101" pitchFamily="49" charset="-122"/>
                </a:rPr>
                <a:t>分支程序段</a:t>
              </a:r>
              <a:r>
                <a:rPr lang="en-US" altLang="zh-CN" sz="2000" b="1">
                  <a:latin typeface="楷体" panose="02010609060101010101" pitchFamily="49" charset="-122"/>
                  <a:ea typeface="楷体" panose="02010609060101010101" pitchFamily="49" charset="-122"/>
                </a:rPr>
                <a:t>2</a:t>
              </a:r>
            </a:p>
          </p:txBody>
        </p:sp>
        <p:sp>
          <p:nvSpPr>
            <p:cNvPr id="61456" name="Line 26">
              <a:extLst>
                <a:ext uri="{FF2B5EF4-FFF2-40B4-BE49-F238E27FC236}">
                  <a16:creationId xmlns:a16="http://schemas.microsoft.com/office/drawing/2014/main" id="{92F4AA15-5C6F-45C3-A3EC-96CEE920D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3" y="4092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7" name="Line 27">
              <a:extLst>
                <a:ext uri="{FF2B5EF4-FFF2-40B4-BE49-F238E27FC236}">
                  <a16:creationId xmlns:a16="http://schemas.microsoft.com/office/drawing/2014/main" id="{BF60C3AA-F71E-4235-AFEC-7DA68B42A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3" y="4872"/>
              <a:ext cx="3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8" name="Line 28">
              <a:extLst>
                <a:ext uri="{FF2B5EF4-FFF2-40B4-BE49-F238E27FC236}">
                  <a16:creationId xmlns:a16="http://schemas.microsoft.com/office/drawing/2014/main" id="{5BCD5E6D-FAE1-47E2-8551-10326EB5E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8" y="487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9" name="Line 29">
              <a:extLst>
                <a:ext uri="{FF2B5EF4-FFF2-40B4-BE49-F238E27FC236}">
                  <a16:creationId xmlns:a16="http://schemas.microsoft.com/office/drawing/2014/main" id="{5F0D9DAD-A591-483B-821D-EC7326893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3" y="5184"/>
              <a:ext cx="0" cy="1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Line 30">
              <a:extLst>
                <a:ext uri="{FF2B5EF4-FFF2-40B4-BE49-F238E27FC236}">
                  <a16:creationId xmlns:a16="http://schemas.microsoft.com/office/drawing/2014/main" id="{F09E2AA9-DF83-4692-8CF3-F78D9518E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8" y="6120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1" name="Line 31">
              <a:extLst>
                <a:ext uri="{FF2B5EF4-FFF2-40B4-BE49-F238E27FC236}">
                  <a16:creationId xmlns:a16="http://schemas.microsoft.com/office/drawing/2014/main" id="{F7BB6D87-A568-47E1-BC2C-8A9E11F05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03" y="6432"/>
              <a:ext cx="115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449" name="Text Box 32">
            <a:extLst>
              <a:ext uri="{FF2B5EF4-FFF2-40B4-BE49-F238E27FC236}">
                <a16:creationId xmlns:a16="http://schemas.microsoft.com/office/drawing/2014/main" id="{E463E740-69C9-4F98-81CA-A4D0C3404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6800"/>
            <a:ext cx="8458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双分支程序相当于高级语言中的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IF-THEN-ELSE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语言。右图只对其中之一分支进行处理，也称为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单分支结构</a:t>
            </a:r>
            <a:r>
              <a:rPr lang="zh-CN" altLang="en-US" sz="2800" b="1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1450" name="Text Box 1029">
            <a:extLst>
              <a:ext uri="{FF2B5EF4-FFF2-40B4-BE49-F238E27FC236}">
                <a16:creationId xmlns:a16="http://schemas.microsoft.com/office/drawing/2014/main" id="{9B25F7E9-810E-4989-9C6C-BFF384D72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61451" name="页脚占位符 14">
            <a:extLst>
              <a:ext uri="{FF2B5EF4-FFF2-40B4-BE49-F238E27FC236}">
                <a16:creationId xmlns:a16="http://schemas.microsoft.com/office/drawing/2014/main" id="{69AFEE47-4093-4D4C-890B-BA85E9D1505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61452" name="灯片编号占位符 13">
            <a:extLst>
              <a:ext uri="{FF2B5EF4-FFF2-40B4-BE49-F238E27FC236}">
                <a16:creationId xmlns:a16="http://schemas.microsoft.com/office/drawing/2014/main" id="{90942FCF-39FF-4B61-AAE7-3A1BE74D5739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0A56952-8F1E-4814-927A-C7688CB52DEE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53" name="日期占位符 12">
            <a:extLst>
              <a:ext uri="{FF2B5EF4-FFF2-40B4-BE49-F238E27FC236}">
                <a16:creationId xmlns:a16="http://schemas.microsoft.com/office/drawing/2014/main" id="{0599CEB7-91E7-4815-9379-98D5905A682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65B9E5-7962-4CE5-AEEA-302C275FA28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3">
            <a:extLst>
              <a:ext uri="{FF2B5EF4-FFF2-40B4-BE49-F238E27FC236}">
                <a16:creationId xmlns:a16="http://schemas.microsoft.com/office/drawing/2014/main" id="{0D6A10F5-F086-4F66-B238-05DB5A7CA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02" name="Text Box 6">
            <a:extLst>
              <a:ext uri="{FF2B5EF4-FFF2-40B4-BE49-F238E27FC236}">
                <a16:creationId xmlns:a16="http://schemas.microsoft.com/office/drawing/2014/main" id="{2114073A-5AB4-4A5C-86E9-BE18E0454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981075"/>
            <a:ext cx="342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2.</a:t>
            </a:r>
            <a:r>
              <a:rPr lang="zh-CN" altLang="en-US" sz="40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多分支结构</a:t>
            </a:r>
          </a:p>
        </p:txBody>
      </p:sp>
      <p:sp>
        <p:nvSpPr>
          <p:cNvPr id="63492" name="Line 7">
            <a:extLst>
              <a:ext uri="{FF2B5EF4-FFF2-40B4-BE49-F238E27FC236}">
                <a16:creationId xmlns:a16="http://schemas.microsoft.com/office/drawing/2014/main" id="{545A6E2D-94FC-4312-A144-93482A83D2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493" name="AutoShape 8">
            <a:extLst>
              <a:ext uri="{FF2B5EF4-FFF2-40B4-BE49-F238E27FC236}">
                <a16:creationId xmlns:a16="http://schemas.microsoft.com/office/drawing/2014/main" id="{AC442513-FB61-463B-B963-4952EC9AC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3494" name="Text Box 31">
            <a:extLst>
              <a:ext uri="{FF2B5EF4-FFF2-40B4-BE49-F238E27FC236}">
                <a16:creationId xmlns:a16="http://schemas.microsoft.com/office/drawing/2014/main" id="{BB03768A-0D82-4B90-AB49-F02277E80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181600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多分支程序相当于高级语言中的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CASE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语句。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63495" name="Group 42">
            <a:extLst>
              <a:ext uri="{FF2B5EF4-FFF2-40B4-BE49-F238E27FC236}">
                <a16:creationId xmlns:a16="http://schemas.microsoft.com/office/drawing/2014/main" id="{7899B81C-993B-4ED4-A19C-35CC3B4196D5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905000"/>
            <a:ext cx="6096000" cy="2560638"/>
            <a:chOff x="768" y="1200"/>
            <a:chExt cx="3840" cy="1613"/>
          </a:xfrm>
        </p:grpSpPr>
        <p:sp>
          <p:nvSpPr>
            <p:cNvPr id="63500" name="AutoShape 10">
              <a:extLst>
                <a:ext uri="{FF2B5EF4-FFF2-40B4-BE49-F238E27FC236}">
                  <a16:creationId xmlns:a16="http://schemas.microsoft.com/office/drawing/2014/main" id="{4BDCB753-E1AD-4C0F-A5F0-A2D7649E0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525"/>
              <a:ext cx="1109" cy="463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条件</a:t>
              </a:r>
            </a:p>
          </p:txBody>
        </p:sp>
        <p:sp>
          <p:nvSpPr>
            <p:cNvPr id="63501" name="Line 13">
              <a:extLst>
                <a:ext uri="{FF2B5EF4-FFF2-40B4-BE49-F238E27FC236}">
                  <a16:creationId xmlns:a16="http://schemas.microsoft.com/office/drawing/2014/main" id="{7C59E0A7-8467-4961-A3A0-83F995404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00"/>
              <a:ext cx="0" cy="3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2" name="Line 15">
              <a:extLst>
                <a:ext uri="{FF2B5EF4-FFF2-40B4-BE49-F238E27FC236}">
                  <a16:creationId xmlns:a16="http://schemas.microsoft.com/office/drawing/2014/main" id="{84B6D882-5F33-4340-98D4-0661FDDFF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016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3" name="Line 20">
              <a:extLst>
                <a:ext uri="{FF2B5EF4-FFF2-40B4-BE49-F238E27FC236}">
                  <a16:creationId xmlns:a16="http://schemas.microsoft.com/office/drawing/2014/main" id="{817F07F1-04FB-4615-B8AE-21C272F26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208"/>
              <a:ext cx="30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4" name="Line 21">
              <a:extLst>
                <a:ext uri="{FF2B5EF4-FFF2-40B4-BE49-F238E27FC236}">
                  <a16:creationId xmlns:a16="http://schemas.microsoft.com/office/drawing/2014/main" id="{9A840C96-5C0D-4D75-BAD3-39566D181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208"/>
              <a:ext cx="0" cy="2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5" name="Rectangle 33">
              <a:extLst>
                <a:ext uri="{FF2B5EF4-FFF2-40B4-BE49-F238E27FC236}">
                  <a16:creationId xmlns:a16="http://schemas.microsoft.com/office/drawing/2014/main" id="{B30FBE0F-77A1-4E4E-BD8C-6A3AC56AA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448"/>
              <a:ext cx="816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3506" name="Rectangle 34">
              <a:extLst>
                <a:ext uri="{FF2B5EF4-FFF2-40B4-BE49-F238E27FC236}">
                  <a16:creationId xmlns:a16="http://schemas.microsoft.com/office/drawing/2014/main" id="{C8C8C660-269A-49C3-985E-10965D295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448"/>
              <a:ext cx="816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63507" name="Rectangle 35">
              <a:extLst>
                <a:ext uri="{FF2B5EF4-FFF2-40B4-BE49-F238E27FC236}">
                  <a16:creationId xmlns:a16="http://schemas.microsoft.com/office/drawing/2014/main" id="{8D3E7E1C-E577-4482-9497-FCD2977C3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448"/>
              <a:ext cx="816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n</a:t>
              </a:r>
            </a:p>
          </p:txBody>
        </p:sp>
        <p:sp>
          <p:nvSpPr>
            <p:cNvPr id="63508" name="Line 36">
              <a:extLst>
                <a:ext uri="{FF2B5EF4-FFF2-40B4-BE49-F238E27FC236}">
                  <a16:creationId xmlns:a16="http://schemas.microsoft.com/office/drawing/2014/main" id="{954381E3-42CC-49C0-91E7-82C0E273F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208"/>
              <a:ext cx="0" cy="2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9" name="Line 37">
              <a:extLst>
                <a:ext uri="{FF2B5EF4-FFF2-40B4-BE49-F238E27FC236}">
                  <a16:creationId xmlns:a16="http://schemas.microsoft.com/office/drawing/2014/main" id="{FF15F151-2C1F-4C48-8F3B-77ED0D62D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208"/>
              <a:ext cx="0" cy="2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0" name="Text Box 38">
              <a:extLst>
                <a:ext uri="{FF2B5EF4-FFF2-40B4-BE49-F238E27FC236}">
                  <a16:creationId xmlns:a16="http://schemas.microsoft.com/office/drawing/2014/main" id="{B3F6146B-7F85-4C6A-AC92-A82AEB9A4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448"/>
              <a:ext cx="62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>
                  <a:latin typeface="Times New Roman" panose="02020603050405020304" pitchFamily="18" charset="0"/>
                </a:rPr>
                <a:t>…...</a:t>
              </a:r>
            </a:p>
          </p:txBody>
        </p:sp>
        <p:sp>
          <p:nvSpPr>
            <p:cNvPr id="63511" name="Text Box 39">
              <a:extLst>
                <a:ext uri="{FF2B5EF4-FFF2-40B4-BE49-F238E27FC236}">
                  <a16:creationId xmlns:a16="http://schemas.microsoft.com/office/drawing/2014/main" id="{7E427F2B-8890-4375-BF62-DFE3B2B7DB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920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仿宋" panose="02010609060101010101" pitchFamily="49" charset="-122"/>
                  <a:ea typeface="仿宋" panose="02010609060101010101" pitchFamily="49" charset="-122"/>
                </a:rPr>
                <a:t>条件</a:t>
              </a:r>
              <a:r>
                <a:rPr lang="en-US" altLang="zh-CN" sz="2000" b="1">
                  <a:latin typeface="仿宋" panose="02010609060101010101" pitchFamily="49" charset="-122"/>
                  <a:ea typeface="仿宋" panose="02010609060101010101" pitchFamily="49" charset="-122"/>
                </a:rPr>
                <a:t>1</a:t>
              </a:r>
              <a:endParaRPr lang="en-US" altLang="zh-CN" sz="240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63512" name="Text Box 40">
              <a:extLst>
                <a:ext uri="{FF2B5EF4-FFF2-40B4-BE49-F238E27FC236}">
                  <a16:creationId xmlns:a16="http://schemas.microsoft.com/office/drawing/2014/main" id="{2D3F8860-519B-4BF3-8B70-ED8C79175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920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仿宋" panose="02010609060101010101" pitchFamily="49" charset="-122"/>
                  <a:ea typeface="仿宋" panose="02010609060101010101" pitchFamily="49" charset="-122"/>
                </a:rPr>
                <a:t>条件</a:t>
              </a:r>
              <a:r>
                <a:rPr lang="en-US" altLang="zh-CN" sz="2000" b="1">
                  <a:latin typeface="仿宋" panose="02010609060101010101" pitchFamily="49" charset="-122"/>
                  <a:ea typeface="仿宋" panose="02010609060101010101" pitchFamily="49" charset="-122"/>
                </a:rPr>
                <a:t>2</a:t>
              </a:r>
              <a:endParaRPr lang="en-US" altLang="zh-CN" sz="240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63513" name="Text Box 41">
              <a:extLst>
                <a:ext uri="{FF2B5EF4-FFF2-40B4-BE49-F238E27FC236}">
                  <a16:creationId xmlns:a16="http://schemas.microsoft.com/office/drawing/2014/main" id="{6A084895-E3A1-4135-9B27-8F07089DB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920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仿宋" panose="02010609060101010101" pitchFamily="49" charset="-122"/>
                  <a:ea typeface="仿宋" panose="02010609060101010101" pitchFamily="49" charset="-122"/>
                </a:rPr>
                <a:t>条件</a:t>
              </a:r>
              <a:r>
                <a:rPr lang="en-US" altLang="zh-CN" sz="2000" b="1">
                  <a:latin typeface="仿宋" panose="02010609060101010101" pitchFamily="49" charset="-122"/>
                  <a:ea typeface="仿宋" panose="02010609060101010101" pitchFamily="49" charset="-122"/>
                </a:rPr>
                <a:t>n</a:t>
              </a:r>
              <a:endParaRPr lang="en-US" altLang="zh-CN" sz="240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  <p:sp>
        <p:nvSpPr>
          <p:cNvPr id="63496" name="Text Box 1029">
            <a:extLst>
              <a:ext uri="{FF2B5EF4-FFF2-40B4-BE49-F238E27FC236}">
                <a16:creationId xmlns:a16="http://schemas.microsoft.com/office/drawing/2014/main" id="{7234BA5E-1E05-4B78-B4ED-F52B0591C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63497" name="页脚占位符 14">
            <a:extLst>
              <a:ext uri="{FF2B5EF4-FFF2-40B4-BE49-F238E27FC236}">
                <a16:creationId xmlns:a16="http://schemas.microsoft.com/office/drawing/2014/main" id="{4A8FC897-08EF-41BA-A26E-1D294919305A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63498" name="灯片编号占位符 13">
            <a:extLst>
              <a:ext uri="{FF2B5EF4-FFF2-40B4-BE49-F238E27FC236}">
                <a16:creationId xmlns:a16="http://schemas.microsoft.com/office/drawing/2014/main" id="{D202F115-26BE-4BF5-B862-3C9B462A604E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01D84A6-596F-4ECB-9726-D4A1729E424F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499" name="日期占位符 12">
            <a:extLst>
              <a:ext uri="{FF2B5EF4-FFF2-40B4-BE49-F238E27FC236}">
                <a16:creationId xmlns:a16="http://schemas.microsoft.com/office/drawing/2014/main" id="{B4465DB9-8AE6-4727-BE97-CA3018D6949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15EEE6B-05E8-48EF-A794-4AF500C6DAB2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3">
            <a:extLst>
              <a:ext uri="{FF2B5EF4-FFF2-40B4-BE49-F238E27FC236}">
                <a16:creationId xmlns:a16="http://schemas.microsoft.com/office/drawing/2014/main" id="{6B930D33-D29E-4F92-8547-CE6E294BA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Text Box 6">
            <a:extLst>
              <a:ext uri="{FF2B5EF4-FFF2-40B4-BE49-F238E27FC236}">
                <a16:creationId xmlns:a16="http://schemas.microsoft.com/office/drawing/2014/main" id="{061A2459-7901-4791-87DA-FBC04FA3B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828800"/>
            <a:ext cx="66294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注意：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在分支程序的两种结构中，无论条件是否满足，</a:t>
            </a:r>
            <a:r>
              <a:rPr lang="zh-CN" altLang="en-US" sz="32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只能走一个分支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，不可能同时走两个分支。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且程序只有</a:t>
            </a:r>
            <a:r>
              <a:rPr lang="zh-CN" altLang="en-US" sz="32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一个入口一个出口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</p:txBody>
      </p:sp>
      <p:sp>
        <p:nvSpPr>
          <p:cNvPr id="65540" name="Line 7">
            <a:extLst>
              <a:ext uri="{FF2B5EF4-FFF2-40B4-BE49-F238E27FC236}">
                <a16:creationId xmlns:a16="http://schemas.microsoft.com/office/drawing/2014/main" id="{E45DE660-A2B8-46EF-A648-515BA6003C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41" name="AutoShape 8">
            <a:extLst>
              <a:ext uri="{FF2B5EF4-FFF2-40B4-BE49-F238E27FC236}">
                <a16:creationId xmlns:a16="http://schemas.microsoft.com/office/drawing/2014/main" id="{82BCC80A-06E4-4D34-94DE-85078CEDF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5542" name="Text Box 1029">
            <a:extLst>
              <a:ext uri="{FF2B5EF4-FFF2-40B4-BE49-F238E27FC236}">
                <a16:creationId xmlns:a16="http://schemas.microsoft.com/office/drawing/2014/main" id="{98451E56-747F-4E0E-A18D-6802B478D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65543" name="页脚占位符 14">
            <a:extLst>
              <a:ext uri="{FF2B5EF4-FFF2-40B4-BE49-F238E27FC236}">
                <a16:creationId xmlns:a16="http://schemas.microsoft.com/office/drawing/2014/main" id="{99A85255-C4CB-402B-BBD5-3F231B09309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65544" name="灯片编号占位符 13">
            <a:extLst>
              <a:ext uri="{FF2B5EF4-FFF2-40B4-BE49-F238E27FC236}">
                <a16:creationId xmlns:a16="http://schemas.microsoft.com/office/drawing/2014/main" id="{E74B0DA5-ED5F-47E3-8AA9-522A9B0BF242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4734D94B-2E68-499F-84C7-02A0DA2D192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5" name="日期占位符 12">
            <a:extLst>
              <a:ext uri="{FF2B5EF4-FFF2-40B4-BE49-F238E27FC236}">
                <a16:creationId xmlns:a16="http://schemas.microsoft.com/office/drawing/2014/main" id="{7601A242-2D7A-425C-B8C3-F19393B1D12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A45F787-1FE7-4A1F-AA9C-24A973DB8B13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Line 3">
            <a:extLst>
              <a:ext uri="{FF2B5EF4-FFF2-40B4-BE49-F238E27FC236}">
                <a16:creationId xmlns:a16="http://schemas.microsoft.com/office/drawing/2014/main" id="{1613A82A-13B6-41F7-8B07-72C13D164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87" name="Text Box 5">
            <a:extLst>
              <a:ext uri="{FF2B5EF4-FFF2-40B4-BE49-F238E27FC236}">
                <a16:creationId xmlns:a16="http://schemas.microsoft.com/office/drawing/2014/main" id="{91F1E93F-2BE9-4159-AF29-1EE7CE8F7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3400"/>
            <a:ext cx="5867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400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3494" name="Text Box 6">
            <a:extLst>
              <a:ext uri="{FF2B5EF4-FFF2-40B4-BE49-F238E27FC236}">
                <a16:creationId xmlns:a16="http://schemas.microsoft.com/office/drawing/2014/main" id="{6434E1BF-3B86-4F45-A4D6-A49994FE5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484313"/>
            <a:ext cx="69342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1.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二分支程序的一般结构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一般要有产生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条件、测试、定向、标号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四个部分组成。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也就是先通常用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CMP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TEST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SUB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AND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和移位指令等，影响标志位，再使用分支转移指令。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如：		</a:t>
            </a:r>
            <a:r>
              <a:rPr lang="en-US" altLang="zh-CN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CMP	AX</a:t>
            </a:r>
            <a:r>
              <a:rPr lang="zh-CN" altLang="en-US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		</a:t>
            </a:r>
            <a:r>
              <a:rPr lang="zh-CN" altLang="en-US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条件</a:t>
            </a:r>
            <a:endParaRPr lang="zh-CN" altLang="en-US" sz="2800" b="1">
              <a:solidFill>
                <a:schemeClr val="accent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JC</a:t>
            </a:r>
            <a:r>
              <a:rPr lang="en-US" altLang="zh-CN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NEXT</a:t>
            </a:r>
            <a:r>
              <a:rPr lang="en-US" altLang="zh-CN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zh-CN" altLang="en-US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测试、定向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	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NEXT:</a:t>
            </a:r>
            <a:r>
              <a:rPr lang="en-US" altLang="zh-CN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NEG	AX		</a:t>
            </a:r>
            <a:r>
              <a:rPr lang="zh-CN" altLang="en-US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标号</a:t>
            </a:r>
            <a:r>
              <a:rPr lang="zh-CN" altLang="en-US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</a:p>
        </p:txBody>
      </p:sp>
      <p:sp>
        <p:nvSpPr>
          <p:cNvPr id="67589" name="Line 7">
            <a:extLst>
              <a:ext uri="{FF2B5EF4-FFF2-40B4-BE49-F238E27FC236}">
                <a16:creationId xmlns:a16="http://schemas.microsoft.com/office/drawing/2014/main" id="{67C472D0-E5A6-486C-8785-C8E3808F35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90" name="AutoShape 8">
            <a:extLst>
              <a:ext uri="{FF2B5EF4-FFF2-40B4-BE49-F238E27FC236}">
                <a16:creationId xmlns:a16="http://schemas.microsoft.com/office/drawing/2014/main" id="{EF3D9C33-201A-4824-8A00-AD9F1D080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4825" name="Rectangle 9">
            <a:extLst>
              <a:ext uri="{FF2B5EF4-FFF2-40B4-BE49-F238E27FC236}">
                <a16:creationId xmlns:a16="http://schemas.microsoft.com/office/drawing/2014/main" id="{92E90ECB-78F3-451B-BC92-F2DD8C7073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620713"/>
            <a:ext cx="4429125" cy="687387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600" b="1" dirty="0">
                <a:solidFill>
                  <a:schemeClr val="accent2"/>
                </a:solidFill>
                <a:latin typeface="楷体" pitchFamily="49" charset="-122"/>
                <a:ea typeface="楷体" pitchFamily="49" charset="-122"/>
                <a:cs typeface="+mn-cs"/>
              </a:rPr>
              <a:t>二、二分支程序设计</a:t>
            </a:r>
          </a:p>
        </p:txBody>
      </p:sp>
      <p:sp>
        <p:nvSpPr>
          <p:cNvPr id="67592" name="Text Box 1029">
            <a:extLst>
              <a:ext uri="{FF2B5EF4-FFF2-40B4-BE49-F238E27FC236}">
                <a16:creationId xmlns:a16="http://schemas.microsoft.com/office/drawing/2014/main" id="{56704B4F-67B2-40C6-84AD-E520CE7FA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67593" name="页脚占位符 14">
            <a:extLst>
              <a:ext uri="{FF2B5EF4-FFF2-40B4-BE49-F238E27FC236}">
                <a16:creationId xmlns:a16="http://schemas.microsoft.com/office/drawing/2014/main" id="{CCCFEA21-628B-4255-B502-5AC0CA829F5F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67594" name="灯片编号占位符 13">
            <a:extLst>
              <a:ext uri="{FF2B5EF4-FFF2-40B4-BE49-F238E27FC236}">
                <a16:creationId xmlns:a16="http://schemas.microsoft.com/office/drawing/2014/main" id="{AB9582F6-C5FD-4EB9-807D-39A26692D06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BFE6075-2CB0-44D3-9E57-0BAEED865892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7595" name="日期占位符 12">
            <a:extLst>
              <a:ext uri="{FF2B5EF4-FFF2-40B4-BE49-F238E27FC236}">
                <a16:creationId xmlns:a16="http://schemas.microsoft.com/office/drawing/2014/main" id="{31E95F88-9C6C-4691-BA9D-357B2C63DA7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0BE90A-461B-4B96-A6AE-03D1BC6136F1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Line 3">
            <a:extLst>
              <a:ext uri="{FF2B5EF4-FFF2-40B4-BE49-F238E27FC236}">
                <a16:creationId xmlns:a16="http://schemas.microsoft.com/office/drawing/2014/main" id="{696FFCB1-F4EC-4760-BA36-F20330C449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2" name="Text Box 6">
            <a:extLst>
              <a:ext uri="{FF2B5EF4-FFF2-40B4-BE49-F238E27FC236}">
                <a16:creationId xmlns:a16="http://schemas.microsoft.com/office/drawing/2014/main" id="{9157469B-F879-450C-B2D1-7590153E4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569913"/>
            <a:ext cx="4953000" cy="538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单分支结构一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不好的结构）</a:t>
            </a:r>
            <a:endParaRPr lang="zh-CN" altLang="en-US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: 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: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产生某条件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JCC	  BRANCH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LL</a:t>
            </a:r>
            <a:r>
              <a:rPr lang="zh-CN" altLang="en-US" sz="28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	</a:t>
            </a:r>
            <a:r>
              <a:rPr lang="en-US" altLang="zh-CN" sz="28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8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HLT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BRANCH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JMP	LL</a:t>
            </a:r>
            <a:endParaRPr lang="en-US" altLang="zh-CN" sz="2800" b="1">
              <a:solidFill>
                <a:schemeClr val="accent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9636" name="Line 7">
            <a:extLst>
              <a:ext uri="{FF2B5EF4-FFF2-40B4-BE49-F238E27FC236}">
                <a16:creationId xmlns:a16="http://schemas.microsoft.com/office/drawing/2014/main" id="{5887E64A-CE09-4C91-AEB5-89E9A9A858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7" name="AutoShape 8">
            <a:extLst>
              <a:ext uri="{FF2B5EF4-FFF2-40B4-BE49-F238E27FC236}">
                <a16:creationId xmlns:a16="http://schemas.microsoft.com/office/drawing/2014/main" id="{2A343A78-2B7A-4DE0-BA12-82C54D7DD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69638" name="Group 28">
            <a:extLst>
              <a:ext uri="{FF2B5EF4-FFF2-40B4-BE49-F238E27FC236}">
                <a16:creationId xmlns:a16="http://schemas.microsoft.com/office/drawing/2014/main" id="{D49FAD69-6B0E-4885-8570-AC8F93C5FBF5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788988"/>
            <a:ext cx="3124200" cy="4648200"/>
            <a:chOff x="6758" y="8797"/>
            <a:chExt cx="2940" cy="4083"/>
          </a:xfrm>
        </p:grpSpPr>
        <p:sp>
          <p:nvSpPr>
            <p:cNvPr id="69644" name="Text Box 29">
              <a:extLst>
                <a:ext uri="{FF2B5EF4-FFF2-40B4-BE49-F238E27FC236}">
                  <a16:creationId xmlns:a16="http://schemas.microsoft.com/office/drawing/2014/main" id="{96D3967A-F186-4C2F-A19A-C014D7880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" y="11740"/>
              <a:ext cx="620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LL:</a:t>
              </a:r>
              <a:endParaRPr lang="en-US" altLang="zh-CN" sz="1000">
                <a:latin typeface="Times New Roman" panose="02020603050405020304" pitchFamily="18" charset="0"/>
              </a:endParaRPr>
            </a:p>
          </p:txBody>
        </p:sp>
        <p:sp>
          <p:nvSpPr>
            <p:cNvPr id="69645" name="Text Box 30">
              <a:extLst>
                <a:ext uri="{FF2B5EF4-FFF2-40B4-BE49-F238E27FC236}">
                  <a16:creationId xmlns:a16="http://schemas.microsoft.com/office/drawing/2014/main" id="{D7BBCDC9-8748-4B29-90F6-22B09B911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8" y="11060"/>
              <a:ext cx="4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anose="02020603050405020304" pitchFamily="18" charset="0"/>
                  <a:ea typeface="楷体_GB2312" pitchFamily="49" charset="-122"/>
                </a:rPr>
                <a:t>否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69646" name="Text Box 31">
              <a:extLst>
                <a:ext uri="{FF2B5EF4-FFF2-40B4-BE49-F238E27FC236}">
                  <a16:creationId xmlns:a16="http://schemas.microsoft.com/office/drawing/2014/main" id="{2C97DED8-A17C-42B2-9937-DBDB87D1E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8" y="10440"/>
              <a:ext cx="54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69647" name="Text Box 32">
              <a:extLst>
                <a:ext uri="{FF2B5EF4-FFF2-40B4-BE49-F238E27FC236}">
                  <a16:creationId xmlns:a16="http://schemas.microsoft.com/office/drawing/2014/main" id="{DBDDFDBD-45EF-423A-8621-FE40EB864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8" y="10840"/>
              <a:ext cx="114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BRANCH</a:t>
              </a:r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：</a:t>
              </a:r>
            </a:p>
          </p:txBody>
        </p:sp>
        <p:sp>
          <p:nvSpPr>
            <p:cNvPr id="69648" name="Rectangle 33">
              <a:extLst>
                <a:ext uri="{FF2B5EF4-FFF2-40B4-BE49-F238E27FC236}">
                  <a16:creationId xmlns:a16="http://schemas.microsoft.com/office/drawing/2014/main" id="{41AB2270-8C3D-4A99-A1BD-11A9D606D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8" y="11240"/>
              <a:ext cx="140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分支程序段</a:t>
              </a:r>
              <a:endPara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9649" name="Rectangle 34">
              <a:extLst>
                <a:ext uri="{FF2B5EF4-FFF2-40B4-BE49-F238E27FC236}">
                  <a16:creationId xmlns:a16="http://schemas.microsoft.com/office/drawing/2014/main" id="{5818E306-FA33-46C3-99C3-275B98AC6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8" y="9180"/>
              <a:ext cx="110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9650" name="Rectangle 35">
              <a:extLst>
                <a:ext uri="{FF2B5EF4-FFF2-40B4-BE49-F238E27FC236}">
                  <a16:creationId xmlns:a16="http://schemas.microsoft.com/office/drawing/2014/main" id="{39E5B508-568C-41CB-BAA4-44A451E39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8" y="9820"/>
              <a:ext cx="11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产生条件</a:t>
              </a:r>
            </a:p>
          </p:txBody>
        </p:sp>
        <p:sp>
          <p:nvSpPr>
            <p:cNvPr id="69651" name="AutoShape 36">
              <a:extLst>
                <a:ext uri="{FF2B5EF4-FFF2-40B4-BE49-F238E27FC236}">
                  <a16:creationId xmlns:a16="http://schemas.microsoft.com/office/drawing/2014/main" id="{16ADCD50-EB25-4618-AD01-645F3124D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8" y="10480"/>
              <a:ext cx="1660" cy="66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3103DB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条件</a:t>
              </a:r>
              <a:r>
                <a:rPr lang="zh-CN" altLang="en-US" sz="2400" b="1">
                  <a:latin typeface="Times New Roman" panose="02020603050405020304" pitchFamily="18" charset="0"/>
                  <a:ea typeface="楷体_GB2312" pitchFamily="49" charset="-122"/>
                </a:rPr>
                <a:t>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69652" name="Rectangle 37">
              <a:extLst>
                <a:ext uri="{FF2B5EF4-FFF2-40B4-BE49-F238E27FC236}">
                  <a16:creationId xmlns:a16="http://schemas.microsoft.com/office/drawing/2014/main" id="{B4B6C8A6-982D-4DC6-BA4B-3E706976D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8" y="12200"/>
              <a:ext cx="1180" cy="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000" b="1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69653" name="Line 38">
              <a:extLst>
                <a:ext uri="{FF2B5EF4-FFF2-40B4-BE49-F238E27FC236}">
                  <a16:creationId xmlns:a16="http://schemas.microsoft.com/office/drawing/2014/main" id="{18BA4377-FDBD-4642-8526-1312FCE37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8" y="8797"/>
              <a:ext cx="0" cy="3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4" name="Line 39">
              <a:extLst>
                <a:ext uri="{FF2B5EF4-FFF2-40B4-BE49-F238E27FC236}">
                  <a16:creationId xmlns:a16="http://schemas.microsoft.com/office/drawing/2014/main" id="{79703BD4-4771-4C80-9963-9616FDA28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8" y="9597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5" name="Line 40">
              <a:extLst>
                <a:ext uri="{FF2B5EF4-FFF2-40B4-BE49-F238E27FC236}">
                  <a16:creationId xmlns:a16="http://schemas.microsoft.com/office/drawing/2014/main" id="{374D7F43-F49F-4D0E-A070-BCFA5B5A0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8" y="10240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6" name="Line 41">
              <a:extLst>
                <a:ext uri="{FF2B5EF4-FFF2-40B4-BE49-F238E27FC236}">
                  <a16:creationId xmlns:a16="http://schemas.microsoft.com/office/drawing/2014/main" id="{9D6519C7-204A-40FB-B018-9C84FF1DA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8" y="10800"/>
              <a:ext cx="6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7" name="Line 42">
              <a:extLst>
                <a:ext uri="{FF2B5EF4-FFF2-40B4-BE49-F238E27FC236}">
                  <a16:creationId xmlns:a16="http://schemas.microsoft.com/office/drawing/2014/main" id="{B129BEC9-6C92-4DAA-986D-2ACCEC1B6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8" y="10800"/>
              <a:ext cx="0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8" name="Line 43">
              <a:extLst>
                <a:ext uri="{FF2B5EF4-FFF2-40B4-BE49-F238E27FC236}">
                  <a16:creationId xmlns:a16="http://schemas.microsoft.com/office/drawing/2014/main" id="{ECA0129B-8A86-4086-BC44-2841EC7AE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58" y="11720"/>
              <a:ext cx="0" cy="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9" name="Line 44">
              <a:extLst>
                <a:ext uri="{FF2B5EF4-FFF2-40B4-BE49-F238E27FC236}">
                  <a16:creationId xmlns:a16="http://schemas.microsoft.com/office/drawing/2014/main" id="{D91F6F1C-5D10-4797-8061-B2087B43C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98" y="11920"/>
              <a:ext cx="14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60" name="Line 45">
              <a:extLst>
                <a:ext uri="{FF2B5EF4-FFF2-40B4-BE49-F238E27FC236}">
                  <a16:creationId xmlns:a16="http://schemas.microsoft.com/office/drawing/2014/main" id="{C60ADFAE-D44D-418C-8E4B-CE76E80FF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8" y="11140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61" name="Line 46">
              <a:extLst>
                <a:ext uri="{FF2B5EF4-FFF2-40B4-BE49-F238E27FC236}">
                  <a16:creationId xmlns:a16="http://schemas.microsoft.com/office/drawing/2014/main" id="{6377D344-2BE1-4B11-9529-784781F3E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8" y="12660"/>
              <a:ext cx="0" cy="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639" name="Text Box 1029">
            <a:extLst>
              <a:ext uri="{FF2B5EF4-FFF2-40B4-BE49-F238E27FC236}">
                <a16:creationId xmlns:a16="http://schemas.microsoft.com/office/drawing/2014/main" id="{A5047120-7822-4BC7-8146-8A9F1D2C7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69640" name="页脚占位符 14">
            <a:extLst>
              <a:ext uri="{FF2B5EF4-FFF2-40B4-BE49-F238E27FC236}">
                <a16:creationId xmlns:a16="http://schemas.microsoft.com/office/drawing/2014/main" id="{36D7DF9B-ACB9-4632-9496-7CD0D1EA082D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69641" name="灯片编号占位符 13">
            <a:extLst>
              <a:ext uri="{FF2B5EF4-FFF2-40B4-BE49-F238E27FC236}">
                <a16:creationId xmlns:a16="http://schemas.microsoft.com/office/drawing/2014/main" id="{4EC49A26-B271-4E8B-85BF-E13BD80C1EEB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282F9A7-0CED-4E5C-B6C4-E16CE133B8F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9642" name="日期占位符 12">
            <a:extLst>
              <a:ext uri="{FF2B5EF4-FFF2-40B4-BE49-F238E27FC236}">
                <a16:creationId xmlns:a16="http://schemas.microsoft.com/office/drawing/2014/main" id="{815AD3BC-CB79-4A5A-B642-D88802C8ACCC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A5B5F4-6AE0-4419-8597-286C4F263B82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F6B8B3-7775-405C-8338-10C4C448F4B0}"/>
              </a:ext>
            </a:extLst>
          </p:cNvPr>
          <p:cNvSpPr txBox="1"/>
          <p:nvPr/>
        </p:nvSpPr>
        <p:spPr>
          <a:xfrm>
            <a:off x="3924300" y="5661025"/>
            <a:ext cx="5067300" cy="3698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800" b="1" dirty="0"/>
              <a:t>说明</a:t>
            </a:r>
            <a:r>
              <a:rPr lang="zh-CN" altLang="en-US" sz="1800" dirty="0"/>
              <a:t>：</a:t>
            </a:r>
            <a:r>
              <a:rPr lang="en-US" altLang="zh-CN" sz="1800" dirty="0"/>
              <a:t>JCC</a:t>
            </a:r>
            <a:r>
              <a:rPr lang="zh-CN" altLang="en-US" sz="1800" dirty="0"/>
              <a:t>表示某种条件转移，</a:t>
            </a:r>
            <a:r>
              <a:rPr lang="en-US" altLang="zh-CN" sz="1800" dirty="0"/>
              <a:t>JNCC</a:t>
            </a:r>
            <a:r>
              <a:rPr lang="zh-CN" altLang="en-US" sz="1800" dirty="0"/>
              <a:t>相反条件。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Line 3">
            <a:extLst>
              <a:ext uri="{FF2B5EF4-FFF2-40B4-BE49-F238E27FC236}">
                <a16:creationId xmlns:a16="http://schemas.microsoft.com/office/drawing/2014/main" id="{4B50E423-3EAF-445A-9F50-2140A791F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42" name="Text Box 6">
            <a:extLst>
              <a:ext uri="{FF2B5EF4-FFF2-40B4-BE49-F238E27FC236}">
                <a16:creationId xmlns:a16="http://schemas.microsoft.com/office/drawing/2014/main" id="{B3E1F4AE-3DF7-423C-8688-45FF678FE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49530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单分支结构一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改进）</a:t>
            </a:r>
            <a:endParaRPr lang="zh-CN" altLang="en-US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: 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: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产生某条件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JCC	  BRANCH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JMP	LL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BRANCH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LL</a:t>
            </a:r>
            <a:r>
              <a:rPr lang="zh-CN" altLang="en-US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	</a:t>
            </a: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HLT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>
              <a:solidFill>
                <a:schemeClr val="accent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1684" name="Line 7">
            <a:extLst>
              <a:ext uri="{FF2B5EF4-FFF2-40B4-BE49-F238E27FC236}">
                <a16:creationId xmlns:a16="http://schemas.microsoft.com/office/drawing/2014/main" id="{56881741-B359-402E-9425-FAC5A1D319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5" name="AutoShape 8">
            <a:extLst>
              <a:ext uri="{FF2B5EF4-FFF2-40B4-BE49-F238E27FC236}">
                <a16:creationId xmlns:a16="http://schemas.microsoft.com/office/drawing/2014/main" id="{B5483A73-CDA9-4163-9568-CB62CC29F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1686" name="Group 28">
            <a:extLst>
              <a:ext uri="{FF2B5EF4-FFF2-40B4-BE49-F238E27FC236}">
                <a16:creationId xmlns:a16="http://schemas.microsoft.com/office/drawing/2014/main" id="{0603D30E-3023-4EC1-9AE4-39C3ED402508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066800"/>
            <a:ext cx="3124200" cy="4648200"/>
            <a:chOff x="6758" y="8797"/>
            <a:chExt cx="2940" cy="4083"/>
          </a:xfrm>
        </p:grpSpPr>
        <p:sp>
          <p:nvSpPr>
            <p:cNvPr id="71691" name="Text Box 29">
              <a:extLst>
                <a:ext uri="{FF2B5EF4-FFF2-40B4-BE49-F238E27FC236}">
                  <a16:creationId xmlns:a16="http://schemas.microsoft.com/office/drawing/2014/main" id="{B804569C-2F4C-4D5A-86DF-A7E0C2C3B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" y="11740"/>
              <a:ext cx="620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LL:</a:t>
              </a:r>
              <a:endParaRPr lang="en-US" altLang="zh-CN" sz="1000">
                <a:latin typeface="Times New Roman" panose="02020603050405020304" pitchFamily="18" charset="0"/>
              </a:endParaRPr>
            </a:p>
          </p:txBody>
        </p:sp>
        <p:sp>
          <p:nvSpPr>
            <p:cNvPr id="71692" name="Text Box 30">
              <a:extLst>
                <a:ext uri="{FF2B5EF4-FFF2-40B4-BE49-F238E27FC236}">
                  <a16:creationId xmlns:a16="http://schemas.microsoft.com/office/drawing/2014/main" id="{E7D45652-BBAA-4DCB-BA75-5B3673C87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8" y="11060"/>
              <a:ext cx="4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anose="02020603050405020304" pitchFamily="18" charset="0"/>
                  <a:ea typeface="楷体_GB2312" pitchFamily="49" charset="-122"/>
                </a:rPr>
                <a:t>否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1693" name="Text Box 31">
              <a:extLst>
                <a:ext uri="{FF2B5EF4-FFF2-40B4-BE49-F238E27FC236}">
                  <a16:creationId xmlns:a16="http://schemas.microsoft.com/office/drawing/2014/main" id="{0999F9C8-61CC-498C-9ECC-8849A9454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8" y="10440"/>
              <a:ext cx="54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1694" name="Text Box 32">
              <a:extLst>
                <a:ext uri="{FF2B5EF4-FFF2-40B4-BE49-F238E27FC236}">
                  <a16:creationId xmlns:a16="http://schemas.microsoft.com/office/drawing/2014/main" id="{D2E43CA3-7375-4086-8AF3-58C5DC029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8" y="10840"/>
              <a:ext cx="114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BRANCH</a:t>
              </a:r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：</a:t>
              </a:r>
            </a:p>
          </p:txBody>
        </p:sp>
        <p:sp>
          <p:nvSpPr>
            <p:cNvPr id="71695" name="Rectangle 33">
              <a:extLst>
                <a:ext uri="{FF2B5EF4-FFF2-40B4-BE49-F238E27FC236}">
                  <a16:creationId xmlns:a16="http://schemas.microsoft.com/office/drawing/2014/main" id="{7BC1C718-1C33-4143-9A9B-B768C7ED5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8" y="11240"/>
              <a:ext cx="140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分支程序段</a:t>
              </a:r>
              <a:endPara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1696" name="Rectangle 34">
              <a:extLst>
                <a:ext uri="{FF2B5EF4-FFF2-40B4-BE49-F238E27FC236}">
                  <a16:creationId xmlns:a16="http://schemas.microsoft.com/office/drawing/2014/main" id="{6D67269E-09A3-4349-8364-B934B9B65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8" y="9180"/>
              <a:ext cx="110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71697" name="Rectangle 35">
              <a:extLst>
                <a:ext uri="{FF2B5EF4-FFF2-40B4-BE49-F238E27FC236}">
                  <a16:creationId xmlns:a16="http://schemas.microsoft.com/office/drawing/2014/main" id="{998394ED-5F7B-4E5B-A568-6170596ED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8" y="9820"/>
              <a:ext cx="11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产生条件</a:t>
              </a:r>
            </a:p>
          </p:txBody>
        </p:sp>
        <p:sp>
          <p:nvSpPr>
            <p:cNvPr id="71698" name="AutoShape 36">
              <a:extLst>
                <a:ext uri="{FF2B5EF4-FFF2-40B4-BE49-F238E27FC236}">
                  <a16:creationId xmlns:a16="http://schemas.microsoft.com/office/drawing/2014/main" id="{DF9D86DA-D613-4219-94BF-11D3D1EB2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8" y="10480"/>
              <a:ext cx="1660" cy="66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3103DB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条件</a:t>
              </a:r>
              <a:r>
                <a:rPr lang="zh-CN" altLang="en-US" sz="2400" b="1">
                  <a:latin typeface="Times New Roman" panose="02020603050405020304" pitchFamily="18" charset="0"/>
                  <a:ea typeface="楷体_GB2312" pitchFamily="49" charset="-122"/>
                </a:rPr>
                <a:t>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1699" name="Rectangle 37">
              <a:extLst>
                <a:ext uri="{FF2B5EF4-FFF2-40B4-BE49-F238E27FC236}">
                  <a16:creationId xmlns:a16="http://schemas.microsoft.com/office/drawing/2014/main" id="{8EEAC886-2663-4EAA-AA29-93B205340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8" y="12200"/>
              <a:ext cx="1180" cy="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000" b="1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71700" name="Line 38">
              <a:extLst>
                <a:ext uri="{FF2B5EF4-FFF2-40B4-BE49-F238E27FC236}">
                  <a16:creationId xmlns:a16="http://schemas.microsoft.com/office/drawing/2014/main" id="{14C33ABC-1F05-4C4F-BF5F-BA475D53E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8" y="8797"/>
              <a:ext cx="0" cy="3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Line 39">
              <a:extLst>
                <a:ext uri="{FF2B5EF4-FFF2-40B4-BE49-F238E27FC236}">
                  <a16:creationId xmlns:a16="http://schemas.microsoft.com/office/drawing/2014/main" id="{E3D45753-675C-4E13-AD59-C1E31466E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8" y="9597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2" name="Line 40">
              <a:extLst>
                <a:ext uri="{FF2B5EF4-FFF2-40B4-BE49-F238E27FC236}">
                  <a16:creationId xmlns:a16="http://schemas.microsoft.com/office/drawing/2014/main" id="{BE4C1B52-9907-4E46-ACB5-E6477BCF3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8" y="10240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3" name="Line 41">
              <a:extLst>
                <a:ext uri="{FF2B5EF4-FFF2-40B4-BE49-F238E27FC236}">
                  <a16:creationId xmlns:a16="http://schemas.microsoft.com/office/drawing/2014/main" id="{B1219190-4DBF-4FCB-88CE-C0F97AD7E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8" y="10800"/>
              <a:ext cx="6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4" name="Line 42">
              <a:extLst>
                <a:ext uri="{FF2B5EF4-FFF2-40B4-BE49-F238E27FC236}">
                  <a16:creationId xmlns:a16="http://schemas.microsoft.com/office/drawing/2014/main" id="{C030BB77-B2AA-46CC-A872-3053CBC41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8" y="10800"/>
              <a:ext cx="0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5" name="Line 43">
              <a:extLst>
                <a:ext uri="{FF2B5EF4-FFF2-40B4-BE49-F238E27FC236}">
                  <a16:creationId xmlns:a16="http://schemas.microsoft.com/office/drawing/2014/main" id="{8A96EF93-8D72-406C-8B9F-C79AADAB6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58" y="11720"/>
              <a:ext cx="0" cy="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6" name="Line 44">
              <a:extLst>
                <a:ext uri="{FF2B5EF4-FFF2-40B4-BE49-F238E27FC236}">
                  <a16:creationId xmlns:a16="http://schemas.microsoft.com/office/drawing/2014/main" id="{4C6B5AC9-E921-4148-826B-7527CC0103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98" y="11920"/>
              <a:ext cx="14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7" name="Line 45">
              <a:extLst>
                <a:ext uri="{FF2B5EF4-FFF2-40B4-BE49-F238E27FC236}">
                  <a16:creationId xmlns:a16="http://schemas.microsoft.com/office/drawing/2014/main" id="{EE099845-5507-4E7B-BFB8-1C1A5E22D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8" y="11140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8" name="Line 46">
              <a:extLst>
                <a:ext uri="{FF2B5EF4-FFF2-40B4-BE49-F238E27FC236}">
                  <a16:creationId xmlns:a16="http://schemas.microsoft.com/office/drawing/2014/main" id="{4B8AA852-640F-4AA8-A6D1-18E5DAA51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8" y="12660"/>
              <a:ext cx="0" cy="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687" name="Text Box 1029">
            <a:extLst>
              <a:ext uri="{FF2B5EF4-FFF2-40B4-BE49-F238E27FC236}">
                <a16:creationId xmlns:a16="http://schemas.microsoft.com/office/drawing/2014/main" id="{9281CB3B-0DE6-4A1B-ADDD-E0923618B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71688" name="页脚占位符 14">
            <a:extLst>
              <a:ext uri="{FF2B5EF4-FFF2-40B4-BE49-F238E27FC236}">
                <a16:creationId xmlns:a16="http://schemas.microsoft.com/office/drawing/2014/main" id="{DB50B65A-7420-4C53-8F61-D1FC748C500A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71689" name="灯片编号占位符 13">
            <a:extLst>
              <a:ext uri="{FF2B5EF4-FFF2-40B4-BE49-F238E27FC236}">
                <a16:creationId xmlns:a16="http://schemas.microsoft.com/office/drawing/2014/main" id="{4DE061E2-F494-406B-A8B3-6BC819215F4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4C5EC5B-3B3F-4327-B78E-5821928AFB2F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690" name="日期占位符 12">
            <a:extLst>
              <a:ext uri="{FF2B5EF4-FFF2-40B4-BE49-F238E27FC236}">
                <a16:creationId xmlns:a16="http://schemas.microsoft.com/office/drawing/2014/main" id="{56CD6ECB-9E60-4828-B665-C0DD34FC513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18344ED-1C2D-4A8E-9197-0A0C364E83AD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Line 3">
            <a:extLst>
              <a:ext uri="{FF2B5EF4-FFF2-40B4-BE49-F238E27FC236}">
                <a16:creationId xmlns:a16="http://schemas.microsoft.com/office/drawing/2014/main" id="{E94DCCD1-1594-4E6E-8000-3E688637D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0" name="Text Box 6">
            <a:extLst>
              <a:ext uri="{FF2B5EF4-FFF2-40B4-BE49-F238E27FC236}">
                <a16:creationId xmlns:a16="http://schemas.microsoft.com/office/drawing/2014/main" id="{59579196-CFB6-4807-8442-05D8452A3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5383213" cy="538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(3)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单分支结构二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推荐）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:	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:	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产生某条件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JNCC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LL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条件满足转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LL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BRANCH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LL</a:t>
            </a:r>
            <a:r>
              <a:rPr lang="zh-CN" altLang="en-US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	;</a:t>
            </a:r>
            <a:r>
              <a:rPr lang="zh-CN" altLang="en-US" sz="28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HLT	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结束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3732" name="Line 7">
            <a:extLst>
              <a:ext uri="{FF2B5EF4-FFF2-40B4-BE49-F238E27FC236}">
                <a16:creationId xmlns:a16="http://schemas.microsoft.com/office/drawing/2014/main" id="{E29B235E-4C11-433E-92D8-1EEF503E7A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3" name="AutoShape 8">
            <a:extLst>
              <a:ext uri="{FF2B5EF4-FFF2-40B4-BE49-F238E27FC236}">
                <a16:creationId xmlns:a16="http://schemas.microsoft.com/office/drawing/2014/main" id="{A10CA859-A165-4559-9E6B-89A8ECD9C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3734" name="Group 28">
            <a:extLst>
              <a:ext uri="{FF2B5EF4-FFF2-40B4-BE49-F238E27FC236}">
                <a16:creationId xmlns:a16="http://schemas.microsoft.com/office/drawing/2014/main" id="{9F09145C-14AB-442A-9160-702808112E7B}"/>
              </a:ext>
            </a:extLst>
          </p:cNvPr>
          <p:cNvGrpSpPr>
            <a:grpSpLocks/>
          </p:cNvGrpSpPr>
          <p:nvPr/>
        </p:nvGrpSpPr>
        <p:grpSpPr bwMode="auto">
          <a:xfrm>
            <a:off x="6022975" y="930275"/>
            <a:ext cx="3048000" cy="5105400"/>
            <a:chOff x="6078" y="1380"/>
            <a:chExt cx="2440" cy="4083"/>
          </a:xfrm>
        </p:grpSpPr>
        <p:sp>
          <p:nvSpPr>
            <p:cNvPr id="73739" name="Text Box 29">
              <a:extLst>
                <a:ext uri="{FF2B5EF4-FFF2-40B4-BE49-F238E27FC236}">
                  <a16:creationId xmlns:a16="http://schemas.microsoft.com/office/drawing/2014/main" id="{AC1E21A7-557B-421A-BACD-8A79EDCFF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8" y="4400"/>
              <a:ext cx="600" cy="3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LL:</a:t>
              </a:r>
              <a:endParaRPr lang="en-US" altLang="zh-CN" sz="1000">
                <a:latin typeface="Times New Roman" panose="02020603050405020304" pitchFamily="18" charset="0"/>
              </a:endParaRPr>
            </a:p>
          </p:txBody>
        </p:sp>
        <p:sp>
          <p:nvSpPr>
            <p:cNvPr id="73740" name="Text Box 30">
              <a:extLst>
                <a:ext uri="{FF2B5EF4-FFF2-40B4-BE49-F238E27FC236}">
                  <a16:creationId xmlns:a16="http://schemas.microsoft.com/office/drawing/2014/main" id="{F32E6106-476E-452A-B520-9C5780591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8" y="3620"/>
              <a:ext cx="4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000">
                  <a:latin typeface="Times New Roman" panose="02020603050405020304" pitchFamily="18" charset="0"/>
                </a:rPr>
                <a:t>否</a:t>
              </a:r>
            </a:p>
          </p:txBody>
        </p:sp>
        <p:sp>
          <p:nvSpPr>
            <p:cNvPr id="73741" name="Text Box 31">
              <a:extLst>
                <a:ext uri="{FF2B5EF4-FFF2-40B4-BE49-F238E27FC236}">
                  <a16:creationId xmlns:a16="http://schemas.microsoft.com/office/drawing/2014/main" id="{8F416511-996A-4B16-B650-0452BB9DDB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8" y="3023"/>
              <a:ext cx="54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</a:p>
          </p:txBody>
        </p:sp>
        <p:sp>
          <p:nvSpPr>
            <p:cNvPr id="73742" name="Text Box 32">
              <a:extLst>
                <a:ext uri="{FF2B5EF4-FFF2-40B4-BE49-F238E27FC236}">
                  <a16:creationId xmlns:a16="http://schemas.microsoft.com/office/drawing/2014/main" id="{BA93FF2C-1734-4744-9309-3E1EB816A0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8" y="3680"/>
              <a:ext cx="114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楷体_GB2312" pitchFamily="49" charset="-122"/>
                  <a:ea typeface="楷体_GB2312" pitchFamily="49" charset="-122"/>
                </a:rPr>
                <a:t>BRANCH</a:t>
              </a:r>
              <a:r>
                <a:rPr lang="zh-CN" altLang="en-US" sz="1600" b="1">
                  <a:latin typeface="楷体_GB2312" pitchFamily="49" charset="-122"/>
                  <a:ea typeface="楷体_GB2312" pitchFamily="49" charset="-122"/>
                </a:rPr>
                <a:t>：</a:t>
              </a:r>
              <a:endParaRPr lang="zh-CN" altLang="en-US" sz="700">
                <a:latin typeface="Times New Roman" panose="02020603050405020304" pitchFamily="18" charset="0"/>
              </a:endParaRPr>
            </a:p>
          </p:txBody>
        </p:sp>
        <p:sp>
          <p:nvSpPr>
            <p:cNvPr id="73743" name="Rectangle 33">
              <a:extLst>
                <a:ext uri="{FF2B5EF4-FFF2-40B4-BE49-F238E27FC236}">
                  <a16:creationId xmlns:a16="http://schemas.microsoft.com/office/drawing/2014/main" id="{B83D55F2-4045-45FB-A12C-B71276DC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8" y="4060"/>
              <a:ext cx="140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分支程序段</a:t>
              </a:r>
            </a:p>
          </p:txBody>
        </p:sp>
        <p:sp>
          <p:nvSpPr>
            <p:cNvPr id="73744" name="Rectangle 34">
              <a:extLst>
                <a:ext uri="{FF2B5EF4-FFF2-40B4-BE49-F238E27FC236}">
                  <a16:creationId xmlns:a16="http://schemas.microsoft.com/office/drawing/2014/main" id="{331BA5B4-6360-4756-AF74-477192B48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" y="1763"/>
              <a:ext cx="110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73745" name="Rectangle 35">
              <a:extLst>
                <a:ext uri="{FF2B5EF4-FFF2-40B4-BE49-F238E27FC236}">
                  <a16:creationId xmlns:a16="http://schemas.microsoft.com/office/drawing/2014/main" id="{92974A96-D602-4B7E-8EA3-FD47258F4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8" y="2403"/>
              <a:ext cx="11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产生条件</a:t>
              </a:r>
            </a:p>
          </p:txBody>
        </p:sp>
        <p:sp>
          <p:nvSpPr>
            <p:cNvPr id="73746" name="AutoShape 36">
              <a:extLst>
                <a:ext uri="{FF2B5EF4-FFF2-40B4-BE49-F238E27FC236}">
                  <a16:creationId xmlns:a16="http://schemas.microsoft.com/office/drawing/2014/main" id="{A5AE8BBA-1F0A-4917-8DD6-B124D146A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" y="3063"/>
              <a:ext cx="1660" cy="66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3103DB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条件</a:t>
              </a:r>
              <a:r>
                <a:rPr lang="zh-CN" altLang="en-US" sz="2400" b="1">
                  <a:latin typeface="Times New Roman" panose="02020603050405020304" pitchFamily="18" charset="0"/>
                  <a:ea typeface="楷体_GB2312" pitchFamily="49" charset="-122"/>
                </a:rPr>
                <a:t>？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3747" name="Rectangle 37">
              <a:extLst>
                <a:ext uri="{FF2B5EF4-FFF2-40B4-BE49-F238E27FC236}">
                  <a16:creationId xmlns:a16="http://schemas.microsoft.com/office/drawing/2014/main" id="{90A14C0C-566B-42AE-9F96-C9E913E11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8" y="4783"/>
              <a:ext cx="1180" cy="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000" b="1">
                  <a:solidFill>
                    <a:srgbClr val="00206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000">
                <a:solidFill>
                  <a:srgbClr val="00206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48" name="Line 38">
              <a:extLst>
                <a:ext uri="{FF2B5EF4-FFF2-40B4-BE49-F238E27FC236}">
                  <a16:creationId xmlns:a16="http://schemas.microsoft.com/office/drawing/2014/main" id="{C360A813-9482-40FD-9D3C-9EDD53295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8" y="1380"/>
              <a:ext cx="0" cy="3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9" name="Line 39">
              <a:extLst>
                <a:ext uri="{FF2B5EF4-FFF2-40B4-BE49-F238E27FC236}">
                  <a16:creationId xmlns:a16="http://schemas.microsoft.com/office/drawing/2014/main" id="{37EC16F6-7064-4827-8742-189290823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8" y="2180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0" name="Line 40">
              <a:extLst>
                <a:ext uri="{FF2B5EF4-FFF2-40B4-BE49-F238E27FC236}">
                  <a16:creationId xmlns:a16="http://schemas.microsoft.com/office/drawing/2014/main" id="{0D792A31-D78E-431B-902E-D9F5A9D0F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8" y="282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1" name="Line 41">
              <a:extLst>
                <a:ext uri="{FF2B5EF4-FFF2-40B4-BE49-F238E27FC236}">
                  <a16:creationId xmlns:a16="http://schemas.microsoft.com/office/drawing/2014/main" id="{F7FD506B-0208-4145-A9B8-93BE21EB2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8" y="3380"/>
              <a:ext cx="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2" name="Line 42">
              <a:extLst>
                <a:ext uri="{FF2B5EF4-FFF2-40B4-BE49-F238E27FC236}">
                  <a16:creationId xmlns:a16="http://schemas.microsoft.com/office/drawing/2014/main" id="{ABDDB98B-C3F6-4BA3-A655-EDAC976AF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98" y="4640"/>
              <a:ext cx="1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3" name="Line 43">
              <a:extLst>
                <a:ext uri="{FF2B5EF4-FFF2-40B4-BE49-F238E27FC236}">
                  <a16:creationId xmlns:a16="http://schemas.microsoft.com/office/drawing/2014/main" id="{972C4493-FA48-4427-A656-E2D7C9DFB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8" y="5243"/>
              <a:ext cx="0" cy="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4" name="Line 44">
              <a:extLst>
                <a:ext uri="{FF2B5EF4-FFF2-40B4-BE49-F238E27FC236}">
                  <a16:creationId xmlns:a16="http://schemas.microsoft.com/office/drawing/2014/main" id="{ABC5DD6D-6AE5-4B1F-87EC-9D249F0AA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8" y="3740"/>
              <a:ext cx="0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5" name="Line 45">
              <a:extLst>
                <a:ext uri="{FF2B5EF4-FFF2-40B4-BE49-F238E27FC236}">
                  <a16:creationId xmlns:a16="http://schemas.microsoft.com/office/drawing/2014/main" id="{CC17A0AE-2B3C-4FB0-88C3-BBAED83A3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8" y="4500"/>
              <a:ext cx="0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6" name="Line 46">
              <a:extLst>
                <a:ext uri="{FF2B5EF4-FFF2-40B4-BE49-F238E27FC236}">
                  <a16:creationId xmlns:a16="http://schemas.microsoft.com/office/drawing/2014/main" id="{9C876DA2-6C2F-4CA4-8898-9E56D8FE9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8" y="3380"/>
              <a:ext cx="0" cy="12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35" name="Text Box 1029">
            <a:extLst>
              <a:ext uri="{FF2B5EF4-FFF2-40B4-BE49-F238E27FC236}">
                <a16:creationId xmlns:a16="http://schemas.microsoft.com/office/drawing/2014/main" id="{B0C9F492-084B-49EF-A2C5-682F196A5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73736" name="页脚占位符 14">
            <a:extLst>
              <a:ext uri="{FF2B5EF4-FFF2-40B4-BE49-F238E27FC236}">
                <a16:creationId xmlns:a16="http://schemas.microsoft.com/office/drawing/2014/main" id="{3411A0F8-F88D-4D9A-9F04-FC043065266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73737" name="灯片编号占位符 13">
            <a:extLst>
              <a:ext uri="{FF2B5EF4-FFF2-40B4-BE49-F238E27FC236}">
                <a16:creationId xmlns:a16="http://schemas.microsoft.com/office/drawing/2014/main" id="{0EDCCA62-E9E9-4836-A1FA-C94A1CCA32B4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18B765E-56D5-493B-85FE-BFCE429E84F7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3738" name="日期占位符 12">
            <a:extLst>
              <a:ext uri="{FF2B5EF4-FFF2-40B4-BE49-F238E27FC236}">
                <a16:creationId xmlns:a16="http://schemas.microsoft.com/office/drawing/2014/main" id="{1C67F1BA-F952-461F-BF43-C2D493C88DA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81F0C2-0E08-4481-953E-1A27C81C3522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Line 1027">
            <a:extLst>
              <a:ext uri="{FF2B5EF4-FFF2-40B4-BE49-F238E27FC236}">
                <a16:creationId xmlns:a16="http://schemas.microsoft.com/office/drawing/2014/main" id="{24B5CA26-F4F0-46D8-B1A1-68E009305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4" name="Text Box 1030">
            <a:extLst>
              <a:ext uri="{FF2B5EF4-FFF2-40B4-BE49-F238E27FC236}">
                <a16:creationId xmlns:a16="http://schemas.microsoft.com/office/drawing/2014/main" id="{D6ED5359-CE09-46B3-95CA-B1C83595F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1868488"/>
            <a:ext cx="3189288" cy="3540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MOV	AL,X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	CMP	AL,0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32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JL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	B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L1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MOV	Y,AL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	HLT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	</a:t>
            </a: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NEG	AL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	JMP	L1</a:t>
            </a:r>
            <a:endParaRPr lang="en-US" altLang="zh-CN" sz="3600" b="1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0" name="Line 1031">
            <a:extLst>
              <a:ext uri="{FF2B5EF4-FFF2-40B4-BE49-F238E27FC236}">
                <a16:creationId xmlns:a16="http://schemas.microsoft.com/office/drawing/2014/main" id="{294E755E-04D2-40EA-A8FF-946B7E4BC9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1" name="AutoShape 1032">
            <a:extLst>
              <a:ext uri="{FF2B5EF4-FFF2-40B4-BE49-F238E27FC236}">
                <a16:creationId xmlns:a16="http://schemas.microsoft.com/office/drawing/2014/main" id="{0254A6A6-06F2-4322-A078-D6A4AD91E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686" name="Text Box 1052">
            <a:extLst>
              <a:ext uri="{FF2B5EF4-FFF2-40B4-BE49-F238E27FC236}">
                <a16:creationId xmlns:a16="http://schemas.microsoft.com/office/drawing/2014/main" id="{C30817F4-F42E-45EC-8C7F-7DBA301FC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8" y="1668463"/>
            <a:ext cx="3024187" cy="36020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	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MOV	AL,X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CMP	AL,0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 dirty="0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JGE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L1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NEG	AL</a:t>
            </a:r>
            <a:endParaRPr lang="en-US" altLang="zh-CN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L1:  MOV	Y,AL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 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 :</a:t>
            </a:r>
            <a:endParaRPr lang="en-US" altLang="zh-CN" sz="36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5783" name="Text Box 1053">
            <a:extLst>
              <a:ext uri="{FF2B5EF4-FFF2-40B4-BE49-F238E27FC236}">
                <a16:creationId xmlns:a16="http://schemas.microsoft.com/office/drawing/2014/main" id="{308EE040-CF66-4EAD-B586-3B97B3C6D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14400"/>
            <a:ext cx="342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6] 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求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Y=|X|</a:t>
            </a:r>
            <a:endParaRPr lang="en-US" altLang="zh-CN" sz="24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5784" name="Text Box 1029">
            <a:extLst>
              <a:ext uri="{FF2B5EF4-FFF2-40B4-BE49-F238E27FC236}">
                <a16:creationId xmlns:a16="http://schemas.microsoft.com/office/drawing/2014/main" id="{2AA0F819-08F5-4FE8-B500-7EA59F8E4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75785" name="页脚占位符 14">
            <a:extLst>
              <a:ext uri="{FF2B5EF4-FFF2-40B4-BE49-F238E27FC236}">
                <a16:creationId xmlns:a16="http://schemas.microsoft.com/office/drawing/2014/main" id="{2567A2C3-4CF3-4492-82A6-1EB12BB59507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75786" name="灯片编号占位符 13">
            <a:extLst>
              <a:ext uri="{FF2B5EF4-FFF2-40B4-BE49-F238E27FC236}">
                <a16:creationId xmlns:a16="http://schemas.microsoft.com/office/drawing/2014/main" id="{D583C2FD-B6DA-446D-8675-78F38D977720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8C69EB2-ED4F-4923-B9CA-30F9D7E531EF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5787" name="日期占位符 12">
            <a:extLst>
              <a:ext uri="{FF2B5EF4-FFF2-40B4-BE49-F238E27FC236}">
                <a16:creationId xmlns:a16="http://schemas.microsoft.com/office/drawing/2014/main" id="{C98627D0-1825-49A1-AAB8-75875D701E4D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53A960-6BD4-4D65-BCF8-4D9294BFA5B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5788" name="文本框 1">
            <a:extLst>
              <a:ext uri="{FF2B5EF4-FFF2-40B4-BE49-F238E27FC236}">
                <a16:creationId xmlns:a16="http://schemas.microsoft.com/office/drawing/2014/main" id="{943CD6C8-6B25-4E41-B9DE-923D87A3C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8325" y="5618163"/>
            <a:ext cx="1152525" cy="461962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Good!</a:t>
            </a:r>
            <a:endParaRPr lang="zh-CN" altLang="en-US"/>
          </a:p>
        </p:txBody>
      </p:sp>
      <p:sp>
        <p:nvSpPr>
          <p:cNvPr id="4" name="箭头: 上 3">
            <a:extLst>
              <a:ext uri="{FF2B5EF4-FFF2-40B4-BE49-F238E27FC236}">
                <a16:creationId xmlns:a16="http://schemas.microsoft.com/office/drawing/2014/main" id="{E7E28918-A7BB-48ED-8F48-B347D6296165}"/>
              </a:ext>
            </a:extLst>
          </p:cNvPr>
          <p:cNvSpPr/>
          <p:nvPr/>
        </p:nvSpPr>
        <p:spPr>
          <a:xfrm>
            <a:off x="7380288" y="5362575"/>
            <a:ext cx="87312" cy="18573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790" name="文本框 4">
            <a:extLst>
              <a:ext uri="{FF2B5EF4-FFF2-40B4-BE49-F238E27FC236}">
                <a16:creationId xmlns:a16="http://schemas.microsoft.com/office/drawing/2014/main" id="{62CD1465-B977-417F-ADBA-C12F3B952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425" y="1562100"/>
            <a:ext cx="2628900" cy="4030663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MOV AL,X</a:t>
            </a:r>
          </a:p>
          <a:p>
            <a:pPr algn="just" eaLnBrk="1" hangingPunct="1"/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  CMP AL,0</a:t>
            </a:r>
          </a:p>
          <a:p>
            <a:pPr algn="just" eaLnBrk="1" hangingPunct="1"/>
            <a:r>
              <a:rPr lang="en-US" altLang="zh-CN" sz="32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JL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 B</a:t>
            </a:r>
          </a:p>
          <a:p>
            <a:pPr algn="just" eaLnBrk="1" hangingPunct="1"/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  JMP L1</a:t>
            </a:r>
          </a:p>
          <a:p>
            <a:pPr algn="just" eaLnBrk="1" hangingPunct="1"/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B: NEG AL</a:t>
            </a:r>
          </a:p>
          <a:p>
            <a:pPr algn="just" eaLnBrk="1" hangingPunct="1"/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L1:MOV Y,AL</a:t>
            </a:r>
          </a:p>
          <a:p>
            <a:pPr algn="just" eaLnBrk="1" hangingPunct="1"/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   :</a:t>
            </a:r>
          </a:p>
          <a:p>
            <a:pPr algn="just" eaLnBrk="1" hangingPunct="1"/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   :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Line 3">
            <a:extLst>
              <a:ext uri="{FF2B5EF4-FFF2-40B4-BE49-F238E27FC236}">
                <a16:creationId xmlns:a16="http://schemas.microsoft.com/office/drawing/2014/main" id="{3323A42F-71BA-458D-BDB1-2ABF1CCE4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8" name="Text Box 6">
            <a:extLst>
              <a:ext uri="{FF2B5EF4-FFF2-40B4-BE49-F238E27FC236}">
                <a16:creationId xmlns:a16="http://schemas.microsoft.com/office/drawing/2014/main" id="{82177C39-4696-488B-9D7E-0A398E441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5105400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(4)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双分支结构一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不好）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:		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:	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产生某条件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JCC	 BRANCH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	;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L1</a:t>
            </a:r>
            <a:r>
              <a:rPr lang="zh-CN" altLang="en-US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	;</a:t>
            </a:r>
            <a:r>
              <a:rPr lang="zh-CN" altLang="en-US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HLT		;</a:t>
            </a:r>
            <a:r>
              <a:rPr lang="zh-CN" altLang="en-US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结束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BRANCH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JMP	L1	</a:t>
            </a:r>
          </a:p>
        </p:txBody>
      </p:sp>
      <p:sp>
        <p:nvSpPr>
          <p:cNvPr id="77828" name="Line 7">
            <a:extLst>
              <a:ext uri="{FF2B5EF4-FFF2-40B4-BE49-F238E27FC236}">
                <a16:creationId xmlns:a16="http://schemas.microsoft.com/office/drawing/2014/main" id="{8DE32A2E-8A3E-481C-83CA-AE2AFFE39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29" name="AutoShape 8">
            <a:extLst>
              <a:ext uri="{FF2B5EF4-FFF2-40B4-BE49-F238E27FC236}">
                <a16:creationId xmlns:a16="http://schemas.microsoft.com/office/drawing/2014/main" id="{EBF22A79-6395-4D7D-B54C-64FE9E20B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7830" name="Group 28">
            <a:extLst>
              <a:ext uri="{FF2B5EF4-FFF2-40B4-BE49-F238E27FC236}">
                <a16:creationId xmlns:a16="http://schemas.microsoft.com/office/drawing/2014/main" id="{8B82F562-BE6C-453A-BFD2-46CCFD81A526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838200"/>
            <a:ext cx="3276600" cy="5181600"/>
            <a:chOff x="6478" y="6020"/>
            <a:chExt cx="3320" cy="4077"/>
          </a:xfrm>
        </p:grpSpPr>
        <p:sp>
          <p:nvSpPr>
            <p:cNvPr id="77835" name="Text Box 29">
              <a:extLst>
                <a:ext uri="{FF2B5EF4-FFF2-40B4-BE49-F238E27FC236}">
                  <a16:creationId xmlns:a16="http://schemas.microsoft.com/office/drawing/2014/main" id="{AD9A6DDF-3BE7-46D4-B208-0BC418F88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8" y="8963"/>
              <a:ext cx="620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L1:</a:t>
              </a:r>
              <a:endParaRPr lang="en-US" altLang="zh-CN" sz="1000">
                <a:latin typeface="Times New Roman" panose="02020603050405020304" pitchFamily="18" charset="0"/>
              </a:endParaRPr>
            </a:p>
          </p:txBody>
        </p:sp>
        <p:sp>
          <p:nvSpPr>
            <p:cNvPr id="77836" name="Text Box 30">
              <a:extLst>
                <a:ext uri="{FF2B5EF4-FFF2-40B4-BE49-F238E27FC236}">
                  <a16:creationId xmlns:a16="http://schemas.microsoft.com/office/drawing/2014/main" id="{2747D0C9-5A24-4639-95EE-0A8A1A54E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" y="8240"/>
              <a:ext cx="4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否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7837" name="Text Box 31">
              <a:extLst>
                <a:ext uri="{FF2B5EF4-FFF2-40B4-BE49-F238E27FC236}">
                  <a16:creationId xmlns:a16="http://schemas.microsoft.com/office/drawing/2014/main" id="{D6E43EC6-FCD9-4CB2-AD73-C561E61B9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8" y="7663"/>
              <a:ext cx="54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7838" name="Text Box 32">
              <a:extLst>
                <a:ext uri="{FF2B5EF4-FFF2-40B4-BE49-F238E27FC236}">
                  <a16:creationId xmlns:a16="http://schemas.microsoft.com/office/drawing/2014/main" id="{77FF2684-BDDA-41AE-8334-EFEE2A0D3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8" y="8140"/>
              <a:ext cx="114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BRANCH</a:t>
              </a:r>
              <a:r>
                <a:rPr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</a:p>
          </p:txBody>
        </p:sp>
        <p:sp>
          <p:nvSpPr>
            <p:cNvPr id="77839" name="Rectangle 33">
              <a:extLst>
                <a:ext uri="{FF2B5EF4-FFF2-40B4-BE49-F238E27FC236}">
                  <a16:creationId xmlns:a16="http://schemas.microsoft.com/office/drawing/2014/main" id="{4B6CFC98-C9E9-4F13-BFE9-5726EAC9B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8" y="8600"/>
              <a:ext cx="152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楷体_GB2312" pitchFamily="49" charset="-122"/>
                  <a:ea typeface="楷体_GB2312" pitchFamily="49" charset="-122"/>
                </a:rPr>
                <a:t>分支程序段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77840" name="Rectangle 34">
              <a:extLst>
                <a:ext uri="{FF2B5EF4-FFF2-40B4-BE49-F238E27FC236}">
                  <a16:creationId xmlns:a16="http://schemas.microsoft.com/office/drawing/2014/main" id="{3D2E74B3-23BE-443A-AF96-AF356158E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8" y="6403"/>
              <a:ext cx="110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77841" name="Rectangle 35">
              <a:extLst>
                <a:ext uri="{FF2B5EF4-FFF2-40B4-BE49-F238E27FC236}">
                  <a16:creationId xmlns:a16="http://schemas.microsoft.com/office/drawing/2014/main" id="{40C2342C-4BDE-4DD5-A014-A8ECE7FEF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" y="7043"/>
              <a:ext cx="11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anose="02020603050405020304" pitchFamily="18" charset="0"/>
                  <a:ea typeface="楷体_GB2312" pitchFamily="49" charset="-122"/>
                </a:rPr>
                <a:t>产生条件</a:t>
              </a:r>
            </a:p>
          </p:txBody>
        </p:sp>
        <p:sp>
          <p:nvSpPr>
            <p:cNvPr id="77842" name="AutoShape 36">
              <a:extLst>
                <a:ext uri="{FF2B5EF4-FFF2-40B4-BE49-F238E27FC236}">
                  <a16:creationId xmlns:a16="http://schemas.microsoft.com/office/drawing/2014/main" id="{3C2A6837-3F3B-4DDA-A7B3-5EE290014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8" y="7703"/>
              <a:ext cx="1660" cy="66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条件？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7843" name="Rectangle 37">
              <a:extLst>
                <a:ext uri="{FF2B5EF4-FFF2-40B4-BE49-F238E27FC236}">
                  <a16:creationId xmlns:a16="http://schemas.microsoft.com/office/drawing/2014/main" id="{DCA1415A-28BD-45B1-AA4D-A55E23DB4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8" y="9423"/>
              <a:ext cx="1180" cy="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77844" name="Line 38">
              <a:extLst>
                <a:ext uri="{FF2B5EF4-FFF2-40B4-BE49-F238E27FC236}">
                  <a16:creationId xmlns:a16="http://schemas.microsoft.com/office/drawing/2014/main" id="{8ED1F99B-57F9-48AF-8456-EBE0ABB25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" y="6020"/>
              <a:ext cx="0" cy="3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5" name="Line 39">
              <a:extLst>
                <a:ext uri="{FF2B5EF4-FFF2-40B4-BE49-F238E27FC236}">
                  <a16:creationId xmlns:a16="http://schemas.microsoft.com/office/drawing/2014/main" id="{03CCFE20-2BD3-4D60-9E4F-F77DCBCA3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8" y="6820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6" name="Line 40">
              <a:extLst>
                <a:ext uri="{FF2B5EF4-FFF2-40B4-BE49-F238E27FC236}">
                  <a16:creationId xmlns:a16="http://schemas.microsoft.com/office/drawing/2014/main" id="{0DE68D99-786D-4CC5-B481-E7ECFB42E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8" y="7463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7" name="Line 41">
              <a:extLst>
                <a:ext uri="{FF2B5EF4-FFF2-40B4-BE49-F238E27FC236}">
                  <a16:creationId xmlns:a16="http://schemas.microsoft.com/office/drawing/2014/main" id="{9F4584AD-C895-427B-9381-F40890836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8" y="8020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8" name="Line 42">
              <a:extLst>
                <a:ext uri="{FF2B5EF4-FFF2-40B4-BE49-F238E27FC236}">
                  <a16:creationId xmlns:a16="http://schemas.microsoft.com/office/drawing/2014/main" id="{6CBE9EAD-12D9-443D-B26F-0BFAA6366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8" y="8020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9" name="Line 43">
              <a:extLst>
                <a:ext uri="{FF2B5EF4-FFF2-40B4-BE49-F238E27FC236}">
                  <a16:creationId xmlns:a16="http://schemas.microsoft.com/office/drawing/2014/main" id="{75E0BCBE-6DFC-4530-9733-140F0D9B8C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18" y="9220"/>
              <a:ext cx="17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0" name="Line 44">
              <a:extLst>
                <a:ext uri="{FF2B5EF4-FFF2-40B4-BE49-F238E27FC236}">
                  <a16:creationId xmlns:a16="http://schemas.microsoft.com/office/drawing/2014/main" id="{FAB785E8-A9EA-405E-B2AB-FE26B8ED4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" y="9900"/>
              <a:ext cx="0" cy="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1" name="Rectangle 45">
              <a:extLst>
                <a:ext uri="{FF2B5EF4-FFF2-40B4-BE49-F238E27FC236}">
                  <a16:creationId xmlns:a16="http://schemas.microsoft.com/office/drawing/2014/main" id="{09E31FB9-0CF5-4653-9A9B-4548BCFC5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8" y="8620"/>
              <a:ext cx="1540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楷体_GB2312" pitchFamily="49" charset="-122"/>
                  <a:ea typeface="楷体_GB2312" pitchFamily="49" charset="-122"/>
                </a:rPr>
                <a:t>分支程序段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77852" name="Line 46">
              <a:extLst>
                <a:ext uri="{FF2B5EF4-FFF2-40B4-BE49-F238E27FC236}">
                  <a16:creationId xmlns:a16="http://schemas.microsoft.com/office/drawing/2014/main" id="{40CF22CA-1516-42C3-B0B9-DC1A237B4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98" y="9040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3" name="Line 47">
              <a:extLst>
                <a:ext uri="{FF2B5EF4-FFF2-40B4-BE49-F238E27FC236}">
                  <a16:creationId xmlns:a16="http://schemas.microsoft.com/office/drawing/2014/main" id="{D1D61250-8B90-4972-96DA-732ACBAFC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8" y="8360"/>
              <a:ext cx="0" cy="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4" name="Line 48">
              <a:extLst>
                <a:ext uri="{FF2B5EF4-FFF2-40B4-BE49-F238E27FC236}">
                  <a16:creationId xmlns:a16="http://schemas.microsoft.com/office/drawing/2014/main" id="{193774C8-010E-4491-8D88-8CD0F089E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8" y="9040"/>
              <a:ext cx="0" cy="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831" name="Text Box 1029">
            <a:extLst>
              <a:ext uri="{FF2B5EF4-FFF2-40B4-BE49-F238E27FC236}">
                <a16:creationId xmlns:a16="http://schemas.microsoft.com/office/drawing/2014/main" id="{85881AA4-D2C5-4488-B2AC-A1248064B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77832" name="页脚占位符 14">
            <a:extLst>
              <a:ext uri="{FF2B5EF4-FFF2-40B4-BE49-F238E27FC236}">
                <a16:creationId xmlns:a16="http://schemas.microsoft.com/office/drawing/2014/main" id="{650E8B9D-8F37-45E8-86C4-BFD80803D38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77833" name="灯片编号占位符 13">
            <a:extLst>
              <a:ext uri="{FF2B5EF4-FFF2-40B4-BE49-F238E27FC236}">
                <a16:creationId xmlns:a16="http://schemas.microsoft.com/office/drawing/2014/main" id="{D31FE5C8-AE5D-417C-8464-890DA11BAAA1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1EDE432E-CBBE-48B8-B13F-7BEA475A6097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7834" name="日期占位符 12">
            <a:extLst>
              <a:ext uri="{FF2B5EF4-FFF2-40B4-BE49-F238E27FC236}">
                <a16:creationId xmlns:a16="http://schemas.microsoft.com/office/drawing/2014/main" id="{095C0AE7-422D-4168-B72B-C0727F569355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901915F-37EB-45C0-9617-EA6A1CCD96EB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3">
            <a:extLst>
              <a:ext uri="{FF2B5EF4-FFF2-40B4-BE49-F238E27FC236}">
                <a16:creationId xmlns:a16="http://schemas.microsoft.com/office/drawing/2014/main" id="{1FCFCE55-89EC-4C76-8448-2E65EA7669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6" name="Text Box 6">
            <a:extLst>
              <a:ext uri="{FF2B5EF4-FFF2-40B4-BE49-F238E27FC236}">
                <a16:creationId xmlns:a16="http://schemas.microsoft.com/office/drawing/2014/main" id="{4D18AE9A-7511-473D-8509-EAA8828E2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838200"/>
            <a:ext cx="5181600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(5)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双分支结构二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（推荐）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: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产生条件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JCC	 BRANCH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;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JMP 	L1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BRANCH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L1:	:	;</a:t>
            </a:r>
            <a:r>
              <a:rPr lang="zh-CN" altLang="en-US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HLT	</a:t>
            </a:r>
          </a:p>
        </p:txBody>
      </p:sp>
      <p:sp>
        <p:nvSpPr>
          <p:cNvPr id="79876" name="Line 7">
            <a:extLst>
              <a:ext uri="{FF2B5EF4-FFF2-40B4-BE49-F238E27FC236}">
                <a16:creationId xmlns:a16="http://schemas.microsoft.com/office/drawing/2014/main" id="{B75A7775-FA35-41F4-A9C1-5DBA138868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77" name="AutoShape 8">
            <a:extLst>
              <a:ext uri="{FF2B5EF4-FFF2-40B4-BE49-F238E27FC236}">
                <a16:creationId xmlns:a16="http://schemas.microsoft.com/office/drawing/2014/main" id="{34D556BB-A0F0-4E38-B3FE-A857805EA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9878" name="Group 30">
            <a:extLst>
              <a:ext uri="{FF2B5EF4-FFF2-40B4-BE49-F238E27FC236}">
                <a16:creationId xmlns:a16="http://schemas.microsoft.com/office/drawing/2014/main" id="{EED21F4D-D8F3-4DAD-BB3C-CFA4286809BE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914400"/>
            <a:ext cx="3429000" cy="5181600"/>
            <a:chOff x="6318" y="1860"/>
            <a:chExt cx="3320" cy="4077"/>
          </a:xfrm>
        </p:grpSpPr>
        <p:sp>
          <p:nvSpPr>
            <p:cNvPr id="79883" name="Text Box 31">
              <a:extLst>
                <a:ext uri="{FF2B5EF4-FFF2-40B4-BE49-F238E27FC236}">
                  <a16:creationId xmlns:a16="http://schemas.microsoft.com/office/drawing/2014/main" id="{E04221FE-9F65-4689-95D0-DE64A7833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8" y="4920"/>
              <a:ext cx="620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L1:</a:t>
              </a:r>
            </a:p>
          </p:txBody>
        </p:sp>
        <p:sp>
          <p:nvSpPr>
            <p:cNvPr id="79884" name="Text Box 32">
              <a:extLst>
                <a:ext uri="{FF2B5EF4-FFF2-40B4-BE49-F238E27FC236}">
                  <a16:creationId xmlns:a16="http://schemas.microsoft.com/office/drawing/2014/main" id="{5DCC38F6-259D-4DC8-8961-F67F3A491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8" y="4072"/>
              <a:ext cx="4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anose="02020603050405020304" pitchFamily="18" charset="0"/>
                  <a:ea typeface="楷体_GB2312" pitchFamily="49" charset="-122"/>
                </a:rPr>
                <a:t>否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9885" name="Text Box 33">
              <a:extLst>
                <a:ext uri="{FF2B5EF4-FFF2-40B4-BE49-F238E27FC236}">
                  <a16:creationId xmlns:a16="http://schemas.microsoft.com/office/drawing/2014/main" id="{A1CA240F-8DE2-493F-9B48-1DECCFF0B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8" y="3495"/>
              <a:ext cx="54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endParaRPr lang="zh-CN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9886" name="Text Box 34">
              <a:extLst>
                <a:ext uri="{FF2B5EF4-FFF2-40B4-BE49-F238E27FC236}">
                  <a16:creationId xmlns:a16="http://schemas.microsoft.com/office/drawing/2014/main" id="{2E1B608C-0072-47D8-9098-C3AE7AA245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8" y="3972"/>
              <a:ext cx="114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楷体_GB2312" pitchFamily="49" charset="-122"/>
                  <a:ea typeface="楷体_GB2312" pitchFamily="49" charset="-122"/>
                </a:rPr>
                <a:t>BRANCH</a:t>
              </a:r>
              <a:r>
                <a:rPr lang="zh-CN" altLang="en-US" sz="1600" b="1">
                  <a:latin typeface="楷体_GB2312" pitchFamily="49" charset="-122"/>
                  <a:ea typeface="楷体_GB2312" pitchFamily="49" charset="-122"/>
                </a:rPr>
                <a:t>：</a:t>
              </a:r>
              <a:endParaRPr lang="zh-CN" altLang="en-US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9887" name="Rectangle 35">
              <a:extLst>
                <a:ext uri="{FF2B5EF4-FFF2-40B4-BE49-F238E27FC236}">
                  <a16:creationId xmlns:a16="http://schemas.microsoft.com/office/drawing/2014/main" id="{21C6379E-40CF-4FBE-8732-1D224BD30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8" y="4432"/>
              <a:ext cx="152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楷体_GB2312" pitchFamily="49" charset="-122"/>
                  <a:ea typeface="楷体_GB2312" pitchFamily="49" charset="-122"/>
                </a:rPr>
                <a:t>分支程序段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0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9888" name="Rectangle 36">
              <a:extLst>
                <a:ext uri="{FF2B5EF4-FFF2-40B4-BE49-F238E27FC236}">
                  <a16:creationId xmlns:a16="http://schemas.microsoft.com/office/drawing/2014/main" id="{5876BA3E-CEBF-4891-879F-F87F943E5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8" y="2235"/>
              <a:ext cx="110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79889" name="Rectangle 37">
              <a:extLst>
                <a:ext uri="{FF2B5EF4-FFF2-40B4-BE49-F238E27FC236}">
                  <a16:creationId xmlns:a16="http://schemas.microsoft.com/office/drawing/2014/main" id="{7B68CA96-2387-4E91-AA07-046BD9CDD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8" y="2875"/>
              <a:ext cx="118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产生条件</a:t>
              </a:r>
            </a:p>
          </p:txBody>
        </p:sp>
        <p:sp>
          <p:nvSpPr>
            <p:cNvPr id="79890" name="AutoShape 38">
              <a:extLst>
                <a:ext uri="{FF2B5EF4-FFF2-40B4-BE49-F238E27FC236}">
                  <a16:creationId xmlns:a16="http://schemas.microsoft.com/office/drawing/2014/main" id="{C1BEF175-80F6-43CC-BAA0-E6F80C31D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8" y="3535"/>
              <a:ext cx="1660" cy="66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  <a:ea typeface="楷体_GB2312" pitchFamily="49" charset="-122"/>
                </a:rPr>
                <a:t>条件？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9891" name="Rectangle 39">
              <a:extLst>
                <a:ext uri="{FF2B5EF4-FFF2-40B4-BE49-F238E27FC236}">
                  <a16:creationId xmlns:a16="http://schemas.microsoft.com/office/drawing/2014/main" id="{E46AC958-DE17-489E-928D-FE77DA702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8" y="5280"/>
              <a:ext cx="1180" cy="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latin typeface="楷体_GB2312" pitchFamily="49" charset="-122"/>
                  <a:ea typeface="楷体_GB2312" pitchFamily="49" charset="-122"/>
                </a:rPr>
                <a:t>程序段</a:t>
              </a:r>
              <a:r>
                <a:rPr lang="en-US" altLang="zh-CN" sz="2000" b="1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79892" name="Line 40">
              <a:extLst>
                <a:ext uri="{FF2B5EF4-FFF2-40B4-BE49-F238E27FC236}">
                  <a16:creationId xmlns:a16="http://schemas.microsoft.com/office/drawing/2014/main" id="{1BEAED03-6425-45D9-AA4A-6BF8F8F1D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8" y="1860"/>
              <a:ext cx="0" cy="3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3" name="Line 41">
              <a:extLst>
                <a:ext uri="{FF2B5EF4-FFF2-40B4-BE49-F238E27FC236}">
                  <a16:creationId xmlns:a16="http://schemas.microsoft.com/office/drawing/2014/main" id="{FFA00064-D672-45F0-AC08-25C6381DA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8" y="2652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4" name="Line 42">
              <a:extLst>
                <a:ext uri="{FF2B5EF4-FFF2-40B4-BE49-F238E27FC236}">
                  <a16:creationId xmlns:a16="http://schemas.microsoft.com/office/drawing/2014/main" id="{1920D1DB-6C5E-4789-BFB9-595669EA2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8" y="3300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5" name="Line 43">
              <a:extLst>
                <a:ext uri="{FF2B5EF4-FFF2-40B4-BE49-F238E27FC236}">
                  <a16:creationId xmlns:a16="http://schemas.microsoft.com/office/drawing/2014/main" id="{8AC4BE6A-4021-4231-8CBF-D772395CF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8" y="3852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6" name="Line 44">
              <a:extLst>
                <a:ext uri="{FF2B5EF4-FFF2-40B4-BE49-F238E27FC236}">
                  <a16:creationId xmlns:a16="http://schemas.microsoft.com/office/drawing/2014/main" id="{DF923F1A-7E6C-461C-8E1D-6CD8D232D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78" y="3852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7" name="Line 45">
              <a:extLst>
                <a:ext uri="{FF2B5EF4-FFF2-40B4-BE49-F238E27FC236}">
                  <a16:creationId xmlns:a16="http://schemas.microsoft.com/office/drawing/2014/main" id="{C4A3A8ED-26B1-4E5E-99CA-AE6FDBC77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18" y="5740"/>
              <a:ext cx="0" cy="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8" name="Rectangle 46">
              <a:extLst>
                <a:ext uri="{FF2B5EF4-FFF2-40B4-BE49-F238E27FC236}">
                  <a16:creationId xmlns:a16="http://schemas.microsoft.com/office/drawing/2014/main" id="{6AED6971-48D7-44B0-B011-B2FFCAF73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8" y="4452"/>
              <a:ext cx="1540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楷体_GB2312" pitchFamily="49" charset="-122"/>
                  <a:ea typeface="楷体_GB2312" pitchFamily="49" charset="-122"/>
                </a:rPr>
                <a:t>分支程序段</a:t>
              </a:r>
              <a:r>
                <a:rPr lang="en-US" altLang="zh-CN" sz="1800" b="1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1000">
                <a:latin typeface="Times New Roman" panose="02020603050405020304" pitchFamily="18" charset="0"/>
              </a:endParaRPr>
            </a:p>
          </p:txBody>
        </p:sp>
        <p:sp>
          <p:nvSpPr>
            <p:cNvPr id="79899" name="Line 47">
              <a:extLst>
                <a:ext uri="{FF2B5EF4-FFF2-40B4-BE49-F238E27FC236}">
                  <a16:creationId xmlns:a16="http://schemas.microsoft.com/office/drawing/2014/main" id="{48A39A98-1FC4-4A3C-B65C-0B67BA817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8" y="4860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0" name="Line 48">
              <a:extLst>
                <a:ext uri="{FF2B5EF4-FFF2-40B4-BE49-F238E27FC236}">
                  <a16:creationId xmlns:a16="http://schemas.microsoft.com/office/drawing/2014/main" id="{4FA5CBFA-3794-4C3C-9ADA-A6BD9BB45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8" y="4200"/>
              <a:ext cx="0" cy="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1" name="Line 49">
              <a:extLst>
                <a:ext uri="{FF2B5EF4-FFF2-40B4-BE49-F238E27FC236}">
                  <a16:creationId xmlns:a16="http://schemas.microsoft.com/office/drawing/2014/main" id="{4B343225-7599-4E9E-B3F8-2B7D4DFC3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18" y="4880"/>
              <a:ext cx="0" cy="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2" name="Line 50">
              <a:extLst>
                <a:ext uri="{FF2B5EF4-FFF2-40B4-BE49-F238E27FC236}">
                  <a16:creationId xmlns:a16="http://schemas.microsoft.com/office/drawing/2014/main" id="{5AC0E841-74A7-467E-A1D2-4A3688FB6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8" y="5040"/>
              <a:ext cx="1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9879" name="Text Box 1029">
            <a:extLst>
              <a:ext uri="{FF2B5EF4-FFF2-40B4-BE49-F238E27FC236}">
                <a16:creationId xmlns:a16="http://schemas.microsoft.com/office/drawing/2014/main" id="{57356190-75C6-445B-82CE-292077957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79880" name="页脚占位符 14">
            <a:extLst>
              <a:ext uri="{FF2B5EF4-FFF2-40B4-BE49-F238E27FC236}">
                <a16:creationId xmlns:a16="http://schemas.microsoft.com/office/drawing/2014/main" id="{7E311C7C-56E6-4FFA-A3DC-D44F3D61AFA0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79881" name="灯片编号占位符 13">
            <a:extLst>
              <a:ext uri="{FF2B5EF4-FFF2-40B4-BE49-F238E27FC236}">
                <a16:creationId xmlns:a16="http://schemas.microsoft.com/office/drawing/2014/main" id="{7645C7A8-F641-4B3D-995C-670506453BC9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CC6859D-2F56-46F2-B9E3-4D438CC888D1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9882" name="日期占位符 12">
            <a:extLst>
              <a:ext uri="{FF2B5EF4-FFF2-40B4-BE49-F238E27FC236}">
                <a16:creationId xmlns:a16="http://schemas.microsoft.com/office/drawing/2014/main" id="{0AF1CFB6-C4A9-45FA-A2D8-DD42CF6E5B1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5FC2E63-2F94-48C3-A770-DA76FEB6E54A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Line 3">
            <a:extLst>
              <a:ext uri="{FF2B5EF4-FFF2-40B4-BE49-F238E27FC236}">
                <a16:creationId xmlns:a16="http://schemas.microsoft.com/office/drawing/2014/main" id="{4B1BB095-12E6-4911-ABAD-554FEDD162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6" name="Text Box 6">
            <a:extLst>
              <a:ext uri="{FF2B5EF4-FFF2-40B4-BE49-F238E27FC236}">
                <a16:creationId xmlns:a16="http://schemas.microsoft.com/office/drawing/2014/main" id="{3FB9010F-E70C-4EB6-AFB4-B98251381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1539875"/>
            <a:ext cx="3903662" cy="4216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	:	;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产生条件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JCC  L2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;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JMP DOWN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L2</a:t>
            </a:r>
            <a:r>
              <a:rPr lang="zh-CN" altLang="en-US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  <a:r>
              <a:rPr lang="en-US" altLang="zh-CN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DOWN:	:	;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	:	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:	</a:t>
            </a:r>
            <a:endParaRPr lang="en-US" altLang="zh-CN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1924" name="Line 7">
            <a:extLst>
              <a:ext uri="{FF2B5EF4-FFF2-40B4-BE49-F238E27FC236}">
                <a16:creationId xmlns:a16="http://schemas.microsoft.com/office/drawing/2014/main" id="{091FF174-9B33-404B-BE9B-B88AA2186C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5" name="AutoShape 8">
            <a:extLst>
              <a:ext uri="{FF2B5EF4-FFF2-40B4-BE49-F238E27FC236}">
                <a16:creationId xmlns:a16="http://schemas.microsoft.com/office/drawing/2014/main" id="{7F691981-0C52-4EE3-9A92-81BACB931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1926" name="Text Box 1029">
            <a:extLst>
              <a:ext uri="{FF2B5EF4-FFF2-40B4-BE49-F238E27FC236}">
                <a16:creationId xmlns:a16="http://schemas.microsoft.com/office/drawing/2014/main" id="{19E8BE0B-4274-49F3-8DC4-16EAF3012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81927" name="页脚占位符 14">
            <a:extLst>
              <a:ext uri="{FF2B5EF4-FFF2-40B4-BE49-F238E27FC236}">
                <a16:creationId xmlns:a16="http://schemas.microsoft.com/office/drawing/2014/main" id="{B2B6D4A8-603D-445E-B904-4D82479D4088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81928" name="灯片编号占位符 13">
            <a:extLst>
              <a:ext uri="{FF2B5EF4-FFF2-40B4-BE49-F238E27FC236}">
                <a16:creationId xmlns:a16="http://schemas.microsoft.com/office/drawing/2014/main" id="{7C8999E5-47E4-4EA7-807D-646B3DBE14E4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62BFE80-9EDC-41B8-99B3-89FD0F3EB1D6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1929" name="日期占位符 12">
            <a:extLst>
              <a:ext uri="{FF2B5EF4-FFF2-40B4-BE49-F238E27FC236}">
                <a16:creationId xmlns:a16="http://schemas.microsoft.com/office/drawing/2014/main" id="{75D040C2-B412-424D-A1EE-C6816686BD45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62D27CF-766A-4802-BA33-9AFE2698D11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1930" name="文本框 1">
            <a:extLst>
              <a:ext uri="{FF2B5EF4-FFF2-40B4-BE49-F238E27FC236}">
                <a16:creationId xmlns:a16="http://schemas.microsoft.com/office/drawing/2014/main" id="{558DBF0E-047D-4DCE-AC83-7AB313DB6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747713"/>
            <a:ext cx="5400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(6)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双分支结构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（一般结构）</a:t>
            </a:r>
            <a:endParaRPr lang="zh-CN" altLang="en-US" sz="3200"/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9CC4EE5D-F904-4C99-A6DD-09D08A3F7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513" y="1539875"/>
            <a:ext cx="3903662" cy="4216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	:	;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产生条件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JNCC  L1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;</a:t>
            </a:r>
            <a:r>
              <a:rPr lang="zh-CN" altLang="en-US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  <a:r>
              <a:rPr lang="en-US" altLang="zh-CN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JMP DOWN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L1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	;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分支程序段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: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DOWN:	:	;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程序段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	:	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endParaRPr lang="en-US" altLang="zh-CN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 animBg="1" autoUpdateAnimBg="0"/>
      <p:bldP spid="32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Line 3">
            <a:extLst>
              <a:ext uri="{FF2B5EF4-FFF2-40B4-BE49-F238E27FC236}">
                <a16:creationId xmlns:a16="http://schemas.microsoft.com/office/drawing/2014/main" id="{BCB17566-37EA-4D24-B48E-2BC0BE48E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2" name="Text Box 6">
            <a:extLst>
              <a:ext uri="{FF2B5EF4-FFF2-40B4-BE49-F238E27FC236}">
                <a16:creationId xmlns:a16="http://schemas.microsoft.com/office/drawing/2014/main" id="{39A4B31D-4415-4056-927A-68A6E201E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36700"/>
            <a:ext cx="3962400" cy="4498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AND	AL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0FH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CMP	AL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JL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B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	AL</a:t>
            </a:r>
            <a:r>
              <a:rPr lang="zh-CN" altLang="en-US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37H</a:t>
            </a:r>
            <a:endParaRPr lang="en-US" altLang="zh-CN" sz="36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S2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MOV	DL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AL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MOV	AH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INT	21H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HLT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	AL</a:t>
            </a:r>
            <a:r>
              <a:rPr lang="zh-CN" altLang="en-US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30H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JMP	S2</a:t>
            </a:r>
            <a:endParaRPr lang="en-US" altLang="zh-CN" sz="3600" b="1">
              <a:solidFill>
                <a:schemeClr val="accent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3972" name="Line 7">
            <a:extLst>
              <a:ext uri="{FF2B5EF4-FFF2-40B4-BE49-F238E27FC236}">
                <a16:creationId xmlns:a16="http://schemas.microsoft.com/office/drawing/2014/main" id="{314A893B-5892-4103-A490-946A54DA01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3" name="AutoShape 8">
            <a:extLst>
              <a:ext uri="{FF2B5EF4-FFF2-40B4-BE49-F238E27FC236}">
                <a16:creationId xmlns:a16="http://schemas.microsoft.com/office/drawing/2014/main" id="{445F4790-7F73-4504-8A39-18AAB1ACE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3974" name="Text Box 9">
            <a:extLst>
              <a:ext uri="{FF2B5EF4-FFF2-40B4-BE49-F238E27FC236}">
                <a16:creationId xmlns:a16="http://schemas.microsoft.com/office/drawing/2014/main" id="{1BEA826D-D8AB-491C-B3EC-4C1D23720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5888" y="1536700"/>
            <a:ext cx="3657600" cy="44989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AND	AL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0FH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CMP	AL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JGE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B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	AL</a:t>
            </a:r>
            <a:r>
              <a:rPr lang="zh-CN" altLang="en-US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30H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JMP	S2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	AL</a:t>
            </a:r>
            <a:r>
              <a:rPr lang="zh-CN" altLang="en-US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37H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 S2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MOV	DL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AL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MOV	AH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INT	21H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endParaRPr lang="en-US" altLang="zh-CN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3975" name="Text Box 10">
            <a:extLst>
              <a:ext uri="{FF2B5EF4-FFF2-40B4-BE49-F238E27FC236}">
                <a16:creationId xmlns:a16="http://schemas.microsoft.com/office/drawing/2014/main" id="{EBCA52A3-F317-4327-9AB6-D9FDD3F59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62000"/>
            <a:ext cx="7467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7]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将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中的一位十六进制数显示出来。</a:t>
            </a:r>
            <a:endParaRPr lang="zh-CN" altLang="en-US" sz="240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3976" name="Text Box 1029">
            <a:extLst>
              <a:ext uri="{FF2B5EF4-FFF2-40B4-BE49-F238E27FC236}">
                <a16:creationId xmlns:a16="http://schemas.microsoft.com/office/drawing/2014/main" id="{F8628D95-5381-4881-A7F9-6379B4D49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83977" name="页脚占位符 14">
            <a:extLst>
              <a:ext uri="{FF2B5EF4-FFF2-40B4-BE49-F238E27FC236}">
                <a16:creationId xmlns:a16="http://schemas.microsoft.com/office/drawing/2014/main" id="{EF5778B5-3EF8-42A0-A40D-28EBB4F9D18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83978" name="灯片编号占位符 13">
            <a:extLst>
              <a:ext uri="{FF2B5EF4-FFF2-40B4-BE49-F238E27FC236}">
                <a16:creationId xmlns:a16="http://schemas.microsoft.com/office/drawing/2014/main" id="{5712490C-95A4-4319-B2C3-D093ED0318BA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83CA2EE0-0924-4348-A43A-99B1347BFDD0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3979" name="日期占位符 12">
            <a:extLst>
              <a:ext uri="{FF2B5EF4-FFF2-40B4-BE49-F238E27FC236}">
                <a16:creationId xmlns:a16="http://schemas.microsoft.com/office/drawing/2014/main" id="{ADAB5490-281F-4181-9CCF-300C95673AA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BF45EF1-8F3C-4D49-8314-EC0AEBC6E8B5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2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Line 3">
            <a:extLst>
              <a:ext uri="{FF2B5EF4-FFF2-40B4-BE49-F238E27FC236}">
                <a16:creationId xmlns:a16="http://schemas.microsoft.com/office/drawing/2014/main" id="{E1CA4A80-165A-4C7B-BC21-C8F172A6E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19" name="Line 7">
            <a:extLst>
              <a:ext uri="{FF2B5EF4-FFF2-40B4-BE49-F238E27FC236}">
                <a16:creationId xmlns:a16="http://schemas.microsoft.com/office/drawing/2014/main" id="{5F86EA21-71FC-421A-951A-A6B1C5E16B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0" name="AutoShape 8">
            <a:extLst>
              <a:ext uri="{FF2B5EF4-FFF2-40B4-BE49-F238E27FC236}">
                <a16:creationId xmlns:a16="http://schemas.microsoft.com/office/drawing/2014/main" id="{699A0F15-8C89-468B-8B38-7CBC6FB8F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6021" name="Text Box 9">
            <a:extLst>
              <a:ext uri="{FF2B5EF4-FFF2-40B4-BE49-F238E27FC236}">
                <a16:creationId xmlns:a16="http://schemas.microsoft.com/office/drawing/2014/main" id="{21257C82-171D-4DCB-BFF0-A1BB12D04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513" y="1546225"/>
            <a:ext cx="3657600" cy="44005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3103DB"/>
                </a:solidFill>
                <a:latin typeface="楷体_GB2312" pitchFamily="49" charset="-122"/>
                <a:ea typeface="楷体_GB2312" pitchFamily="49" charset="-122"/>
              </a:rPr>
              <a:t>改为单分支形式：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AND	AL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0FH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CMP	AL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3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JL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	B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ADD	AL</a:t>
            </a:r>
            <a:r>
              <a:rPr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	</a:t>
            </a:r>
            <a:r>
              <a:rPr lang="en-US" altLang="zh-CN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ADD	AL</a:t>
            </a:r>
            <a:r>
              <a:rPr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30H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 	MOV	DL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AL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	MOV	AH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	INT	21H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en-US" altLang="zh-CN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6022" name="Text Box 10">
            <a:extLst>
              <a:ext uri="{FF2B5EF4-FFF2-40B4-BE49-F238E27FC236}">
                <a16:creationId xmlns:a16="http://schemas.microsoft.com/office/drawing/2014/main" id="{C406FFBE-F958-4F12-9E67-C0032F220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776288"/>
            <a:ext cx="8597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7]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AL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中的一位十六进制数显示出来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2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改进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6023" name="Text Box 9">
            <a:extLst>
              <a:ext uri="{FF2B5EF4-FFF2-40B4-BE49-F238E27FC236}">
                <a16:creationId xmlns:a16="http://schemas.microsoft.com/office/drawing/2014/main" id="{C81E7FB4-E243-4431-B8DA-7D46CA5A2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484313"/>
            <a:ext cx="3657600" cy="45243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AND	AL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0FH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CMP	AL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JL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B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	AL</a:t>
            </a:r>
            <a:r>
              <a:rPr lang="zh-CN" altLang="en-US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37H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JMP	S2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	AL</a:t>
            </a:r>
            <a:r>
              <a:rPr lang="zh-CN" altLang="en-US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30H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 S2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MOV	DL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AL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MOV	AH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INT	21H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36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endParaRPr lang="en-US" altLang="zh-CN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6024" name="Text Box 1029">
            <a:extLst>
              <a:ext uri="{FF2B5EF4-FFF2-40B4-BE49-F238E27FC236}">
                <a16:creationId xmlns:a16="http://schemas.microsoft.com/office/drawing/2014/main" id="{7AA25FF4-4983-41BD-BC36-2090E1CBE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86025" name="页脚占位符 14">
            <a:extLst>
              <a:ext uri="{FF2B5EF4-FFF2-40B4-BE49-F238E27FC236}">
                <a16:creationId xmlns:a16="http://schemas.microsoft.com/office/drawing/2014/main" id="{B68D3C0F-DC1B-47C0-AF10-A00F8743756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86026" name="灯片编号占位符 13">
            <a:extLst>
              <a:ext uri="{FF2B5EF4-FFF2-40B4-BE49-F238E27FC236}">
                <a16:creationId xmlns:a16="http://schemas.microsoft.com/office/drawing/2014/main" id="{D4E14976-073A-4F21-94E7-CDEEF897E888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223B90C-72C1-443E-9223-3B4D142285A0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6027" name="日期占位符 12">
            <a:extLst>
              <a:ext uri="{FF2B5EF4-FFF2-40B4-BE49-F238E27FC236}">
                <a16:creationId xmlns:a16="http://schemas.microsoft.com/office/drawing/2014/main" id="{EFFEDF32-FEC3-4ED2-9279-1F90A072BF0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D557A25-82A2-43D1-9587-810A4FAFEBDA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6028" name="文本框 1">
            <a:extLst>
              <a:ext uri="{FF2B5EF4-FFF2-40B4-BE49-F238E27FC236}">
                <a16:creationId xmlns:a16="http://schemas.microsoft.com/office/drawing/2014/main" id="{9FC9F3D3-6C11-4BAF-9E8A-8DDA0DA27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5589588"/>
            <a:ext cx="877887" cy="4714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OK!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Line 3">
            <a:extLst>
              <a:ext uri="{FF2B5EF4-FFF2-40B4-BE49-F238E27FC236}">
                <a16:creationId xmlns:a16="http://schemas.microsoft.com/office/drawing/2014/main" id="{A5ECA0A3-6C81-4D26-A4EF-B663EB4BE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8" name="Text Box 6">
            <a:extLst>
              <a:ext uri="{FF2B5EF4-FFF2-40B4-BE49-F238E27FC236}">
                <a16:creationId xmlns:a16="http://schemas.microsoft.com/office/drawing/2014/main" id="{B1AB0F67-6A96-458F-A9FC-71417EB68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20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双分支程序设计举例	</a:t>
            </a:r>
            <a:endParaRPr lang="zh-CN" altLang="en-US" sz="28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8068" name="Line 7">
            <a:extLst>
              <a:ext uri="{FF2B5EF4-FFF2-40B4-BE49-F238E27FC236}">
                <a16:creationId xmlns:a16="http://schemas.microsoft.com/office/drawing/2014/main" id="{598BD4F5-C462-4CF3-9F50-A3CA7860A7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069" name="AutoShape 8">
            <a:extLst>
              <a:ext uri="{FF2B5EF4-FFF2-40B4-BE49-F238E27FC236}">
                <a16:creationId xmlns:a16="http://schemas.microsoft.com/office/drawing/2014/main" id="{25D3BCDD-7322-426C-B26A-23AA21A69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8070" name="Text Box 11">
            <a:extLst>
              <a:ext uri="{FF2B5EF4-FFF2-40B4-BE49-F238E27FC236}">
                <a16:creationId xmlns:a16="http://schemas.microsoft.com/office/drawing/2014/main" id="{54B7D50F-7F6C-487C-9B89-2AD08D27B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438400"/>
            <a:ext cx="6324600" cy="379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SOURCE	DB      12,78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MAX     	DB      ?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: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MOV     AL,SOURCE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      	CMP     AL,SOURCE+1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      	</a:t>
            </a:r>
            <a:r>
              <a:rPr lang="en-US" altLang="zh-CN" sz="28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JNC     BRANCH</a:t>
            </a:r>
            <a:endParaRPr lang="en-US" altLang="zh-CN" sz="28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      	MOV     AL,SOURCE+1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BRANCH: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 	</a:t>
            </a:r>
            <a:r>
              <a:rPr lang="en-US" altLang="zh-CN" sz="28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     MAX,AL</a:t>
            </a: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      </a:t>
            </a:r>
          </a:p>
        </p:txBody>
      </p:sp>
      <p:sp>
        <p:nvSpPr>
          <p:cNvPr id="88071" name="Text Box 12">
            <a:extLst>
              <a:ext uri="{FF2B5EF4-FFF2-40B4-BE49-F238E27FC236}">
                <a16:creationId xmlns:a16="http://schemas.microsoft.com/office/drawing/2014/main" id="{6EFABF05-ACFB-41BC-87BD-EEAB5CD4A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47800"/>
            <a:ext cx="7467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[</a:t>
            </a:r>
            <a:r>
              <a:rPr lang="zh-CN" altLang="en-US" sz="2800" b="1">
                <a:latin typeface="宋体" panose="02010600030101010101" pitchFamily="2" charset="-122"/>
              </a:rPr>
              <a:t>例</a:t>
            </a:r>
            <a:r>
              <a:rPr lang="en-US" altLang="zh-CN" sz="2800" b="1">
                <a:latin typeface="宋体" panose="02010600030101010101" pitchFamily="2" charset="-122"/>
              </a:rPr>
              <a:t>8]  </a:t>
            </a:r>
            <a:r>
              <a:rPr lang="zh-CN" altLang="en-US" sz="2800" b="1">
                <a:latin typeface="宋体" panose="02010600030101010101" pitchFamily="2" charset="-122"/>
              </a:rPr>
              <a:t>比较两个无符号数的大小，把大数存入</a:t>
            </a:r>
            <a:r>
              <a:rPr lang="en-US" altLang="zh-CN" sz="2800" b="1">
                <a:latin typeface="宋体" panose="02010600030101010101" pitchFamily="2" charset="-122"/>
              </a:rPr>
              <a:t>MAX</a:t>
            </a:r>
            <a:r>
              <a:rPr lang="zh-CN" altLang="en-US" sz="2800" b="1">
                <a:latin typeface="宋体" panose="02010600030101010101" pitchFamily="2" charset="-122"/>
              </a:rPr>
              <a:t>单元。</a:t>
            </a:r>
            <a:r>
              <a:rPr lang="en-US" altLang="zh-CN" sz="2800">
                <a:solidFill>
                  <a:srgbClr val="DDDDDD"/>
                </a:solidFill>
                <a:latin typeface="宋体" panose="02010600030101010101" pitchFamily="2" charset="-122"/>
                <a:hlinkClick r:id="rId3" action="ppaction://hlinkfile"/>
              </a:rPr>
              <a:t>EP501.asm</a:t>
            </a:r>
            <a:endParaRPr lang="en-US" altLang="zh-CN" sz="2800">
              <a:latin typeface="宋体" panose="02010600030101010101" pitchFamily="2" charset="-122"/>
            </a:endParaRPr>
          </a:p>
        </p:txBody>
      </p:sp>
      <p:sp>
        <p:nvSpPr>
          <p:cNvPr id="88072" name="Text Box 1029">
            <a:extLst>
              <a:ext uri="{FF2B5EF4-FFF2-40B4-BE49-F238E27FC236}">
                <a16:creationId xmlns:a16="http://schemas.microsoft.com/office/drawing/2014/main" id="{5F1C11D1-FC54-4DF3-BA92-2824B3879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88073" name="页脚占位符 14">
            <a:extLst>
              <a:ext uri="{FF2B5EF4-FFF2-40B4-BE49-F238E27FC236}">
                <a16:creationId xmlns:a16="http://schemas.microsoft.com/office/drawing/2014/main" id="{B6A8B073-09EA-4B26-8648-ECEC4562E2C1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88074" name="灯片编号占位符 13">
            <a:extLst>
              <a:ext uri="{FF2B5EF4-FFF2-40B4-BE49-F238E27FC236}">
                <a16:creationId xmlns:a16="http://schemas.microsoft.com/office/drawing/2014/main" id="{57144772-2173-4F98-9F93-963E183565C2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D361281-C683-4399-9DB3-5DF342326B8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8075" name="日期占位符 12">
            <a:extLst>
              <a:ext uri="{FF2B5EF4-FFF2-40B4-BE49-F238E27FC236}">
                <a16:creationId xmlns:a16="http://schemas.microsoft.com/office/drawing/2014/main" id="{1DC93602-39C3-4ACC-9B75-2FA292A72C0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6D1BE7F-9B8E-41EA-ABB7-A61C43EB0693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Line 3">
            <a:extLst>
              <a:ext uri="{FF2B5EF4-FFF2-40B4-BE49-F238E27FC236}">
                <a16:creationId xmlns:a16="http://schemas.microsoft.com/office/drawing/2014/main" id="{83E2259D-7C62-4110-9D42-FF4E8F2A0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5" name="Line 5">
            <a:extLst>
              <a:ext uri="{FF2B5EF4-FFF2-40B4-BE49-F238E27FC236}">
                <a16:creationId xmlns:a16="http://schemas.microsoft.com/office/drawing/2014/main" id="{82235C0E-EF8E-415D-9762-8B00B481F5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116" name="AutoShape 6">
            <a:extLst>
              <a:ext uri="{FF2B5EF4-FFF2-40B4-BE49-F238E27FC236}">
                <a16:creationId xmlns:a16="http://schemas.microsoft.com/office/drawing/2014/main" id="{D8DCE953-0E89-4717-B603-862ABFDDF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0117" name="Text Box 8">
            <a:extLst>
              <a:ext uri="{FF2B5EF4-FFF2-40B4-BE49-F238E27FC236}">
                <a16:creationId xmlns:a16="http://schemas.microsoft.com/office/drawing/2014/main" id="{93368C59-295F-4428-87B8-F9E2D1A8F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52600"/>
            <a:ext cx="9144000" cy="10477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BLOCK	DB 	'Search a largest character!'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COUNT   	EQU	$-BLOCK</a:t>
            </a:r>
            <a:r>
              <a:rPr lang="en-US" altLang="zh-CN" sz="280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</a:p>
        </p:txBody>
      </p:sp>
      <p:sp>
        <p:nvSpPr>
          <p:cNvPr id="90118" name="Text Box 9">
            <a:extLst>
              <a:ext uri="{FF2B5EF4-FFF2-40B4-BE49-F238E27FC236}">
                <a16:creationId xmlns:a16="http://schemas.microsoft.com/office/drawing/2014/main" id="{F9DC1D28-F639-47B8-A27E-AFE7299A4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762000"/>
            <a:ext cx="822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[</a:t>
            </a:r>
            <a:r>
              <a:rPr lang="zh-CN" altLang="en-US" sz="2800" b="1">
                <a:latin typeface="宋体" panose="02010600030101010101" pitchFamily="2" charset="-122"/>
              </a:rPr>
              <a:t>例</a:t>
            </a:r>
            <a:r>
              <a:rPr lang="en-US" altLang="zh-CN" sz="2800" b="1">
                <a:latin typeface="宋体" panose="02010600030101010101" pitchFamily="2" charset="-122"/>
              </a:rPr>
              <a:t>9] </a:t>
            </a:r>
            <a:r>
              <a:rPr lang="zh-CN" altLang="en-US" sz="2800" b="1">
                <a:latin typeface="宋体" panose="02010600030101010101" pitchFamily="2" charset="-122"/>
              </a:rPr>
              <a:t>设在一字符串中，找出</a:t>
            </a:r>
            <a:r>
              <a:rPr lang="en-US" altLang="zh-CN" sz="2800" b="1">
                <a:latin typeface="宋体" panose="02010600030101010101" pitchFamily="2" charset="-122"/>
              </a:rPr>
              <a:t>ASCII</a:t>
            </a:r>
            <a:r>
              <a:rPr lang="zh-CN" altLang="en-US" sz="2800" b="1">
                <a:latin typeface="宋体" panose="02010600030101010101" pitchFamily="2" charset="-122"/>
              </a:rPr>
              <a:t>值最大的显示。</a:t>
            </a:r>
            <a:r>
              <a:rPr lang="en-US" altLang="zh-CN" sz="2800">
                <a:solidFill>
                  <a:srgbClr val="DDDDDD"/>
                </a:solidFill>
                <a:latin typeface="宋体" panose="02010600030101010101" pitchFamily="2" charset="-122"/>
                <a:hlinkClick r:id="rId3" action="ppaction://hlinkfile"/>
              </a:rPr>
              <a:t>EP502.asm</a:t>
            </a:r>
            <a:endParaRPr lang="en-US" altLang="zh-CN" sz="2800">
              <a:solidFill>
                <a:srgbClr val="DDDDDD"/>
              </a:solidFill>
              <a:latin typeface="宋体" panose="02010600030101010101" pitchFamily="2" charset="-122"/>
            </a:endParaRPr>
          </a:p>
        </p:txBody>
      </p:sp>
      <p:sp>
        <p:nvSpPr>
          <p:cNvPr id="90119" name="Text Box 10">
            <a:extLst>
              <a:ext uri="{FF2B5EF4-FFF2-40B4-BE49-F238E27FC236}">
                <a16:creationId xmlns:a16="http://schemas.microsoft.com/office/drawing/2014/main" id="{75A1BF67-6E4E-4C4B-BBB3-5C31F4A32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124200"/>
            <a:ext cx="42449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LEA 	SI,BLOCK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MOV 	CX,COUNT-1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MOV 	AL,[SI]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INC 	SI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COMP:CMP	AL,[SI]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JA 	NEXT    </a:t>
            </a:r>
          </a:p>
        </p:txBody>
      </p:sp>
      <p:sp>
        <p:nvSpPr>
          <p:cNvPr id="60424" name="Text Box 12">
            <a:extLst>
              <a:ext uri="{FF2B5EF4-FFF2-40B4-BE49-F238E27FC236}">
                <a16:creationId xmlns:a16="http://schemas.microsoft.com/office/drawing/2014/main" id="{0806948A-51BB-4DC1-9C86-1EE3137F5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124200"/>
            <a:ext cx="3810000" cy="2928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6000"/>
              </a:lnSpc>
              <a:defRPr/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	 </a:t>
            </a:r>
            <a:r>
              <a:rPr lang="en-US" altLang="zh-CN" sz="3200" b="1" dirty="0">
                <a:latin typeface="+mn-ea"/>
                <a:ea typeface="+mn-ea"/>
              </a:rPr>
              <a:t>MOV	AL,[SI]</a:t>
            </a:r>
          </a:p>
          <a:p>
            <a:pPr eaLnBrk="1" hangingPunct="1">
              <a:lnSpc>
                <a:spcPct val="96000"/>
              </a:lnSpc>
              <a:defRPr/>
            </a:pPr>
            <a:r>
              <a:rPr lang="en-US" altLang="zh-CN" sz="3200" b="1" dirty="0">
                <a:latin typeface="+mn-ea"/>
                <a:ea typeface="+mn-ea"/>
              </a:rPr>
              <a:t>NEXT:INC	SI</a:t>
            </a:r>
          </a:p>
          <a:p>
            <a:pPr eaLnBrk="1" hangingPunct="1">
              <a:lnSpc>
                <a:spcPct val="96000"/>
              </a:lnSpc>
              <a:defRPr/>
            </a:pPr>
            <a:r>
              <a:rPr lang="en-US" altLang="zh-CN" sz="3200" b="1" dirty="0">
                <a:latin typeface="+mn-ea"/>
                <a:ea typeface="+mn-ea"/>
              </a:rPr>
              <a:t>     LOOP COMP</a:t>
            </a:r>
          </a:p>
          <a:p>
            <a:pPr eaLnBrk="1" hangingPunct="1">
              <a:lnSpc>
                <a:spcPct val="96000"/>
              </a:lnSpc>
              <a:defRPr/>
            </a:pPr>
            <a:r>
              <a:rPr lang="en-US" altLang="zh-CN" sz="3200" b="1" dirty="0">
                <a:latin typeface="+mn-ea"/>
                <a:ea typeface="+mn-ea"/>
              </a:rPr>
              <a:t>     MOV	DL,AL</a:t>
            </a:r>
          </a:p>
          <a:p>
            <a:pPr eaLnBrk="1" hangingPunct="1">
              <a:lnSpc>
                <a:spcPct val="96000"/>
              </a:lnSpc>
              <a:defRPr/>
            </a:pPr>
            <a:r>
              <a:rPr lang="en-US" altLang="zh-CN" sz="3200" b="1" dirty="0">
                <a:latin typeface="+mn-ea"/>
                <a:ea typeface="+mn-ea"/>
              </a:rPr>
              <a:t>     MOV	AH,2</a:t>
            </a:r>
          </a:p>
          <a:p>
            <a:pPr eaLnBrk="1" hangingPunct="1">
              <a:lnSpc>
                <a:spcPct val="96000"/>
              </a:lnSpc>
              <a:defRPr/>
            </a:pPr>
            <a:r>
              <a:rPr lang="en-US" altLang="zh-CN" sz="3200" b="1" dirty="0">
                <a:latin typeface="+mn-ea"/>
                <a:ea typeface="+mn-ea"/>
              </a:rPr>
              <a:t>    	INT 21H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90121" name="Line 13">
            <a:extLst>
              <a:ext uri="{FF2B5EF4-FFF2-40B4-BE49-F238E27FC236}">
                <a16:creationId xmlns:a16="http://schemas.microsoft.com/office/drawing/2014/main" id="{9A082F09-3528-4529-BBFF-98BC00670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3528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2" name="Text Box 1029">
            <a:extLst>
              <a:ext uri="{FF2B5EF4-FFF2-40B4-BE49-F238E27FC236}">
                <a16:creationId xmlns:a16="http://schemas.microsoft.com/office/drawing/2014/main" id="{A157FB0E-EDBE-4764-A059-9127AF439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90123" name="页脚占位符 14">
            <a:extLst>
              <a:ext uri="{FF2B5EF4-FFF2-40B4-BE49-F238E27FC236}">
                <a16:creationId xmlns:a16="http://schemas.microsoft.com/office/drawing/2014/main" id="{EDA9E24B-D87F-40C5-B091-BD9C61C409E6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90124" name="灯片编号占位符 13">
            <a:extLst>
              <a:ext uri="{FF2B5EF4-FFF2-40B4-BE49-F238E27FC236}">
                <a16:creationId xmlns:a16="http://schemas.microsoft.com/office/drawing/2014/main" id="{2EDC8875-C087-421A-B0EC-962E37C19091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29DEDAE-DAA7-45AA-81CB-B3B6ABBABF1C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0125" name="日期占位符 12">
            <a:extLst>
              <a:ext uri="{FF2B5EF4-FFF2-40B4-BE49-F238E27FC236}">
                <a16:creationId xmlns:a16="http://schemas.microsoft.com/office/drawing/2014/main" id="{F7AB977F-F697-452A-8E9F-B18800562A0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5B96211-0AB2-4A38-9A97-CEA8C140EA1B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Line 1027">
            <a:extLst>
              <a:ext uri="{FF2B5EF4-FFF2-40B4-BE49-F238E27FC236}">
                <a16:creationId xmlns:a16="http://schemas.microsoft.com/office/drawing/2014/main" id="{598B324E-C9C8-4183-87FF-174716EEF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6237288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3" name="Line 1029">
            <a:extLst>
              <a:ext uri="{FF2B5EF4-FFF2-40B4-BE49-F238E27FC236}">
                <a16:creationId xmlns:a16="http://schemas.microsoft.com/office/drawing/2014/main" id="{6E52AFAB-8FA4-4E6F-BC3D-19D235299B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164" name="AutoShape 1030">
            <a:extLst>
              <a:ext uri="{FF2B5EF4-FFF2-40B4-BE49-F238E27FC236}">
                <a16:creationId xmlns:a16="http://schemas.microsoft.com/office/drawing/2014/main" id="{481535C5-B883-43B9-B00B-72E48DA33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2165" name="Text Box 1032">
            <a:extLst>
              <a:ext uri="{FF2B5EF4-FFF2-40B4-BE49-F238E27FC236}">
                <a16:creationId xmlns:a16="http://schemas.microsoft.com/office/drawing/2014/main" id="{202F0AA0-6BD3-4DA2-8D20-D32FC71EE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" y="1096963"/>
            <a:ext cx="4267200" cy="524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START:  	MOV	AL,</a:t>
            </a:r>
            <a:r>
              <a:rPr lang="en-US" altLang="zh-CN" sz="32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5D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H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MOV 	BL,AL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MOV 	CL,4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SHR 	AL,CL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CMP 	AL,0AH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JL 	ADD_0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</a:t>
            </a:r>
            <a:r>
              <a:rPr lang="en-US" altLang="zh-CN" sz="32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 	AL,7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ADD_0:  	ADD 	AL,30H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MOV 	AH,2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MOV 	DL,AL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INT 	21H</a:t>
            </a:r>
          </a:p>
        </p:txBody>
      </p:sp>
      <p:sp>
        <p:nvSpPr>
          <p:cNvPr id="92166" name="Text Box 1033">
            <a:extLst>
              <a:ext uri="{FF2B5EF4-FFF2-40B4-BE49-F238E27FC236}">
                <a16:creationId xmlns:a16="http://schemas.microsoft.com/office/drawing/2014/main" id="{C29A9D85-2D1A-4156-8324-AED4A8511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573088"/>
            <a:ext cx="7696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[</a:t>
            </a:r>
            <a:r>
              <a:rPr lang="zh-CN" altLang="en-US" sz="2800" b="1">
                <a:latin typeface="宋体" panose="02010600030101010101" pitchFamily="2" charset="-122"/>
              </a:rPr>
              <a:t>例</a:t>
            </a:r>
            <a:r>
              <a:rPr lang="en-US" altLang="zh-CN" sz="2800" b="1">
                <a:latin typeface="宋体" panose="02010600030101010101" pitchFamily="2" charset="-122"/>
              </a:rPr>
              <a:t>10] </a:t>
            </a:r>
            <a:r>
              <a:rPr lang="zh-CN" altLang="en-US" sz="2800" b="1">
                <a:latin typeface="宋体" panose="02010600030101010101" pitchFamily="2" charset="-122"/>
              </a:rPr>
              <a:t>设将</a:t>
            </a:r>
            <a:r>
              <a:rPr lang="en-US" altLang="zh-CN" sz="2800" b="1">
                <a:latin typeface="宋体" panose="02010600030101010101" pitchFamily="2" charset="-122"/>
              </a:rPr>
              <a:t>AL</a:t>
            </a:r>
            <a:r>
              <a:rPr lang="zh-CN" altLang="en-US" sz="2800" b="1">
                <a:latin typeface="宋体" panose="02010600030101010101" pitchFamily="2" charset="-122"/>
              </a:rPr>
              <a:t>中的无符号数，按十六进制显示。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92167" name="Text Box 1034">
            <a:extLst>
              <a:ext uri="{FF2B5EF4-FFF2-40B4-BE49-F238E27FC236}">
                <a16:creationId xmlns:a16="http://schemas.microsoft.com/office/drawing/2014/main" id="{5DE5CB13-264E-4369-80C5-CF43BA8DA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313" y="1136650"/>
            <a:ext cx="4495800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AND	BL,0FH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	CMP 	BL,0AH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	JL  	ADD_30H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	</a:t>
            </a:r>
            <a:r>
              <a:rPr lang="en-US" altLang="zh-CN" sz="32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 	BL,7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ADD_30H:	ADD	BL,30H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	MOV	DL,BL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	MOV 	AH,2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INT 	21H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	</a:t>
            </a:r>
            <a:r>
              <a:rPr lang="en-US" altLang="zh-CN" sz="32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 	AH,4CH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		INT 	21H</a:t>
            </a:r>
          </a:p>
        </p:txBody>
      </p:sp>
      <p:sp>
        <p:nvSpPr>
          <p:cNvPr id="92168" name="Line 1035">
            <a:extLst>
              <a:ext uri="{FF2B5EF4-FFF2-40B4-BE49-F238E27FC236}">
                <a16:creationId xmlns:a16="http://schemas.microsoft.com/office/drawing/2014/main" id="{1FB3F85B-22F5-4E1A-832E-2341F71BD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219200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矩形 13">
            <a:extLst>
              <a:ext uri="{FF2B5EF4-FFF2-40B4-BE49-F238E27FC236}">
                <a16:creationId xmlns:a16="http://schemas.microsoft.com/office/drawing/2014/main" id="{BD75B5CB-7F99-4DBD-BAA3-4F05B3164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5767388"/>
            <a:ext cx="18780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DDDDDD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宋体" panose="02010600030101010101" pitchFamily="2" charset="-122"/>
                <a:hlinkClick r:id="rId3" action="ppaction://hlinkfile"/>
              </a:rPr>
              <a:t>EP503.asm </a:t>
            </a:r>
            <a:endParaRPr lang="zh-CN" altLang="en-US" sz="2400">
              <a:solidFill>
                <a:srgbClr val="002060"/>
              </a:solidFill>
              <a:latin typeface="宋体" panose="02010600030101010101" pitchFamily="2" charset="-122"/>
            </a:endParaRPr>
          </a:p>
        </p:txBody>
      </p:sp>
      <p:sp>
        <p:nvSpPr>
          <p:cNvPr id="92170" name="Text Box 1029">
            <a:extLst>
              <a:ext uri="{FF2B5EF4-FFF2-40B4-BE49-F238E27FC236}">
                <a16:creationId xmlns:a16="http://schemas.microsoft.com/office/drawing/2014/main" id="{413F7B49-2E9D-48D3-A90B-11E69E25B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92171" name="页脚占位符 14">
            <a:extLst>
              <a:ext uri="{FF2B5EF4-FFF2-40B4-BE49-F238E27FC236}">
                <a16:creationId xmlns:a16="http://schemas.microsoft.com/office/drawing/2014/main" id="{27BD4678-3624-48FD-B542-3C78B09A7A8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92172" name="灯片编号占位符 13">
            <a:extLst>
              <a:ext uri="{FF2B5EF4-FFF2-40B4-BE49-F238E27FC236}">
                <a16:creationId xmlns:a16="http://schemas.microsoft.com/office/drawing/2014/main" id="{71A024FD-7991-4D9A-A6D2-B5BEC1C4FCD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B570502-9CE1-4E91-8D7A-8B5117FD769B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173" name="日期占位符 12">
            <a:extLst>
              <a:ext uri="{FF2B5EF4-FFF2-40B4-BE49-F238E27FC236}">
                <a16:creationId xmlns:a16="http://schemas.microsoft.com/office/drawing/2014/main" id="{AA45291A-423D-4C78-8439-2BDAA13A312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39A204-6F90-4BE3-8BCA-6B659D04DE67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Line 1027">
            <a:extLst>
              <a:ext uri="{FF2B5EF4-FFF2-40B4-BE49-F238E27FC236}">
                <a16:creationId xmlns:a16="http://schemas.microsoft.com/office/drawing/2014/main" id="{9A86333C-4FC0-4A0F-9540-50F10AE87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Text Box 1030">
            <a:extLst>
              <a:ext uri="{FF2B5EF4-FFF2-40B4-BE49-F238E27FC236}">
                <a16:creationId xmlns:a16="http://schemas.microsoft.com/office/drawing/2014/main" id="{20458EEA-533E-42AD-B922-0ACB8A3E2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7993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11]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判断变量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的值是否为“偶数”。</a:t>
            </a:r>
            <a:endParaRPr lang="en-US" altLang="zh-CN" sz="28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4212" name="Line 1031">
            <a:extLst>
              <a:ext uri="{FF2B5EF4-FFF2-40B4-BE49-F238E27FC236}">
                <a16:creationId xmlns:a16="http://schemas.microsoft.com/office/drawing/2014/main" id="{D2F5569F-2A23-408E-A5F6-301A500CE6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D744A43-4191-4E1A-B57D-D5786FB2D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16113"/>
            <a:ext cx="9144000" cy="363855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CODE		SEGMENT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		ASSUME	CS: CODE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START:	JMP		BEGIN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X		DB	?		; </a:t>
            </a:r>
            <a:r>
              <a:rPr lang="zh-CN" altLang="en-US" b="1" dirty="0">
                <a:latin typeface="新宋体" panose="02010609030101010101" pitchFamily="49" charset="-122"/>
                <a:ea typeface="新宋体" panose="02010609030101010101" pitchFamily="49" charset="-122"/>
              </a:rPr>
              <a:t>被测试的数，汇编之前置入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YES	DB	0AH,0DH,’It is a even  number.’,0AH,0DH,’$’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NO	DB	0AH,0DH,’It is a odd  number.’,0AH,0DH,’$’ BEGIN:	PUSH		CS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新宋体" panose="02010609030101010101" pitchFamily="49" charset="-122"/>
                <a:ea typeface="新宋体" panose="02010609030101010101" pitchFamily="49" charset="-122"/>
              </a:rPr>
              <a:t>		POP		DS</a:t>
            </a:r>
          </a:p>
        </p:txBody>
      </p:sp>
      <p:sp>
        <p:nvSpPr>
          <p:cNvPr id="94214" name="Text Box 1029">
            <a:extLst>
              <a:ext uri="{FF2B5EF4-FFF2-40B4-BE49-F238E27FC236}">
                <a16:creationId xmlns:a16="http://schemas.microsoft.com/office/drawing/2014/main" id="{F2D3A93B-E8DB-43F4-BE3B-4C727CDD2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94215" name="页脚占位符 14">
            <a:extLst>
              <a:ext uri="{FF2B5EF4-FFF2-40B4-BE49-F238E27FC236}">
                <a16:creationId xmlns:a16="http://schemas.microsoft.com/office/drawing/2014/main" id="{8452238A-4704-4DEA-BC5E-2A7DFC3DF42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94216" name="灯片编号占位符 13">
            <a:extLst>
              <a:ext uri="{FF2B5EF4-FFF2-40B4-BE49-F238E27FC236}">
                <a16:creationId xmlns:a16="http://schemas.microsoft.com/office/drawing/2014/main" id="{A9AF5852-282D-4D39-9A6E-5874B21A2DC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288E8BE-4B38-4C68-9F69-8BE494DCCC5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4217" name="日期占位符 12">
            <a:extLst>
              <a:ext uri="{FF2B5EF4-FFF2-40B4-BE49-F238E27FC236}">
                <a16:creationId xmlns:a16="http://schemas.microsoft.com/office/drawing/2014/main" id="{1AC5C478-87AC-4A14-9518-5352A7A30749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6931F41-4002-426C-997A-E4C61FABF5DB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31F6EC-2229-4265-B9EB-CBA4536A8116}"/>
              </a:ext>
            </a:extLst>
          </p:cNvPr>
          <p:cNvSpPr txBox="1"/>
          <p:nvPr/>
        </p:nvSpPr>
        <p:spPr>
          <a:xfrm>
            <a:off x="7812088" y="1268413"/>
            <a:ext cx="10795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hlinkClick r:id="rId3" action="ppaction://hlinkfile"/>
              </a:rPr>
              <a:t>EP504</a:t>
            </a:r>
            <a:endParaRPr lang="zh-CN" alt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0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Line 1027">
            <a:extLst>
              <a:ext uri="{FF2B5EF4-FFF2-40B4-BE49-F238E27FC236}">
                <a16:creationId xmlns:a16="http://schemas.microsoft.com/office/drawing/2014/main" id="{92C58E36-EC16-4D34-9C02-20D170F86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59" name="Line 1031">
            <a:extLst>
              <a:ext uri="{FF2B5EF4-FFF2-40B4-BE49-F238E27FC236}">
                <a16:creationId xmlns:a16="http://schemas.microsoft.com/office/drawing/2014/main" id="{4492534E-1F80-4C54-9214-8500169E65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5241840-25E1-4CB8-97C0-CB4D8BFBE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836613"/>
            <a:ext cx="8686800" cy="528002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TEST	X, 1		</a:t>
            </a:r>
            <a:r>
              <a:rPr lang="zh-CN" altLang="en-US" b="1" dirty="0">
                <a:latin typeface="+mn-ea"/>
                <a:ea typeface="+mn-ea"/>
              </a:rPr>
              <a:t>；测试</a:t>
            </a:r>
            <a:r>
              <a:rPr lang="en-US" altLang="zh-CN" b="1" dirty="0">
                <a:latin typeface="+mn-ea"/>
                <a:ea typeface="+mn-ea"/>
              </a:rPr>
              <a:t>X</a:t>
            </a:r>
            <a:r>
              <a:rPr lang="zh-CN" altLang="en-US" b="1" dirty="0">
                <a:latin typeface="+mn-ea"/>
                <a:ea typeface="+mn-ea"/>
              </a:rPr>
              <a:t>的最低位，确定是否为偶数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JZ	EVN		</a:t>
            </a:r>
            <a:r>
              <a:rPr lang="zh-CN" altLang="en-US" b="1" dirty="0">
                <a:latin typeface="+mn-ea"/>
                <a:ea typeface="+mn-ea"/>
              </a:rPr>
              <a:t>；</a:t>
            </a:r>
            <a:r>
              <a:rPr lang="en-US" altLang="zh-CN" b="1" dirty="0">
                <a:latin typeface="+mn-ea"/>
                <a:ea typeface="+mn-ea"/>
              </a:rPr>
              <a:t>ZF=1</a:t>
            </a:r>
            <a:r>
              <a:rPr lang="zh-CN" altLang="en-US" b="1" dirty="0">
                <a:latin typeface="+mn-ea"/>
                <a:ea typeface="+mn-ea"/>
              </a:rPr>
              <a:t>，该数是偶数，转向“</a:t>
            </a:r>
            <a:r>
              <a:rPr lang="en-US" altLang="zh-CN" b="1" dirty="0">
                <a:latin typeface="+mn-ea"/>
                <a:ea typeface="+mn-ea"/>
              </a:rPr>
              <a:t>EVN”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ODD:	</a:t>
            </a: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LEA	DX, NO	</a:t>
            </a:r>
            <a:r>
              <a:rPr lang="zh-CN" altLang="en-US" b="1" dirty="0">
                <a:solidFill>
                  <a:srgbClr val="3103DB"/>
                </a:solidFill>
                <a:latin typeface="+mn-ea"/>
                <a:ea typeface="+mn-ea"/>
              </a:rPr>
              <a:t>；否则，该数是奇数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3103DB"/>
                </a:solidFill>
                <a:latin typeface="+mn-ea"/>
                <a:ea typeface="+mn-ea"/>
              </a:rPr>
              <a:t>	</a:t>
            </a: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MOV	AH, 9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	INT	21H		</a:t>
            </a:r>
            <a:r>
              <a:rPr lang="zh-CN" altLang="en-US" b="1" dirty="0">
                <a:solidFill>
                  <a:srgbClr val="3103DB"/>
                </a:solidFill>
                <a:latin typeface="+mn-ea"/>
                <a:ea typeface="+mn-ea"/>
              </a:rPr>
              <a:t>；输出奇数的相关信息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3103DB"/>
                </a:solidFill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JMP	DONE	</a:t>
            </a: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	</a:t>
            </a:r>
            <a:r>
              <a:rPr lang="zh-CN" altLang="en-US" b="1" dirty="0">
                <a:latin typeface="+mn-ea"/>
                <a:ea typeface="+mn-ea"/>
              </a:rPr>
              <a:t>；跳过程序“</a:t>
            </a:r>
            <a:r>
              <a:rPr lang="en-US" altLang="zh-CN" b="1" dirty="0">
                <a:latin typeface="+mn-ea"/>
                <a:ea typeface="+mn-ea"/>
              </a:rPr>
              <a:t>EVN”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EVN: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LEA	DX, YES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	MOV	AH, 9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	INT	21H		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；输出偶数的相关信息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DONE:	MOV	AX, 4C00H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	INT	21H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CODE	ENDS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	END	START</a:t>
            </a:r>
          </a:p>
        </p:txBody>
      </p:sp>
      <p:sp>
        <p:nvSpPr>
          <p:cNvPr id="96261" name="Text Box 1029">
            <a:extLst>
              <a:ext uri="{FF2B5EF4-FFF2-40B4-BE49-F238E27FC236}">
                <a16:creationId xmlns:a16="http://schemas.microsoft.com/office/drawing/2014/main" id="{DADCE674-E74C-47A2-948B-8C85B5589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96262" name="页脚占位符 14">
            <a:extLst>
              <a:ext uri="{FF2B5EF4-FFF2-40B4-BE49-F238E27FC236}">
                <a16:creationId xmlns:a16="http://schemas.microsoft.com/office/drawing/2014/main" id="{D946962D-DBFB-40F7-B5E1-361920B2A27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96263" name="灯片编号占位符 13">
            <a:extLst>
              <a:ext uri="{FF2B5EF4-FFF2-40B4-BE49-F238E27FC236}">
                <a16:creationId xmlns:a16="http://schemas.microsoft.com/office/drawing/2014/main" id="{EBF367BA-2E58-4A63-BD8C-5DD51CCBB0BE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89515905-DFC6-4074-87A6-E58667C141B9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6264" name="日期占位符 12">
            <a:extLst>
              <a:ext uri="{FF2B5EF4-FFF2-40B4-BE49-F238E27FC236}">
                <a16:creationId xmlns:a16="http://schemas.microsoft.com/office/drawing/2014/main" id="{17855B6F-D02D-4EA3-90CC-1A50AFD840FB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C04F484-6175-451D-A7B0-DEFDD07ECCE4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Line 1027">
            <a:extLst>
              <a:ext uri="{FF2B5EF4-FFF2-40B4-BE49-F238E27FC236}">
                <a16:creationId xmlns:a16="http://schemas.microsoft.com/office/drawing/2014/main" id="{12B830CA-5C19-4CEE-92F1-487486006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Text Box 1030">
            <a:extLst>
              <a:ext uri="{FF2B5EF4-FFF2-40B4-BE49-F238E27FC236}">
                <a16:creationId xmlns:a16="http://schemas.microsoft.com/office/drawing/2014/main" id="{07049647-B5AE-4C60-B205-1E0AA9772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692150"/>
            <a:ext cx="820896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如果两个“平行”分支有相同的处理过程，可以把它们“合并” ：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	</a:t>
            </a:r>
            <a:endParaRPr lang="en-US" altLang="zh-CN" sz="28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8308" name="Line 1031">
            <a:extLst>
              <a:ext uri="{FF2B5EF4-FFF2-40B4-BE49-F238E27FC236}">
                <a16:creationId xmlns:a16="http://schemas.microsoft.com/office/drawing/2014/main" id="{5460D65C-E5AC-4291-B782-55C6873337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05755BD-3E0E-4408-9D80-958857A1D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73238"/>
            <a:ext cx="8153400" cy="433863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……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TEST	X, 1	</a:t>
            </a:r>
            <a:r>
              <a:rPr lang="zh-CN" altLang="en-US" b="1" dirty="0">
                <a:ea typeface="仿宋_GB2312" pitchFamily="49" charset="-122"/>
              </a:rPr>
              <a:t>；测试</a:t>
            </a:r>
            <a:r>
              <a:rPr lang="en-US" altLang="zh-CN" b="1" dirty="0">
                <a:ea typeface="仿宋_GB2312" pitchFamily="49" charset="-122"/>
              </a:rPr>
              <a:t>X</a:t>
            </a:r>
            <a:r>
              <a:rPr lang="zh-CN" altLang="en-US" b="1" dirty="0">
                <a:ea typeface="仿宋_GB2312" pitchFamily="49" charset="-122"/>
              </a:rPr>
              <a:t>的最低位，确定是否为偶数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JZ	EVN	</a:t>
            </a:r>
            <a:r>
              <a:rPr lang="zh-CN" altLang="en-US" b="1" dirty="0">
                <a:ea typeface="仿宋_GB2312" pitchFamily="49" charset="-122"/>
              </a:rPr>
              <a:t>；</a:t>
            </a:r>
            <a:r>
              <a:rPr lang="en-US" altLang="zh-CN" b="1" dirty="0">
                <a:ea typeface="仿宋_GB2312" pitchFamily="49" charset="-122"/>
              </a:rPr>
              <a:t>ZF=1</a:t>
            </a:r>
            <a:r>
              <a:rPr lang="zh-CN" altLang="en-US" b="1" dirty="0">
                <a:ea typeface="仿宋_GB2312" pitchFamily="49" charset="-122"/>
              </a:rPr>
              <a:t>，该数是偶数，转向“</a:t>
            </a:r>
            <a:r>
              <a:rPr lang="en-US" altLang="zh-CN" b="1" dirty="0">
                <a:ea typeface="仿宋_GB2312" pitchFamily="49" charset="-122"/>
              </a:rPr>
              <a:t>EVN”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ODD:	</a:t>
            </a:r>
            <a:r>
              <a:rPr lang="en-US" altLang="zh-CN" b="1" dirty="0">
                <a:solidFill>
                  <a:srgbClr val="3103DB"/>
                </a:solidFill>
                <a:ea typeface="仿宋_GB2312" pitchFamily="49" charset="-122"/>
              </a:rPr>
              <a:t>LEA 	DX, NO</a:t>
            </a:r>
            <a:r>
              <a:rPr lang="zh-CN" altLang="en-US" b="1" dirty="0">
                <a:ea typeface="仿宋_GB2312" pitchFamily="49" charset="-122"/>
              </a:rPr>
              <a:t>；否则，该数是奇数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JMP 	DONE	</a:t>
            </a:r>
            <a:r>
              <a:rPr lang="zh-CN" altLang="en-US" b="1" dirty="0">
                <a:ea typeface="仿宋_GB2312" pitchFamily="49" charset="-122"/>
              </a:rPr>
              <a:t>；跳过程序“</a:t>
            </a:r>
            <a:r>
              <a:rPr lang="en-US" altLang="zh-CN" b="1" dirty="0">
                <a:ea typeface="仿宋_GB2312" pitchFamily="49" charset="-122"/>
              </a:rPr>
              <a:t>EVN”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EVN:	</a:t>
            </a:r>
            <a:r>
              <a:rPr lang="en-US" altLang="zh-CN" b="1" dirty="0">
                <a:solidFill>
                  <a:srgbClr val="3103DB"/>
                </a:solidFill>
                <a:ea typeface="仿宋_GB2312" pitchFamily="49" charset="-122"/>
              </a:rPr>
              <a:t>LEA 	DX, YES</a:t>
            </a:r>
            <a:r>
              <a:rPr lang="zh-CN" altLang="en-US" b="1" dirty="0">
                <a:ea typeface="仿宋_GB2312" pitchFamily="49" charset="-122"/>
              </a:rPr>
              <a:t>；该数是偶数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DONE:</a:t>
            </a:r>
            <a:r>
              <a:rPr lang="en-US" altLang="zh-CN" b="1" dirty="0">
                <a:solidFill>
                  <a:srgbClr val="FF0000"/>
                </a:solidFill>
                <a:ea typeface="仿宋_GB2312" pitchFamily="49" charset="-122"/>
              </a:rPr>
              <a:t>MOV	AH, 9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ea typeface="仿宋_GB2312" pitchFamily="49" charset="-122"/>
              </a:rPr>
              <a:t>INT	21H</a:t>
            </a: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zh-CN" altLang="en-US" b="1" dirty="0">
                <a:ea typeface="仿宋_GB2312" pitchFamily="49" charset="-122"/>
              </a:rPr>
              <a:t>；输出该数的相关信息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MOV  AX, 4C00H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……</a:t>
            </a:r>
          </a:p>
        </p:txBody>
      </p:sp>
      <p:sp>
        <p:nvSpPr>
          <p:cNvPr id="2" name="Text Box 1029">
            <a:extLst>
              <a:ext uri="{FF2B5EF4-FFF2-40B4-BE49-F238E27FC236}">
                <a16:creationId xmlns:a16="http://schemas.microsoft.com/office/drawing/2014/main" id="{1389B4BA-68F9-494F-AF00-BCDC3BDDF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98311" name="页脚占位符 14">
            <a:extLst>
              <a:ext uri="{FF2B5EF4-FFF2-40B4-BE49-F238E27FC236}">
                <a16:creationId xmlns:a16="http://schemas.microsoft.com/office/drawing/2014/main" id="{39538B0F-51A2-402D-9C1C-1D03B93ACF9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98312" name="灯片编号占位符 13">
            <a:extLst>
              <a:ext uri="{FF2B5EF4-FFF2-40B4-BE49-F238E27FC236}">
                <a16:creationId xmlns:a16="http://schemas.microsoft.com/office/drawing/2014/main" id="{C76F8D55-99BA-4D7E-AE21-09C9A0F928B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9F48523-2F86-48C5-B9D1-EF903BDDF88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8313" name="日期占位符 12">
            <a:extLst>
              <a:ext uri="{FF2B5EF4-FFF2-40B4-BE49-F238E27FC236}">
                <a16:creationId xmlns:a16="http://schemas.microsoft.com/office/drawing/2014/main" id="{25554623-C8FF-4FA4-BD4B-73C673ED5BF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7E0BD9C-15C7-4665-8BB1-46922DD8142B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Line 3">
            <a:extLst>
              <a:ext uri="{FF2B5EF4-FFF2-40B4-BE49-F238E27FC236}">
                <a16:creationId xmlns:a16="http://schemas.microsoft.com/office/drawing/2014/main" id="{6CB4A26E-BD8D-4939-9A65-9ED86750D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5" name="Line 6">
            <a:extLst>
              <a:ext uri="{FF2B5EF4-FFF2-40B4-BE49-F238E27FC236}">
                <a16:creationId xmlns:a16="http://schemas.microsoft.com/office/drawing/2014/main" id="{EDE0B067-6945-4787-921A-C667990F14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0356" name="AutoShape 7">
            <a:extLst>
              <a:ext uri="{FF2B5EF4-FFF2-40B4-BE49-F238E27FC236}">
                <a16:creationId xmlns:a16="http://schemas.microsoft.com/office/drawing/2014/main" id="{0F8C73A4-BD28-48F8-B2B5-D8D0FAD16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0357" name="Text Box 9">
            <a:extLst>
              <a:ext uri="{FF2B5EF4-FFF2-40B4-BE49-F238E27FC236}">
                <a16:creationId xmlns:a16="http://schemas.microsoft.com/office/drawing/2014/main" id="{00470D61-EB3B-4EBE-8013-B8569A34D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52600"/>
            <a:ext cx="43434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  	DB      12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B   	DB      78</a:t>
            </a:r>
            <a:endParaRPr lang="en-US" altLang="zh-CN" sz="280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: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仿宋" panose="02010609060101010101" pitchFamily="49" charset="-122"/>
                <a:ea typeface="仿宋" panose="02010609060101010101" pitchFamily="49" charset="-122"/>
              </a:rPr>
              <a:t>     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MOV     AL,A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CMP     B,AL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JAE     BGA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</a:t>
            </a:r>
            <a:r>
              <a:rPr lang="en-US" altLang="zh-CN" sz="32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     DL,'A'</a:t>
            </a: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	MOV     DH,'B'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JMP     COM</a:t>
            </a:r>
          </a:p>
        </p:txBody>
      </p:sp>
      <p:sp>
        <p:nvSpPr>
          <p:cNvPr id="100358" name="Text Box 10">
            <a:extLst>
              <a:ext uri="{FF2B5EF4-FFF2-40B4-BE49-F238E27FC236}">
                <a16:creationId xmlns:a16="http://schemas.microsoft.com/office/drawing/2014/main" id="{5E8D8FC6-1F18-419F-80A5-9560AE84D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762000"/>
            <a:ext cx="7467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[</a:t>
            </a:r>
            <a:r>
              <a:rPr lang="zh-CN" altLang="en-US" sz="2800" b="1">
                <a:latin typeface="宋体" panose="02010600030101010101" pitchFamily="2" charset="-122"/>
              </a:rPr>
              <a:t>例</a:t>
            </a:r>
            <a:r>
              <a:rPr lang="en-US" altLang="zh-CN" sz="2800" b="1">
                <a:latin typeface="宋体" panose="02010600030101010101" pitchFamily="2" charset="-122"/>
              </a:rPr>
              <a:t>12] </a:t>
            </a:r>
            <a:r>
              <a:rPr lang="zh-CN" altLang="en-US" sz="2800" b="1">
                <a:latin typeface="宋体" panose="02010600030101010101" pitchFamily="2" charset="-122"/>
              </a:rPr>
              <a:t>设</a:t>
            </a:r>
            <a:r>
              <a:rPr lang="en-US" altLang="zh-CN" sz="2800" b="1">
                <a:latin typeface="宋体" panose="02010600030101010101" pitchFamily="2" charset="-122"/>
              </a:rPr>
              <a:t>A</a:t>
            </a:r>
            <a:r>
              <a:rPr lang="zh-CN" altLang="en-US" sz="2800" b="1">
                <a:latin typeface="宋体" panose="02010600030101010101" pitchFamily="2" charset="-122"/>
              </a:rPr>
              <a:t>、</a:t>
            </a:r>
            <a:r>
              <a:rPr lang="en-US" altLang="zh-CN" sz="2800" b="1">
                <a:latin typeface="宋体" panose="02010600030101010101" pitchFamily="2" charset="-122"/>
              </a:rPr>
              <a:t>B</a:t>
            </a:r>
            <a:r>
              <a:rPr lang="zh-CN" altLang="en-US" sz="2800" b="1">
                <a:latin typeface="宋体" panose="02010600030101010101" pitchFamily="2" charset="-122"/>
              </a:rPr>
              <a:t>两单元各有一个无符号数，要求根据大小显示</a:t>
            </a:r>
            <a:r>
              <a:rPr lang="zh-CN" altLang="en-US" sz="2800" b="1">
                <a:latin typeface="Times New Roman" panose="02020603050405020304" pitchFamily="18" charset="0"/>
              </a:rPr>
              <a:t>“</a:t>
            </a:r>
            <a:r>
              <a:rPr lang="en-US" altLang="zh-CN" sz="2800" b="1">
                <a:latin typeface="宋体" panose="02010600030101010101" pitchFamily="2" charset="-122"/>
              </a:rPr>
              <a:t>A&gt;B</a:t>
            </a:r>
            <a:r>
              <a:rPr lang="en-US" altLang="zh-CN" sz="2800" b="1">
                <a:latin typeface="Times New Roman" panose="02020603050405020304" pitchFamily="18" charset="0"/>
              </a:rPr>
              <a:t>”</a:t>
            </a:r>
            <a:r>
              <a:rPr lang="zh-CN" altLang="en-US" sz="2800" b="1">
                <a:latin typeface="宋体" panose="02010600030101010101" pitchFamily="2" charset="-122"/>
              </a:rPr>
              <a:t>或</a:t>
            </a:r>
            <a:r>
              <a:rPr lang="zh-CN" altLang="en-US" sz="2800" b="1">
                <a:latin typeface="Times New Roman" panose="02020603050405020304" pitchFamily="18" charset="0"/>
              </a:rPr>
              <a:t>“</a:t>
            </a:r>
            <a:r>
              <a:rPr lang="en-US" altLang="zh-CN" sz="2800" b="1">
                <a:latin typeface="宋体" panose="02010600030101010101" pitchFamily="2" charset="-122"/>
              </a:rPr>
              <a:t>B&gt;A</a:t>
            </a:r>
            <a:r>
              <a:rPr lang="en-US" altLang="zh-CN" sz="2800" b="1">
                <a:latin typeface="Times New Roman" panose="02020603050405020304" pitchFamily="18" charset="0"/>
              </a:rPr>
              <a:t>”</a:t>
            </a:r>
            <a:r>
              <a:rPr lang="zh-CN" altLang="en-US" sz="2800" b="1">
                <a:latin typeface="宋体" panose="02010600030101010101" pitchFamily="2" charset="-122"/>
              </a:rPr>
              <a:t>。</a:t>
            </a:r>
            <a:r>
              <a:rPr lang="en-US" altLang="zh-CN" sz="2800">
                <a:solidFill>
                  <a:srgbClr val="DDDDDD"/>
                </a:solidFill>
                <a:latin typeface="宋体" panose="02010600030101010101" pitchFamily="2" charset="-122"/>
                <a:hlinkClick r:id="rId3" action="ppaction://hlinkfile"/>
              </a:rPr>
              <a:t>EP505.asm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00359" name="Text Box 12">
            <a:extLst>
              <a:ext uri="{FF2B5EF4-FFF2-40B4-BE49-F238E27FC236}">
                <a16:creationId xmlns:a16="http://schemas.microsoft.com/office/drawing/2014/main" id="{ED2F8630-C0A1-40D2-9732-7B8D5BE59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928813"/>
            <a:ext cx="41148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BGA:	MOV     DL,'B'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	MOV     DH,'A'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COM:	MOV     AH,2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INT     21H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MOV     DL,'&gt;'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仿宋" panose="02010609060101010101" pitchFamily="49" charset="-122"/>
                <a:ea typeface="仿宋" panose="02010609060101010101" pitchFamily="49" charset="-122"/>
              </a:rPr>
              <a:t>     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INT     21H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MOV     DL,DH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INT     21H</a:t>
            </a:r>
            <a:endParaRPr lang="en-US" altLang="zh-CN" sz="240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0360" name="Line 13">
            <a:extLst>
              <a:ext uri="{FF2B5EF4-FFF2-40B4-BE49-F238E27FC236}">
                <a16:creationId xmlns:a16="http://schemas.microsoft.com/office/drawing/2014/main" id="{1336CF2B-F37D-4A78-BC34-8752B1588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1" name="Text Box 1029">
            <a:extLst>
              <a:ext uri="{FF2B5EF4-FFF2-40B4-BE49-F238E27FC236}">
                <a16:creationId xmlns:a16="http://schemas.microsoft.com/office/drawing/2014/main" id="{EE3AD6BD-144C-4E65-A061-614AA51E5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00362" name="页脚占位符 14">
            <a:extLst>
              <a:ext uri="{FF2B5EF4-FFF2-40B4-BE49-F238E27FC236}">
                <a16:creationId xmlns:a16="http://schemas.microsoft.com/office/drawing/2014/main" id="{8BC04071-152C-4C79-9EF1-8F52EDD7413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00363" name="灯片编号占位符 13">
            <a:extLst>
              <a:ext uri="{FF2B5EF4-FFF2-40B4-BE49-F238E27FC236}">
                <a16:creationId xmlns:a16="http://schemas.microsoft.com/office/drawing/2014/main" id="{279E9126-4D73-4711-BCD9-AEB6826AF03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CA333E7-C9D1-4E8E-BF43-9F83EC823998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364" name="日期占位符 12">
            <a:extLst>
              <a:ext uri="{FF2B5EF4-FFF2-40B4-BE49-F238E27FC236}">
                <a16:creationId xmlns:a16="http://schemas.microsoft.com/office/drawing/2014/main" id="{BC93BD9A-5091-4AF1-AAFA-49ACB5BDC24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D0A4DD-6E2D-49B4-A21B-BF5710710032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1027">
            <a:extLst>
              <a:ext uri="{FF2B5EF4-FFF2-40B4-BE49-F238E27FC236}">
                <a16:creationId xmlns:a16="http://schemas.microsoft.com/office/drawing/2014/main" id="{B226AA1C-1EED-415F-AC39-89557C25A7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3" name="Text Box 1029">
            <a:extLst>
              <a:ext uri="{FF2B5EF4-FFF2-40B4-BE49-F238E27FC236}">
                <a16:creationId xmlns:a16="http://schemas.microsoft.com/office/drawing/2014/main" id="{47FD548F-98C9-4D01-B722-411A50DF8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908050"/>
            <a:ext cx="5867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三、多分支程序设计</a:t>
            </a:r>
          </a:p>
        </p:txBody>
      </p:sp>
      <p:sp>
        <p:nvSpPr>
          <p:cNvPr id="102404" name="Line 1031">
            <a:extLst>
              <a:ext uri="{FF2B5EF4-FFF2-40B4-BE49-F238E27FC236}">
                <a16:creationId xmlns:a16="http://schemas.microsoft.com/office/drawing/2014/main" id="{431FA9A5-AC31-4774-8480-B39C5999D4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EA2B2E73-F8C0-4572-8CB1-8AAAA3DCD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350" y="1749425"/>
            <a:ext cx="374491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3600" b="1" dirty="0">
                <a:latin typeface="+mn-ea"/>
                <a:ea typeface="+mn-ea"/>
              </a:rPr>
              <a:t>1.</a:t>
            </a:r>
            <a:r>
              <a:rPr lang="zh-CN" altLang="en-US" sz="3600" b="1" dirty="0">
                <a:solidFill>
                  <a:srgbClr val="3103DB"/>
                </a:solidFill>
                <a:latin typeface="+mn-ea"/>
                <a:ea typeface="+mn-ea"/>
              </a:rPr>
              <a:t>复合选择结构</a:t>
            </a: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3600" b="1" dirty="0">
                <a:latin typeface="+mn-ea"/>
                <a:ea typeface="+mn-ea"/>
              </a:rPr>
              <a:t>2.</a:t>
            </a:r>
            <a:r>
              <a:rPr lang="zh-CN" altLang="en-US" sz="3600" b="1" dirty="0">
                <a:solidFill>
                  <a:srgbClr val="3103DB"/>
                </a:solidFill>
                <a:latin typeface="+mn-ea"/>
                <a:ea typeface="+mn-ea"/>
              </a:rPr>
              <a:t>地址表法</a:t>
            </a:r>
            <a:endParaRPr lang="en-US" altLang="zh-CN" sz="3600" b="1" dirty="0">
              <a:solidFill>
                <a:srgbClr val="3103DB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3600" b="1" dirty="0">
                <a:latin typeface="+mn-ea"/>
                <a:ea typeface="+mn-ea"/>
              </a:rPr>
              <a:t>3.</a:t>
            </a:r>
            <a:r>
              <a:rPr lang="zh-CN" altLang="en-US" sz="3600" b="1" dirty="0">
                <a:latin typeface="+mn-ea"/>
                <a:ea typeface="+mn-ea"/>
              </a:rPr>
              <a:t>跳转表法</a:t>
            </a:r>
            <a:endParaRPr lang="en-US" altLang="zh-CN" sz="3600" b="1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3600" b="1" dirty="0">
                <a:latin typeface="+mn-ea"/>
                <a:ea typeface="+mn-ea"/>
              </a:rPr>
              <a:t>4.</a:t>
            </a:r>
            <a:r>
              <a:rPr lang="zh-CN" altLang="en-US" sz="3600" b="1" dirty="0">
                <a:latin typeface="+mn-ea"/>
                <a:ea typeface="+mn-ea"/>
              </a:rPr>
              <a:t>逻辑分解法	</a:t>
            </a:r>
          </a:p>
        </p:txBody>
      </p:sp>
      <p:sp>
        <p:nvSpPr>
          <p:cNvPr id="102406" name="Text Box 1029">
            <a:extLst>
              <a:ext uri="{FF2B5EF4-FFF2-40B4-BE49-F238E27FC236}">
                <a16:creationId xmlns:a16="http://schemas.microsoft.com/office/drawing/2014/main" id="{14FFA8AF-FB54-4673-B8B6-F4EFD145F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02407" name="页脚占位符 14">
            <a:extLst>
              <a:ext uri="{FF2B5EF4-FFF2-40B4-BE49-F238E27FC236}">
                <a16:creationId xmlns:a16="http://schemas.microsoft.com/office/drawing/2014/main" id="{1A86EE86-8E8F-420C-B159-0C3B0F9F14B4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02408" name="灯片编号占位符 13">
            <a:extLst>
              <a:ext uri="{FF2B5EF4-FFF2-40B4-BE49-F238E27FC236}">
                <a16:creationId xmlns:a16="http://schemas.microsoft.com/office/drawing/2014/main" id="{9C185058-88E6-4445-82D7-2205EBE495F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BDC771D5-7796-43E2-8BD0-33E6D55A3D18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409" name="日期占位符 12">
            <a:extLst>
              <a:ext uri="{FF2B5EF4-FFF2-40B4-BE49-F238E27FC236}">
                <a16:creationId xmlns:a16="http://schemas.microsoft.com/office/drawing/2014/main" id="{65DBB01A-3DBD-4A04-AC19-E169DCDED89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BF96E72-E174-43B8-975B-25485AAB3BFA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Line 3">
            <a:extLst>
              <a:ext uri="{FF2B5EF4-FFF2-40B4-BE49-F238E27FC236}">
                <a16:creationId xmlns:a16="http://schemas.microsoft.com/office/drawing/2014/main" id="{502CD2BD-1705-4ABF-92B8-1D0733E9C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4" name="Text Box 6">
            <a:extLst>
              <a:ext uri="{FF2B5EF4-FFF2-40B4-BE49-F238E27FC236}">
                <a16:creationId xmlns:a16="http://schemas.microsoft.com/office/drawing/2014/main" id="{D25270D2-0DD6-4D03-9ED2-018D14298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1268413"/>
            <a:ext cx="5184775" cy="15700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用多条条件转移指令组合实现。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一次判断产生两条分支，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次判断产生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N+1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条分支。</a:t>
            </a:r>
            <a:endParaRPr lang="zh-CN" altLang="en-US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452" name="Line 7">
            <a:extLst>
              <a:ext uri="{FF2B5EF4-FFF2-40B4-BE49-F238E27FC236}">
                <a16:creationId xmlns:a16="http://schemas.microsoft.com/office/drawing/2014/main" id="{0D32A9CF-D285-40B7-BF85-EF8EE60AD4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04453" name="Group 50">
            <a:extLst>
              <a:ext uri="{FF2B5EF4-FFF2-40B4-BE49-F238E27FC236}">
                <a16:creationId xmlns:a16="http://schemas.microsoft.com/office/drawing/2014/main" id="{92B7D279-BB28-4A02-AA70-AF5EBA1F291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209800"/>
            <a:ext cx="7239000" cy="3886200"/>
            <a:chOff x="768" y="1392"/>
            <a:chExt cx="4560" cy="2448"/>
          </a:xfrm>
        </p:grpSpPr>
        <p:sp>
          <p:nvSpPr>
            <p:cNvPr id="104459" name="Text Box 23">
              <a:extLst>
                <a:ext uri="{FF2B5EF4-FFF2-40B4-BE49-F238E27FC236}">
                  <a16:creationId xmlns:a16="http://schemas.microsoft.com/office/drawing/2014/main" id="{5A533E53-99A1-46DC-9A6A-EE83628F9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3120"/>
              <a:ext cx="912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>
                  <a:latin typeface="仿宋" panose="02010609060101010101" pitchFamily="49" charset="-122"/>
                  <a:ea typeface="仿宋" panose="02010609060101010101" pitchFamily="49" charset="-122"/>
                </a:rPr>
                <a:t>程序段</a:t>
              </a:r>
              <a:r>
                <a:rPr lang="en-US" altLang="zh-CN" sz="2800" b="1">
                  <a:latin typeface="仿宋" panose="02010609060101010101" pitchFamily="49" charset="-122"/>
                  <a:ea typeface="仿宋" panose="02010609060101010101" pitchFamily="49" charset="-122"/>
                </a:rPr>
                <a:t>4</a:t>
              </a:r>
              <a:endParaRPr lang="en-US" altLang="zh-CN" sz="240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04460" name="Text Box 19">
              <a:extLst>
                <a:ext uri="{FF2B5EF4-FFF2-40B4-BE49-F238E27FC236}">
                  <a16:creationId xmlns:a16="http://schemas.microsoft.com/office/drawing/2014/main" id="{021CF411-FD25-4FE0-9DDB-59FAF065B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352"/>
              <a:ext cx="912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>
                  <a:latin typeface="仿宋" panose="02010609060101010101" pitchFamily="49" charset="-122"/>
                  <a:ea typeface="仿宋" panose="02010609060101010101" pitchFamily="49" charset="-122"/>
                </a:rPr>
                <a:t>程序段</a:t>
              </a:r>
              <a:r>
                <a:rPr lang="en-US" altLang="zh-CN" sz="2800" b="1">
                  <a:latin typeface="仿宋" panose="02010609060101010101" pitchFamily="49" charset="-122"/>
                  <a:ea typeface="仿宋" panose="02010609060101010101" pitchFamily="49" charset="-122"/>
                </a:rPr>
                <a:t>1</a:t>
              </a:r>
              <a:endParaRPr lang="en-US" altLang="zh-CN" sz="240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04461" name="AutoShape 10">
              <a:extLst>
                <a:ext uri="{FF2B5EF4-FFF2-40B4-BE49-F238E27FC236}">
                  <a16:creationId xmlns:a16="http://schemas.microsoft.com/office/drawing/2014/main" id="{24B91111-D052-48F4-9072-1B862429A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680"/>
              <a:ext cx="1296" cy="384"/>
            </a:xfrm>
            <a:prstGeom prst="flowChartDecision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4462" name="AutoShape 11">
              <a:extLst>
                <a:ext uri="{FF2B5EF4-FFF2-40B4-BE49-F238E27FC236}">
                  <a16:creationId xmlns:a16="http://schemas.microsoft.com/office/drawing/2014/main" id="{DE491F68-58DD-4401-816F-7DFDD60B3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64"/>
              <a:ext cx="1296" cy="384"/>
            </a:xfrm>
            <a:prstGeom prst="flowChartDecision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4463" name="AutoShape 12">
              <a:extLst>
                <a:ext uri="{FF2B5EF4-FFF2-40B4-BE49-F238E27FC236}">
                  <a16:creationId xmlns:a16="http://schemas.microsoft.com/office/drawing/2014/main" id="{0902A72D-ACBA-423F-A9C6-7B135A950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448"/>
              <a:ext cx="1296" cy="384"/>
            </a:xfrm>
            <a:prstGeom prst="flowChartDecision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4464" name="Text Box 21">
              <a:extLst>
                <a:ext uri="{FF2B5EF4-FFF2-40B4-BE49-F238E27FC236}">
                  <a16:creationId xmlns:a16="http://schemas.microsoft.com/office/drawing/2014/main" id="{997BA141-FF3F-497C-98FF-C2CAA61BB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36"/>
              <a:ext cx="912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>
                  <a:latin typeface="仿宋" panose="02010609060101010101" pitchFamily="49" charset="-122"/>
                  <a:ea typeface="仿宋" panose="02010609060101010101" pitchFamily="49" charset="-122"/>
                </a:rPr>
                <a:t>程序段</a:t>
              </a:r>
              <a:r>
                <a:rPr lang="en-US" altLang="zh-CN" sz="2800" b="1">
                  <a:latin typeface="仿宋" panose="02010609060101010101" pitchFamily="49" charset="-122"/>
                  <a:ea typeface="仿宋" panose="02010609060101010101" pitchFamily="49" charset="-122"/>
                </a:rPr>
                <a:t>2</a:t>
              </a:r>
              <a:endParaRPr lang="en-US" altLang="zh-CN" sz="240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04465" name="Text Box 22">
              <a:extLst>
                <a:ext uri="{FF2B5EF4-FFF2-40B4-BE49-F238E27FC236}">
                  <a16:creationId xmlns:a16="http://schemas.microsoft.com/office/drawing/2014/main" id="{D3281C03-CF8B-4BE8-B47F-711ECBAC0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120"/>
              <a:ext cx="912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>
                  <a:latin typeface="仿宋" panose="02010609060101010101" pitchFamily="49" charset="-122"/>
                  <a:ea typeface="仿宋" panose="02010609060101010101" pitchFamily="49" charset="-122"/>
                </a:rPr>
                <a:t>程序段</a:t>
              </a:r>
              <a:r>
                <a:rPr lang="en-US" altLang="zh-CN" sz="2800" b="1">
                  <a:latin typeface="仿宋" panose="02010609060101010101" pitchFamily="49" charset="-122"/>
                  <a:ea typeface="仿宋" panose="02010609060101010101" pitchFamily="49" charset="-122"/>
                </a:rPr>
                <a:t>3</a:t>
              </a:r>
              <a:endParaRPr lang="en-US" altLang="zh-CN" sz="240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04466" name="Line 24">
              <a:extLst>
                <a:ext uri="{FF2B5EF4-FFF2-40B4-BE49-F238E27FC236}">
                  <a16:creationId xmlns:a16="http://schemas.microsoft.com/office/drawing/2014/main" id="{752E6A5B-1C71-4A38-BC14-93C309417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6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7" name="Line 25">
              <a:extLst>
                <a:ext uri="{FF2B5EF4-FFF2-40B4-BE49-F238E27FC236}">
                  <a16:creationId xmlns:a16="http://schemas.microsoft.com/office/drawing/2014/main" id="{6FE16428-D2B2-4302-89B3-ABD563D92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448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8" name="Line 26">
              <a:extLst>
                <a:ext uri="{FF2B5EF4-FFF2-40B4-BE49-F238E27FC236}">
                  <a16:creationId xmlns:a16="http://schemas.microsoft.com/office/drawing/2014/main" id="{5C7F0133-F7DE-4401-8EFC-DA9C907FC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832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9" name="Line 27">
              <a:extLst>
                <a:ext uri="{FF2B5EF4-FFF2-40B4-BE49-F238E27FC236}">
                  <a16:creationId xmlns:a16="http://schemas.microsoft.com/office/drawing/2014/main" id="{4463AD0A-E0D7-4118-9433-4E88E23A3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640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0" name="Line 28">
              <a:extLst>
                <a:ext uri="{FF2B5EF4-FFF2-40B4-BE49-F238E27FC236}">
                  <a16:creationId xmlns:a16="http://schemas.microsoft.com/office/drawing/2014/main" id="{EBDF82C5-E929-42A3-947C-618CD1605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392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1" name="Line 29">
              <a:extLst>
                <a:ext uri="{FF2B5EF4-FFF2-40B4-BE49-F238E27FC236}">
                  <a16:creationId xmlns:a16="http://schemas.microsoft.com/office/drawing/2014/main" id="{27D140D5-DA58-4B9D-BBED-C2E295511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2" name="Line 30">
              <a:extLst>
                <a:ext uri="{FF2B5EF4-FFF2-40B4-BE49-F238E27FC236}">
                  <a16:creationId xmlns:a16="http://schemas.microsoft.com/office/drawing/2014/main" id="{FE2EE1F9-5737-4F75-B676-A04AA0B34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2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3" name="Line 31">
              <a:extLst>
                <a:ext uri="{FF2B5EF4-FFF2-40B4-BE49-F238E27FC236}">
                  <a16:creationId xmlns:a16="http://schemas.microsoft.com/office/drawing/2014/main" id="{F32A7CFA-A714-4402-9D93-43BF13921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64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4" name="Line 33">
              <a:extLst>
                <a:ext uri="{FF2B5EF4-FFF2-40B4-BE49-F238E27FC236}">
                  <a16:creationId xmlns:a16="http://schemas.microsoft.com/office/drawing/2014/main" id="{C3CE1BCA-C1B9-451F-861B-B735248B9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872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5" name="Line 34">
              <a:extLst>
                <a:ext uri="{FF2B5EF4-FFF2-40B4-BE49-F238E27FC236}">
                  <a16:creationId xmlns:a16="http://schemas.microsoft.com/office/drawing/2014/main" id="{1FCC30D1-AF81-4A0A-902E-868FB8DDB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25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6" name="Line 35">
              <a:extLst>
                <a:ext uri="{FF2B5EF4-FFF2-40B4-BE49-F238E27FC236}">
                  <a16:creationId xmlns:a16="http://schemas.microsoft.com/office/drawing/2014/main" id="{EF34738E-3199-4770-854C-4B914C2C9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600"/>
              <a:ext cx="34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7" name="Line 37">
              <a:extLst>
                <a:ext uri="{FF2B5EF4-FFF2-40B4-BE49-F238E27FC236}">
                  <a16:creationId xmlns:a16="http://schemas.microsoft.com/office/drawing/2014/main" id="{25BBF70D-F399-4536-B015-2B7B463E7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688"/>
              <a:ext cx="0" cy="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8" name="Line 38">
              <a:extLst>
                <a:ext uri="{FF2B5EF4-FFF2-40B4-BE49-F238E27FC236}">
                  <a16:creationId xmlns:a16="http://schemas.microsoft.com/office/drawing/2014/main" id="{77E92658-865E-4DC7-95D6-6AFA643DC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072"/>
              <a:ext cx="0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79" name="Line 39">
              <a:extLst>
                <a:ext uri="{FF2B5EF4-FFF2-40B4-BE49-F238E27FC236}">
                  <a16:creationId xmlns:a16="http://schemas.microsoft.com/office/drawing/2014/main" id="{06011281-86F1-437A-A226-9DB6A5578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456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80" name="Line 41">
              <a:extLst>
                <a:ext uri="{FF2B5EF4-FFF2-40B4-BE49-F238E27FC236}">
                  <a16:creationId xmlns:a16="http://schemas.microsoft.com/office/drawing/2014/main" id="{9774346E-9464-4D30-9E73-E6B1E3EE1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456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81" name="Line 42">
              <a:extLst>
                <a:ext uri="{FF2B5EF4-FFF2-40B4-BE49-F238E27FC236}">
                  <a16:creationId xmlns:a16="http://schemas.microsoft.com/office/drawing/2014/main" id="{AB7D1ABF-0BE4-4D64-B430-8812BB446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600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82" name="Text Box 44">
              <a:extLst>
                <a:ext uri="{FF2B5EF4-FFF2-40B4-BE49-F238E27FC236}">
                  <a16:creationId xmlns:a16="http://schemas.microsoft.com/office/drawing/2014/main" id="{D6DDB62D-25F9-465A-82E9-1022CD210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728"/>
              <a:ext cx="6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条件</a:t>
              </a: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104483" name="Text Box 46">
              <a:extLst>
                <a:ext uri="{FF2B5EF4-FFF2-40B4-BE49-F238E27FC236}">
                  <a16:creationId xmlns:a16="http://schemas.microsoft.com/office/drawing/2014/main" id="{140D6542-3331-49AE-A1C7-083E9A73C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112"/>
              <a:ext cx="6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条件</a:t>
              </a: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104484" name="Text Box 47">
              <a:extLst>
                <a:ext uri="{FF2B5EF4-FFF2-40B4-BE49-F238E27FC236}">
                  <a16:creationId xmlns:a16="http://schemas.microsoft.com/office/drawing/2014/main" id="{12F29F27-DD06-4D26-AD85-AAD6E73D6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496"/>
              <a:ext cx="6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条件</a:t>
              </a: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3</a:t>
              </a: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B3D1BC2E-0F20-4EDD-8105-33C36A457310}"/>
              </a:ext>
            </a:extLst>
          </p:cNvPr>
          <p:cNvSpPr/>
          <p:nvPr/>
        </p:nvSpPr>
        <p:spPr>
          <a:xfrm>
            <a:off x="179388" y="908050"/>
            <a:ext cx="378777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+mj-ea"/>
                <a:ea typeface="+mj-ea"/>
              </a:rPr>
              <a:t>1.</a:t>
            </a:r>
            <a:r>
              <a:rPr lang="zh-CN" altLang="en-US" sz="4000" b="1" dirty="0">
                <a:solidFill>
                  <a:srgbClr val="FF0000"/>
                </a:solidFill>
                <a:latin typeface="+mj-ea"/>
                <a:ea typeface="+mj-ea"/>
              </a:rPr>
              <a:t>复合选择结构</a:t>
            </a:r>
            <a:endParaRPr lang="en-US" altLang="zh-CN" sz="4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04455" name="Text Box 1029">
            <a:extLst>
              <a:ext uri="{FF2B5EF4-FFF2-40B4-BE49-F238E27FC236}">
                <a16:creationId xmlns:a16="http://schemas.microsoft.com/office/drawing/2014/main" id="{8CD8F78A-3A44-4203-AB77-EAA4E81F3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04456" name="页脚占位符 14">
            <a:extLst>
              <a:ext uri="{FF2B5EF4-FFF2-40B4-BE49-F238E27FC236}">
                <a16:creationId xmlns:a16="http://schemas.microsoft.com/office/drawing/2014/main" id="{14713AB9-9F23-4DB7-8C0D-CFF815CFADA9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04457" name="灯片编号占位符 13">
            <a:extLst>
              <a:ext uri="{FF2B5EF4-FFF2-40B4-BE49-F238E27FC236}">
                <a16:creationId xmlns:a16="http://schemas.microsoft.com/office/drawing/2014/main" id="{CBC27A29-5EC6-487B-8CE2-9C99BC54CB96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32DD8B2-19B4-4067-8291-726C2FEE0D8C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4458" name="日期占位符 12">
            <a:extLst>
              <a:ext uri="{FF2B5EF4-FFF2-40B4-BE49-F238E27FC236}">
                <a16:creationId xmlns:a16="http://schemas.microsoft.com/office/drawing/2014/main" id="{1D742331-DBDD-475B-B971-597FBEFE6114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04DDED4-2A44-44C1-A8CC-4962048DF119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Line 1027">
            <a:extLst>
              <a:ext uri="{FF2B5EF4-FFF2-40B4-BE49-F238E27FC236}">
                <a16:creationId xmlns:a16="http://schemas.microsoft.com/office/drawing/2014/main" id="{074BEE58-46EA-4AD3-8DD8-0C0B3FD36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Text Box 1030">
            <a:extLst>
              <a:ext uri="{FF2B5EF4-FFF2-40B4-BE49-F238E27FC236}">
                <a16:creationId xmlns:a16="http://schemas.microsoft.com/office/drawing/2014/main" id="{EF0F60E3-4650-4051-B741-931894314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762000"/>
            <a:ext cx="69342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13] 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符号函数。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	</a:t>
            </a:r>
            <a:r>
              <a:rPr lang="en-US" altLang="zh-CN" sz="2800" b="1">
                <a:solidFill>
                  <a:srgbClr val="DDDDDD"/>
                </a:solidFill>
                <a:latin typeface="仿宋" panose="02010609060101010101" pitchFamily="49" charset="-122"/>
                <a:ea typeface="仿宋" panose="02010609060101010101" pitchFamily="49" charset="-122"/>
                <a:hlinkClick r:id="rId3" action="ppaction://hlinkfile"/>
              </a:rPr>
              <a:t>EP506.asm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	1		X&gt;0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Y=	0		X=0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	-1		X&lt;0</a:t>
            </a:r>
            <a:r>
              <a:rPr lang="en-US" altLang="zh-CN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106500" name="Line 1031">
            <a:extLst>
              <a:ext uri="{FF2B5EF4-FFF2-40B4-BE49-F238E27FC236}">
                <a16:creationId xmlns:a16="http://schemas.microsoft.com/office/drawing/2014/main" id="{7148569C-5E61-4BE9-9805-8A7B88AA2A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6501" name="AutoShape 1059">
            <a:extLst>
              <a:ext uri="{FF2B5EF4-FFF2-40B4-BE49-F238E27FC236}">
                <a16:creationId xmlns:a16="http://schemas.microsoft.com/office/drawing/2014/main" id="{A0E7349D-F198-4F73-817A-F8830B1A2EFC}"/>
              </a:ext>
            </a:extLst>
          </p:cNvPr>
          <p:cNvSpPr>
            <a:spLocks/>
          </p:cNvSpPr>
          <p:nvPr/>
        </p:nvSpPr>
        <p:spPr bwMode="auto">
          <a:xfrm>
            <a:off x="2667000" y="13716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6502" name="Text Box 1060">
            <a:extLst>
              <a:ext uri="{FF2B5EF4-FFF2-40B4-BE49-F238E27FC236}">
                <a16:creationId xmlns:a16="http://schemas.microsoft.com/office/drawing/2014/main" id="{B226383E-AF6E-48BB-873E-EB859F034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781300"/>
            <a:ext cx="3319462" cy="337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X 	DB  	89H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Y   	DB  	?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 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MOV	AL,X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CMP 	AL,0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</a:t>
            </a:r>
            <a:r>
              <a:rPr lang="en-US" altLang="zh-CN" sz="32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JGE 	BIGPR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	</a:t>
            </a:r>
            <a:r>
              <a:rPr lang="en-US" altLang="zh-CN" sz="32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 	Y,0FFH</a:t>
            </a:r>
            <a:endParaRPr lang="en-US" altLang="zh-CN" sz="280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6503" name="Text Box 1061">
            <a:extLst>
              <a:ext uri="{FF2B5EF4-FFF2-40B4-BE49-F238E27FC236}">
                <a16:creationId xmlns:a16="http://schemas.microsoft.com/office/drawing/2014/main" id="{A1A6631E-E999-45D2-B32C-4B7B8DD1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743200"/>
            <a:ext cx="4195763" cy="340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</a:rPr>
              <a:t> 	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JMP	COM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BIGPR:  	</a:t>
            </a:r>
            <a:r>
              <a:rPr lang="en-US" altLang="zh-CN" sz="32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JE  	EQUPR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</a:t>
            </a:r>
            <a:r>
              <a:rPr lang="en-US" altLang="zh-CN" sz="32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Y,1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JMP	COM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EQUPR:  	</a:t>
            </a:r>
            <a:r>
              <a:rPr lang="en-US" altLang="zh-CN" sz="32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Y,0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COM:    	MOV	AH,4CH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       	INT	21H</a:t>
            </a:r>
          </a:p>
        </p:txBody>
      </p:sp>
      <p:sp>
        <p:nvSpPr>
          <p:cNvPr id="106504" name="Line 1062">
            <a:extLst>
              <a:ext uri="{FF2B5EF4-FFF2-40B4-BE49-F238E27FC236}">
                <a16:creationId xmlns:a16="http://schemas.microsoft.com/office/drawing/2014/main" id="{4EE2386F-4A26-4655-9822-332B93DCBE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8956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31FFE-B4FE-4D26-898B-02B3FD6311E9}"/>
              </a:ext>
            </a:extLst>
          </p:cNvPr>
          <p:cNvSpPr txBox="1"/>
          <p:nvPr/>
        </p:nvSpPr>
        <p:spPr>
          <a:xfrm>
            <a:off x="179388" y="3500438"/>
            <a:ext cx="554037" cy="2592387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vert="eaVert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方法</a:t>
            </a:r>
            <a:r>
              <a:rPr lang="en-US" altLang="zh-CN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，逐项排除</a:t>
            </a:r>
            <a:endParaRPr lang="zh-CN" altLang="en-US" dirty="0"/>
          </a:p>
        </p:txBody>
      </p:sp>
      <p:sp>
        <p:nvSpPr>
          <p:cNvPr id="106506" name="Text Box 1029">
            <a:extLst>
              <a:ext uri="{FF2B5EF4-FFF2-40B4-BE49-F238E27FC236}">
                <a16:creationId xmlns:a16="http://schemas.microsoft.com/office/drawing/2014/main" id="{F1574479-14DA-4F48-BAA1-39868E3E3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06507" name="页脚占位符 14">
            <a:extLst>
              <a:ext uri="{FF2B5EF4-FFF2-40B4-BE49-F238E27FC236}">
                <a16:creationId xmlns:a16="http://schemas.microsoft.com/office/drawing/2014/main" id="{D220022D-35F0-4582-A7A8-EA53CA917FF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06508" name="灯片编号占位符 13">
            <a:extLst>
              <a:ext uri="{FF2B5EF4-FFF2-40B4-BE49-F238E27FC236}">
                <a16:creationId xmlns:a16="http://schemas.microsoft.com/office/drawing/2014/main" id="{950D1319-7818-483D-89AE-674405F4121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9638745-626F-481F-8204-B352942131B9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6509" name="日期占位符 12">
            <a:extLst>
              <a:ext uri="{FF2B5EF4-FFF2-40B4-BE49-F238E27FC236}">
                <a16:creationId xmlns:a16="http://schemas.microsoft.com/office/drawing/2014/main" id="{4F3E2EC1-B628-434E-875F-51772B30C95B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03AB7E-FFB8-4D42-8187-C0D9A4C370BD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0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Line 1027">
            <a:extLst>
              <a:ext uri="{FF2B5EF4-FFF2-40B4-BE49-F238E27FC236}">
                <a16:creationId xmlns:a16="http://schemas.microsoft.com/office/drawing/2014/main" id="{3970EAF0-B739-4F94-A8FD-06AEF2063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616585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7" name="Line 1031">
            <a:extLst>
              <a:ext uri="{FF2B5EF4-FFF2-40B4-BE49-F238E27FC236}">
                <a16:creationId xmlns:a16="http://schemas.microsoft.com/office/drawing/2014/main" id="{F185D6F2-020D-4507-9978-0DF7E00D87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575A6CCE-D657-4242-9A52-230BF0162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1052513"/>
            <a:ext cx="3744913" cy="47894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ea typeface="仿宋_GB2312" pitchFamily="49" charset="-122"/>
              </a:rPr>
              <a:t>	</a:t>
            </a: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CMP	X, 0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   	JG	PLUS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   	JE	ZERO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MINUS: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   	MOV	Y, -1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   	JMP	DONE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PLUS: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   	MOV	Y, 1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   	JMP	DONE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ZERO: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   	MOV	Y, 0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DONE:	……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103FB0-BE8F-4FBF-93C8-ADE600126768}"/>
              </a:ext>
            </a:extLst>
          </p:cNvPr>
          <p:cNvSpPr txBox="1"/>
          <p:nvPr/>
        </p:nvSpPr>
        <p:spPr>
          <a:xfrm>
            <a:off x="1403350" y="1844675"/>
            <a:ext cx="677863" cy="381635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vert="eaVert">
            <a:spAutoFit/>
          </a:bodyPr>
          <a:lstStyle/>
          <a:p>
            <a:pPr eaLnBrk="1" hangingPunct="1">
              <a:defRPr/>
            </a:pPr>
            <a:r>
              <a:rPr lang="zh-CN" altLang="en-US" sz="32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方法</a:t>
            </a:r>
            <a:r>
              <a:rPr lang="en-US" altLang="zh-CN" sz="32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32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，逐项确认</a:t>
            </a:r>
            <a:endParaRPr lang="zh-CN" altLang="en-US" sz="3200" dirty="0"/>
          </a:p>
        </p:txBody>
      </p:sp>
      <p:sp>
        <p:nvSpPr>
          <p:cNvPr id="108550" name="Text Box 1029">
            <a:extLst>
              <a:ext uri="{FF2B5EF4-FFF2-40B4-BE49-F238E27FC236}">
                <a16:creationId xmlns:a16="http://schemas.microsoft.com/office/drawing/2014/main" id="{49E5A302-59BD-4FBE-9165-AB9850D68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08551" name="页脚占位符 14">
            <a:extLst>
              <a:ext uri="{FF2B5EF4-FFF2-40B4-BE49-F238E27FC236}">
                <a16:creationId xmlns:a16="http://schemas.microsoft.com/office/drawing/2014/main" id="{A348525A-185B-42FB-9D07-DF1A1B59F3B0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08552" name="灯片编号占位符 13">
            <a:extLst>
              <a:ext uri="{FF2B5EF4-FFF2-40B4-BE49-F238E27FC236}">
                <a16:creationId xmlns:a16="http://schemas.microsoft.com/office/drawing/2014/main" id="{1D3859D9-C14B-4438-A398-13DB238A287E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8E36145-ABB1-47C0-A87A-81FFA5C04889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8553" name="日期占位符 12">
            <a:extLst>
              <a:ext uri="{FF2B5EF4-FFF2-40B4-BE49-F238E27FC236}">
                <a16:creationId xmlns:a16="http://schemas.microsoft.com/office/drawing/2014/main" id="{ECCFAC72-FBD9-4FB5-97D5-0F97BAE5FEE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D6F66A-7AC9-4E1B-8903-7C6FE283E1A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Line 1027">
            <a:extLst>
              <a:ext uri="{FF2B5EF4-FFF2-40B4-BE49-F238E27FC236}">
                <a16:creationId xmlns:a16="http://schemas.microsoft.com/office/drawing/2014/main" id="{A1AE1D62-7103-4A20-8D72-558F3CF06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Text Box 1030">
            <a:extLst>
              <a:ext uri="{FF2B5EF4-FFF2-40B4-BE49-F238E27FC236}">
                <a16:creationId xmlns:a16="http://schemas.microsoft.com/office/drawing/2014/main" id="{8008C3EF-42AF-4ADB-AF45-CA15CDB9A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836613"/>
            <a:ext cx="72009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14]</a:t>
            </a:r>
            <a:r>
              <a:rPr lang="zh-CN" altLang="en-US" sz="2800" b="1">
                <a:latin typeface="Times New Roman" panose="02020603050405020304" pitchFamily="18" charset="0"/>
                <a:ea typeface="仿宋_GB2312" pitchFamily="49" charset="-122"/>
              </a:rPr>
              <a:t>从键盘上输入一个小写字母，显示该字母的前导和后继。</a:t>
            </a:r>
            <a:r>
              <a:rPr lang="en-US" altLang="zh-CN" sz="2800" b="1">
                <a:latin typeface="Times New Roman" panose="02020603050405020304" pitchFamily="18" charset="0"/>
                <a:ea typeface="仿宋_GB2312" pitchFamily="49" charset="-122"/>
              </a:rPr>
              <a:t>	</a:t>
            </a:r>
            <a:r>
              <a:rPr lang="en-US" altLang="zh-CN" sz="2800" b="1">
                <a:solidFill>
                  <a:srgbClr val="DDDDDD"/>
                </a:solidFill>
                <a:latin typeface="仿宋" panose="02010609060101010101" pitchFamily="49" charset="-122"/>
                <a:ea typeface="仿宋" panose="02010609060101010101" pitchFamily="49" charset="-122"/>
                <a:hlinkClick r:id="rId3" action="ppaction://hlinkfile"/>
              </a:rPr>
              <a:t>EP507.asm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28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0596" name="Line 1031">
            <a:extLst>
              <a:ext uri="{FF2B5EF4-FFF2-40B4-BE49-F238E27FC236}">
                <a16:creationId xmlns:a16="http://schemas.microsoft.com/office/drawing/2014/main" id="{BEBBB849-F8F1-42D3-880D-B86E2E854A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785BA2E-E2D1-4C16-8479-37A558D55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060575"/>
            <a:ext cx="8763000" cy="376555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DATA		SEGMENT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PROMPT 	DB 0DH, 0AH, “ Input a lowercase letter: $”;</a:t>
            </a:r>
            <a:r>
              <a:rPr lang="zh-CN" altLang="en-US" b="1" dirty="0">
                <a:ea typeface="仿宋_GB2312" pitchFamily="49" charset="-122"/>
              </a:rPr>
              <a:t>提示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ERR_MSG 	DB 0DH, 0AH, “ Input error . $”</a:t>
            </a:r>
            <a:r>
              <a:rPr lang="zh-CN" altLang="en-US" b="1" dirty="0">
                <a:ea typeface="仿宋_GB2312" pitchFamily="49" charset="-122"/>
              </a:rPr>
              <a:t>；输入错误警告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BUF		DB   	0DH, 0AH, ‘</a:t>
            </a:r>
            <a:r>
              <a:rPr lang="en-US" altLang="zh-CN" b="1" dirty="0" err="1">
                <a:ea typeface="仿宋_GB2312" pitchFamily="49" charset="-122"/>
              </a:rPr>
              <a:t>Prev</a:t>
            </a:r>
            <a:r>
              <a:rPr lang="en-US" altLang="zh-CN" b="1" dirty="0">
                <a:ea typeface="仿宋_GB2312" pitchFamily="49" charset="-122"/>
              </a:rPr>
              <a:t>: ’		</a:t>
            </a:r>
            <a:r>
              <a:rPr lang="zh-CN" altLang="en-US" b="1" dirty="0">
                <a:ea typeface="仿宋_GB2312" pitchFamily="49" charset="-122"/>
              </a:rPr>
              <a:t>；输出缓冲区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PREV		DB   	20H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DB   	0DH, 0AH, ‘</a:t>
            </a:r>
            <a:r>
              <a:rPr lang="en-US" altLang="zh-CN" b="1" dirty="0" err="1">
                <a:ea typeface="仿宋_GB2312" pitchFamily="49" charset="-122"/>
              </a:rPr>
              <a:t>Succ</a:t>
            </a:r>
            <a:r>
              <a:rPr lang="en-US" altLang="zh-CN" b="1" dirty="0">
                <a:ea typeface="仿宋_GB2312" pitchFamily="49" charset="-122"/>
              </a:rPr>
              <a:t>: ’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SUCC		DB   	20H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DB   	0DH, 0AH, ‘$’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DATA		ENDS</a:t>
            </a:r>
          </a:p>
        </p:txBody>
      </p:sp>
      <p:sp>
        <p:nvSpPr>
          <p:cNvPr id="110598" name="Text Box 1029">
            <a:extLst>
              <a:ext uri="{FF2B5EF4-FFF2-40B4-BE49-F238E27FC236}">
                <a16:creationId xmlns:a16="http://schemas.microsoft.com/office/drawing/2014/main" id="{0D3DE0FB-7D71-49C9-86EE-05A0FADE9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10599" name="页脚占位符 14">
            <a:extLst>
              <a:ext uri="{FF2B5EF4-FFF2-40B4-BE49-F238E27FC236}">
                <a16:creationId xmlns:a16="http://schemas.microsoft.com/office/drawing/2014/main" id="{A18D1063-F711-484C-9481-B27933A6BFF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10600" name="灯片编号占位符 13">
            <a:extLst>
              <a:ext uri="{FF2B5EF4-FFF2-40B4-BE49-F238E27FC236}">
                <a16:creationId xmlns:a16="http://schemas.microsoft.com/office/drawing/2014/main" id="{A3256EA4-6A65-4045-8E3B-6D1CDA4C7409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B636DBA-1371-4D66-9C10-C2FD7FB26A9C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0601" name="日期占位符 12">
            <a:extLst>
              <a:ext uri="{FF2B5EF4-FFF2-40B4-BE49-F238E27FC236}">
                <a16:creationId xmlns:a16="http://schemas.microsoft.com/office/drawing/2014/main" id="{856E2284-FEAD-431A-8B44-279A5ADF77E2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B4A3E59-F29B-4783-81D2-5C8B3B245ECC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0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Line 1027">
            <a:extLst>
              <a:ext uri="{FF2B5EF4-FFF2-40B4-BE49-F238E27FC236}">
                <a16:creationId xmlns:a16="http://schemas.microsoft.com/office/drawing/2014/main" id="{C21C9719-5362-4FF7-87E4-CE5B8CB5B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3" name="Line 1031">
            <a:extLst>
              <a:ext uri="{FF2B5EF4-FFF2-40B4-BE49-F238E27FC236}">
                <a16:creationId xmlns:a16="http://schemas.microsoft.com/office/drawing/2014/main" id="{F4ABD92C-C5BD-449B-9FE3-146B58D4A1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CA9645E-044B-4515-9EA1-B22D40EF7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765175"/>
            <a:ext cx="7796212" cy="52990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CODE		SEGMENT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ASSUME	CS: CODE, DS: DATA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START:	MOV	AX, DATA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MOV	DS, AX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INPUT:	LEA	DX, PROMPT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MOV	AH, 9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INT	21H		</a:t>
            </a:r>
            <a:r>
              <a:rPr lang="zh-CN" altLang="en-US" b="1" dirty="0">
                <a:ea typeface="仿宋_GB2312" pitchFamily="49" charset="-122"/>
              </a:rPr>
              <a:t>；输出提示信息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	</a:t>
            </a:r>
            <a:r>
              <a:rPr lang="en-US" altLang="zh-CN" b="1" dirty="0">
                <a:ea typeface="仿宋_GB2312" pitchFamily="49" charset="-122"/>
              </a:rPr>
              <a:t>MOV	AH, 1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INT	21H		</a:t>
            </a:r>
            <a:r>
              <a:rPr lang="zh-CN" altLang="en-US" b="1" dirty="0">
                <a:ea typeface="仿宋_GB2312" pitchFamily="49" charset="-122"/>
              </a:rPr>
              <a:t>；输入一个字符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	</a:t>
            </a:r>
            <a:r>
              <a:rPr lang="en-US" altLang="zh-CN" b="1" dirty="0">
                <a:ea typeface="仿宋_GB2312" pitchFamily="49" charset="-122"/>
              </a:rPr>
              <a:t>CMP	AL, ‘a’	</a:t>
            </a:r>
            <a:r>
              <a:rPr lang="zh-CN" altLang="en-US" b="1" dirty="0">
                <a:ea typeface="仿宋_GB2312" pitchFamily="49" charset="-122"/>
              </a:rPr>
              <a:t>；输入正确性检查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	</a:t>
            </a:r>
            <a:r>
              <a:rPr lang="en-US" altLang="zh-CN" b="1" dirty="0">
                <a:ea typeface="仿宋_GB2312" pitchFamily="49" charset="-122"/>
              </a:rPr>
              <a:t>JB	ERROR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CMP	AL, ‘z’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JA	ERROR		</a:t>
            </a:r>
          </a:p>
        </p:txBody>
      </p:sp>
      <p:sp>
        <p:nvSpPr>
          <p:cNvPr id="112645" name="Text Box 1029">
            <a:extLst>
              <a:ext uri="{FF2B5EF4-FFF2-40B4-BE49-F238E27FC236}">
                <a16:creationId xmlns:a16="http://schemas.microsoft.com/office/drawing/2014/main" id="{2A232DD1-C9A1-43EE-9C61-A5FFEEC72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12646" name="页脚占位符 14">
            <a:extLst>
              <a:ext uri="{FF2B5EF4-FFF2-40B4-BE49-F238E27FC236}">
                <a16:creationId xmlns:a16="http://schemas.microsoft.com/office/drawing/2014/main" id="{32D88F84-7F97-4C30-ABDC-FEE95611C9F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12647" name="灯片编号占位符 13">
            <a:extLst>
              <a:ext uri="{FF2B5EF4-FFF2-40B4-BE49-F238E27FC236}">
                <a16:creationId xmlns:a16="http://schemas.microsoft.com/office/drawing/2014/main" id="{FE9F416E-F4CA-4F01-BC92-4C03BA07AFD4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3F268DE-DE61-4927-8615-5D1EC6C404BD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2648" name="日期占位符 12">
            <a:extLst>
              <a:ext uri="{FF2B5EF4-FFF2-40B4-BE49-F238E27FC236}">
                <a16:creationId xmlns:a16="http://schemas.microsoft.com/office/drawing/2014/main" id="{AC1F3FCB-14C9-44FD-9109-9AA24C427BD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88BE01-2293-4A60-A34D-9F8D83DA3564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Line 1027">
            <a:extLst>
              <a:ext uri="{FF2B5EF4-FFF2-40B4-BE49-F238E27FC236}">
                <a16:creationId xmlns:a16="http://schemas.microsoft.com/office/drawing/2014/main" id="{2D7C05EE-C7B4-4084-A074-26D00D8E2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1" name="Line 1031">
            <a:extLst>
              <a:ext uri="{FF2B5EF4-FFF2-40B4-BE49-F238E27FC236}">
                <a16:creationId xmlns:a16="http://schemas.microsoft.com/office/drawing/2014/main" id="{F7C6ADD9-BEFC-4C75-B91A-3BA75FC695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D9134CD-0826-4299-B680-2571DF88B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92150"/>
            <a:ext cx="8382000" cy="53625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	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en-US" altLang="zh-CN" b="1">
                <a:ea typeface="仿宋_GB2312" pitchFamily="49" charset="-122"/>
              </a:rPr>
              <a:t>	MOV	BL, AL	</a:t>
            </a:r>
            <a:r>
              <a:rPr lang="zh-CN" altLang="en-US" b="1">
                <a:ea typeface="仿宋_GB2312" pitchFamily="49" charset="-122"/>
              </a:rPr>
              <a:t>；计算“前导”字母</a:t>
            </a:r>
            <a:endParaRPr lang="en-US" altLang="zh-CN" b="1">
              <a:ea typeface="仿宋_GB2312" pitchFamily="49" charset="-122"/>
            </a:endParaRPr>
          </a:p>
          <a:p>
            <a:pPr eaLnBrk="1" hangingPunct="1">
              <a:spcBef>
                <a:spcPts val="400"/>
              </a:spcBef>
              <a:defRPr/>
            </a:pPr>
            <a:r>
              <a:rPr lang="zh-CN" altLang="en-US" b="1">
                <a:ea typeface="仿宋_GB2312" pitchFamily="49" charset="-122"/>
              </a:rPr>
              <a:t>	</a:t>
            </a:r>
            <a:r>
              <a:rPr lang="en-US" altLang="zh-CN" b="1">
                <a:ea typeface="仿宋_GB2312" pitchFamily="49" charset="-122"/>
              </a:rPr>
              <a:t>DEC	BL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en-US" altLang="zh-CN" b="1">
                <a:ea typeface="仿宋_GB2312" pitchFamily="49" charset="-122"/>
              </a:rPr>
              <a:t>	CMP	BL, ‘a’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en-US" altLang="zh-CN" b="1">
                <a:ea typeface="仿宋_GB2312" pitchFamily="49" charset="-122"/>
              </a:rPr>
              <a:t>	JB	SKIP1		</a:t>
            </a:r>
            <a:r>
              <a:rPr lang="zh-CN" altLang="en-US" b="1">
                <a:ea typeface="仿宋_GB2312" pitchFamily="49" charset="-122"/>
              </a:rPr>
              <a:t>；“前导”非字母，跳过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zh-CN" altLang="en-US" b="1">
                <a:ea typeface="仿宋_GB2312" pitchFamily="49" charset="-122"/>
              </a:rPr>
              <a:t>	</a:t>
            </a:r>
            <a:r>
              <a:rPr lang="en-US" altLang="zh-CN" b="1">
                <a:ea typeface="仿宋_GB2312" pitchFamily="49" charset="-122"/>
              </a:rPr>
              <a:t>MOV	PREV, BL	</a:t>
            </a:r>
            <a:r>
              <a:rPr lang="zh-CN" altLang="en-US" b="1">
                <a:ea typeface="仿宋_GB2312" pitchFamily="49" charset="-122"/>
              </a:rPr>
              <a:t>；保存“前导”字母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en-US" altLang="zh-CN" b="1">
                <a:ea typeface="仿宋_GB2312" pitchFamily="49" charset="-122"/>
              </a:rPr>
              <a:t>SKIP1:INC	AL		</a:t>
            </a:r>
            <a:r>
              <a:rPr lang="zh-CN" altLang="en-US" b="1">
                <a:ea typeface="仿宋_GB2312" pitchFamily="49" charset="-122"/>
              </a:rPr>
              <a:t>；计算“后继”字母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zh-CN" altLang="en-US" b="1">
                <a:ea typeface="仿宋_GB2312" pitchFamily="49" charset="-122"/>
              </a:rPr>
              <a:t>	</a:t>
            </a:r>
            <a:r>
              <a:rPr lang="en-US" altLang="zh-CN" b="1">
                <a:ea typeface="仿宋_GB2312" pitchFamily="49" charset="-122"/>
              </a:rPr>
              <a:t>CMP	AL, ‘z’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en-US" altLang="zh-CN" b="1">
                <a:ea typeface="仿宋_GB2312" pitchFamily="49" charset="-122"/>
              </a:rPr>
              <a:t>	JA	SKIP2		</a:t>
            </a:r>
            <a:r>
              <a:rPr lang="zh-CN" altLang="en-US" b="1">
                <a:ea typeface="仿宋_GB2312" pitchFamily="49" charset="-122"/>
              </a:rPr>
              <a:t>；“后继”非字母，跳过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zh-CN" altLang="en-US" b="1">
                <a:ea typeface="仿宋_GB2312" pitchFamily="49" charset="-122"/>
              </a:rPr>
              <a:t>	</a:t>
            </a:r>
            <a:r>
              <a:rPr lang="en-US" altLang="zh-CN" b="1">
                <a:ea typeface="仿宋_GB2312" pitchFamily="49" charset="-122"/>
              </a:rPr>
              <a:t>MOV	SUCC, AL	</a:t>
            </a:r>
            <a:r>
              <a:rPr lang="zh-CN" altLang="en-US" b="1">
                <a:ea typeface="仿宋_GB2312" pitchFamily="49" charset="-122"/>
              </a:rPr>
              <a:t>；“后继”为字母，保存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en-US" altLang="zh-CN" b="1">
                <a:ea typeface="仿宋_GB2312" pitchFamily="49" charset="-122"/>
              </a:rPr>
              <a:t>SKIP2:LEA	DX, BUF	</a:t>
            </a:r>
            <a:r>
              <a:rPr lang="zh-CN" altLang="en-US" b="1">
                <a:ea typeface="仿宋_GB2312" pitchFamily="49" charset="-122"/>
              </a:rPr>
              <a:t>；输出“前导”和“后继”字母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zh-CN" altLang="en-US" b="1">
                <a:ea typeface="仿宋_GB2312" pitchFamily="49" charset="-122"/>
              </a:rPr>
              <a:t>	</a:t>
            </a:r>
            <a:r>
              <a:rPr lang="en-US" altLang="zh-CN" b="1">
                <a:ea typeface="仿宋_GB2312" pitchFamily="49" charset="-122"/>
              </a:rPr>
              <a:t>MOV	AH, 09H</a:t>
            </a:r>
          </a:p>
          <a:p>
            <a:pPr eaLnBrk="1" hangingPunct="1">
              <a:spcBef>
                <a:spcPts val="400"/>
              </a:spcBef>
              <a:defRPr/>
            </a:pPr>
            <a:r>
              <a:rPr lang="en-US" altLang="zh-CN" b="1">
                <a:ea typeface="仿宋_GB2312" pitchFamily="49" charset="-122"/>
              </a:rPr>
              <a:t>	INT	21H	</a:t>
            </a:r>
            <a:endParaRPr lang="zh-CN" altLang="en-US" b="1">
              <a:ea typeface="仿宋_GB2312" pitchFamily="49" charset="-122"/>
            </a:endParaRPr>
          </a:p>
        </p:txBody>
      </p:sp>
      <p:sp>
        <p:nvSpPr>
          <p:cNvPr id="114693" name="Text Box 1029">
            <a:extLst>
              <a:ext uri="{FF2B5EF4-FFF2-40B4-BE49-F238E27FC236}">
                <a16:creationId xmlns:a16="http://schemas.microsoft.com/office/drawing/2014/main" id="{8791590B-0262-46E3-8B7D-6E693161F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14694" name="页脚占位符 14">
            <a:extLst>
              <a:ext uri="{FF2B5EF4-FFF2-40B4-BE49-F238E27FC236}">
                <a16:creationId xmlns:a16="http://schemas.microsoft.com/office/drawing/2014/main" id="{633006C6-F3D0-4841-A13E-723CF6CE936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14695" name="灯片编号占位符 13">
            <a:extLst>
              <a:ext uri="{FF2B5EF4-FFF2-40B4-BE49-F238E27FC236}">
                <a16:creationId xmlns:a16="http://schemas.microsoft.com/office/drawing/2014/main" id="{24780E45-9412-47CA-AEFE-570AB1D8453E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B6E69D72-7E26-4620-8407-A9F0C38B15A4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4696" name="日期占位符 12">
            <a:extLst>
              <a:ext uri="{FF2B5EF4-FFF2-40B4-BE49-F238E27FC236}">
                <a16:creationId xmlns:a16="http://schemas.microsoft.com/office/drawing/2014/main" id="{4953FC86-BD38-4EA7-BD85-B21EA592066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30889C3-1741-4E03-860D-BF203CED604F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Line 1027">
            <a:extLst>
              <a:ext uri="{FF2B5EF4-FFF2-40B4-BE49-F238E27FC236}">
                <a16:creationId xmlns:a16="http://schemas.microsoft.com/office/drawing/2014/main" id="{1C8DA42F-4688-4598-ADB1-BA4097D14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39" name="Line 1031">
            <a:extLst>
              <a:ext uri="{FF2B5EF4-FFF2-40B4-BE49-F238E27FC236}">
                <a16:creationId xmlns:a16="http://schemas.microsoft.com/office/drawing/2014/main" id="{8E2254A4-A656-4631-86DC-6C92DCA39D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448C3BC-E291-4B44-ACBE-9DB5D52FF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052513"/>
            <a:ext cx="7924800" cy="481965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	   	JMP	EXIT		</a:t>
            </a:r>
            <a:r>
              <a:rPr lang="zh-CN" altLang="en-US" b="1">
                <a:ea typeface="仿宋_GB2312" pitchFamily="49" charset="-122"/>
              </a:rPr>
              <a:t>；跳过出错处理程序</a:t>
            </a:r>
            <a:endParaRPr lang="en-US" altLang="zh-CN" b="1">
              <a:ea typeface="仿宋_GB2312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ERROR:	LEA  	DX, ERR-MSG</a:t>
            </a:r>
            <a:r>
              <a:rPr lang="zh-CN" altLang="en-US" b="1">
                <a:ea typeface="仿宋_GB2312" pitchFamily="49" charset="-122"/>
              </a:rPr>
              <a:t>；显示出错信息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b="1">
                <a:ea typeface="仿宋_GB2312" pitchFamily="49" charset="-122"/>
              </a:rPr>
              <a:t>	   </a:t>
            </a:r>
            <a:r>
              <a:rPr lang="en-US" altLang="zh-CN" b="1">
                <a:ea typeface="仿宋_GB2312" pitchFamily="49" charset="-122"/>
              </a:rPr>
              <a:t>	MOV	AH, 09H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		INT	21H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		JMP	INPUT	</a:t>
            </a:r>
            <a:r>
              <a:rPr lang="zh-CN" altLang="en-US" b="1">
                <a:ea typeface="仿宋_GB2312" pitchFamily="49" charset="-122"/>
              </a:rPr>
              <a:t>；要求重新输入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EXIT:		MOV	AX, 4C00H	</a:t>
            </a:r>
            <a:r>
              <a:rPr lang="zh-CN" altLang="en-US" b="1">
                <a:ea typeface="仿宋_GB2312" pitchFamily="49" charset="-122"/>
              </a:rPr>
              <a:t>；返回</a:t>
            </a:r>
            <a:r>
              <a:rPr lang="en-US" altLang="zh-CN" b="1">
                <a:ea typeface="仿宋_GB2312" pitchFamily="49" charset="-122"/>
              </a:rPr>
              <a:t>OS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		INT	21H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CODE		ENDS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>
                <a:ea typeface="仿宋_GB2312" pitchFamily="49" charset="-122"/>
              </a:rPr>
              <a:t>		END	START</a:t>
            </a:r>
          </a:p>
        </p:txBody>
      </p:sp>
      <p:sp>
        <p:nvSpPr>
          <p:cNvPr id="116741" name="Text Box 1029">
            <a:extLst>
              <a:ext uri="{FF2B5EF4-FFF2-40B4-BE49-F238E27FC236}">
                <a16:creationId xmlns:a16="http://schemas.microsoft.com/office/drawing/2014/main" id="{045BB4BE-0D7F-46F4-B285-DC6CDF0DE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16742" name="页脚占位符 14">
            <a:extLst>
              <a:ext uri="{FF2B5EF4-FFF2-40B4-BE49-F238E27FC236}">
                <a16:creationId xmlns:a16="http://schemas.microsoft.com/office/drawing/2014/main" id="{AE62FEC3-0079-44EF-9EE6-F7E0D594A63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16743" name="灯片编号占位符 13">
            <a:extLst>
              <a:ext uri="{FF2B5EF4-FFF2-40B4-BE49-F238E27FC236}">
                <a16:creationId xmlns:a16="http://schemas.microsoft.com/office/drawing/2014/main" id="{59D4609E-2CEA-4D09-AFF6-441F800D856B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4B80CD93-D00A-4332-8EE4-1F628ED0FDD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6744" name="日期占位符 12">
            <a:extLst>
              <a:ext uri="{FF2B5EF4-FFF2-40B4-BE49-F238E27FC236}">
                <a16:creationId xmlns:a16="http://schemas.microsoft.com/office/drawing/2014/main" id="{DD67A2AE-7429-4225-916C-ADB1A675FCF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7DF2EA-8A1E-43ED-9E3E-85A592EA5B34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Line 3">
            <a:extLst>
              <a:ext uri="{FF2B5EF4-FFF2-40B4-BE49-F238E27FC236}">
                <a16:creationId xmlns:a16="http://schemas.microsoft.com/office/drawing/2014/main" id="{8B0AC521-6705-49FA-A05B-F20B64EC4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Text Box 6">
            <a:extLst>
              <a:ext uri="{FF2B5EF4-FFF2-40B4-BE49-F238E27FC236}">
                <a16:creationId xmlns:a16="http://schemas.microsoft.com/office/drawing/2014/main" id="{B0390240-20C1-4715-8A04-D55D01EFC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963613"/>
            <a:ext cx="7200900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地址表法</a:t>
            </a: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3200" b="1"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华文新魏" panose="02010800040101010101" pitchFamily="2" charset="-122"/>
                <a:ea typeface="楷体_GB2312" pitchFamily="49" charset="-122"/>
              </a:rPr>
              <a:t>	</a:t>
            </a:r>
            <a:r>
              <a:rPr lang="zh-CN" altLang="en-US" sz="3200" b="1">
                <a:latin typeface="华文新魏" panose="02010800040101010101" pitchFamily="2" charset="-122"/>
                <a:ea typeface="华文新魏" panose="02010800040101010101" pitchFamily="2" charset="-122"/>
              </a:rPr>
              <a:t>其设计思想是在数据段中定义一张地址表，将各个分支程序段的入口地址放入表中，然后根据各分支程序的编号，在地址表中找出转向某个分支程序的入口地址。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600" b="1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表地址</a:t>
            </a:r>
            <a:r>
              <a:rPr lang="en-US" altLang="zh-CN" sz="3600" b="1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=</a:t>
            </a:r>
            <a:r>
              <a:rPr lang="zh-CN" altLang="en-US" sz="3600" b="1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地址表首址</a:t>
            </a:r>
            <a:r>
              <a:rPr lang="en-US" altLang="zh-CN" sz="3600" b="1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+</a:t>
            </a:r>
            <a:r>
              <a:rPr lang="zh-CN" altLang="en-US" sz="3600" b="1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编号*</a:t>
            </a:r>
            <a:r>
              <a:rPr lang="en-US" altLang="zh-CN" sz="3600" b="1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en-US" altLang="zh-CN" sz="32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28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8788" name="Line 7">
            <a:extLst>
              <a:ext uri="{FF2B5EF4-FFF2-40B4-BE49-F238E27FC236}">
                <a16:creationId xmlns:a16="http://schemas.microsoft.com/office/drawing/2014/main" id="{2489183D-3FBE-4CAA-9B0F-C3DF15FFA4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8789" name="AutoShape 8">
            <a:extLst>
              <a:ext uri="{FF2B5EF4-FFF2-40B4-BE49-F238E27FC236}">
                <a16:creationId xmlns:a16="http://schemas.microsoft.com/office/drawing/2014/main" id="{0441AB76-A302-46D9-B22E-8FE932909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8790" name="Text Box 1029">
            <a:extLst>
              <a:ext uri="{FF2B5EF4-FFF2-40B4-BE49-F238E27FC236}">
                <a16:creationId xmlns:a16="http://schemas.microsoft.com/office/drawing/2014/main" id="{F0E3CE07-C8F4-4324-9F2C-FE9D715B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18791" name="页脚占位符 14">
            <a:extLst>
              <a:ext uri="{FF2B5EF4-FFF2-40B4-BE49-F238E27FC236}">
                <a16:creationId xmlns:a16="http://schemas.microsoft.com/office/drawing/2014/main" id="{D40166F9-DBC9-4996-B902-0DE37677ADB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18792" name="灯片编号占位符 13">
            <a:extLst>
              <a:ext uri="{FF2B5EF4-FFF2-40B4-BE49-F238E27FC236}">
                <a16:creationId xmlns:a16="http://schemas.microsoft.com/office/drawing/2014/main" id="{883C2C3E-FC80-41CA-9DAF-92CD2FFE290B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0B4094E8-4490-4853-A731-1AB02E78677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8793" name="日期占位符 12">
            <a:extLst>
              <a:ext uri="{FF2B5EF4-FFF2-40B4-BE49-F238E27FC236}">
                <a16:creationId xmlns:a16="http://schemas.microsoft.com/office/drawing/2014/main" id="{3009397D-EFF3-4E1F-85F6-8658615EA5E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F0CF2F8-83AB-47FF-A1DF-D96116B7D0F3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2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Line 3">
            <a:extLst>
              <a:ext uri="{FF2B5EF4-FFF2-40B4-BE49-F238E27FC236}">
                <a16:creationId xmlns:a16="http://schemas.microsoft.com/office/drawing/2014/main" id="{7EC427D9-C5D5-4228-B56D-CB5960AE7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8" name="Text Box 6">
            <a:extLst>
              <a:ext uri="{FF2B5EF4-FFF2-40B4-BE49-F238E27FC236}">
                <a16:creationId xmlns:a16="http://schemas.microsoft.com/office/drawing/2014/main" id="{BD8FDA7A-9B1B-4FC7-A2B0-2EE6C1E6E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908050"/>
            <a:ext cx="69342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例：设有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……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，共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N+1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个分支程序，各分支程序的入口分别为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ADD0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ADD1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  <a:ea typeface="楷体_GB2312" pitchFamily="49" charset="-122"/>
              </a:rPr>
              <a:t>……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ADDN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。	</a:t>
            </a:r>
            <a:endParaRPr lang="zh-CN" altLang="en-US" sz="2800" b="1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0836" name="Line 7">
            <a:extLst>
              <a:ext uri="{FF2B5EF4-FFF2-40B4-BE49-F238E27FC236}">
                <a16:creationId xmlns:a16="http://schemas.microsoft.com/office/drawing/2014/main" id="{884FA7D2-3A28-4393-BB04-1FAFF5497C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0837" name="AutoShape 8">
            <a:extLst>
              <a:ext uri="{FF2B5EF4-FFF2-40B4-BE49-F238E27FC236}">
                <a16:creationId xmlns:a16="http://schemas.microsoft.com/office/drawing/2014/main" id="{903867AC-EC8A-490F-B6D0-E435E9D1B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0838" name="Text Box 9">
            <a:extLst>
              <a:ext uri="{FF2B5EF4-FFF2-40B4-BE49-F238E27FC236}">
                <a16:creationId xmlns:a16="http://schemas.microsoft.com/office/drawing/2014/main" id="{4DC263AB-E657-4A8D-B784-82EAC4E45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3000375"/>
            <a:ext cx="835342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DATA	SEGMENT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NUM		DB	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ADTAB	DW	ADDR0</a:t>
            </a:r>
            <a:r>
              <a:rPr lang="zh-CN" altLang="en-US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ADDR1</a:t>
            </a:r>
            <a:r>
              <a:rPr lang="zh-CN" altLang="en-US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…</a:t>
            </a:r>
            <a:r>
              <a:rPr lang="zh-CN" altLang="en-US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ADDRN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DATA	ENDS</a:t>
            </a:r>
          </a:p>
        </p:txBody>
      </p:sp>
      <p:sp>
        <p:nvSpPr>
          <p:cNvPr id="120839" name="Text Box 1029">
            <a:extLst>
              <a:ext uri="{FF2B5EF4-FFF2-40B4-BE49-F238E27FC236}">
                <a16:creationId xmlns:a16="http://schemas.microsoft.com/office/drawing/2014/main" id="{9AF24B36-C0E5-4176-99D0-B0C29D583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20840" name="页脚占位符 14">
            <a:extLst>
              <a:ext uri="{FF2B5EF4-FFF2-40B4-BE49-F238E27FC236}">
                <a16:creationId xmlns:a16="http://schemas.microsoft.com/office/drawing/2014/main" id="{3E261DF9-5EC6-4452-89E1-47A984B1490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20841" name="灯片编号占位符 13">
            <a:extLst>
              <a:ext uri="{FF2B5EF4-FFF2-40B4-BE49-F238E27FC236}">
                <a16:creationId xmlns:a16="http://schemas.microsoft.com/office/drawing/2014/main" id="{64215BC0-FFFA-47E9-83AD-B15BAA7894F0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41A70C9F-87CE-4142-B120-AE16CB343C10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0842" name="日期占位符 12">
            <a:extLst>
              <a:ext uri="{FF2B5EF4-FFF2-40B4-BE49-F238E27FC236}">
                <a16:creationId xmlns:a16="http://schemas.microsoft.com/office/drawing/2014/main" id="{C39E2661-F491-4DE0-9198-BF121E645652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92250C-3557-4A93-BB5A-0270C1D51A5F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8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Line 1027">
            <a:extLst>
              <a:ext uri="{FF2B5EF4-FFF2-40B4-BE49-F238E27FC236}">
                <a16:creationId xmlns:a16="http://schemas.microsoft.com/office/drawing/2014/main" id="{C512046E-B6C8-4817-98CD-3ED2B7531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3" name="Line 1030">
            <a:extLst>
              <a:ext uri="{FF2B5EF4-FFF2-40B4-BE49-F238E27FC236}">
                <a16:creationId xmlns:a16="http://schemas.microsoft.com/office/drawing/2014/main" id="{BA879F90-12EA-4DE3-AAD1-7DF79F86E5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884" name="AutoShape 1031">
            <a:extLst>
              <a:ext uri="{FF2B5EF4-FFF2-40B4-BE49-F238E27FC236}">
                <a16:creationId xmlns:a16="http://schemas.microsoft.com/office/drawing/2014/main" id="{D6AB0B04-5516-42BC-9AFE-AD451FA83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2885" name="Text Box 1032">
            <a:extLst>
              <a:ext uri="{FF2B5EF4-FFF2-40B4-BE49-F238E27FC236}">
                <a16:creationId xmlns:a16="http://schemas.microsoft.com/office/drawing/2014/main" id="{958C1F90-10CE-493E-B18B-F1460247C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143000"/>
            <a:ext cx="4191000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AH</a:t>
            </a:r>
            <a:r>
              <a:rPr lang="zh-CN" altLang="en-US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AL</a:t>
            </a:r>
            <a:r>
              <a:rPr lang="zh-CN" altLang="en-US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NUM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	AX</a:t>
            </a:r>
            <a:r>
              <a:rPr lang="zh-CN" altLang="en-US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AX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SI</a:t>
            </a:r>
            <a:r>
              <a:rPr lang="zh-CN" altLang="en-US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AX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BX</a:t>
            </a:r>
            <a:r>
              <a:rPr lang="zh-CN" altLang="en-US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ADTAB[SI]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JMP	NEAR PTR BX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：</a:t>
            </a:r>
          </a:p>
        </p:txBody>
      </p:sp>
      <p:sp>
        <p:nvSpPr>
          <p:cNvPr id="122886" name="Text Box 1033">
            <a:extLst>
              <a:ext uri="{FF2B5EF4-FFF2-40B4-BE49-F238E27FC236}">
                <a16:creationId xmlns:a16="http://schemas.microsoft.com/office/drawing/2014/main" id="{5428E1EC-EBF3-4747-B88F-8EBBC4359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096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代码段中：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122887" name="Text Box 1034">
            <a:extLst>
              <a:ext uri="{FF2B5EF4-FFF2-40B4-BE49-F238E27FC236}">
                <a16:creationId xmlns:a16="http://schemas.microsoft.com/office/drawing/2014/main" id="{83E9EBDB-8264-4477-9ACE-14F17BB46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09600"/>
            <a:ext cx="3276600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ADDR0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		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		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ADDR1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		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		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ADDRN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		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		：</a:t>
            </a:r>
          </a:p>
        </p:txBody>
      </p:sp>
      <p:sp>
        <p:nvSpPr>
          <p:cNvPr id="122888" name="Line 1035">
            <a:extLst>
              <a:ext uri="{FF2B5EF4-FFF2-40B4-BE49-F238E27FC236}">
                <a16:creationId xmlns:a16="http://schemas.microsoft.com/office/drawing/2014/main" id="{E33817D2-AA10-4452-8A05-BDD89C0BD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914400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9" name="Text Box 1029">
            <a:extLst>
              <a:ext uri="{FF2B5EF4-FFF2-40B4-BE49-F238E27FC236}">
                <a16:creationId xmlns:a16="http://schemas.microsoft.com/office/drawing/2014/main" id="{BDCC6412-C87F-418A-A4C0-5E782F991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22890" name="页脚占位符 14">
            <a:extLst>
              <a:ext uri="{FF2B5EF4-FFF2-40B4-BE49-F238E27FC236}">
                <a16:creationId xmlns:a16="http://schemas.microsoft.com/office/drawing/2014/main" id="{3D9BD99E-A173-4897-95D8-AA220230ACA8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22891" name="灯片编号占位符 13">
            <a:extLst>
              <a:ext uri="{FF2B5EF4-FFF2-40B4-BE49-F238E27FC236}">
                <a16:creationId xmlns:a16="http://schemas.microsoft.com/office/drawing/2014/main" id="{2C866DCF-052F-45D3-926C-249A45CA19B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BB3A2A1-E0A7-41D6-AB54-943AAB64C730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2892" name="日期占位符 12">
            <a:extLst>
              <a:ext uri="{FF2B5EF4-FFF2-40B4-BE49-F238E27FC236}">
                <a16:creationId xmlns:a16="http://schemas.microsoft.com/office/drawing/2014/main" id="{966B222E-59C2-4FFF-9ED6-20C12AEB621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64E5925-4772-47F1-B19F-3F9BBB1B7766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Line 1027">
            <a:extLst>
              <a:ext uri="{FF2B5EF4-FFF2-40B4-BE49-F238E27FC236}">
                <a16:creationId xmlns:a16="http://schemas.microsoft.com/office/drawing/2014/main" id="{F749B9D5-80CE-45EA-85F1-9640C697B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31" name="Line 1030">
            <a:extLst>
              <a:ext uri="{FF2B5EF4-FFF2-40B4-BE49-F238E27FC236}">
                <a16:creationId xmlns:a16="http://schemas.microsoft.com/office/drawing/2014/main" id="{7E56A083-F293-40DA-825E-F078B8E7D8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4932" name="AutoShape 1031">
            <a:extLst>
              <a:ext uri="{FF2B5EF4-FFF2-40B4-BE49-F238E27FC236}">
                <a16:creationId xmlns:a16="http://schemas.microsoft.com/office/drawing/2014/main" id="{66A34FB8-E2F8-4A3A-94B5-5C422DBE3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Text Box 1030">
            <a:extLst>
              <a:ext uri="{FF2B5EF4-FFF2-40B4-BE49-F238E27FC236}">
                <a16:creationId xmlns:a16="http://schemas.microsoft.com/office/drawing/2014/main" id="{CB81BEF7-EE97-4FA8-AF5D-F1867CFAE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765175"/>
            <a:ext cx="7488238" cy="101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15]</a:t>
            </a:r>
            <a:r>
              <a:rPr lang="zh-CN" altLang="en-US" sz="2800" b="1" dirty="0">
                <a:ea typeface="仿宋_GB2312" pitchFamily="49" charset="-122"/>
              </a:rPr>
              <a:t>从键盘上输入数字</a:t>
            </a:r>
            <a:r>
              <a:rPr lang="en-US" altLang="zh-CN" sz="2800" b="1" dirty="0">
                <a:ea typeface="仿宋_GB2312" pitchFamily="49" charset="-122"/>
              </a:rPr>
              <a:t>1</a:t>
            </a:r>
            <a:r>
              <a:rPr lang="zh-CN" altLang="en-US" sz="2800" b="1" dirty="0">
                <a:ea typeface="仿宋_GB2312" pitchFamily="49" charset="-122"/>
              </a:rPr>
              <a:t>～</a:t>
            </a:r>
            <a:r>
              <a:rPr lang="en-US" altLang="zh-CN" sz="2800" b="1" dirty="0">
                <a:ea typeface="仿宋_GB2312" pitchFamily="49" charset="-122"/>
              </a:rPr>
              <a:t>3</a:t>
            </a:r>
            <a:r>
              <a:rPr lang="zh-CN" altLang="en-US" sz="2800" b="1" dirty="0">
                <a:ea typeface="仿宋_GB2312" pitchFamily="49" charset="-122"/>
              </a:rPr>
              <a:t>，根据输入选择对应的程序块执行。</a:t>
            </a:r>
            <a:r>
              <a:rPr lang="en-US" altLang="zh-CN" sz="2800" b="1" dirty="0">
                <a:ea typeface="仿宋_GB2312" pitchFamily="49" charset="-122"/>
              </a:rPr>
              <a:t>		</a:t>
            </a:r>
            <a:r>
              <a:rPr lang="en-US" altLang="zh-CN" sz="2800" b="1" dirty="0">
                <a:solidFill>
                  <a:srgbClr val="DDDDDD"/>
                </a:solidFill>
                <a:latin typeface="仿宋" panose="02010609060101010101" pitchFamily="49" charset="-122"/>
                <a:ea typeface="仿宋" panose="02010609060101010101" pitchFamily="49" charset="-122"/>
                <a:hlinkClick r:id="rId3" action="ppaction://hlinkfile"/>
              </a:rPr>
              <a:t>EP508.asm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2800" b="1" dirty="0">
              <a:solidFill>
                <a:schemeClr val="accent2">
                  <a:lumMod val="20000"/>
                  <a:lumOff val="80000"/>
                </a:schemeClr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94E8C41-02F9-4F16-B371-C38473929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1846263"/>
            <a:ext cx="8763000" cy="42291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DATA	SEGMENT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PROMPT	DB	0DH, 0AH, "Input a number (1~3): $"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MSG1	DB	0DH, 0AH, "FUNCTION 1 EXECUTED . $"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MSG2	DB	0DH, 0AH, "FUNCTION 2 EXECUTED . $"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MSG3	DB	0DH, 0AH, "FUNCTION 3 EXECUTED . $"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ADDTBL	DW	F1, F2, F3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DATA	ENDS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CODE	SEGMENT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ASSUME	CS: CODE, DS: DATA</a:t>
            </a:r>
          </a:p>
        </p:txBody>
      </p:sp>
      <p:sp>
        <p:nvSpPr>
          <p:cNvPr id="124935" name="Text Box 1029">
            <a:extLst>
              <a:ext uri="{FF2B5EF4-FFF2-40B4-BE49-F238E27FC236}">
                <a16:creationId xmlns:a16="http://schemas.microsoft.com/office/drawing/2014/main" id="{5E81199D-D7B5-430E-B930-60786398C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24936" name="页脚占位符 14">
            <a:extLst>
              <a:ext uri="{FF2B5EF4-FFF2-40B4-BE49-F238E27FC236}">
                <a16:creationId xmlns:a16="http://schemas.microsoft.com/office/drawing/2014/main" id="{E1C6AB1E-6E2D-4026-8E6A-58669848640D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24937" name="灯片编号占位符 13">
            <a:extLst>
              <a:ext uri="{FF2B5EF4-FFF2-40B4-BE49-F238E27FC236}">
                <a16:creationId xmlns:a16="http://schemas.microsoft.com/office/drawing/2014/main" id="{DCBD2B76-1DA5-4C60-88E1-67F36094CA9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B7027D8-79B0-4761-AA4B-EF0BD3CC0AFD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4938" name="日期占位符 12">
            <a:extLst>
              <a:ext uri="{FF2B5EF4-FFF2-40B4-BE49-F238E27FC236}">
                <a16:creationId xmlns:a16="http://schemas.microsoft.com/office/drawing/2014/main" id="{08A39CF6-E7C9-4091-B576-A029A2844DB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9042A66-836A-4A86-B0F2-A917D7D0AEB5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1027">
            <a:extLst>
              <a:ext uri="{FF2B5EF4-FFF2-40B4-BE49-F238E27FC236}">
                <a16:creationId xmlns:a16="http://schemas.microsoft.com/office/drawing/2014/main" id="{A084FF93-0132-47E7-A24E-7506DD1D02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79" name="Line 1031">
            <a:extLst>
              <a:ext uri="{FF2B5EF4-FFF2-40B4-BE49-F238E27FC236}">
                <a16:creationId xmlns:a16="http://schemas.microsoft.com/office/drawing/2014/main" id="{511F0ABA-3829-40A0-B2D4-A1310B9BBC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5B28316-9445-42C8-92CE-95E3E41E0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92150"/>
            <a:ext cx="8496300" cy="54483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START:	MOV	AX, DATA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MOV	DS, AX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INPUT:	LEA	DX, PROMPT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MOV	AH, 9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INT	21H		;</a:t>
            </a:r>
            <a:r>
              <a:rPr lang="zh-CN" altLang="en-US" b="1" dirty="0">
                <a:ea typeface="仿宋_GB2312" pitchFamily="49" charset="-122"/>
              </a:rPr>
              <a:t>显示提示信息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	MOV	AH, 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INT	21H		;</a:t>
            </a:r>
            <a:r>
              <a:rPr lang="zh-CN" altLang="en-US" b="1" dirty="0">
                <a:ea typeface="仿宋_GB2312" pitchFamily="49" charset="-122"/>
              </a:rPr>
              <a:t>输入一个数字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	CMP	AL, '1'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JB	INPUT	;</a:t>
            </a:r>
            <a:r>
              <a:rPr lang="zh-CN" altLang="en-US" b="1" dirty="0">
                <a:ea typeface="仿宋_GB2312" pitchFamily="49" charset="-122"/>
              </a:rPr>
              <a:t>不正确输入</a:t>
            </a:r>
            <a:r>
              <a:rPr lang="en-US" altLang="zh-CN" b="1" dirty="0">
                <a:ea typeface="仿宋_GB2312" pitchFamily="49" charset="-122"/>
              </a:rPr>
              <a:t>,</a:t>
            </a:r>
            <a:r>
              <a:rPr lang="zh-CN" altLang="en-US" b="1" dirty="0">
                <a:ea typeface="仿宋_GB2312" pitchFamily="49" charset="-122"/>
              </a:rPr>
              <a:t>重新输入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	CMP	AL, '3'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JA	INPUT	;</a:t>
            </a:r>
            <a:r>
              <a:rPr lang="zh-CN" altLang="en-US" b="1" dirty="0">
                <a:ea typeface="仿宋_GB2312" pitchFamily="49" charset="-122"/>
              </a:rPr>
              <a:t>不正确输入</a:t>
            </a:r>
            <a:r>
              <a:rPr lang="en-US" altLang="zh-CN" b="1" dirty="0">
                <a:ea typeface="仿宋_GB2312" pitchFamily="49" charset="-122"/>
              </a:rPr>
              <a:t>,</a:t>
            </a:r>
            <a:r>
              <a:rPr lang="zh-CN" altLang="en-US" b="1" dirty="0">
                <a:ea typeface="仿宋_GB2312" pitchFamily="49" charset="-122"/>
              </a:rPr>
              <a:t>重新输入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	SUB	AL, ‘1’ 	;</a:t>
            </a:r>
            <a:r>
              <a:rPr lang="zh-CN" altLang="en-US" b="1" dirty="0">
                <a:ea typeface="仿宋_GB2312" pitchFamily="49" charset="-122"/>
              </a:rPr>
              <a:t>将字符</a:t>
            </a:r>
            <a:r>
              <a:rPr lang="en-US" altLang="zh-CN" b="1" dirty="0">
                <a:ea typeface="仿宋_GB2312" pitchFamily="49" charset="-122"/>
              </a:rPr>
              <a:t>’1’</a:t>
            </a:r>
            <a:r>
              <a:rPr lang="zh-CN" altLang="en-US" b="1" dirty="0">
                <a:ea typeface="仿宋_GB2312" pitchFamily="49" charset="-122"/>
              </a:rPr>
              <a:t>～</a:t>
            </a:r>
            <a:r>
              <a:rPr lang="en-US" altLang="zh-CN" b="1" dirty="0">
                <a:ea typeface="仿宋_GB2312" pitchFamily="49" charset="-122"/>
              </a:rPr>
              <a:t>’3’</a:t>
            </a:r>
            <a:r>
              <a:rPr lang="zh-CN" altLang="en-US" b="1" dirty="0">
                <a:ea typeface="仿宋_GB2312" pitchFamily="49" charset="-122"/>
              </a:rPr>
              <a:t>转换为</a:t>
            </a:r>
            <a:r>
              <a:rPr lang="en-US" altLang="zh-CN" b="1" dirty="0">
                <a:ea typeface="仿宋_GB2312" pitchFamily="49" charset="-122"/>
              </a:rPr>
              <a:t>0,1,2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SHL	AL, 1		;</a:t>
            </a:r>
            <a:r>
              <a:rPr lang="zh-CN" altLang="en-US" b="1" dirty="0">
                <a:ea typeface="仿宋_GB2312" pitchFamily="49" charset="-122"/>
              </a:rPr>
              <a:t>转换为</a:t>
            </a:r>
            <a:r>
              <a:rPr lang="en-US" altLang="zh-CN" b="1" dirty="0">
                <a:ea typeface="仿宋_GB2312" pitchFamily="49" charset="-122"/>
              </a:rPr>
              <a:t>0,2,4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MOV	BL, AL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	MOV	BH, 0		;</a:t>
            </a:r>
            <a:r>
              <a:rPr lang="zh-CN" altLang="en-US" b="1" dirty="0">
                <a:ea typeface="仿宋_GB2312" pitchFamily="49" charset="-122"/>
              </a:rPr>
              <a:t>转入</a:t>
            </a:r>
            <a:r>
              <a:rPr lang="en-US" altLang="zh-CN" b="1" dirty="0">
                <a:ea typeface="仿宋_GB2312" pitchFamily="49" charset="-122"/>
              </a:rPr>
              <a:t>BX</a:t>
            </a:r>
          </a:p>
        </p:txBody>
      </p:sp>
      <p:sp>
        <p:nvSpPr>
          <p:cNvPr id="126981" name="Text Box 1029">
            <a:extLst>
              <a:ext uri="{FF2B5EF4-FFF2-40B4-BE49-F238E27FC236}">
                <a16:creationId xmlns:a16="http://schemas.microsoft.com/office/drawing/2014/main" id="{D4AE9FAD-0CA5-4E4A-8C1D-26C65EB0A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26982" name="页脚占位符 14">
            <a:extLst>
              <a:ext uri="{FF2B5EF4-FFF2-40B4-BE49-F238E27FC236}">
                <a16:creationId xmlns:a16="http://schemas.microsoft.com/office/drawing/2014/main" id="{88AD7649-B13C-4E38-AE51-9F34BC9B2155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26983" name="灯片编号占位符 13">
            <a:extLst>
              <a:ext uri="{FF2B5EF4-FFF2-40B4-BE49-F238E27FC236}">
                <a16:creationId xmlns:a16="http://schemas.microsoft.com/office/drawing/2014/main" id="{B83E670F-5790-476F-B43A-FA6BE58DDA24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DF288DF-1FF7-440C-87FE-3615B8C9152F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6984" name="日期占位符 12">
            <a:extLst>
              <a:ext uri="{FF2B5EF4-FFF2-40B4-BE49-F238E27FC236}">
                <a16:creationId xmlns:a16="http://schemas.microsoft.com/office/drawing/2014/main" id="{CA3C7581-060C-4D0A-96A0-098B6311B90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647BF0-5600-4A1A-92AD-91E88BA44FFE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Line 1027">
            <a:extLst>
              <a:ext uri="{FF2B5EF4-FFF2-40B4-BE49-F238E27FC236}">
                <a16:creationId xmlns:a16="http://schemas.microsoft.com/office/drawing/2014/main" id="{C8CBA467-7D96-472F-8C36-1960B2D4E0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7" name="Line 1031">
            <a:extLst>
              <a:ext uri="{FF2B5EF4-FFF2-40B4-BE49-F238E27FC236}">
                <a16:creationId xmlns:a16="http://schemas.microsoft.com/office/drawing/2014/main" id="{9AD6487C-2E96-4801-A56E-9256FB9FF7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654705A-A9DF-4C4C-A9D2-25895ECE9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92150"/>
            <a:ext cx="8640763" cy="54737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endParaRPr lang="en-US" altLang="zh-CN" b="1" dirty="0">
              <a:ea typeface="仿宋_GB2312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en-US" altLang="zh-CN" b="1" dirty="0">
                <a:solidFill>
                  <a:srgbClr val="3103DB"/>
                </a:solidFill>
                <a:ea typeface="仿宋_GB2312" pitchFamily="49" charset="-122"/>
              </a:rPr>
              <a:t>JMP	ADDTBL[BX]</a:t>
            </a:r>
            <a:r>
              <a:rPr lang="en-US" altLang="zh-CN" b="1" dirty="0">
                <a:ea typeface="仿宋_GB2312" pitchFamily="49" charset="-122"/>
              </a:rPr>
              <a:t>	;</a:t>
            </a:r>
            <a:r>
              <a:rPr lang="zh-CN" altLang="en-US" b="1" dirty="0">
                <a:ea typeface="仿宋_GB2312" pitchFamily="49" charset="-122"/>
              </a:rPr>
              <a:t>间接寻址</a:t>
            </a:r>
            <a:r>
              <a:rPr lang="en-US" altLang="zh-CN" b="1" dirty="0">
                <a:ea typeface="仿宋_GB2312" pitchFamily="49" charset="-122"/>
              </a:rPr>
              <a:t>,</a:t>
            </a:r>
            <a:r>
              <a:rPr lang="zh-CN" altLang="en-US" b="1" dirty="0">
                <a:ea typeface="仿宋_GB2312" pitchFamily="49" charset="-122"/>
              </a:rPr>
              <a:t>转移到对应程序块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F1:	LEA	DX, MSG1		;F1</a:t>
            </a:r>
            <a:r>
              <a:rPr lang="zh-CN" altLang="en-US" b="1" dirty="0">
                <a:ea typeface="仿宋_GB2312" pitchFamily="49" charset="-122"/>
              </a:rPr>
              <a:t>程序块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JMP	OUTPUT	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F2:	LEA	DX, MSG2		;F2</a:t>
            </a:r>
            <a:r>
              <a:rPr lang="zh-CN" altLang="en-US" b="1" dirty="0">
                <a:ea typeface="仿宋_GB2312" pitchFamily="49" charset="-122"/>
              </a:rPr>
              <a:t>程序块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JMP	OUTPUT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F3:	LEA	DX, MSG3		;F3</a:t>
            </a:r>
            <a:r>
              <a:rPr lang="zh-CN" altLang="en-US" b="1" dirty="0">
                <a:ea typeface="仿宋_GB2312" pitchFamily="49" charset="-122"/>
              </a:rPr>
              <a:t>程序块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JMP	OUTPUT		;</a:t>
            </a:r>
            <a:r>
              <a:rPr lang="zh-CN" altLang="en-US" b="1" dirty="0">
                <a:ea typeface="仿宋_GB2312" pitchFamily="49" charset="-122"/>
              </a:rPr>
              <a:t>这条指令可以省略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OUTPUT: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MOV	AH, 9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INT	21H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MOV	AX, 4C00H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INT	21H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CODE	ENDS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END	START</a:t>
            </a:r>
          </a:p>
        </p:txBody>
      </p:sp>
      <p:sp>
        <p:nvSpPr>
          <p:cNvPr id="129029" name="Text Box 1029">
            <a:extLst>
              <a:ext uri="{FF2B5EF4-FFF2-40B4-BE49-F238E27FC236}">
                <a16:creationId xmlns:a16="http://schemas.microsoft.com/office/drawing/2014/main" id="{FEC9DA0C-74F6-4D61-B9AE-DDD192587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29030" name="页脚占位符 14">
            <a:extLst>
              <a:ext uri="{FF2B5EF4-FFF2-40B4-BE49-F238E27FC236}">
                <a16:creationId xmlns:a16="http://schemas.microsoft.com/office/drawing/2014/main" id="{2D75B8ED-1DD2-4A81-8B27-4F659412282A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29031" name="灯片编号占位符 13">
            <a:extLst>
              <a:ext uri="{FF2B5EF4-FFF2-40B4-BE49-F238E27FC236}">
                <a16:creationId xmlns:a16="http://schemas.microsoft.com/office/drawing/2014/main" id="{6221BBA8-6F08-4368-B798-DB73723A9FB9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0B9D656-E635-49F5-9949-1468B91ED97F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9032" name="日期占位符 12">
            <a:extLst>
              <a:ext uri="{FF2B5EF4-FFF2-40B4-BE49-F238E27FC236}">
                <a16:creationId xmlns:a16="http://schemas.microsoft.com/office/drawing/2014/main" id="{7A48CAFA-D459-463C-BD7F-94EEC50F0C3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19DF82-24EB-41D6-850D-6903F0E36D97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Line 3">
            <a:extLst>
              <a:ext uri="{FF2B5EF4-FFF2-40B4-BE49-F238E27FC236}">
                <a16:creationId xmlns:a16="http://schemas.microsoft.com/office/drawing/2014/main" id="{BC538F26-3072-40AD-B113-34B309FCE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70" name="Text Box 6">
            <a:extLst>
              <a:ext uri="{FF2B5EF4-FFF2-40B4-BE49-F238E27FC236}">
                <a16:creationId xmlns:a16="http://schemas.microsoft.com/office/drawing/2014/main" id="{10CB9BDD-5590-496B-84DA-054B1990E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33400"/>
            <a:ext cx="69342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3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转移表法</a:t>
            </a: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与地址表法类似，不同的是表中建立的是</a:t>
            </a:r>
            <a:r>
              <a:rPr lang="zh-CN" altLang="en-US" sz="3200" b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转移指令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表。</a:t>
            </a:r>
            <a:r>
              <a:rPr lang="zh-CN" altLang="en-US" sz="2800" b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</a:p>
        </p:txBody>
      </p:sp>
      <p:sp>
        <p:nvSpPr>
          <p:cNvPr id="131076" name="Line 7">
            <a:extLst>
              <a:ext uri="{FF2B5EF4-FFF2-40B4-BE49-F238E27FC236}">
                <a16:creationId xmlns:a16="http://schemas.microsoft.com/office/drawing/2014/main" id="{47E1EF37-0A30-46B3-A312-6838C5054A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1077" name="AutoShape 8">
            <a:extLst>
              <a:ext uri="{FF2B5EF4-FFF2-40B4-BE49-F238E27FC236}">
                <a16:creationId xmlns:a16="http://schemas.microsoft.com/office/drawing/2014/main" id="{413E8ADB-68DB-4BE7-80BE-7CACD8D87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1078" name="Text Box 9">
            <a:extLst>
              <a:ext uri="{FF2B5EF4-FFF2-40B4-BE49-F238E27FC236}">
                <a16:creationId xmlns:a16="http://schemas.microsoft.com/office/drawing/2014/main" id="{DB81F949-CE9D-4790-85BE-2130AA9A8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819400"/>
            <a:ext cx="48006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BRATAB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：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JMP	SHORT M0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JMP	SHORT M1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	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JMP	SHORT M9</a:t>
            </a:r>
            <a:endParaRPr lang="en-US" altLang="zh-CN" sz="240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1079" name="Text Box 10">
            <a:extLst>
              <a:ext uri="{FF2B5EF4-FFF2-40B4-BE49-F238E27FC236}">
                <a16:creationId xmlns:a16="http://schemas.microsoft.com/office/drawing/2014/main" id="{5C4746A2-AF55-4C98-A40F-C5E338B98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514600"/>
            <a:ext cx="19050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M0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M1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M9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：</a:t>
            </a:r>
          </a:p>
        </p:txBody>
      </p:sp>
      <p:sp>
        <p:nvSpPr>
          <p:cNvPr id="131080" name="Line 11">
            <a:extLst>
              <a:ext uri="{FF2B5EF4-FFF2-40B4-BE49-F238E27FC236}">
                <a16:creationId xmlns:a16="http://schemas.microsoft.com/office/drawing/2014/main" id="{FAD939C2-D738-4F50-90FD-C868891E2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5908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1" name="Text Box 1029">
            <a:extLst>
              <a:ext uri="{FF2B5EF4-FFF2-40B4-BE49-F238E27FC236}">
                <a16:creationId xmlns:a16="http://schemas.microsoft.com/office/drawing/2014/main" id="{88DA64B5-DCBE-426C-AE7F-ECFBBF6F3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31082" name="页脚占位符 14">
            <a:extLst>
              <a:ext uri="{FF2B5EF4-FFF2-40B4-BE49-F238E27FC236}">
                <a16:creationId xmlns:a16="http://schemas.microsoft.com/office/drawing/2014/main" id="{F59878C6-A062-49F6-955F-2D519BA15C81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31083" name="灯片编号占位符 13">
            <a:extLst>
              <a:ext uri="{FF2B5EF4-FFF2-40B4-BE49-F238E27FC236}">
                <a16:creationId xmlns:a16="http://schemas.microsoft.com/office/drawing/2014/main" id="{D3352300-FB51-4DFF-B079-CEFD22CD9C2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B534E7B-4A1E-4958-9BA7-B825E719BF41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1084" name="日期占位符 12">
            <a:extLst>
              <a:ext uri="{FF2B5EF4-FFF2-40B4-BE49-F238E27FC236}">
                <a16:creationId xmlns:a16="http://schemas.microsoft.com/office/drawing/2014/main" id="{1D700C14-E50D-4D26-9486-E43BEB9E196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B3D34A2-AB20-47F8-B22E-F78A1EBF90FD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8F9E399-D231-43BB-B50E-CE0273376917}"/>
              </a:ext>
            </a:extLst>
          </p:cNvPr>
          <p:cNvSpPr txBox="1"/>
          <p:nvPr/>
        </p:nvSpPr>
        <p:spPr>
          <a:xfrm>
            <a:off x="287338" y="3897313"/>
            <a:ext cx="8569325" cy="230822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/>
              <a:t>ONE:	ROL	RULE, 1		;</a:t>
            </a:r>
            <a:r>
              <a:rPr lang="zh-CN" altLang="en-US" dirty="0"/>
              <a:t>测试标尺</a:t>
            </a:r>
          </a:p>
          <a:p>
            <a:pPr eaLnBrk="1" hangingPunct="1">
              <a:defRPr/>
            </a:pPr>
            <a:r>
              <a:rPr lang="zh-CN" altLang="en-US" dirty="0"/>
              <a:t>	</a:t>
            </a:r>
            <a:r>
              <a:rPr lang="en-US" altLang="zh-CN" dirty="0"/>
              <a:t>JNC	NEXT			;</a:t>
            </a:r>
            <a:r>
              <a:rPr lang="zh-CN" altLang="en-US" dirty="0"/>
              <a:t>该位置上为零元素</a:t>
            </a:r>
            <a:r>
              <a:rPr lang="en-US" altLang="zh-CN" dirty="0"/>
              <a:t>,</a:t>
            </a:r>
            <a:r>
              <a:rPr lang="zh-CN" altLang="en-US" dirty="0"/>
              <a:t>转</a:t>
            </a:r>
            <a:r>
              <a:rPr lang="en-US" altLang="zh-CN" dirty="0"/>
              <a:t>NEXT</a:t>
            </a:r>
          </a:p>
          <a:p>
            <a:pPr eaLnBrk="1" hangingPunct="1">
              <a:defRPr/>
            </a:pPr>
            <a:r>
              <a:rPr lang="en-US" altLang="zh-CN" dirty="0"/>
              <a:t>	MOVSX   EAX, WORD PTR[SI]	</a:t>
            </a:r>
            <a:endParaRPr lang="zh-CN" altLang="en-US" dirty="0"/>
          </a:p>
          <a:p>
            <a:pPr eaLnBrk="1" hangingPunct="1">
              <a:defRPr/>
            </a:pPr>
            <a:r>
              <a:rPr lang="zh-CN" altLang="en-US" dirty="0"/>
              <a:t>	</a:t>
            </a:r>
            <a:r>
              <a:rPr lang="en-US" altLang="zh-CN" dirty="0"/>
              <a:t>ADD	SUM, EAX		;</a:t>
            </a:r>
            <a:r>
              <a:rPr lang="zh-CN" altLang="en-US" dirty="0"/>
              <a:t>累加</a:t>
            </a:r>
          </a:p>
          <a:p>
            <a:pPr eaLnBrk="1" hangingPunct="1">
              <a:defRPr/>
            </a:pPr>
            <a:r>
              <a:rPr lang="zh-CN" altLang="en-US" dirty="0"/>
              <a:t>	</a:t>
            </a:r>
            <a:r>
              <a:rPr lang="en-US" altLang="zh-CN" dirty="0"/>
              <a:t>INC	BX			;</a:t>
            </a:r>
            <a:r>
              <a:rPr lang="zh-CN" altLang="en-US" dirty="0"/>
              <a:t>统计非零元素个数</a:t>
            </a:r>
          </a:p>
          <a:p>
            <a:pPr eaLnBrk="1" hangingPunct="1">
              <a:defRPr/>
            </a:pPr>
            <a:r>
              <a:rPr lang="zh-CN" altLang="en-US" dirty="0"/>
              <a:t>	</a:t>
            </a:r>
            <a:r>
              <a:rPr lang="en-US" altLang="zh-CN" dirty="0"/>
              <a:t>ADD	SI, 2		</a:t>
            </a:r>
            <a:endParaRPr lang="zh-CN" altLang="en-US" dirty="0"/>
          </a:p>
        </p:txBody>
      </p:sp>
      <p:sp>
        <p:nvSpPr>
          <p:cNvPr id="133123" name="Line 3">
            <a:extLst>
              <a:ext uri="{FF2B5EF4-FFF2-40B4-BE49-F238E27FC236}">
                <a16:creationId xmlns:a16="http://schemas.microsoft.com/office/drawing/2014/main" id="{E4FAC9D3-F161-4BAC-9890-E50F575FD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70" name="Text Box 6">
            <a:extLst>
              <a:ext uri="{FF2B5EF4-FFF2-40B4-BE49-F238E27FC236}">
                <a16:creationId xmlns:a16="http://schemas.microsoft.com/office/drawing/2014/main" id="{81D6B69A-9999-4C67-8BA2-3A44EF85D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33400"/>
            <a:ext cx="6934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3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逻辑分解法</a:t>
            </a: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又称为逻辑尺法，通过判断逻辑尺中的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的位置转入不同的程序段。</a:t>
            </a:r>
            <a:endParaRPr lang="zh-CN" altLang="en-US" sz="2800" b="1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3125" name="Line 7">
            <a:extLst>
              <a:ext uri="{FF2B5EF4-FFF2-40B4-BE49-F238E27FC236}">
                <a16:creationId xmlns:a16="http://schemas.microsoft.com/office/drawing/2014/main" id="{01D1345F-EDDB-4FD7-AC14-692A49C252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26" name="AutoShape 8">
            <a:extLst>
              <a:ext uri="{FF2B5EF4-FFF2-40B4-BE49-F238E27FC236}">
                <a16:creationId xmlns:a16="http://schemas.microsoft.com/office/drawing/2014/main" id="{A606A82A-D1BD-4D9D-821C-28C7355FE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Text Box 1030">
            <a:extLst>
              <a:ext uri="{FF2B5EF4-FFF2-40B4-BE49-F238E27FC236}">
                <a16:creationId xmlns:a16="http://schemas.microsoft.com/office/drawing/2014/main" id="{603FE511-BCA2-43E8-840A-E369F21B1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2203450"/>
            <a:ext cx="79200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16]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求稀疏矩阵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ARRAY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非零元素的平均值</a:t>
            </a:r>
            <a:r>
              <a:rPr lang="zh-CN" altLang="en-US" sz="2800" b="1" dirty="0">
                <a:ea typeface="仿宋_GB2312" pitchFamily="49" charset="-122"/>
              </a:rPr>
              <a:t>。</a:t>
            </a:r>
            <a:endParaRPr lang="en-US" altLang="zh-CN" sz="2800" b="1" dirty="0">
              <a:solidFill>
                <a:schemeClr val="accent2">
                  <a:lumMod val="20000"/>
                  <a:lumOff val="80000"/>
                </a:schemeClr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128" name="TextBox 13">
            <a:extLst>
              <a:ext uri="{FF2B5EF4-FFF2-40B4-BE49-F238E27FC236}">
                <a16:creationId xmlns:a16="http://schemas.microsoft.com/office/drawing/2014/main" id="{418D81AF-AB55-4DE6-B072-59B70EC0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2895600"/>
            <a:ext cx="8423275" cy="83185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ARRAY	DW	123, 125, 122, 124	;</a:t>
            </a:r>
            <a:r>
              <a:rPr lang="zh-CN" altLang="en-US" sz="2400">
                <a:latin typeface="Times New Roman" panose="02020603050405020304" pitchFamily="18" charset="0"/>
              </a:rPr>
              <a:t>稀疏矩阵非零元素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RULE	DW	0001000000110010B		;“</a:t>
            </a:r>
            <a:r>
              <a:rPr lang="zh-CN" altLang="en-US" sz="2400">
                <a:latin typeface="Times New Roman" panose="02020603050405020304" pitchFamily="18" charset="0"/>
              </a:rPr>
              <a:t>标尺”</a:t>
            </a:r>
          </a:p>
        </p:txBody>
      </p:sp>
      <p:sp>
        <p:nvSpPr>
          <p:cNvPr id="133129" name="Text Box 1029">
            <a:extLst>
              <a:ext uri="{FF2B5EF4-FFF2-40B4-BE49-F238E27FC236}">
                <a16:creationId xmlns:a16="http://schemas.microsoft.com/office/drawing/2014/main" id="{3ED618ED-F6E7-4FF7-A0E2-C6FF1209E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88913"/>
            <a:ext cx="302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5.3  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分支程序设计</a:t>
            </a:r>
          </a:p>
        </p:txBody>
      </p:sp>
      <p:sp>
        <p:nvSpPr>
          <p:cNvPr id="133130" name="页脚占位符 14">
            <a:extLst>
              <a:ext uri="{FF2B5EF4-FFF2-40B4-BE49-F238E27FC236}">
                <a16:creationId xmlns:a16="http://schemas.microsoft.com/office/drawing/2014/main" id="{C8D97E26-3CB9-4A32-91D2-58732F39457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33131" name="灯片编号占位符 13">
            <a:extLst>
              <a:ext uri="{FF2B5EF4-FFF2-40B4-BE49-F238E27FC236}">
                <a16:creationId xmlns:a16="http://schemas.microsoft.com/office/drawing/2014/main" id="{8AA97261-A224-4AD1-9082-2643E089E632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2C19F38-F16F-4FDA-80F5-0E03251215AF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32" name="日期占位符 12">
            <a:extLst>
              <a:ext uri="{FF2B5EF4-FFF2-40B4-BE49-F238E27FC236}">
                <a16:creationId xmlns:a16="http://schemas.microsoft.com/office/drawing/2014/main" id="{7D4CDC68-9C2C-4484-8739-FCF9D128DC75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FD80389-33D3-48F7-B6F6-EF8686E93FB5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33" name="文本框 1">
            <a:extLst>
              <a:ext uri="{FF2B5EF4-FFF2-40B4-BE49-F238E27FC236}">
                <a16:creationId xmlns:a16="http://schemas.microsoft.com/office/drawing/2014/main" id="{CBFBB129-C3D9-4DCC-A48A-379F30903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1700213"/>
            <a:ext cx="1008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hlinkClick r:id="rId3" action="ppaction://hlinkfile"/>
              </a:rPr>
              <a:t>EP509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 autoUpdateAnimBg="0"/>
      <p:bldP spid="13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Line 1027">
            <a:extLst>
              <a:ext uri="{FF2B5EF4-FFF2-40B4-BE49-F238E27FC236}">
                <a16:creationId xmlns:a16="http://schemas.microsoft.com/office/drawing/2014/main" id="{731BEF44-5C3E-4B42-82AF-C63861CFE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71" name="Line 1031">
            <a:extLst>
              <a:ext uri="{FF2B5EF4-FFF2-40B4-BE49-F238E27FC236}">
                <a16:creationId xmlns:a16="http://schemas.microsoft.com/office/drawing/2014/main" id="{03CAA622-5BF0-49FD-ACDB-E00DD87DA6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5172" name="AutoShape 1032">
            <a:extLst>
              <a:ext uri="{FF2B5EF4-FFF2-40B4-BE49-F238E27FC236}">
                <a16:creationId xmlns:a16="http://schemas.microsoft.com/office/drawing/2014/main" id="{345096BE-C44F-484D-B488-D8E13CB96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5173" name="AutoShape 1033">
            <a:extLst>
              <a:ext uri="{FF2B5EF4-FFF2-40B4-BE49-F238E27FC236}">
                <a16:creationId xmlns:a16="http://schemas.microsoft.com/office/drawing/2014/main" id="{F8BD0D7F-0CEB-40CB-8885-71602D06A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0DD8FC8-C76D-49A4-8080-9ADEA7A06925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2565400"/>
            <a:ext cx="7632700" cy="23034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spcBef>
                <a:spcPct val="30000"/>
              </a:spcBef>
              <a:defRPr/>
            </a:pPr>
            <a:r>
              <a:rPr kumimoji="0" lang="zh-CN" altLang="en-US" sz="36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循环结构</a:t>
            </a:r>
            <a:r>
              <a:rPr kumimoji="0" lang="en-US" altLang="zh-CN" sz="3600" b="1" dirty="0">
                <a:latin typeface="楷体" pitchFamily="49" charset="-122"/>
                <a:ea typeface="楷体" pitchFamily="49" charset="-122"/>
              </a:rPr>
              <a:t>——</a:t>
            </a: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也称“重复结构”，重复执行一组指令若干次，用有限长度的程序完成大量的处理任务，实现计算机的重复操作。</a:t>
            </a:r>
          </a:p>
          <a:p>
            <a:pPr eaLnBrk="1" hangingPunct="1">
              <a:spcBef>
                <a:spcPct val="30000"/>
              </a:spcBef>
              <a:defRPr/>
            </a:pP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36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endParaRPr kumimoji="0" lang="zh-CN" altLang="en-US" sz="36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E656F3F4-7A58-4016-83F1-ED72A1DDF324}"/>
              </a:ext>
            </a:extLst>
          </p:cNvPr>
          <p:cNvSpPr txBox="1">
            <a:spLocks noChangeArrowheads="1"/>
          </p:cNvSpPr>
          <p:nvPr/>
        </p:nvSpPr>
        <p:spPr>
          <a:xfrm>
            <a:off x="1403350" y="765175"/>
            <a:ext cx="5256213" cy="719138"/>
          </a:xfrm>
          <a:prstGeom prst="rect">
            <a:avLst/>
          </a:prstGeom>
        </p:spPr>
        <p:txBody>
          <a:bodyPr lIns="0" rIns="0" bIns="0" anchor="b">
            <a:normAutofit fontScale="97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4000" b="1" dirty="0">
                <a:solidFill>
                  <a:srgbClr val="FF3300"/>
                </a:solidFill>
                <a:latin typeface="+mj-lt"/>
                <a:ea typeface="+mj-ea"/>
                <a:cs typeface="+mj-cs"/>
              </a:rPr>
              <a:t>5.4</a:t>
            </a:r>
            <a:r>
              <a:rPr kumimoji="0" lang="zh-CN" altLang="en-US" sz="4000" b="1" dirty="0">
                <a:solidFill>
                  <a:srgbClr val="FF3300"/>
                </a:solidFill>
                <a:latin typeface="+mj-lt"/>
                <a:ea typeface="+mj-ea"/>
                <a:cs typeface="+mj-cs"/>
              </a:rPr>
              <a:t>循环程序设计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684EFB-3151-4E54-B4FE-46066724518D}"/>
              </a:ext>
            </a:extLst>
          </p:cNvPr>
          <p:cNvSpPr/>
          <p:nvPr/>
        </p:nvSpPr>
        <p:spPr>
          <a:xfrm>
            <a:off x="611188" y="5300663"/>
            <a:ext cx="7561262" cy="58578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几乎所有的应用程序中都离不开循环结构</a:t>
            </a:r>
            <a:endParaRPr kumimoji="0" lang="zh-CN" altLang="en-US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5177" name="TextBox 13">
            <a:extLst>
              <a:ext uri="{FF2B5EF4-FFF2-40B4-BE49-F238E27FC236}">
                <a16:creationId xmlns:a16="http://schemas.microsoft.com/office/drawing/2014/main" id="{F5111BBF-B712-483A-A7C7-CBEA7519D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73238"/>
            <a:ext cx="6408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一、循环程序的结构</a:t>
            </a:r>
          </a:p>
        </p:txBody>
      </p:sp>
      <p:sp>
        <p:nvSpPr>
          <p:cNvPr id="135178" name="Text Box 1029">
            <a:extLst>
              <a:ext uri="{FF2B5EF4-FFF2-40B4-BE49-F238E27FC236}">
                <a16:creationId xmlns:a16="http://schemas.microsoft.com/office/drawing/2014/main" id="{9FEAD500-B8AA-4840-85C7-212990224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88913"/>
            <a:ext cx="4716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第</a:t>
            </a:r>
            <a:r>
              <a:rPr kumimoji="0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5</a:t>
            </a:r>
            <a:r>
              <a:rPr kumimoji="0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章 分支、循环程序设计</a:t>
            </a:r>
          </a:p>
        </p:txBody>
      </p:sp>
      <p:sp>
        <p:nvSpPr>
          <p:cNvPr id="2" name="日期占位符 10">
            <a:extLst>
              <a:ext uri="{FF2B5EF4-FFF2-40B4-BE49-F238E27FC236}">
                <a16:creationId xmlns:a16="http://schemas.microsoft.com/office/drawing/2014/main" id="{AE404CB8-AF52-408E-9484-FE222CBB6A6E}"/>
              </a:ext>
            </a:extLst>
          </p:cNvPr>
          <p:cNvSpPr txBox="1">
            <a:spLocks noGrp="1"/>
          </p:cNvSpPr>
          <p:nvPr/>
        </p:nvSpPr>
        <p:spPr>
          <a:xfrm>
            <a:off x="457200" y="6308725"/>
            <a:ext cx="1666875" cy="4127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1A15DB0-C7B6-4C60-AB99-58B8902D16A1}" type="datetime1">
              <a:rPr kumimoji="0" lang="zh-CN" altLang="en-US" b="1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b="1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35180" name="灯片编号占位符 11">
            <a:extLst>
              <a:ext uri="{FF2B5EF4-FFF2-40B4-BE49-F238E27FC236}">
                <a16:creationId xmlns:a16="http://schemas.microsoft.com/office/drawing/2014/main" id="{827A8134-A3B8-434D-8A1F-1C6DF0DB8FB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67C0237-1167-4AE2-AB6B-8C5C12341D38}" type="slidenum">
              <a:rPr kumimoji="0" lang="en-US" altLang="zh-CN" sz="2400" b="1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zh-CN" sz="2400" b="1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5181" name="页脚占位符 12">
            <a:extLst>
              <a:ext uri="{FF2B5EF4-FFF2-40B4-BE49-F238E27FC236}">
                <a16:creationId xmlns:a16="http://schemas.microsoft.com/office/drawing/2014/main" id="{F4B5E79B-6A2B-4152-993E-3EF043F75254}"/>
              </a:ext>
            </a:extLst>
          </p:cNvPr>
          <p:cNvSpPr txBox="1">
            <a:spLocks noGrp="1"/>
          </p:cNvSpPr>
          <p:nvPr/>
        </p:nvSpPr>
        <p:spPr bwMode="auto">
          <a:xfrm>
            <a:off x="2484438" y="6308725"/>
            <a:ext cx="44640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045C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汇编语言程序设计  </a:t>
            </a:r>
            <a:endParaRPr kumimoji="0" lang="en-US" altLang="zh-CN" sz="2400" b="1">
              <a:solidFill>
                <a:srgbClr val="045C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Line 1027">
            <a:extLst>
              <a:ext uri="{FF2B5EF4-FFF2-40B4-BE49-F238E27FC236}">
                <a16:creationId xmlns:a16="http://schemas.microsoft.com/office/drawing/2014/main" id="{EEEF789F-06DB-4D90-9BCB-374B46977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219" name="Line 1031">
            <a:extLst>
              <a:ext uri="{FF2B5EF4-FFF2-40B4-BE49-F238E27FC236}">
                <a16:creationId xmlns:a16="http://schemas.microsoft.com/office/drawing/2014/main" id="{D0FA70C0-A5E1-4B0E-8673-16D99734CB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7220" name="AutoShape 1032">
            <a:extLst>
              <a:ext uri="{FF2B5EF4-FFF2-40B4-BE49-F238E27FC236}">
                <a16:creationId xmlns:a16="http://schemas.microsoft.com/office/drawing/2014/main" id="{315CEC5A-F02A-45FE-B5C9-B818B46B2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7221" name="AutoShape 1033">
            <a:extLst>
              <a:ext uri="{FF2B5EF4-FFF2-40B4-BE49-F238E27FC236}">
                <a16:creationId xmlns:a16="http://schemas.microsoft.com/office/drawing/2014/main" id="{78B1D77E-0B9B-4676-82BA-DF3DB221D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383F25C-C9F7-4A09-B022-1380232FE21E}"/>
              </a:ext>
            </a:extLst>
          </p:cNvPr>
          <p:cNvSpPr txBox="1">
            <a:spLocks noChangeArrowheads="1"/>
          </p:cNvSpPr>
          <p:nvPr/>
        </p:nvSpPr>
        <p:spPr>
          <a:xfrm>
            <a:off x="323850" y="1773238"/>
            <a:ext cx="8496300" cy="417671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（</a:t>
            </a: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1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）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初始化部分：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为循环做准备，如累加器清零，设置地址指针和计数器的初始值等。</a:t>
            </a:r>
          </a:p>
          <a:p>
            <a:pPr eaLnBrk="1" hangingPunct="1">
              <a:spcBef>
                <a:spcPts val="300"/>
              </a:spcBef>
              <a:defRPr/>
            </a:pP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（</a:t>
            </a: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2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）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工作部分：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实现循环的基本操作，也就是需要重复执行的一段程序。</a:t>
            </a:r>
          </a:p>
          <a:p>
            <a:pPr eaLnBrk="1" hangingPunct="1">
              <a:spcBef>
                <a:spcPts val="300"/>
              </a:spcBef>
              <a:defRPr/>
            </a:pP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（</a:t>
            </a: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3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）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修改部分：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修改指针、计数器的值，为下一次循环做准备。</a:t>
            </a:r>
          </a:p>
          <a:p>
            <a:pPr eaLnBrk="1" hangingPunct="1">
              <a:spcBef>
                <a:spcPts val="300"/>
              </a:spcBef>
              <a:defRPr/>
            </a:pP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（</a:t>
            </a: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4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）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控制部分：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判断循环条件，结束循环或继续循环。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467890-2967-4AEB-BA4B-A487E71E92C5}"/>
              </a:ext>
            </a:extLst>
          </p:cNvPr>
          <p:cNvSpPr/>
          <p:nvPr/>
        </p:nvSpPr>
        <p:spPr>
          <a:xfrm>
            <a:off x="684213" y="981075"/>
            <a:ext cx="6119812" cy="584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1.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循环一般由以下</a:t>
            </a: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4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个部分组成：</a:t>
            </a:r>
          </a:p>
        </p:txBody>
      </p:sp>
      <p:sp>
        <p:nvSpPr>
          <p:cNvPr id="137224" name="Text Box 1029">
            <a:extLst>
              <a:ext uri="{FF2B5EF4-FFF2-40B4-BE49-F238E27FC236}">
                <a16:creationId xmlns:a16="http://schemas.microsoft.com/office/drawing/2014/main" id="{DDD3DFBF-2908-4892-BCFA-8C9D54C91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37225" name="页脚占位符 14">
            <a:extLst>
              <a:ext uri="{FF2B5EF4-FFF2-40B4-BE49-F238E27FC236}">
                <a16:creationId xmlns:a16="http://schemas.microsoft.com/office/drawing/2014/main" id="{B54ECF9D-9ED0-46C0-B116-8BF88642AC0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37226" name="灯片编号占位符 13">
            <a:extLst>
              <a:ext uri="{FF2B5EF4-FFF2-40B4-BE49-F238E27FC236}">
                <a16:creationId xmlns:a16="http://schemas.microsoft.com/office/drawing/2014/main" id="{CFC26B45-47E9-42FD-B604-92935775A5A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4F4AB548-47D7-4DB6-8483-126627473C74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7227" name="日期占位符 12">
            <a:extLst>
              <a:ext uri="{FF2B5EF4-FFF2-40B4-BE49-F238E27FC236}">
                <a16:creationId xmlns:a16="http://schemas.microsoft.com/office/drawing/2014/main" id="{504E2748-E241-45E0-BE0E-71B6BA83EDE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14ED101-42FD-440A-A125-D7359D08733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Line 1027">
            <a:extLst>
              <a:ext uri="{FF2B5EF4-FFF2-40B4-BE49-F238E27FC236}">
                <a16:creationId xmlns:a16="http://schemas.microsoft.com/office/drawing/2014/main" id="{4E33574F-84C5-45BD-BAED-826B4A9554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67" name="Line 1031">
            <a:extLst>
              <a:ext uri="{FF2B5EF4-FFF2-40B4-BE49-F238E27FC236}">
                <a16:creationId xmlns:a16="http://schemas.microsoft.com/office/drawing/2014/main" id="{667A5221-7FD3-4677-88F9-F4F099CFB2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268" name="AutoShape 1032">
            <a:extLst>
              <a:ext uri="{FF2B5EF4-FFF2-40B4-BE49-F238E27FC236}">
                <a16:creationId xmlns:a16="http://schemas.microsoft.com/office/drawing/2014/main" id="{9BA0C812-2BBB-45CE-97B7-5BF59E980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9269" name="AutoShape 1033">
            <a:extLst>
              <a:ext uri="{FF2B5EF4-FFF2-40B4-BE49-F238E27FC236}">
                <a16:creationId xmlns:a16="http://schemas.microsoft.com/office/drawing/2014/main" id="{20B87790-BC9A-48EC-AFEB-B621708A6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DD21D85-6955-4205-A608-78BBBD738E98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2852738"/>
            <a:ext cx="3816350" cy="15128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（</a:t>
            </a:r>
            <a:r>
              <a:rPr kumimoji="0" lang="en-US" altLang="zh-CN" sz="3600" b="1" dirty="0">
                <a:latin typeface="楷体" pitchFamily="49" charset="-122"/>
                <a:ea typeface="楷体" pitchFamily="49" charset="-122"/>
              </a:rPr>
              <a:t>1</a:t>
            </a: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）先判断后循环，即</a:t>
            </a:r>
            <a:r>
              <a:rPr kumimoji="0" lang="en-US" altLang="zh-CN" sz="3600" b="1" dirty="0">
                <a:latin typeface="楷体" pitchFamily="49" charset="-122"/>
                <a:ea typeface="楷体" pitchFamily="49" charset="-122"/>
              </a:rPr>
              <a:t>WHILE</a:t>
            </a: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循环。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121A33-BAF8-4581-9FA3-C4AF72502FC5}"/>
              </a:ext>
            </a:extLst>
          </p:cNvPr>
          <p:cNvSpPr/>
          <p:nvPr/>
        </p:nvSpPr>
        <p:spPr>
          <a:xfrm>
            <a:off x="755650" y="1052513"/>
            <a:ext cx="7561263" cy="120015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3600" b="1" dirty="0">
                <a:latin typeface="楷体" pitchFamily="49" charset="-122"/>
                <a:ea typeface="楷体" pitchFamily="49" charset="-122"/>
              </a:rPr>
              <a:t>2.</a:t>
            </a: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根据循环结束判断在循环中的位置，有以下两种结构的循环：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91020-B666-466F-9DA4-9C8C26F735F2}"/>
              </a:ext>
            </a:extLst>
          </p:cNvPr>
          <p:cNvSpPr txBox="1"/>
          <p:nvPr/>
        </p:nvSpPr>
        <p:spPr>
          <a:xfrm>
            <a:off x="4716463" y="2708275"/>
            <a:ext cx="4032250" cy="17541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（</a:t>
            </a:r>
            <a:r>
              <a:rPr kumimoji="0" lang="en-US" altLang="zh-CN" sz="3600" b="1" dirty="0">
                <a:latin typeface="楷体" pitchFamily="49" charset="-122"/>
                <a:ea typeface="楷体" pitchFamily="49" charset="-122"/>
              </a:rPr>
              <a:t>2</a:t>
            </a: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）先循环后判断，即</a:t>
            </a:r>
            <a:r>
              <a:rPr kumimoji="0" lang="en-US" altLang="zh-CN" sz="3600" b="1" dirty="0">
                <a:latin typeface="楷体" pitchFamily="49" charset="-122"/>
                <a:ea typeface="楷体" pitchFamily="49" charset="-122"/>
              </a:rPr>
              <a:t>DO-WHILE</a:t>
            </a: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循环或</a:t>
            </a:r>
            <a:r>
              <a:rPr kumimoji="0" lang="en-US" altLang="zh-CN" sz="3600" b="1" dirty="0">
                <a:latin typeface="楷体" pitchFamily="49" charset="-122"/>
                <a:ea typeface="楷体" pitchFamily="49" charset="-122"/>
              </a:rPr>
              <a:t>DO-UNTIL</a:t>
            </a:r>
            <a:r>
              <a:rPr kumimoji="0" lang="zh-CN" altLang="en-US" sz="3600" b="1" dirty="0">
                <a:latin typeface="楷体" pitchFamily="49" charset="-122"/>
                <a:ea typeface="楷体" pitchFamily="49" charset="-122"/>
              </a:rPr>
              <a:t>循环。</a:t>
            </a:r>
          </a:p>
        </p:txBody>
      </p:sp>
      <p:sp>
        <p:nvSpPr>
          <p:cNvPr id="139273" name="TextBox 12">
            <a:extLst>
              <a:ext uri="{FF2B5EF4-FFF2-40B4-BE49-F238E27FC236}">
                <a16:creationId xmlns:a16="http://schemas.microsoft.com/office/drawing/2014/main" id="{658ECA56-0734-449B-8458-D6040660F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941888"/>
            <a:ext cx="35274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循环次数最少为</a:t>
            </a:r>
            <a:r>
              <a:rPr kumimoji="0"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0"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39274" name="TextBox 13">
            <a:extLst>
              <a:ext uri="{FF2B5EF4-FFF2-40B4-BE49-F238E27FC236}">
                <a16:creationId xmlns:a16="http://schemas.microsoft.com/office/drawing/2014/main" id="{6FF39AF8-8F18-4022-9B4F-837C799BC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868863"/>
            <a:ext cx="35290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循环次数最少为</a:t>
            </a:r>
            <a:r>
              <a:rPr kumimoji="0"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</a:p>
        </p:txBody>
      </p:sp>
      <p:sp>
        <p:nvSpPr>
          <p:cNvPr id="17" name="上箭头 16">
            <a:extLst>
              <a:ext uri="{FF2B5EF4-FFF2-40B4-BE49-F238E27FC236}">
                <a16:creationId xmlns:a16="http://schemas.microsoft.com/office/drawing/2014/main" id="{E772A07A-09B0-42AD-897C-E8656D011191}"/>
              </a:ext>
            </a:extLst>
          </p:cNvPr>
          <p:cNvSpPr/>
          <p:nvPr/>
        </p:nvSpPr>
        <p:spPr>
          <a:xfrm>
            <a:off x="6443663" y="4508500"/>
            <a:ext cx="215900" cy="43338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8" name="上箭头 17">
            <a:extLst>
              <a:ext uri="{FF2B5EF4-FFF2-40B4-BE49-F238E27FC236}">
                <a16:creationId xmlns:a16="http://schemas.microsoft.com/office/drawing/2014/main" id="{67698CF7-26F6-4C11-B5ED-6C223D530B84}"/>
              </a:ext>
            </a:extLst>
          </p:cNvPr>
          <p:cNvSpPr/>
          <p:nvPr/>
        </p:nvSpPr>
        <p:spPr>
          <a:xfrm>
            <a:off x="2339975" y="4508500"/>
            <a:ext cx="215900" cy="43338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39277" name="Text Box 1029">
            <a:extLst>
              <a:ext uri="{FF2B5EF4-FFF2-40B4-BE49-F238E27FC236}">
                <a16:creationId xmlns:a16="http://schemas.microsoft.com/office/drawing/2014/main" id="{43BAAD97-ED26-4261-958A-3EA9A9476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39278" name="页脚占位符 14">
            <a:extLst>
              <a:ext uri="{FF2B5EF4-FFF2-40B4-BE49-F238E27FC236}">
                <a16:creationId xmlns:a16="http://schemas.microsoft.com/office/drawing/2014/main" id="{39D7E57A-B378-4522-A5DC-771A075EFE49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39279" name="灯片编号占位符 13">
            <a:extLst>
              <a:ext uri="{FF2B5EF4-FFF2-40B4-BE49-F238E27FC236}">
                <a16:creationId xmlns:a16="http://schemas.microsoft.com/office/drawing/2014/main" id="{6CB9A043-0B5D-4901-BC26-8AF29955CE90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2BD8A18-ECF9-4557-89FB-14765A43A7BD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9280" name="日期占位符 12">
            <a:extLst>
              <a:ext uri="{FF2B5EF4-FFF2-40B4-BE49-F238E27FC236}">
                <a16:creationId xmlns:a16="http://schemas.microsoft.com/office/drawing/2014/main" id="{0D5A2843-23CE-41F6-BBFF-1A21DEEBE80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BE2127E-BD2B-4BF1-A95D-9E1F31EA647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Line 1027">
            <a:extLst>
              <a:ext uri="{FF2B5EF4-FFF2-40B4-BE49-F238E27FC236}">
                <a16:creationId xmlns:a16="http://schemas.microsoft.com/office/drawing/2014/main" id="{0D82C866-EB41-4C7C-89AB-7419C3DAF9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15" name="Line 1031">
            <a:extLst>
              <a:ext uri="{FF2B5EF4-FFF2-40B4-BE49-F238E27FC236}">
                <a16:creationId xmlns:a16="http://schemas.microsoft.com/office/drawing/2014/main" id="{7FD76D6D-721A-45C5-B04C-FB84F06D42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1316" name="AutoShape 1032">
            <a:extLst>
              <a:ext uri="{FF2B5EF4-FFF2-40B4-BE49-F238E27FC236}">
                <a16:creationId xmlns:a16="http://schemas.microsoft.com/office/drawing/2014/main" id="{89CE7E2E-BC93-4E73-9413-481701E04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1317" name="AutoShape 1033">
            <a:extLst>
              <a:ext uri="{FF2B5EF4-FFF2-40B4-BE49-F238E27FC236}">
                <a16:creationId xmlns:a16="http://schemas.microsoft.com/office/drawing/2014/main" id="{44C84864-4961-418C-9F97-0F5A6486E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41318" name="Picture 3" descr="图4-6两种循环结构">
            <a:extLst>
              <a:ext uri="{FF2B5EF4-FFF2-40B4-BE49-F238E27FC236}">
                <a16:creationId xmlns:a16="http://schemas.microsoft.com/office/drawing/2014/main" id="{21B80CA8-79C6-47CE-AE38-51ACB3016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981075"/>
            <a:ext cx="7543800" cy="4772025"/>
          </a:xfrm>
          <a:prstGeom prst="rect">
            <a:avLst/>
          </a:prstGeom>
          <a:solidFill>
            <a:srgbClr val="66FFFF"/>
          </a:solidFill>
          <a:ln>
            <a:noFill/>
          </a:ln>
          <a:effectLst>
            <a:outerShdw dist="107763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9" name="Text Box 1029">
            <a:extLst>
              <a:ext uri="{FF2B5EF4-FFF2-40B4-BE49-F238E27FC236}">
                <a16:creationId xmlns:a16="http://schemas.microsoft.com/office/drawing/2014/main" id="{D0B586F5-1D39-4847-95E1-6D3DEFE06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41320" name="页脚占位符 14">
            <a:extLst>
              <a:ext uri="{FF2B5EF4-FFF2-40B4-BE49-F238E27FC236}">
                <a16:creationId xmlns:a16="http://schemas.microsoft.com/office/drawing/2014/main" id="{FB460AF8-D740-4E25-B9A5-1921D429909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41321" name="灯片编号占位符 13">
            <a:extLst>
              <a:ext uri="{FF2B5EF4-FFF2-40B4-BE49-F238E27FC236}">
                <a16:creationId xmlns:a16="http://schemas.microsoft.com/office/drawing/2014/main" id="{C5B1ADCB-D744-411B-9028-8C50F33443D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C80FAB8-5C3E-478A-BA6D-8D6B86C23EDF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1322" name="日期占位符 12">
            <a:extLst>
              <a:ext uri="{FF2B5EF4-FFF2-40B4-BE49-F238E27FC236}">
                <a16:creationId xmlns:a16="http://schemas.microsoft.com/office/drawing/2014/main" id="{439EAE7C-21C5-4BB9-AEAF-45107CC17BC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A21F3F-2A5A-49BD-8E3C-F5AC3D70D71C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Line 1027">
            <a:extLst>
              <a:ext uri="{FF2B5EF4-FFF2-40B4-BE49-F238E27FC236}">
                <a16:creationId xmlns:a16="http://schemas.microsoft.com/office/drawing/2014/main" id="{9FBE4C32-0A8B-42FB-B705-A428DCA00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63" name="Line 1031">
            <a:extLst>
              <a:ext uri="{FF2B5EF4-FFF2-40B4-BE49-F238E27FC236}">
                <a16:creationId xmlns:a16="http://schemas.microsoft.com/office/drawing/2014/main" id="{3127A25E-1D91-4336-B69C-DA3562476C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364" name="AutoShape 1032">
            <a:extLst>
              <a:ext uri="{FF2B5EF4-FFF2-40B4-BE49-F238E27FC236}">
                <a16:creationId xmlns:a16="http://schemas.microsoft.com/office/drawing/2014/main" id="{80610828-E47F-45C8-A19C-B2B9BEEA5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3365" name="AutoShape 1033">
            <a:extLst>
              <a:ext uri="{FF2B5EF4-FFF2-40B4-BE49-F238E27FC236}">
                <a16:creationId xmlns:a16="http://schemas.microsoft.com/office/drawing/2014/main" id="{051E81E7-BF9B-43F6-9BD5-9BF53CFDE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730978F-E6F3-46CB-9557-F138CEB7C38E}"/>
              </a:ext>
            </a:extLst>
          </p:cNvPr>
          <p:cNvSpPr txBox="1">
            <a:spLocks noChangeArrowheads="1"/>
          </p:cNvSpPr>
          <p:nvPr/>
        </p:nvSpPr>
        <p:spPr>
          <a:xfrm>
            <a:off x="827088" y="2565400"/>
            <a:ext cx="7705725" cy="309562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spcBef>
                <a:spcPts val="600"/>
              </a:spcBef>
              <a:defRPr/>
            </a:pP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    循环的次数已知，常用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CX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寄存器（也可以用其他寄存器或存储器单元）记录循环的次数（称为“循环计数器”）。进行减法计数时，循环计数器的初值直接设为循环次数，每循环一次将计数器减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，计数器减为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时，循环结束。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F4B5D3-742A-4B16-BA7C-08BC8174F6D5}"/>
              </a:ext>
            </a:extLst>
          </p:cNvPr>
          <p:cNvSpPr/>
          <p:nvPr/>
        </p:nvSpPr>
        <p:spPr>
          <a:xfrm>
            <a:off x="684213" y="981075"/>
            <a:ext cx="7848600" cy="584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3.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按照循环结束的条件，有以下两类循环：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728868-239F-4565-A6A4-27A1C648056D}"/>
              </a:ext>
            </a:extLst>
          </p:cNvPr>
          <p:cNvSpPr txBox="1"/>
          <p:nvPr/>
        </p:nvSpPr>
        <p:spPr>
          <a:xfrm>
            <a:off x="755650" y="1773238"/>
            <a:ext cx="331152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（</a:t>
            </a:r>
            <a:r>
              <a:rPr kumimoji="0"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kumimoji="0"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）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计数循环：</a:t>
            </a:r>
            <a:endParaRPr lang="zh-CN" altLang="en-US" sz="32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3369" name="Text Box 1029">
            <a:extLst>
              <a:ext uri="{FF2B5EF4-FFF2-40B4-BE49-F238E27FC236}">
                <a16:creationId xmlns:a16="http://schemas.microsoft.com/office/drawing/2014/main" id="{5D80A2A7-4046-4839-9B7B-749D55558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43370" name="页脚占位符 14">
            <a:extLst>
              <a:ext uri="{FF2B5EF4-FFF2-40B4-BE49-F238E27FC236}">
                <a16:creationId xmlns:a16="http://schemas.microsoft.com/office/drawing/2014/main" id="{09F5623B-83BD-4DAA-A72B-EA4BCCF97CB5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43371" name="灯片编号占位符 13">
            <a:extLst>
              <a:ext uri="{FF2B5EF4-FFF2-40B4-BE49-F238E27FC236}">
                <a16:creationId xmlns:a16="http://schemas.microsoft.com/office/drawing/2014/main" id="{A6BF0754-4CC4-4B98-AB7A-6EDB077093E7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81E5D9A4-443B-496C-9781-2935E5A1F67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72" name="日期占位符 12">
            <a:extLst>
              <a:ext uri="{FF2B5EF4-FFF2-40B4-BE49-F238E27FC236}">
                <a16:creationId xmlns:a16="http://schemas.microsoft.com/office/drawing/2014/main" id="{8593ED9F-961A-4FD7-A702-59777DC828D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B8655A-15CB-49E0-9759-1FEB232561A5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Line 1027">
            <a:extLst>
              <a:ext uri="{FF2B5EF4-FFF2-40B4-BE49-F238E27FC236}">
                <a16:creationId xmlns:a16="http://schemas.microsoft.com/office/drawing/2014/main" id="{0EE5AA6F-8C32-4E32-8949-C40BA34BD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11" name="Line 1031">
            <a:extLst>
              <a:ext uri="{FF2B5EF4-FFF2-40B4-BE49-F238E27FC236}">
                <a16:creationId xmlns:a16="http://schemas.microsoft.com/office/drawing/2014/main" id="{CC78F95B-22F8-414E-981E-6FACD67B40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5412" name="AutoShape 1032">
            <a:extLst>
              <a:ext uri="{FF2B5EF4-FFF2-40B4-BE49-F238E27FC236}">
                <a16:creationId xmlns:a16="http://schemas.microsoft.com/office/drawing/2014/main" id="{44E028DD-E9AE-4959-8129-803BD96EA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5413" name="AutoShape 1033">
            <a:extLst>
              <a:ext uri="{FF2B5EF4-FFF2-40B4-BE49-F238E27FC236}">
                <a16:creationId xmlns:a16="http://schemas.microsoft.com/office/drawing/2014/main" id="{0605D64D-67DC-4F44-AE58-CE44BEF1C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BA779F1-01E4-4BAA-B405-959A992D249C}"/>
              </a:ext>
            </a:extLst>
          </p:cNvPr>
          <p:cNvSpPr txBox="1">
            <a:spLocks noChangeArrowheads="1"/>
          </p:cNvSpPr>
          <p:nvPr/>
        </p:nvSpPr>
        <p:spPr>
          <a:xfrm>
            <a:off x="1258888" y="2060575"/>
            <a:ext cx="6408737" cy="259238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3200" b="1" dirty="0">
                <a:ea typeface="仿宋_GB2312" pitchFamily="49" charset="-122"/>
              </a:rPr>
              <a:t>        </a:t>
            </a:r>
            <a:r>
              <a:rPr lang="zh-CN" altLang="en-US" sz="3200" b="1" dirty="0">
                <a:latin typeface="幼圆" panose="02010509060101010101" pitchFamily="49" charset="-122"/>
                <a:ea typeface="幼圆" panose="02010509060101010101" pitchFamily="49" charset="-122"/>
              </a:rPr>
              <a:t>循环的次数事先并不确定，每次循环开始前或结束后测试某个条件，根据这个条件是否满足来决定是否继续下一次循环。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18B98B-F7D4-410A-8768-DECB095B5A84}"/>
              </a:ext>
            </a:extLst>
          </p:cNvPr>
          <p:cNvSpPr txBox="1"/>
          <p:nvPr/>
        </p:nvSpPr>
        <p:spPr>
          <a:xfrm>
            <a:off x="1042988" y="1125538"/>
            <a:ext cx="33131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（</a:t>
            </a:r>
            <a:r>
              <a:rPr kumimoji="0"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kumimoji="0"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）条件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循环：</a:t>
            </a:r>
            <a:endParaRPr lang="zh-CN" altLang="en-US" sz="32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5416" name="Text Box 1029">
            <a:extLst>
              <a:ext uri="{FF2B5EF4-FFF2-40B4-BE49-F238E27FC236}">
                <a16:creationId xmlns:a16="http://schemas.microsoft.com/office/drawing/2014/main" id="{740C33F4-ED58-4D18-8D42-97C49C8A4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45417" name="TextBox 12">
            <a:extLst>
              <a:ext uri="{FF2B5EF4-FFF2-40B4-BE49-F238E27FC236}">
                <a16:creationId xmlns:a16="http://schemas.microsoft.com/office/drawing/2014/main" id="{DC921381-48A2-455E-82E2-C238BBA6E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5013325"/>
            <a:ext cx="446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条件循环更具普遍意义</a:t>
            </a:r>
          </a:p>
        </p:txBody>
      </p:sp>
      <p:sp>
        <p:nvSpPr>
          <p:cNvPr id="145418" name="页脚占位符 14">
            <a:extLst>
              <a:ext uri="{FF2B5EF4-FFF2-40B4-BE49-F238E27FC236}">
                <a16:creationId xmlns:a16="http://schemas.microsoft.com/office/drawing/2014/main" id="{FA9353F8-CA09-4519-A418-95FF4B3D090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45419" name="灯片编号占位符 13">
            <a:extLst>
              <a:ext uri="{FF2B5EF4-FFF2-40B4-BE49-F238E27FC236}">
                <a16:creationId xmlns:a16="http://schemas.microsoft.com/office/drawing/2014/main" id="{CF3808FA-3D6B-4648-BC73-7B6AA413B278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3526DB92-ADDD-41F6-B917-8B24A7411F8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5420" name="日期占位符 12">
            <a:extLst>
              <a:ext uri="{FF2B5EF4-FFF2-40B4-BE49-F238E27FC236}">
                <a16:creationId xmlns:a16="http://schemas.microsoft.com/office/drawing/2014/main" id="{BE9DB385-126B-427E-A166-4A70C165EF1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C2EB9B2-4995-4916-BDC1-D35B67E05F9B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Line 3">
            <a:extLst>
              <a:ext uri="{FF2B5EF4-FFF2-40B4-BE49-F238E27FC236}">
                <a16:creationId xmlns:a16="http://schemas.microsoft.com/office/drawing/2014/main" id="{D990747E-6B40-4EC1-AAB8-39C54168DC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598" name="Text Box 6">
            <a:extLst>
              <a:ext uri="{FF2B5EF4-FFF2-40B4-BE49-F238E27FC236}">
                <a16:creationId xmlns:a16="http://schemas.microsoft.com/office/drawing/2014/main" id="{CF3F76F2-B059-4ACD-8F85-2081B21EF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14400"/>
            <a:ext cx="480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36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循环控制条件的选择</a:t>
            </a:r>
            <a:endParaRPr lang="zh-CN" altLang="en-US" sz="3200" b="1">
              <a:solidFill>
                <a:srgbClr val="FF6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7460" name="Line 7">
            <a:extLst>
              <a:ext uri="{FF2B5EF4-FFF2-40B4-BE49-F238E27FC236}">
                <a16:creationId xmlns:a16="http://schemas.microsoft.com/office/drawing/2014/main" id="{665FC3FB-6615-4F44-9C32-63E16240C8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7461" name="AutoShape 8">
            <a:extLst>
              <a:ext uri="{FF2B5EF4-FFF2-40B4-BE49-F238E27FC236}">
                <a16:creationId xmlns:a16="http://schemas.microsoft.com/office/drawing/2014/main" id="{75F3E599-CB9D-4AE1-8581-092BBFC82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7462" name="Text Box 9">
            <a:extLst>
              <a:ext uri="{FF2B5EF4-FFF2-40B4-BE49-F238E27FC236}">
                <a16:creationId xmlns:a16="http://schemas.microsoft.com/office/drawing/2014/main" id="{D8AA41F3-360B-4215-9622-8C72354C8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752600"/>
            <a:ext cx="8142288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600" b="1"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循环次数已知：循环次数作为循环控制条件，用</a:t>
            </a:r>
            <a:r>
              <a:rPr lang="en-US" altLang="zh-CN" sz="36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LOOP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指令完成。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3600" b="1"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循环次数已知，但可能会提前结束：可用</a:t>
            </a:r>
            <a:r>
              <a:rPr lang="en-US" altLang="zh-CN" sz="36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LOOPZ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6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LOOPNZ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指令完成。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3600" b="1">
                <a:latin typeface="楷体" panose="02010609060101010101" pitchFamily="49" charset="-122"/>
                <a:ea typeface="楷体" panose="02010609060101010101" pitchFamily="49" charset="-122"/>
              </a:rPr>
              <a:t>(3) 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循环次数未知：根据具体的情况找出循环结束条件，用</a:t>
            </a:r>
            <a:r>
              <a:rPr lang="zh-CN" altLang="en-US" sz="36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条件转移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6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JMP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等完成。	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7463" name="Text Box 1029">
            <a:extLst>
              <a:ext uri="{FF2B5EF4-FFF2-40B4-BE49-F238E27FC236}">
                <a16:creationId xmlns:a16="http://schemas.microsoft.com/office/drawing/2014/main" id="{FD7465BC-3A70-4BA6-9804-693F0068C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47464" name="页脚占位符 14">
            <a:extLst>
              <a:ext uri="{FF2B5EF4-FFF2-40B4-BE49-F238E27FC236}">
                <a16:creationId xmlns:a16="http://schemas.microsoft.com/office/drawing/2014/main" id="{56B7D5E8-9F98-4FC8-9222-49A65F73F5E8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47465" name="灯片编号占位符 13">
            <a:extLst>
              <a:ext uri="{FF2B5EF4-FFF2-40B4-BE49-F238E27FC236}">
                <a16:creationId xmlns:a16="http://schemas.microsoft.com/office/drawing/2014/main" id="{C6A81DFE-8CEA-483B-A0CB-0F2BBB36B6E9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80C41BC2-D3C9-4D2F-97A7-B2B019F2628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7466" name="日期占位符 12">
            <a:extLst>
              <a:ext uri="{FF2B5EF4-FFF2-40B4-BE49-F238E27FC236}">
                <a16:creationId xmlns:a16="http://schemas.microsoft.com/office/drawing/2014/main" id="{62910A2E-A7B0-4D5A-ADF4-DDB4C8EB600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DF875F8-901A-4F44-96AC-590B2D38A2EC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8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Line 1027">
            <a:extLst>
              <a:ext uri="{FF2B5EF4-FFF2-40B4-BE49-F238E27FC236}">
                <a16:creationId xmlns:a16="http://schemas.microsoft.com/office/drawing/2014/main" id="{5003EC8D-5C71-4AFF-AAC3-1004E17B5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07" name="Line 1031">
            <a:extLst>
              <a:ext uri="{FF2B5EF4-FFF2-40B4-BE49-F238E27FC236}">
                <a16:creationId xmlns:a16="http://schemas.microsoft.com/office/drawing/2014/main" id="{1357A02F-D40B-457A-AAE6-790A1F81D3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9508" name="AutoShape 1032">
            <a:extLst>
              <a:ext uri="{FF2B5EF4-FFF2-40B4-BE49-F238E27FC236}">
                <a16:creationId xmlns:a16="http://schemas.microsoft.com/office/drawing/2014/main" id="{37A1805E-78C1-463E-848A-1FDA5FE91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9509" name="AutoShape 1033">
            <a:extLst>
              <a:ext uri="{FF2B5EF4-FFF2-40B4-BE49-F238E27FC236}">
                <a16:creationId xmlns:a16="http://schemas.microsoft.com/office/drawing/2014/main" id="{78383381-172D-42BA-911F-26500EBA4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BC2B322-2B0E-4EF2-A8C0-5A7BEFC6F906}"/>
              </a:ext>
            </a:extLst>
          </p:cNvPr>
          <p:cNvSpPr txBox="1">
            <a:spLocks noChangeArrowheads="1"/>
          </p:cNvSpPr>
          <p:nvPr/>
        </p:nvSpPr>
        <p:spPr>
          <a:xfrm>
            <a:off x="1042988" y="1979613"/>
            <a:ext cx="6337300" cy="20875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3200" b="1" dirty="0">
                <a:latin typeface="幼圆" panose="02010509060101010101" pitchFamily="49" charset="-122"/>
                <a:ea typeface="幼圆" panose="02010509060101010101" pitchFamily="49" charset="-122"/>
              </a:rPr>
              <a:t>计数循环是基本的循环组织方式，用循环计数器的值来控制循环，有时候也可以结合其它条件共同控制。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EC69A-8D6E-4DEF-96BA-17309CF98EE5}"/>
              </a:ext>
            </a:extLst>
          </p:cNvPr>
          <p:cNvSpPr txBox="1"/>
          <p:nvPr/>
        </p:nvSpPr>
        <p:spPr>
          <a:xfrm>
            <a:off x="827088" y="981075"/>
            <a:ext cx="360045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sz="36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二、计数循环</a:t>
            </a:r>
            <a:r>
              <a:rPr lang="zh-CN" altLang="en-US" sz="3600" b="1" dirty="0">
                <a:solidFill>
                  <a:srgbClr val="FF0000"/>
                </a:solidFill>
                <a:latin typeface="+mj-ea"/>
                <a:ea typeface="+mj-ea"/>
              </a:rPr>
              <a:t>：</a:t>
            </a:r>
            <a:endParaRPr lang="zh-CN" altLang="en-US" sz="3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9512" name="矩形 12">
            <a:extLst>
              <a:ext uri="{FF2B5EF4-FFF2-40B4-BE49-F238E27FC236}">
                <a16:creationId xmlns:a16="http://schemas.microsoft.com/office/drawing/2014/main" id="{935DD5CA-A34C-46EB-AB0B-ADE8A55B5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3775" y="4256088"/>
            <a:ext cx="31686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LOOP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LOOPZ/LOOPE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LOOPNZ/LOOPNE</a:t>
            </a: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9513" name="Text Box 1029">
            <a:extLst>
              <a:ext uri="{FF2B5EF4-FFF2-40B4-BE49-F238E27FC236}">
                <a16:creationId xmlns:a16="http://schemas.microsoft.com/office/drawing/2014/main" id="{86CAF088-0CC9-45B9-98AC-1AEB32B0C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49514" name="页脚占位符 14">
            <a:extLst>
              <a:ext uri="{FF2B5EF4-FFF2-40B4-BE49-F238E27FC236}">
                <a16:creationId xmlns:a16="http://schemas.microsoft.com/office/drawing/2014/main" id="{D8341B73-A8A4-4482-B179-F4904AAFFCB0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49515" name="灯片编号占位符 13">
            <a:extLst>
              <a:ext uri="{FF2B5EF4-FFF2-40B4-BE49-F238E27FC236}">
                <a16:creationId xmlns:a16="http://schemas.microsoft.com/office/drawing/2014/main" id="{D036FAB2-8651-4670-86E1-7D9B1C49D330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E2CED04-3978-4864-9D52-B0E89C9266A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9516" name="日期占位符 12">
            <a:extLst>
              <a:ext uri="{FF2B5EF4-FFF2-40B4-BE49-F238E27FC236}">
                <a16:creationId xmlns:a16="http://schemas.microsoft.com/office/drawing/2014/main" id="{A1C9843D-DB49-4E6B-AF1E-EC60DF8F945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AF44A4-27B2-4A19-802C-F5C89D68B6AA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Line 3">
            <a:extLst>
              <a:ext uri="{FF2B5EF4-FFF2-40B4-BE49-F238E27FC236}">
                <a16:creationId xmlns:a16="http://schemas.microsoft.com/office/drawing/2014/main" id="{6372E565-16AE-4149-9B21-FEE92C1E0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09" name="Text Box 5">
            <a:extLst>
              <a:ext uri="{FF2B5EF4-FFF2-40B4-BE49-F238E27FC236}">
                <a16:creationId xmlns:a16="http://schemas.microsoft.com/office/drawing/2014/main" id="{A66B5CBD-F49E-4BD2-801E-8C092A56B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762000"/>
            <a:ext cx="7162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32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1556" name="Line 6">
            <a:extLst>
              <a:ext uri="{FF2B5EF4-FFF2-40B4-BE49-F238E27FC236}">
                <a16:creationId xmlns:a16="http://schemas.microsoft.com/office/drawing/2014/main" id="{08C48990-D1EF-4F95-869E-3C6FA68811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1557" name="AutoShape 7">
            <a:extLst>
              <a:ext uri="{FF2B5EF4-FFF2-40B4-BE49-F238E27FC236}">
                <a16:creationId xmlns:a16="http://schemas.microsoft.com/office/drawing/2014/main" id="{E4FF3F25-E0EB-4268-BF84-2C5106FD1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51558" name="Text Box 8">
            <a:extLst>
              <a:ext uri="{FF2B5EF4-FFF2-40B4-BE49-F238E27FC236}">
                <a16:creationId xmlns:a16="http://schemas.microsoft.com/office/drawing/2014/main" id="{32993F08-50C2-4D9C-9345-166D985A6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81200"/>
            <a:ext cx="8382000" cy="408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	: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START:	</a:t>
            </a:r>
            <a:r>
              <a:rPr lang="en-US" altLang="zh-CN" sz="32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BX</a:t>
            </a:r>
            <a:r>
              <a:rPr lang="zh-CN" altLang="en-US" sz="32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;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项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32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AX</a:t>
            </a:r>
            <a:r>
              <a:rPr lang="zh-CN" altLang="en-US" sz="32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en-US" altLang="zh-CN" sz="32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;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部分和	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32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CX</a:t>
            </a:r>
            <a:r>
              <a:rPr lang="zh-CN" altLang="en-US" sz="32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100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;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循环次数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AGAIN: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ADD	AX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BX	;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循环工作部分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INC	BX		;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修改部分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32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LOOP	AGAIN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;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循环控制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32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S</a:t>
            </a:r>
            <a:r>
              <a:rPr lang="zh-CN" altLang="en-US" sz="32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AX	;</a:t>
            </a:r>
            <a:r>
              <a:rPr lang="zh-CN" altLang="en-US" sz="3200" b="1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存结果		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	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</p:txBody>
      </p:sp>
      <p:sp>
        <p:nvSpPr>
          <p:cNvPr id="151559" name="Text Box 9">
            <a:extLst>
              <a:ext uri="{FF2B5EF4-FFF2-40B4-BE49-F238E27FC236}">
                <a16:creationId xmlns:a16="http://schemas.microsoft.com/office/drawing/2014/main" id="{0FA89198-42CD-4258-8DA3-107B40042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7467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600" b="1">
                <a:latin typeface="楷体" panose="02010609060101010101" pitchFamily="49" charset="-122"/>
                <a:ea typeface="楷体" panose="02010609060101010101" pitchFamily="49" charset="-122"/>
              </a:rPr>
              <a:t>17] 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计算</a:t>
            </a:r>
            <a:r>
              <a:rPr lang="en-US" altLang="zh-CN" sz="3600" b="1">
                <a:latin typeface="楷体" panose="02010609060101010101" pitchFamily="49" charset="-122"/>
                <a:ea typeface="楷体" panose="02010609060101010101" pitchFamily="49" charset="-122"/>
              </a:rPr>
              <a:t>S=1+2+3+……+100</a:t>
            </a:r>
            <a:endParaRPr lang="en-US" altLang="zh-CN" sz="3600">
              <a:solidFill>
                <a:srgbClr val="DDDDD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9514" name="Text Box 10">
            <a:extLst>
              <a:ext uri="{FF2B5EF4-FFF2-40B4-BE49-F238E27FC236}">
                <a16:creationId xmlns:a16="http://schemas.microsoft.com/office/drawing/2014/main" id="{9990EEDF-8874-4BB6-B103-F1638BDBD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486400"/>
            <a:ext cx="1828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zh-CN" sz="3200">
                <a:latin typeface="Times New Roman" panose="02020603050405020304" pitchFamily="18" charset="0"/>
                <a:ea typeface="隶书" panose="02010509060101010101" pitchFamily="49" charset="-122"/>
              </a:rPr>
              <a:t>倒计数法</a:t>
            </a:r>
            <a:endParaRPr lang="zh-CN" altLang="en-US" sz="3200" b="1">
              <a:latin typeface="Times New Roman" panose="02020603050405020304" pitchFamily="18" charset="0"/>
            </a:endParaRPr>
          </a:p>
        </p:txBody>
      </p:sp>
      <p:sp>
        <p:nvSpPr>
          <p:cNvPr id="151561" name="Text Box 1029">
            <a:extLst>
              <a:ext uri="{FF2B5EF4-FFF2-40B4-BE49-F238E27FC236}">
                <a16:creationId xmlns:a16="http://schemas.microsoft.com/office/drawing/2014/main" id="{9EB1889B-44A5-4FFC-805C-7BC83A471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51562" name="页脚占位符 14">
            <a:extLst>
              <a:ext uri="{FF2B5EF4-FFF2-40B4-BE49-F238E27FC236}">
                <a16:creationId xmlns:a16="http://schemas.microsoft.com/office/drawing/2014/main" id="{7E944FEE-357A-441D-B968-1D9AE14B59F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51563" name="灯片编号占位符 13">
            <a:extLst>
              <a:ext uri="{FF2B5EF4-FFF2-40B4-BE49-F238E27FC236}">
                <a16:creationId xmlns:a16="http://schemas.microsoft.com/office/drawing/2014/main" id="{72949D3F-7B1B-4DB9-912E-3CBFCBE972A1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17DABE1B-DBC6-41B1-AD87-DEE995CDBE70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1564" name="日期占位符 12">
            <a:extLst>
              <a:ext uri="{FF2B5EF4-FFF2-40B4-BE49-F238E27FC236}">
                <a16:creationId xmlns:a16="http://schemas.microsoft.com/office/drawing/2014/main" id="{799E22B2-1C48-41D9-921C-8C655BAC27F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BCD1C39-37B7-4925-91C8-6004646EB8C2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9" grpId="0" autoUpdateAnimBg="0"/>
      <p:bldP spid="149514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Line 3">
            <a:extLst>
              <a:ext uri="{FF2B5EF4-FFF2-40B4-BE49-F238E27FC236}">
                <a16:creationId xmlns:a16="http://schemas.microsoft.com/office/drawing/2014/main" id="{1E4E9B41-EB19-4E84-8F06-C5EA0CA90E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03" name="Line 6">
            <a:extLst>
              <a:ext uri="{FF2B5EF4-FFF2-40B4-BE49-F238E27FC236}">
                <a16:creationId xmlns:a16="http://schemas.microsoft.com/office/drawing/2014/main" id="{50713A9A-8527-4321-B496-1A7306A479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04" name="AutoShape 7">
            <a:extLst>
              <a:ext uri="{FF2B5EF4-FFF2-40B4-BE49-F238E27FC236}">
                <a16:creationId xmlns:a16="http://schemas.microsoft.com/office/drawing/2014/main" id="{222977F0-7B7E-43CF-91C0-1FE28700C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7461" name="Text Box 9">
            <a:extLst>
              <a:ext uri="{FF2B5EF4-FFF2-40B4-BE49-F238E27FC236}">
                <a16:creationId xmlns:a16="http://schemas.microsoft.com/office/drawing/2014/main" id="{E8FB177A-6A58-4F94-BEA7-26BFEC91E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3" y="2430463"/>
            <a:ext cx="8675687" cy="20621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				: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    	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MOV	CX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2801	;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初始化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DELAY:  	LOOP	DELAY	;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循环体、循环控制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			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			</a:t>
            </a:r>
          </a:p>
        </p:txBody>
      </p:sp>
      <p:sp>
        <p:nvSpPr>
          <p:cNvPr id="153606" name="Text Box 10">
            <a:extLst>
              <a:ext uri="{FF2B5EF4-FFF2-40B4-BE49-F238E27FC236}">
                <a16:creationId xmlns:a16="http://schemas.microsoft.com/office/drawing/2014/main" id="{C0B5629E-8AE9-44B4-9C9C-A63381B90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154113"/>
            <a:ext cx="54006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宋体" panose="02010600030101010101" pitchFamily="2" charset="-122"/>
              </a:rPr>
              <a:t>[</a:t>
            </a:r>
            <a:r>
              <a:rPr lang="zh-CN" altLang="en-US" sz="3600" b="1">
                <a:latin typeface="宋体" panose="02010600030101010101" pitchFamily="2" charset="-122"/>
              </a:rPr>
              <a:t>例</a:t>
            </a:r>
            <a:r>
              <a:rPr lang="en-US" altLang="zh-CN" sz="3600" b="1">
                <a:latin typeface="宋体" panose="02010600030101010101" pitchFamily="2" charset="-122"/>
              </a:rPr>
              <a:t>18] </a:t>
            </a:r>
            <a:r>
              <a:rPr lang="zh-CN" altLang="en-US" sz="3600" b="1">
                <a:latin typeface="宋体" panose="02010600030101010101" pitchFamily="2" charset="-122"/>
              </a:rPr>
              <a:t>延时程序（</a:t>
            </a:r>
            <a:r>
              <a:rPr lang="en-US" altLang="zh-CN" sz="3600" b="1">
                <a:latin typeface="宋体" panose="02010600030101010101" pitchFamily="2" charset="-122"/>
              </a:rPr>
              <a:t>10ms</a:t>
            </a:r>
            <a:r>
              <a:rPr lang="zh-CN" altLang="en-US" sz="3600" b="1">
                <a:latin typeface="宋体" panose="02010600030101010101" pitchFamily="2" charset="-122"/>
              </a:rPr>
              <a:t>）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153607" name="Text Box 1029">
            <a:extLst>
              <a:ext uri="{FF2B5EF4-FFF2-40B4-BE49-F238E27FC236}">
                <a16:creationId xmlns:a16="http://schemas.microsoft.com/office/drawing/2014/main" id="{369CB534-4B1D-42C8-ACF5-0E5E82F75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53608" name="页脚占位符 14">
            <a:extLst>
              <a:ext uri="{FF2B5EF4-FFF2-40B4-BE49-F238E27FC236}">
                <a16:creationId xmlns:a16="http://schemas.microsoft.com/office/drawing/2014/main" id="{F1CB11E3-EA43-4F6C-9FDF-015E8C76E33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53609" name="灯片编号占位符 13">
            <a:extLst>
              <a:ext uri="{FF2B5EF4-FFF2-40B4-BE49-F238E27FC236}">
                <a16:creationId xmlns:a16="http://schemas.microsoft.com/office/drawing/2014/main" id="{8F6B382A-A356-4167-8BB0-137E7E6EFD6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B936E85-D186-40B0-BF33-239B34E45429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610" name="日期占位符 12">
            <a:extLst>
              <a:ext uri="{FF2B5EF4-FFF2-40B4-BE49-F238E27FC236}">
                <a16:creationId xmlns:a16="http://schemas.microsoft.com/office/drawing/2014/main" id="{286842F4-8AA2-4AA9-82EE-6423F275A6C4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98B9BF2-F0B6-4A3F-90E9-8B668BD407B5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611" name="文本框 1">
            <a:extLst>
              <a:ext uri="{FF2B5EF4-FFF2-40B4-BE49-F238E27FC236}">
                <a16:creationId xmlns:a16="http://schemas.microsoft.com/office/drawing/2014/main" id="{82D5F2E8-9F9A-47E2-9F1F-C21EEF687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006975"/>
            <a:ext cx="4319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2801*17*210ns=10ms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Line 1027">
            <a:extLst>
              <a:ext uri="{FF2B5EF4-FFF2-40B4-BE49-F238E27FC236}">
                <a16:creationId xmlns:a16="http://schemas.microsoft.com/office/drawing/2014/main" id="{1596506F-8F29-4586-83C9-B7117536C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51" name="Line 1031">
            <a:extLst>
              <a:ext uri="{FF2B5EF4-FFF2-40B4-BE49-F238E27FC236}">
                <a16:creationId xmlns:a16="http://schemas.microsoft.com/office/drawing/2014/main" id="{6152AB29-E29B-4C2B-AB5F-BC33AA3ABF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52" name="AutoShape 1032">
            <a:extLst>
              <a:ext uri="{FF2B5EF4-FFF2-40B4-BE49-F238E27FC236}">
                <a16:creationId xmlns:a16="http://schemas.microsoft.com/office/drawing/2014/main" id="{6BAABD46-C7A7-472A-AEBB-4BE5AB0C6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55653" name="AutoShape 1033">
            <a:extLst>
              <a:ext uri="{FF2B5EF4-FFF2-40B4-BE49-F238E27FC236}">
                <a16:creationId xmlns:a16="http://schemas.microsoft.com/office/drawing/2014/main" id="{7449D290-8947-4024-BAD7-3A7BADC34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D582D67-2D69-421E-81D9-98EC53DB5532}"/>
              </a:ext>
            </a:extLst>
          </p:cNvPr>
          <p:cNvSpPr txBox="1">
            <a:spLocks noChangeArrowheads="1"/>
          </p:cNvSpPr>
          <p:nvPr/>
        </p:nvSpPr>
        <p:spPr>
          <a:xfrm>
            <a:off x="1042988" y="2205038"/>
            <a:ext cx="6337300" cy="374491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lnSpc>
                <a:spcPts val="3840"/>
              </a:lnSpc>
              <a:spcBef>
                <a:spcPts val="300"/>
              </a:spcBef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CRLF		MACRO</a:t>
            </a:r>
          </a:p>
          <a:p>
            <a:pPr eaLnBrk="1" hangingPunct="1">
              <a:lnSpc>
                <a:spcPts val="3840"/>
              </a:lnSpc>
              <a:spcBef>
                <a:spcPts val="300"/>
              </a:spcBef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	MOV	AH,2</a:t>
            </a:r>
          </a:p>
          <a:p>
            <a:pPr eaLnBrk="1" hangingPunct="1">
              <a:lnSpc>
                <a:spcPts val="3840"/>
              </a:lnSpc>
              <a:spcBef>
                <a:spcPts val="300"/>
              </a:spcBef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	MOV	DL,0DH</a:t>
            </a:r>
          </a:p>
          <a:p>
            <a:pPr eaLnBrk="1" hangingPunct="1">
              <a:lnSpc>
                <a:spcPts val="3840"/>
              </a:lnSpc>
              <a:spcBef>
                <a:spcPts val="300"/>
              </a:spcBef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	INT 	21H</a:t>
            </a:r>
          </a:p>
          <a:p>
            <a:pPr eaLnBrk="1" hangingPunct="1">
              <a:lnSpc>
                <a:spcPts val="3840"/>
              </a:lnSpc>
              <a:spcBef>
                <a:spcPts val="300"/>
              </a:spcBef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	MOV	DL,0AH</a:t>
            </a:r>
          </a:p>
          <a:p>
            <a:pPr eaLnBrk="1" hangingPunct="1">
              <a:lnSpc>
                <a:spcPts val="3840"/>
              </a:lnSpc>
              <a:spcBef>
                <a:spcPts val="300"/>
              </a:spcBef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	INT 	21H</a:t>
            </a:r>
            <a:endParaRPr lang="zh-CN" altLang="en-US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840"/>
              </a:lnSpc>
              <a:spcBef>
                <a:spcPts val="300"/>
              </a:spcBef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	ENDM</a:t>
            </a:r>
            <a:endParaRPr lang="zh-CN" altLang="en-US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0426" name="矩形 12">
            <a:extLst>
              <a:ext uri="{FF2B5EF4-FFF2-40B4-BE49-F238E27FC236}">
                <a16:creationId xmlns:a16="http://schemas.microsoft.com/office/drawing/2014/main" id="{5399510E-8EBB-475E-81DF-250C2D8DA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08050"/>
            <a:ext cx="820896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[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19] 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从键盘上输入一个字符串（不超过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80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个字符），将它逆序后输出。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		</a:t>
            </a: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hlinkClick r:id="rId3" action="ppaction://hlinkfile"/>
              </a:rPr>
              <a:t>EP510.ASM</a:t>
            </a:r>
            <a:endParaRPr lang="zh-CN" altLang="en-US" sz="2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5656" name="Text Box 1029">
            <a:extLst>
              <a:ext uri="{FF2B5EF4-FFF2-40B4-BE49-F238E27FC236}">
                <a16:creationId xmlns:a16="http://schemas.microsoft.com/office/drawing/2014/main" id="{A3B047E6-0475-49A9-819E-3A108317C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55657" name="页脚占位符 14">
            <a:extLst>
              <a:ext uri="{FF2B5EF4-FFF2-40B4-BE49-F238E27FC236}">
                <a16:creationId xmlns:a16="http://schemas.microsoft.com/office/drawing/2014/main" id="{2F93A04E-1A21-48C7-8C4C-CD53C2E45D2B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55658" name="灯片编号占位符 13">
            <a:extLst>
              <a:ext uri="{FF2B5EF4-FFF2-40B4-BE49-F238E27FC236}">
                <a16:creationId xmlns:a16="http://schemas.microsoft.com/office/drawing/2014/main" id="{EFAC6B58-80C2-4002-81E1-D7F3D6F56F6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4943017-DFCD-4256-A007-0865EA53BF14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5659" name="日期占位符 12">
            <a:extLst>
              <a:ext uri="{FF2B5EF4-FFF2-40B4-BE49-F238E27FC236}">
                <a16:creationId xmlns:a16="http://schemas.microsoft.com/office/drawing/2014/main" id="{A9A1A339-F00D-486B-B09D-CD9CE82A505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533C32-AC5A-4564-8F0B-ECAD4EC59457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Line 1027">
            <a:extLst>
              <a:ext uri="{FF2B5EF4-FFF2-40B4-BE49-F238E27FC236}">
                <a16:creationId xmlns:a16="http://schemas.microsoft.com/office/drawing/2014/main" id="{9FDB3C92-237C-42AB-A285-D90ED6F62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699" name="Line 1031">
            <a:extLst>
              <a:ext uri="{FF2B5EF4-FFF2-40B4-BE49-F238E27FC236}">
                <a16:creationId xmlns:a16="http://schemas.microsoft.com/office/drawing/2014/main" id="{726AA211-519A-4995-A51D-F5DB1ED498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7700" name="AutoShape 1032">
            <a:extLst>
              <a:ext uri="{FF2B5EF4-FFF2-40B4-BE49-F238E27FC236}">
                <a16:creationId xmlns:a16="http://schemas.microsoft.com/office/drawing/2014/main" id="{9CA024ED-4B37-45AA-A301-A8DC03FD0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57701" name="AutoShape 1033">
            <a:extLst>
              <a:ext uri="{FF2B5EF4-FFF2-40B4-BE49-F238E27FC236}">
                <a16:creationId xmlns:a16="http://schemas.microsoft.com/office/drawing/2014/main" id="{FFF57AC3-B5AC-415E-97C5-97F707C27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73CB37F-D9D4-4AD6-BBA1-2A92EAC5F9F6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692150"/>
            <a:ext cx="8382000" cy="54006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DATA		SEGMENT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BUFFER	DB	81, ?, 81 DUP(?)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MESS		DB	0AH,0DH,‘Input a string please : $’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DATA		ENDS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CODE		SEGMENT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	ASSUME 	CS:CODE, DS:DATA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START:	MOV 	AX, DATA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	MOV	DS, AX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	LEA	DX, MESS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	MOV	AH, 09H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	INT	21H			;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输出提示信息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MOV	AH, 0AH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	LEA	DX, BUFFER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	INT	21H			;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输入字符串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defRPr/>
            </a:pPr>
            <a:endParaRPr lang="zh-CN" altLang="en-US" b="1" dirty="0">
              <a:ea typeface="仿宋_GB2312" pitchFamily="49" charset="-122"/>
            </a:endParaRPr>
          </a:p>
        </p:txBody>
      </p:sp>
      <p:sp>
        <p:nvSpPr>
          <p:cNvPr id="157703" name="Text Box 1029">
            <a:extLst>
              <a:ext uri="{FF2B5EF4-FFF2-40B4-BE49-F238E27FC236}">
                <a16:creationId xmlns:a16="http://schemas.microsoft.com/office/drawing/2014/main" id="{44D55FB9-2AB9-4C3F-A390-EFC51B5BE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57704" name="页脚占位符 14">
            <a:extLst>
              <a:ext uri="{FF2B5EF4-FFF2-40B4-BE49-F238E27FC236}">
                <a16:creationId xmlns:a16="http://schemas.microsoft.com/office/drawing/2014/main" id="{D9EABEEA-7DF7-458D-8370-6EA40FED455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57705" name="灯片编号占位符 13">
            <a:extLst>
              <a:ext uri="{FF2B5EF4-FFF2-40B4-BE49-F238E27FC236}">
                <a16:creationId xmlns:a16="http://schemas.microsoft.com/office/drawing/2014/main" id="{2E19E817-F74F-4D03-A91B-3BFB19759DCA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C95FE6E-B5D4-4D1F-8405-D01D668F5E16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7706" name="日期占位符 12">
            <a:extLst>
              <a:ext uri="{FF2B5EF4-FFF2-40B4-BE49-F238E27FC236}">
                <a16:creationId xmlns:a16="http://schemas.microsoft.com/office/drawing/2014/main" id="{45344F96-2FEE-4D45-B56C-3CC5C37DA40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C405EE-5CBB-40B9-B7E7-F976500BFEBA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Line 1027">
            <a:extLst>
              <a:ext uri="{FF2B5EF4-FFF2-40B4-BE49-F238E27FC236}">
                <a16:creationId xmlns:a16="http://schemas.microsoft.com/office/drawing/2014/main" id="{9DBC57F0-B89D-445F-8302-42FD0622B7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47" name="Line 1031">
            <a:extLst>
              <a:ext uri="{FF2B5EF4-FFF2-40B4-BE49-F238E27FC236}">
                <a16:creationId xmlns:a16="http://schemas.microsoft.com/office/drawing/2014/main" id="{0648FDA2-4610-4A49-855A-3E1F184211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9748" name="AutoShape 1032">
            <a:extLst>
              <a:ext uri="{FF2B5EF4-FFF2-40B4-BE49-F238E27FC236}">
                <a16:creationId xmlns:a16="http://schemas.microsoft.com/office/drawing/2014/main" id="{87CEBB98-2072-4D57-A394-42DBD8C8E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59749" name="AutoShape 1033">
            <a:extLst>
              <a:ext uri="{FF2B5EF4-FFF2-40B4-BE49-F238E27FC236}">
                <a16:creationId xmlns:a16="http://schemas.microsoft.com/office/drawing/2014/main" id="{D01043E2-2CD5-4A41-BE55-87F5624B1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5376C00-BFEF-443D-9300-AEA5AE2102BD}"/>
              </a:ext>
            </a:extLst>
          </p:cNvPr>
          <p:cNvSpPr txBox="1">
            <a:spLocks noChangeArrowheads="1"/>
          </p:cNvSpPr>
          <p:nvPr/>
        </p:nvSpPr>
        <p:spPr>
          <a:xfrm>
            <a:off x="266700" y="523875"/>
            <a:ext cx="8496300" cy="556895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CRLF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LEA	BX, BUFFER		;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缓冲区首地址送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BX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	CL, BUFFER+1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MOV	CH, 0	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;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输入字符个数送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CX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（循环次数）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ADD	BX, CX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INC	BX		;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计算字符串末地址送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BX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（指针）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DISP:	MOV  	DL, [BX]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MOV	AH, 02H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INT	21H		;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逆序输出一个字符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DEC	BX		;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修改指针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b="1" dirty="0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LOOP	DISP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	;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计数循环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CRLF			;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输出换行、回车，结束本行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MOV	AX, 4C00H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INT	21H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CODE	ENDS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	END	START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endParaRPr lang="zh-CN" altLang="en-US" b="1" dirty="0">
              <a:ea typeface="仿宋_GB2312" pitchFamily="49" charset="-122"/>
            </a:endParaRPr>
          </a:p>
        </p:txBody>
      </p:sp>
      <p:sp>
        <p:nvSpPr>
          <p:cNvPr id="159751" name="Text Box 1029">
            <a:extLst>
              <a:ext uri="{FF2B5EF4-FFF2-40B4-BE49-F238E27FC236}">
                <a16:creationId xmlns:a16="http://schemas.microsoft.com/office/drawing/2014/main" id="{22D4F163-D6AA-4507-9FA4-7E1FF10AE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59752" name="页脚占位符 14">
            <a:extLst>
              <a:ext uri="{FF2B5EF4-FFF2-40B4-BE49-F238E27FC236}">
                <a16:creationId xmlns:a16="http://schemas.microsoft.com/office/drawing/2014/main" id="{685E5BF2-B155-4C56-80CA-9D21E04631A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59753" name="灯片编号占位符 13">
            <a:extLst>
              <a:ext uri="{FF2B5EF4-FFF2-40B4-BE49-F238E27FC236}">
                <a16:creationId xmlns:a16="http://schemas.microsoft.com/office/drawing/2014/main" id="{7290FE17-C73B-4161-9F40-072327B4C052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6DD5E94-6EA2-4E28-9CDC-5976FD4598A9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9754" name="日期占位符 12">
            <a:extLst>
              <a:ext uri="{FF2B5EF4-FFF2-40B4-BE49-F238E27FC236}">
                <a16:creationId xmlns:a16="http://schemas.microsoft.com/office/drawing/2014/main" id="{3F3863D9-10DD-4130-AD75-0FF54CC01484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CFAEEEE-413C-4837-9BA1-3B2B73B7194E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Line 3">
            <a:extLst>
              <a:ext uri="{FF2B5EF4-FFF2-40B4-BE49-F238E27FC236}">
                <a16:creationId xmlns:a16="http://schemas.microsoft.com/office/drawing/2014/main" id="{915ABFA2-F654-4750-9E8A-78E62BB26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616585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795" name="Line 6">
            <a:extLst>
              <a:ext uri="{FF2B5EF4-FFF2-40B4-BE49-F238E27FC236}">
                <a16:creationId xmlns:a16="http://schemas.microsoft.com/office/drawing/2014/main" id="{99B5AFD9-A899-49DB-97E9-020A2DC8E6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1796" name="AutoShape 7">
            <a:extLst>
              <a:ext uri="{FF2B5EF4-FFF2-40B4-BE49-F238E27FC236}">
                <a16:creationId xmlns:a16="http://schemas.microsoft.com/office/drawing/2014/main" id="{CBD9E6B4-6537-4D8C-82B9-B0D7CC722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1797" name="Text Box 9">
            <a:extLst>
              <a:ext uri="{FF2B5EF4-FFF2-40B4-BE49-F238E27FC236}">
                <a16:creationId xmlns:a16="http://schemas.microsoft.com/office/drawing/2014/main" id="{FEC7F723-5AC0-4139-ACDA-B3E85236A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068638"/>
            <a:ext cx="8382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			</a:t>
            </a:r>
          </a:p>
        </p:txBody>
      </p:sp>
      <p:sp>
        <p:nvSpPr>
          <p:cNvPr id="57350" name="Text Box 10">
            <a:extLst>
              <a:ext uri="{FF2B5EF4-FFF2-40B4-BE49-F238E27FC236}">
                <a16:creationId xmlns:a16="http://schemas.microsoft.com/office/drawing/2014/main" id="{061BB87F-E224-48E5-A4F9-2487563BC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371600"/>
            <a:ext cx="7467600" cy="25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latin typeface="宋体" pitchFamily="2" charset="-122"/>
              </a:rPr>
              <a:t>[</a:t>
            </a:r>
            <a:r>
              <a:rPr lang="zh-CN" altLang="en-US" sz="3200" b="1" dirty="0">
                <a:latin typeface="宋体" pitchFamily="2" charset="-122"/>
              </a:rPr>
              <a:t>例</a:t>
            </a:r>
            <a:r>
              <a:rPr lang="en-US" altLang="zh-CN" sz="3200" b="1" dirty="0">
                <a:latin typeface="宋体" pitchFamily="2" charset="-122"/>
              </a:rPr>
              <a:t>20]</a:t>
            </a:r>
            <a:endParaRPr lang="en-US" altLang="zh-CN" b="1" dirty="0">
              <a:solidFill>
                <a:schemeClr val="bg1">
                  <a:lumMod val="85000"/>
                </a:schemeClr>
              </a:solidFill>
              <a:latin typeface="宋体" pitchFamily="2" charset="-122"/>
            </a:endParaRPr>
          </a:p>
          <a:p>
            <a:pPr eaLnBrk="1" hangingPunct="1">
              <a:defRPr/>
            </a:pPr>
            <a:endParaRPr lang="en-US" altLang="zh-CN" b="1" dirty="0">
              <a:latin typeface="宋体" pitchFamily="2" charset="-122"/>
            </a:endParaRPr>
          </a:p>
          <a:p>
            <a:pPr eaLnBrk="1" hangingPunct="1">
              <a:defRPr/>
            </a:pPr>
            <a:r>
              <a:rPr lang="en-US" altLang="zh-CN" sz="3600" b="1" dirty="0">
                <a:latin typeface="宋体" pitchFamily="2" charset="-122"/>
              </a:rPr>
              <a:t>	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把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BX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寄存器中的二进制数以十六进制的形式在屏幕上显示出来。</a:t>
            </a:r>
            <a:r>
              <a:rPr lang="en-US" altLang="zh-CN" sz="3600" dirty="0">
                <a:solidFill>
                  <a:srgbClr val="DDDDDD"/>
                </a:solidFill>
                <a:latin typeface="宋体" pitchFamily="2" charset="-122"/>
                <a:hlinkClick r:id="rId3" action="ppaction://hlinkfile"/>
              </a:rPr>
              <a:t>EP511.asm</a:t>
            </a:r>
            <a:endParaRPr lang="en-US" altLang="zh-CN" sz="3600" b="1" dirty="0">
              <a:latin typeface="宋体" pitchFamily="2" charset="-122"/>
            </a:endParaRPr>
          </a:p>
        </p:txBody>
      </p:sp>
      <p:sp>
        <p:nvSpPr>
          <p:cNvPr id="161799" name="Text Box 11">
            <a:extLst>
              <a:ext uri="{FF2B5EF4-FFF2-40B4-BE49-F238E27FC236}">
                <a16:creationId xmlns:a16="http://schemas.microsoft.com/office/drawing/2014/main" id="{DB297670-9C8C-41F3-8EDC-EC093E1CF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648200"/>
            <a:ext cx="4837113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  <a:ea typeface="隶书" panose="02010509060101010101" pitchFamily="49" charset="-122"/>
              </a:rPr>
              <a:t>上述例子都是</a:t>
            </a:r>
            <a:r>
              <a:rPr lang="zh-CN" altLang="en-US" sz="3600">
                <a:solidFill>
                  <a:schemeClr val="accent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倒计数法</a:t>
            </a:r>
            <a:r>
              <a:rPr lang="zh-CN" altLang="en-US" sz="3200">
                <a:latin typeface="Times New Roman" panose="02020603050405020304" pitchFamily="18" charset="0"/>
                <a:ea typeface="隶书" panose="02010509060101010101" pitchFamily="49" charset="-122"/>
              </a:rPr>
              <a:t>，正计数法一般不用。</a:t>
            </a:r>
            <a:endParaRPr lang="zh-CN" altLang="en-US" sz="32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61800" name="Text Box 1029">
            <a:extLst>
              <a:ext uri="{FF2B5EF4-FFF2-40B4-BE49-F238E27FC236}">
                <a16:creationId xmlns:a16="http://schemas.microsoft.com/office/drawing/2014/main" id="{7E1AE01A-D73F-4555-9FD1-8FF0CAA50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61801" name="页脚占位符 14">
            <a:extLst>
              <a:ext uri="{FF2B5EF4-FFF2-40B4-BE49-F238E27FC236}">
                <a16:creationId xmlns:a16="http://schemas.microsoft.com/office/drawing/2014/main" id="{B34C1D71-C75D-4A15-A011-F511080BAB8F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61802" name="灯片编号占位符 13">
            <a:extLst>
              <a:ext uri="{FF2B5EF4-FFF2-40B4-BE49-F238E27FC236}">
                <a16:creationId xmlns:a16="http://schemas.microsoft.com/office/drawing/2014/main" id="{D981B9C0-1A04-497E-BDBD-42343F056AA7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80DE98D-6630-41EF-8E35-A9CDADFD63A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1803" name="日期占位符 12">
            <a:extLst>
              <a:ext uri="{FF2B5EF4-FFF2-40B4-BE49-F238E27FC236}">
                <a16:creationId xmlns:a16="http://schemas.microsoft.com/office/drawing/2014/main" id="{6A34A5B6-EB97-4AB4-A682-55789E4F8E35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F28883-0304-4E57-9D7D-CECA3AC40514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Line 1027">
            <a:extLst>
              <a:ext uri="{FF2B5EF4-FFF2-40B4-BE49-F238E27FC236}">
                <a16:creationId xmlns:a16="http://schemas.microsoft.com/office/drawing/2014/main" id="{F4FB954E-222B-4410-BC6C-0C2F5A53C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43" name="Line 1031">
            <a:extLst>
              <a:ext uri="{FF2B5EF4-FFF2-40B4-BE49-F238E27FC236}">
                <a16:creationId xmlns:a16="http://schemas.microsoft.com/office/drawing/2014/main" id="{C9BBDBBD-D57C-45E2-A954-DE64C4F666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844" name="AutoShape 1032">
            <a:extLst>
              <a:ext uri="{FF2B5EF4-FFF2-40B4-BE49-F238E27FC236}">
                <a16:creationId xmlns:a16="http://schemas.microsoft.com/office/drawing/2014/main" id="{C7E3652B-D2D2-4111-8F65-15F70812D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3845" name="AutoShape 1033">
            <a:extLst>
              <a:ext uri="{FF2B5EF4-FFF2-40B4-BE49-F238E27FC236}">
                <a16:creationId xmlns:a16="http://schemas.microsoft.com/office/drawing/2014/main" id="{7AE98870-61D5-4601-AB0E-E675A3B37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E52DF04-E88F-4F45-B9F1-08D7CF8F5075}"/>
              </a:ext>
            </a:extLst>
          </p:cNvPr>
          <p:cNvSpPr txBox="1">
            <a:spLocks noChangeArrowheads="1"/>
          </p:cNvSpPr>
          <p:nvPr/>
        </p:nvSpPr>
        <p:spPr>
          <a:xfrm>
            <a:off x="1116013" y="1916113"/>
            <a:ext cx="6769100" cy="14398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3200" b="1" dirty="0">
                <a:ea typeface="仿宋_GB2312" pitchFamily="49" charset="-122"/>
              </a:rPr>
              <a:t>        在循环次数未知的情况下，一般采用条件控制法编写循环程序。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19A55-9FC0-4614-8D6F-E619AD93E1E9}"/>
              </a:ext>
            </a:extLst>
          </p:cNvPr>
          <p:cNvSpPr txBox="1"/>
          <p:nvPr/>
        </p:nvSpPr>
        <p:spPr>
          <a:xfrm>
            <a:off x="827088" y="981075"/>
            <a:ext cx="360045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sz="36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三、条件循环</a:t>
            </a:r>
            <a:r>
              <a:rPr lang="zh-CN" altLang="en-US" sz="3600" b="1" dirty="0">
                <a:solidFill>
                  <a:srgbClr val="FF0000"/>
                </a:solidFill>
                <a:latin typeface="+mj-ea"/>
                <a:ea typeface="+mj-ea"/>
              </a:rPr>
              <a:t>：</a:t>
            </a:r>
            <a:endParaRPr lang="zh-CN" altLang="en-US" sz="3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63848" name="Text Box 1029">
            <a:extLst>
              <a:ext uri="{FF2B5EF4-FFF2-40B4-BE49-F238E27FC236}">
                <a16:creationId xmlns:a16="http://schemas.microsoft.com/office/drawing/2014/main" id="{7856D899-C8EF-4BA0-906F-F0640FD4C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2D695214-CF0B-4C4A-974E-CE797286B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005263"/>
            <a:ext cx="7489825" cy="1570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latin typeface="宋体" pitchFamily="2" charset="-122"/>
              </a:rPr>
              <a:t>[</a:t>
            </a:r>
            <a:r>
              <a:rPr lang="zh-CN" altLang="en-US" sz="3200" b="1" dirty="0">
                <a:latin typeface="宋体" pitchFamily="2" charset="-122"/>
              </a:rPr>
              <a:t>例</a:t>
            </a:r>
            <a:r>
              <a:rPr lang="en-US" altLang="zh-CN" sz="3200" b="1" dirty="0">
                <a:latin typeface="宋体" pitchFamily="2" charset="-122"/>
              </a:rPr>
              <a:t>21]</a:t>
            </a:r>
            <a:r>
              <a:rPr lang="zh-CN" altLang="en-US" sz="3200" b="1" dirty="0">
                <a:latin typeface="宋体" pitchFamily="2" charset="-122"/>
              </a:rPr>
              <a:t>计算</a:t>
            </a:r>
            <a:r>
              <a:rPr lang="en-US" altLang="zh-CN" sz="3200" b="1" dirty="0">
                <a:latin typeface="宋体" pitchFamily="2" charset="-122"/>
              </a:rPr>
              <a:t>S=1 + 2×3 + 3×4 + 4×5 + </a:t>
            </a:r>
            <a:r>
              <a:rPr lang="en-US" altLang="zh-CN" sz="3200" b="1" dirty="0"/>
              <a:t>……</a:t>
            </a:r>
            <a:r>
              <a:rPr lang="en-US" altLang="zh-CN" sz="3200" b="1" dirty="0">
                <a:latin typeface="宋体" pitchFamily="2" charset="-122"/>
              </a:rPr>
              <a:t> +N(N+1) + </a:t>
            </a:r>
            <a:r>
              <a:rPr lang="en-US" altLang="zh-CN" sz="3200" b="1" dirty="0"/>
              <a:t>……</a:t>
            </a:r>
            <a:r>
              <a:rPr lang="zh-CN" altLang="en-US" sz="3200" b="1" dirty="0">
                <a:latin typeface="宋体" pitchFamily="2" charset="-122"/>
              </a:rPr>
              <a:t>，</a:t>
            </a:r>
            <a:endParaRPr lang="en-US" altLang="zh-CN" sz="3200" b="1" dirty="0">
              <a:latin typeface="宋体" pitchFamily="2" charset="-122"/>
            </a:endParaRPr>
          </a:p>
          <a:p>
            <a:pPr eaLnBrk="1" hangingPunct="1">
              <a:defRPr/>
            </a:pPr>
            <a:r>
              <a:rPr lang="zh-CN" altLang="en-US" sz="3200" b="1" dirty="0">
                <a:latin typeface="宋体" pitchFamily="2" charset="-122"/>
              </a:rPr>
              <a:t>直到</a:t>
            </a:r>
            <a:r>
              <a:rPr lang="en-US" altLang="zh-CN" sz="3200" b="1" dirty="0">
                <a:latin typeface="宋体" pitchFamily="2" charset="-122"/>
              </a:rPr>
              <a:t>N(N+1)</a:t>
            </a:r>
            <a:r>
              <a:rPr lang="zh-CN" altLang="en-US" sz="3200" b="1" dirty="0">
                <a:latin typeface="宋体" pitchFamily="2" charset="-122"/>
              </a:rPr>
              <a:t>项大于</a:t>
            </a:r>
            <a:r>
              <a:rPr lang="en-US" altLang="zh-CN" sz="3200" b="1" dirty="0">
                <a:latin typeface="宋体" pitchFamily="2" charset="-122"/>
              </a:rPr>
              <a:t>200</a:t>
            </a:r>
            <a:r>
              <a:rPr lang="zh-CN" altLang="en-US" sz="3200" b="1" dirty="0">
                <a:latin typeface="宋体" pitchFamily="2" charset="-122"/>
              </a:rPr>
              <a:t>为止。</a:t>
            </a:r>
            <a:endParaRPr lang="zh-CN" altLang="en-US" dirty="0"/>
          </a:p>
        </p:txBody>
      </p:sp>
      <p:sp>
        <p:nvSpPr>
          <p:cNvPr id="163850" name="页脚占位符 14">
            <a:extLst>
              <a:ext uri="{FF2B5EF4-FFF2-40B4-BE49-F238E27FC236}">
                <a16:creationId xmlns:a16="http://schemas.microsoft.com/office/drawing/2014/main" id="{BFC63CF5-F52C-4A20-9026-098E63DE44EA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63851" name="灯片编号占位符 13">
            <a:extLst>
              <a:ext uri="{FF2B5EF4-FFF2-40B4-BE49-F238E27FC236}">
                <a16:creationId xmlns:a16="http://schemas.microsoft.com/office/drawing/2014/main" id="{4BF89E4E-A005-4483-A32D-8B72D2F4B3E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5F918C6-8533-41D6-AA4C-F98B8073703E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3852" name="日期占位符 12">
            <a:extLst>
              <a:ext uri="{FF2B5EF4-FFF2-40B4-BE49-F238E27FC236}">
                <a16:creationId xmlns:a16="http://schemas.microsoft.com/office/drawing/2014/main" id="{126FB049-C786-4A9C-9BC3-32AB36BBD97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4638421-C4E5-4517-A5AE-A4162326416A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Line 3">
            <a:extLst>
              <a:ext uri="{FF2B5EF4-FFF2-40B4-BE49-F238E27FC236}">
                <a16:creationId xmlns:a16="http://schemas.microsoft.com/office/drawing/2014/main" id="{D43303FD-63D9-4E66-A794-2BD18ED24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37" name="Text Box 5">
            <a:extLst>
              <a:ext uri="{FF2B5EF4-FFF2-40B4-BE49-F238E27FC236}">
                <a16:creationId xmlns:a16="http://schemas.microsoft.com/office/drawing/2014/main" id="{1CC33157-0DD3-4106-996F-4139E9D96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1430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165892" name="Line 6">
            <a:extLst>
              <a:ext uri="{FF2B5EF4-FFF2-40B4-BE49-F238E27FC236}">
                <a16:creationId xmlns:a16="http://schemas.microsoft.com/office/drawing/2014/main" id="{E7DD3F35-8D05-4913-BAC5-5620870EDA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5893" name="AutoShape 7">
            <a:extLst>
              <a:ext uri="{FF2B5EF4-FFF2-40B4-BE49-F238E27FC236}">
                <a16:creationId xmlns:a16="http://schemas.microsoft.com/office/drawing/2014/main" id="{8995D5C2-4C6D-4E36-ADA8-3C093F5F1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5894" name="Text Box 9">
            <a:extLst>
              <a:ext uri="{FF2B5EF4-FFF2-40B4-BE49-F238E27FC236}">
                <a16:creationId xmlns:a16="http://schemas.microsoft.com/office/drawing/2014/main" id="{38E3F437-5645-4EEB-93E1-AE4D1F612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295400"/>
            <a:ext cx="7239000" cy="484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			: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START:	</a:t>
            </a:r>
            <a:r>
              <a:rPr lang="en-US" altLang="zh-CN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MOV	DX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		;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	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en-US" altLang="zh-CN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MOV	BL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		;N</a:t>
            </a:r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NEXT: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		MOV	AL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BL	;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	INC	BL		;N+1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	MUL	BL		;N(N+1)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项	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ADD	DX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AX	;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部分和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28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CMP	AX</a:t>
            </a:r>
            <a:r>
              <a:rPr lang="zh-CN" altLang="en-US" sz="28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200	; </a:t>
            </a:r>
            <a:r>
              <a:rPr lang="zh-CN" altLang="en-US" sz="28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循环控制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2800" b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JNA	NEXT	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	;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MOV	S</a:t>
            </a:r>
            <a:r>
              <a:rPr lang="zh-CN" altLang="en-US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</a:p>
          <a:p>
            <a:pPr lvl="2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		: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</a:p>
        </p:txBody>
      </p:sp>
      <p:sp>
        <p:nvSpPr>
          <p:cNvPr id="165895" name="Text Box 1029">
            <a:extLst>
              <a:ext uri="{FF2B5EF4-FFF2-40B4-BE49-F238E27FC236}">
                <a16:creationId xmlns:a16="http://schemas.microsoft.com/office/drawing/2014/main" id="{2E8F55D2-C521-4625-86B8-5F7D75F00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65896" name="页脚占位符 14">
            <a:extLst>
              <a:ext uri="{FF2B5EF4-FFF2-40B4-BE49-F238E27FC236}">
                <a16:creationId xmlns:a16="http://schemas.microsoft.com/office/drawing/2014/main" id="{01AAF632-85F9-40B8-A801-5DE3C7D3C130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65897" name="灯片编号占位符 13">
            <a:extLst>
              <a:ext uri="{FF2B5EF4-FFF2-40B4-BE49-F238E27FC236}">
                <a16:creationId xmlns:a16="http://schemas.microsoft.com/office/drawing/2014/main" id="{D5815F07-C5AD-4881-8104-F2C0F512E1CD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247B76B-6277-44E6-A22E-275EEBE6128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5898" name="日期占位符 12">
            <a:extLst>
              <a:ext uri="{FF2B5EF4-FFF2-40B4-BE49-F238E27FC236}">
                <a16:creationId xmlns:a16="http://schemas.microsoft.com/office/drawing/2014/main" id="{EB01A33D-5934-4C5D-81D9-66617B3D0525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67439C4-3B00-4710-B3D2-8551469C9B67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7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Line 1027">
            <a:extLst>
              <a:ext uri="{FF2B5EF4-FFF2-40B4-BE49-F238E27FC236}">
                <a16:creationId xmlns:a16="http://schemas.microsoft.com/office/drawing/2014/main" id="{5B542C5C-D4DE-4B5C-9176-E94253BA0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39" name="Line 1031">
            <a:extLst>
              <a:ext uri="{FF2B5EF4-FFF2-40B4-BE49-F238E27FC236}">
                <a16:creationId xmlns:a16="http://schemas.microsoft.com/office/drawing/2014/main" id="{C679E181-AF68-4B46-A574-45165B436D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7940" name="AutoShape 1032">
            <a:extLst>
              <a:ext uri="{FF2B5EF4-FFF2-40B4-BE49-F238E27FC236}">
                <a16:creationId xmlns:a16="http://schemas.microsoft.com/office/drawing/2014/main" id="{32DC64F6-E0B8-4B0B-B8A5-A440861F7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7941" name="AutoShape 1033">
            <a:extLst>
              <a:ext uri="{FF2B5EF4-FFF2-40B4-BE49-F238E27FC236}">
                <a16:creationId xmlns:a16="http://schemas.microsoft.com/office/drawing/2014/main" id="{0EB6894C-6573-4A70-BDCA-157300DB0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11B2665-79F6-4ADB-A769-12D7BF984DDA}"/>
              </a:ext>
            </a:extLst>
          </p:cNvPr>
          <p:cNvSpPr txBox="1">
            <a:spLocks noChangeArrowheads="1"/>
          </p:cNvSpPr>
          <p:nvPr/>
        </p:nvSpPr>
        <p:spPr>
          <a:xfrm>
            <a:off x="293688" y="2019300"/>
            <a:ext cx="8640762" cy="396081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DATA		SEGMENT</a:t>
            </a:r>
          </a:p>
          <a:p>
            <a:pPr eaLnBrk="1" hangingPunct="1"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STRING	DB  ‘A string for testing .’,0</a:t>
            </a:r>
          </a:p>
          <a:p>
            <a:pPr eaLnBrk="1" hangingPunct="1"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LENTH	DW  ?</a:t>
            </a:r>
          </a:p>
          <a:p>
            <a:pPr eaLnBrk="1" hangingPunct="1"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DATA		ENDS</a:t>
            </a:r>
          </a:p>
          <a:p>
            <a:pPr eaLnBrk="1" hangingPunct="1"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CODE		SEGMENT</a:t>
            </a:r>
          </a:p>
          <a:p>
            <a:pPr eaLnBrk="1" hangingPunct="1"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	ASSUME	CS: CODE, DS: DATA</a:t>
            </a:r>
          </a:p>
          <a:p>
            <a:pPr eaLnBrk="1" hangingPunct="1"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START:	MOV  AX, DATA</a:t>
            </a:r>
          </a:p>
          <a:p>
            <a:pPr eaLnBrk="1" hangingPunct="1"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   	MOV  DS, AX</a:t>
            </a:r>
            <a:endParaRPr lang="zh-CN" altLang="en-US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6570" name="矩形 12">
            <a:extLst>
              <a:ext uri="{FF2B5EF4-FFF2-40B4-BE49-F238E27FC236}">
                <a16:creationId xmlns:a16="http://schemas.microsoft.com/office/drawing/2014/main" id="{10B4C8EF-0048-418C-ADC7-88F1C33D3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836613"/>
            <a:ext cx="7993063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[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22]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字符串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STRING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以代码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结束，求这个字符串的长度（字符个数）。</a:t>
            </a:r>
            <a:r>
              <a:rPr lang="en-US" altLang="zh-CN" sz="3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itchFamily="49" charset="-122"/>
                <a:ea typeface="楷体" pitchFamily="49" charset="-122"/>
                <a:hlinkClick r:id="rId3" action="ppaction://hlinkfile"/>
              </a:rPr>
              <a:t>EP512.ASM</a:t>
            </a:r>
            <a:endParaRPr lang="zh-CN" altLang="en-US" sz="3200" b="1" dirty="0">
              <a:solidFill>
                <a:schemeClr val="accent2">
                  <a:lumMod val="20000"/>
                  <a:lumOff val="8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67944" name="Text Box 1029">
            <a:extLst>
              <a:ext uri="{FF2B5EF4-FFF2-40B4-BE49-F238E27FC236}">
                <a16:creationId xmlns:a16="http://schemas.microsoft.com/office/drawing/2014/main" id="{77F75C17-359F-4FD9-AE47-75DE7D29A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67945" name="页脚占位符 14">
            <a:extLst>
              <a:ext uri="{FF2B5EF4-FFF2-40B4-BE49-F238E27FC236}">
                <a16:creationId xmlns:a16="http://schemas.microsoft.com/office/drawing/2014/main" id="{8A916704-60CC-4577-A43B-33F860A4338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67946" name="灯片编号占位符 13">
            <a:extLst>
              <a:ext uri="{FF2B5EF4-FFF2-40B4-BE49-F238E27FC236}">
                <a16:creationId xmlns:a16="http://schemas.microsoft.com/office/drawing/2014/main" id="{FFACB29F-F7B3-46AD-AE7A-DF92A992E816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2B3BA4A-0A6A-441E-B48F-87C5AACC6B0C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7947" name="日期占位符 12">
            <a:extLst>
              <a:ext uri="{FF2B5EF4-FFF2-40B4-BE49-F238E27FC236}">
                <a16:creationId xmlns:a16="http://schemas.microsoft.com/office/drawing/2014/main" id="{8CC88C42-615F-4C25-A205-593A3A22FEF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09FBCDC-328E-46C8-BF69-A12DE99D0D8C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Line 1027">
            <a:extLst>
              <a:ext uri="{FF2B5EF4-FFF2-40B4-BE49-F238E27FC236}">
                <a16:creationId xmlns:a16="http://schemas.microsoft.com/office/drawing/2014/main" id="{9641DC20-89B8-4EE1-A751-EB6DFDE3D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87" name="Line 1031">
            <a:extLst>
              <a:ext uri="{FF2B5EF4-FFF2-40B4-BE49-F238E27FC236}">
                <a16:creationId xmlns:a16="http://schemas.microsoft.com/office/drawing/2014/main" id="{3EC7D54A-782A-4004-83B8-5A286E12E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9988" name="AutoShape 1032">
            <a:extLst>
              <a:ext uri="{FF2B5EF4-FFF2-40B4-BE49-F238E27FC236}">
                <a16:creationId xmlns:a16="http://schemas.microsoft.com/office/drawing/2014/main" id="{AC12B707-7F29-4E2C-BE1D-2F1A25E6F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9989" name="AutoShape 1033">
            <a:extLst>
              <a:ext uri="{FF2B5EF4-FFF2-40B4-BE49-F238E27FC236}">
                <a16:creationId xmlns:a16="http://schemas.microsoft.com/office/drawing/2014/main" id="{562880DA-555C-4F98-9639-6C5F3195B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E79F49B-4C29-415E-BF05-D9068F7B4C90}"/>
              </a:ext>
            </a:extLst>
          </p:cNvPr>
          <p:cNvSpPr txBox="1">
            <a:spLocks noChangeArrowheads="1"/>
          </p:cNvSpPr>
          <p:nvPr/>
        </p:nvSpPr>
        <p:spPr>
          <a:xfrm>
            <a:off x="250825" y="908050"/>
            <a:ext cx="8642350" cy="51847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>
                <a:ea typeface="仿宋_GB2312" pitchFamily="49" charset="-122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LEA	SI, STRING		</a:t>
            </a:r>
            <a:r>
              <a:rPr lang="zh-CN" altLang="en-US" sz="2800" b="1" dirty="0">
                <a:latin typeface="+mn-ea"/>
                <a:ea typeface="+mn-ea"/>
              </a:rPr>
              <a:t>；装载字符串指针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MOV	CX, 0			</a:t>
            </a:r>
            <a:r>
              <a:rPr lang="zh-CN" altLang="en-US" sz="2800" b="1" dirty="0">
                <a:latin typeface="+mn-ea"/>
                <a:ea typeface="+mn-ea"/>
              </a:rPr>
              <a:t>；设置计数器初值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TST:	</a:t>
            </a:r>
            <a:r>
              <a:rPr lang="en-US" altLang="zh-CN" sz="2800" b="1" dirty="0">
                <a:solidFill>
                  <a:srgbClr val="3103DB"/>
                </a:solidFill>
                <a:latin typeface="+mn-ea"/>
                <a:ea typeface="+mn-ea"/>
              </a:rPr>
              <a:t>CMP	BYTE PTR [SI], 0</a:t>
            </a:r>
            <a:r>
              <a:rPr lang="en-US" altLang="zh-CN" sz="2800" b="1" dirty="0">
                <a:latin typeface="+mn-ea"/>
                <a:ea typeface="+mn-ea"/>
              </a:rPr>
              <a:t>	</a:t>
            </a:r>
            <a:r>
              <a:rPr lang="zh-CN" altLang="en-US" sz="2800" b="1" dirty="0">
                <a:latin typeface="+mn-ea"/>
                <a:ea typeface="+mn-ea"/>
              </a:rPr>
              <a:t>；比较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solidFill>
                  <a:srgbClr val="3103DB"/>
                </a:solidFill>
                <a:latin typeface="+mn-ea"/>
                <a:ea typeface="+mn-ea"/>
              </a:rPr>
              <a:t>JE	DONE</a:t>
            </a:r>
            <a:r>
              <a:rPr lang="en-US" altLang="zh-CN" sz="2800" b="1" dirty="0">
                <a:latin typeface="+mn-ea"/>
                <a:ea typeface="+mn-ea"/>
              </a:rPr>
              <a:t>		</a:t>
            </a:r>
            <a:r>
              <a:rPr lang="zh-CN" altLang="en-US" sz="2800" b="1" dirty="0">
                <a:latin typeface="+mn-ea"/>
                <a:ea typeface="+mn-ea"/>
              </a:rPr>
              <a:t>；串结束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  <a:r>
              <a:rPr lang="zh-CN" altLang="en-US" sz="2800" b="1" dirty="0">
                <a:latin typeface="+mn-ea"/>
                <a:ea typeface="+mn-ea"/>
              </a:rPr>
              <a:t>转向</a:t>
            </a:r>
            <a:r>
              <a:rPr lang="en-US" altLang="zh-CN" sz="2800" b="1" dirty="0">
                <a:latin typeface="+mn-ea"/>
                <a:ea typeface="+mn-ea"/>
              </a:rPr>
              <a:t>DONE</a:t>
            </a:r>
            <a:r>
              <a:rPr lang="zh-CN" altLang="en-US" sz="2800" b="1" dirty="0">
                <a:latin typeface="+mn-ea"/>
                <a:ea typeface="+mn-ea"/>
              </a:rPr>
              <a:t>保存结果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INC	SI		</a:t>
            </a:r>
            <a:r>
              <a:rPr lang="zh-CN" altLang="en-US" sz="2800" b="1" dirty="0">
                <a:latin typeface="+mn-ea"/>
                <a:ea typeface="+mn-ea"/>
              </a:rPr>
              <a:t>；修改指针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INC	CX 		</a:t>
            </a:r>
            <a:r>
              <a:rPr lang="zh-CN" altLang="en-US" sz="2800" b="1" dirty="0">
                <a:latin typeface="+mn-ea"/>
                <a:ea typeface="+mn-ea"/>
              </a:rPr>
              <a:t>；计数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solidFill>
                  <a:srgbClr val="3103DB"/>
                </a:solidFill>
                <a:latin typeface="+mn-ea"/>
                <a:ea typeface="+mn-ea"/>
              </a:rPr>
              <a:t>JMP	TST</a:t>
            </a:r>
            <a:r>
              <a:rPr lang="en-US" altLang="zh-CN" sz="2800" b="1" dirty="0">
                <a:latin typeface="+mn-ea"/>
                <a:ea typeface="+mn-ea"/>
              </a:rPr>
              <a:t>		</a:t>
            </a:r>
            <a:r>
              <a:rPr lang="zh-CN" altLang="en-US" sz="2800" b="1" dirty="0">
                <a:latin typeface="+mn-ea"/>
                <a:ea typeface="+mn-ea"/>
              </a:rPr>
              <a:t>；转向</a:t>
            </a:r>
            <a:r>
              <a:rPr lang="en-US" altLang="zh-CN" sz="2800" b="1" dirty="0">
                <a:latin typeface="+mn-ea"/>
                <a:ea typeface="+mn-ea"/>
              </a:rPr>
              <a:t>TST</a:t>
            </a:r>
            <a:r>
              <a:rPr lang="zh-CN" altLang="en-US" sz="2800" b="1" dirty="0">
                <a:latin typeface="+mn-ea"/>
                <a:ea typeface="+mn-ea"/>
              </a:rPr>
              <a:t>，继续循环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DONE:MOV  LENTH, CX	</a:t>
            </a:r>
            <a:r>
              <a:rPr lang="zh-CN" altLang="en-US" sz="2800" b="1" dirty="0">
                <a:latin typeface="+mn-ea"/>
                <a:ea typeface="+mn-ea"/>
              </a:rPr>
              <a:t>；保存结果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MOV	AX, 4C00H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INT	21H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CODE	ENDS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END	START</a:t>
            </a:r>
          </a:p>
        </p:txBody>
      </p:sp>
      <p:sp>
        <p:nvSpPr>
          <p:cNvPr id="169991" name="Text Box 1029">
            <a:extLst>
              <a:ext uri="{FF2B5EF4-FFF2-40B4-BE49-F238E27FC236}">
                <a16:creationId xmlns:a16="http://schemas.microsoft.com/office/drawing/2014/main" id="{D7F47688-1FBE-46D0-A7F2-6E0C2897E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69992" name="页脚占位符 14">
            <a:extLst>
              <a:ext uri="{FF2B5EF4-FFF2-40B4-BE49-F238E27FC236}">
                <a16:creationId xmlns:a16="http://schemas.microsoft.com/office/drawing/2014/main" id="{21EF1976-F1E8-4462-8114-3CB8CAE8FB1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69993" name="灯片编号占位符 13">
            <a:extLst>
              <a:ext uri="{FF2B5EF4-FFF2-40B4-BE49-F238E27FC236}">
                <a16:creationId xmlns:a16="http://schemas.microsoft.com/office/drawing/2014/main" id="{CC1DB907-D914-4A6B-B86A-91B3F2DDC53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4C3F50F1-F775-439E-9B85-3690026976A6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9994" name="日期占位符 12">
            <a:extLst>
              <a:ext uri="{FF2B5EF4-FFF2-40B4-BE49-F238E27FC236}">
                <a16:creationId xmlns:a16="http://schemas.microsoft.com/office/drawing/2014/main" id="{809B2D21-C752-453B-93A9-CECACD67AB2B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E72CDF-5BB2-4026-8963-3E5841147B9A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Line 1027">
            <a:extLst>
              <a:ext uri="{FF2B5EF4-FFF2-40B4-BE49-F238E27FC236}">
                <a16:creationId xmlns:a16="http://schemas.microsoft.com/office/drawing/2014/main" id="{6D86DA24-B25B-437E-B345-CE020E740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35" name="Line 1031">
            <a:extLst>
              <a:ext uri="{FF2B5EF4-FFF2-40B4-BE49-F238E27FC236}">
                <a16:creationId xmlns:a16="http://schemas.microsoft.com/office/drawing/2014/main" id="{6C250D25-ED10-4123-B88F-43F5F7834B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36" name="AutoShape 1032">
            <a:extLst>
              <a:ext uri="{FF2B5EF4-FFF2-40B4-BE49-F238E27FC236}">
                <a16:creationId xmlns:a16="http://schemas.microsoft.com/office/drawing/2014/main" id="{BA5ED6A6-E232-4E36-B5D3-91A54C792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2037" name="AutoShape 1033">
            <a:extLst>
              <a:ext uri="{FF2B5EF4-FFF2-40B4-BE49-F238E27FC236}">
                <a16:creationId xmlns:a16="http://schemas.microsoft.com/office/drawing/2014/main" id="{43C1D917-669A-402D-A89F-6980CE8CF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D03BCBC-68B8-4AAB-A494-D8CFE06B6B86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1844675"/>
            <a:ext cx="7993063" cy="41052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sz="3200" b="1" dirty="0">
                <a:ea typeface="仿宋_GB2312" pitchFamily="49" charset="-122"/>
              </a:rPr>
              <a:t>	</a:t>
            </a:r>
            <a:r>
              <a:rPr lang="en-US" altLang="zh-CN" sz="3200" b="1" dirty="0">
                <a:latin typeface="+mn-ea"/>
                <a:ea typeface="+mn-ea"/>
              </a:rPr>
              <a:t>……</a:t>
            </a:r>
          </a:p>
          <a:p>
            <a:pPr eaLnBrk="1" hangingPunct="1">
              <a:defRPr/>
            </a:pPr>
            <a:r>
              <a:rPr lang="en-US" altLang="zh-CN" sz="32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LEA	SI, STRING-1	</a:t>
            </a:r>
            <a:r>
              <a:rPr lang="zh-CN" altLang="en-US" sz="2800" b="1" dirty="0">
                <a:latin typeface="+mn-ea"/>
                <a:ea typeface="+mn-ea"/>
              </a:rPr>
              <a:t>；装载字符串指针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MOV	CX, -1		</a:t>
            </a:r>
            <a:r>
              <a:rPr lang="zh-CN" altLang="en-US" sz="2800" b="1" dirty="0">
                <a:latin typeface="+mn-ea"/>
                <a:ea typeface="+mn-ea"/>
              </a:rPr>
              <a:t>；装载计数器初值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TST:	INC	SI			</a:t>
            </a:r>
            <a:r>
              <a:rPr lang="zh-CN" altLang="en-US" sz="2800" b="1" dirty="0">
                <a:latin typeface="+mn-ea"/>
                <a:ea typeface="+mn-ea"/>
              </a:rPr>
              <a:t>；修改指针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INC	CX 			</a:t>
            </a:r>
            <a:r>
              <a:rPr lang="zh-CN" altLang="en-US" sz="2800" b="1" dirty="0">
                <a:latin typeface="+mn-ea"/>
                <a:ea typeface="+mn-ea"/>
              </a:rPr>
              <a:t>；计数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CMP	BYTE PTR [SI], 0	</a:t>
            </a:r>
            <a:r>
              <a:rPr lang="zh-CN" altLang="en-US" sz="2800" b="1" dirty="0">
                <a:latin typeface="+mn-ea"/>
                <a:ea typeface="+mn-ea"/>
              </a:rPr>
              <a:t>；比较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JNE	TST		</a:t>
            </a:r>
            <a:r>
              <a:rPr lang="zh-CN" altLang="en-US" sz="2800" b="1" dirty="0">
                <a:latin typeface="+mn-ea"/>
                <a:ea typeface="+mn-ea"/>
              </a:rPr>
              <a:t>；未结束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  <a:r>
              <a:rPr lang="zh-CN" altLang="en-US" sz="2800" b="1" dirty="0">
                <a:latin typeface="+mn-ea"/>
                <a:ea typeface="+mn-ea"/>
              </a:rPr>
              <a:t>转</a:t>
            </a:r>
            <a:r>
              <a:rPr lang="en-US" altLang="zh-CN" sz="2800" b="1" dirty="0">
                <a:latin typeface="+mn-ea"/>
                <a:ea typeface="+mn-ea"/>
              </a:rPr>
              <a:t>TST</a:t>
            </a:r>
            <a:r>
              <a:rPr lang="zh-CN" altLang="en-US" sz="2800" b="1" dirty="0">
                <a:latin typeface="+mn-ea"/>
                <a:ea typeface="+mn-ea"/>
              </a:rPr>
              <a:t>继续循环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MOV	LENTH, CX</a:t>
            </a:r>
            <a:r>
              <a:rPr lang="zh-CN" altLang="en-US" sz="2800" b="1" dirty="0">
                <a:latin typeface="+mn-ea"/>
                <a:ea typeface="+mn-ea"/>
              </a:rPr>
              <a:t>；字符串结束，保存结果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……</a:t>
            </a:r>
          </a:p>
        </p:txBody>
      </p:sp>
      <p:sp>
        <p:nvSpPr>
          <p:cNvPr id="172039" name="矩形 12">
            <a:extLst>
              <a:ext uri="{FF2B5EF4-FFF2-40B4-BE49-F238E27FC236}">
                <a16:creationId xmlns:a16="http://schemas.microsoft.com/office/drawing/2014/main" id="{E42EF34B-8F16-4A1B-957D-63FB3CFA2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981075"/>
            <a:ext cx="5905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比较一下，这种风格也很不错：</a:t>
            </a:r>
          </a:p>
        </p:txBody>
      </p:sp>
      <p:sp>
        <p:nvSpPr>
          <p:cNvPr id="172040" name="Text Box 1029">
            <a:extLst>
              <a:ext uri="{FF2B5EF4-FFF2-40B4-BE49-F238E27FC236}">
                <a16:creationId xmlns:a16="http://schemas.microsoft.com/office/drawing/2014/main" id="{FBE68444-EDB6-4FE3-86A1-F8DB8B41F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2041" name="页脚占位符 14">
            <a:extLst>
              <a:ext uri="{FF2B5EF4-FFF2-40B4-BE49-F238E27FC236}">
                <a16:creationId xmlns:a16="http://schemas.microsoft.com/office/drawing/2014/main" id="{192D414D-DD3A-4387-BB5F-B7D0FA020E75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72042" name="灯片编号占位符 13">
            <a:extLst>
              <a:ext uri="{FF2B5EF4-FFF2-40B4-BE49-F238E27FC236}">
                <a16:creationId xmlns:a16="http://schemas.microsoft.com/office/drawing/2014/main" id="{4D25261E-D180-46CE-A53D-0230B7255E46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BF79CD88-0C01-4AC7-9154-9A22A6A42B7E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2043" name="日期占位符 12">
            <a:extLst>
              <a:ext uri="{FF2B5EF4-FFF2-40B4-BE49-F238E27FC236}">
                <a16:creationId xmlns:a16="http://schemas.microsoft.com/office/drawing/2014/main" id="{CA6CD6D0-0110-41E7-9E41-8BC69C86B0FC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4BD829-55B9-4037-A183-C048DD36B724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Line 1027">
            <a:extLst>
              <a:ext uri="{FF2B5EF4-FFF2-40B4-BE49-F238E27FC236}">
                <a16:creationId xmlns:a16="http://schemas.microsoft.com/office/drawing/2014/main" id="{95D3ECEB-08B6-47D2-8862-5AC10362A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083" name="Line 1031">
            <a:extLst>
              <a:ext uri="{FF2B5EF4-FFF2-40B4-BE49-F238E27FC236}">
                <a16:creationId xmlns:a16="http://schemas.microsoft.com/office/drawing/2014/main" id="{EB9BBF13-F9D8-4E48-9BAD-AA7CCD8F80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084" name="AutoShape 1032">
            <a:extLst>
              <a:ext uri="{FF2B5EF4-FFF2-40B4-BE49-F238E27FC236}">
                <a16:creationId xmlns:a16="http://schemas.microsoft.com/office/drawing/2014/main" id="{5C575249-BC2B-4DC9-A366-BA40DBF5C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4085" name="AutoShape 1033">
            <a:extLst>
              <a:ext uri="{FF2B5EF4-FFF2-40B4-BE49-F238E27FC236}">
                <a16:creationId xmlns:a16="http://schemas.microsoft.com/office/drawing/2014/main" id="{E9C90FBB-D2A8-44E1-B30B-73F09CE71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58A0A4F-290E-49BC-8DEA-A38DF1F6F2D9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2276475"/>
            <a:ext cx="7993062" cy="374491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lnSpc>
                <a:spcPts val="3700"/>
              </a:lnSpc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DATA		SEGMENT</a:t>
            </a:r>
          </a:p>
          <a:p>
            <a:pPr eaLnBrk="1" hangingPunct="1">
              <a:lnSpc>
                <a:spcPts val="3700"/>
              </a:lnSpc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ARRAY	DW  	1, 2, 3, 4, 5, 6, -1</a:t>
            </a:r>
          </a:p>
          <a:p>
            <a:pPr eaLnBrk="1" hangingPunct="1">
              <a:lnSpc>
                <a:spcPts val="3700"/>
              </a:lnSpc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AVRG		DW  	?	</a:t>
            </a:r>
          </a:p>
          <a:p>
            <a:pPr eaLnBrk="1" hangingPunct="1">
              <a:lnSpc>
                <a:spcPts val="3700"/>
              </a:lnSpc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DATA		ENDS</a:t>
            </a:r>
          </a:p>
          <a:p>
            <a:pPr eaLnBrk="1" hangingPunct="1">
              <a:lnSpc>
                <a:spcPts val="3700"/>
              </a:lnSpc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CODE		SEGMENT</a:t>
            </a:r>
          </a:p>
          <a:p>
            <a:pPr eaLnBrk="1" hangingPunct="1">
              <a:lnSpc>
                <a:spcPts val="3700"/>
              </a:lnSpc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	ASSUME	CS: CODE, DS: DATA</a:t>
            </a:r>
          </a:p>
          <a:p>
            <a:pPr eaLnBrk="1" hangingPunct="1">
              <a:lnSpc>
                <a:spcPts val="3700"/>
              </a:lnSpc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START:	MOV  AX, DATA</a:t>
            </a:r>
          </a:p>
          <a:p>
            <a:pPr eaLnBrk="1" hangingPunct="1">
              <a:lnSpc>
                <a:spcPts val="3700"/>
              </a:lnSpc>
              <a:defRPr/>
            </a:pP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		MOV  DS, AX</a:t>
            </a:r>
          </a:p>
        </p:txBody>
      </p:sp>
      <p:sp>
        <p:nvSpPr>
          <p:cNvPr id="69642" name="矩形 12">
            <a:extLst>
              <a:ext uri="{FF2B5EF4-FFF2-40B4-BE49-F238E27FC236}">
                <a16:creationId xmlns:a16="http://schemas.microsoft.com/office/drawing/2014/main" id="{70999580-32D0-4F1C-91CB-42CD7D5B9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692150"/>
            <a:ext cx="78486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[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23]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一维无符号字数组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ARRAY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以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-1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作为数组结束标志，求这个数组各元素的平均值。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					</a:t>
            </a:r>
            <a:r>
              <a:rPr lang="en-US" altLang="zh-CN" sz="28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itchFamily="49" charset="-122"/>
                <a:ea typeface="楷体" pitchFamily="49" charset="-122"/>
                <a:hlinkClick r:id="rId3" action="ppaction://hlinkfile"/>
              </a:rPr>
              <a:t>EP513.ASM</a:t>
            </a:r>
            <a:endParaRPr lang="zh-CN" altLang="en-US" sz="3200" b="1" dirty="0">
              <a:solidFill>
                <a:schemeClr val="accent2">
                  <a:lumMod val="20000"/>
                  <a:lumOff val="8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74088" name="Text Box 1029">
            <a:extLst>
              <a:ext uri="{FF2B5EF4-FFF2-40B4-BE49-F238E27FC236}">
                <a16:creationId xmlns:a16="http://schemas.microsoft.com/office/drawing/2014/main" id="{22B6027A-921A-44FE-AD4D-FFB6000EF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4089" name="页脚占位符 14">
            <a:extLst>
              <a:ext uri="{FF2B5EF4-FFF2-40B4-BE49-F238E27FC236}">
                <a16:creationId xmlns:a16="http://schemas.microsoft.com/office/drawing/2014/main" id="{C8887260-F457-432D-A254-70BDF3EDAAD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74090" name="灯片编号占位符 13">
            <a:extLst>
              <a:ext uri="{FF2B5EF4-FFF2-40B4-BE49-F238E27FC236}">
                <a16:creationId xmlns:a16="http://schemas.microsoft.com/office/drawing/2014/main" id="{2EAF1C70-F14D-4567-B888-D67364B41E8B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8FE2EC9-CB40-4EE8-9B68-0EA4532D9FCF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4091" name="日期占位符 12">
            <a:extLst>
              <a:ext uri="{FF2B5EF4-FFF2-40B4-BE49-F238E27FC236}">
                <a16:creationId xmlns:a16="http://schemas.microsoft.com/office/drawing/2014/main" id="{DA78EC69-14D7-499B-B39E-253ABA66EB6B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EACC60F-5026-4574-9415-90ECCD76F49E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Line 1027">
            <a:extLst>
              <a:ext uri="{FF2B5EF4-FFF2-40B4-BE49-F238E27FC236}">
                <a16:creationId xmlns:a16="http://schemas.microsoft.com/office/drawing/2014/main" id="{F712C2E6-2DE6-44B3-AD0F-B449F584F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31" name="Line 1031">
            <a:extLst>
              <a:ext uri="{FF2B5EF4-FFF2-40B4-BE49-F238E27FC236}">
                <a16:creationId xmlns:a16="http://schemas.microsoft.com/office/drawing/2014/main" id="{0DBE4121-0570-4CA3-80B8-058E884914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6132" name="AutoShape 1032">
            <a:extLst>
              <a:ext uri="{FF2B5EF4-FFF2-40B4-BE49-F238E27FC236}">
                <a16:creationId xmlns:a16="http://schemas.microsoft.com/office/drawing/2014/main" id="{9D001E6A-2544-4768-8082-AD5327748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6133" name="AutoShape 1033">
            <a:extLst>
              <a:ext uri="{FF2B5EF4-FFF2-40B4-BE49-F238E27FC236}">
                <a16:creationId xmlns:a16="http://schemas.microsoft.com/office/drawing/2014/main" id="{46D8B166-1F96-4C62-99B6-A89DD769B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01C34EE-FC03-4DDD-AA64-C209EF53D821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1125538"/>
            <a:ext cx="8353425" cy="475138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ea typeface="仿宋_GB2312" pitchFamily="49" charset="-122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LEA	BX, ARRAY	;</a:t>
            </a:r>
            <a:r>
              <a:rPr lang="zh-CN" altLang="en-US" sz="2800" b="1" dirty="0">
                <a:latin typeface="+mn-ea"/>
                <a:ea typeface="+mn-ea"/>
              </a:rPr>
              <a:t>装载数组指针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XOR	CX, CX		;</a:t>
            </a:r>
            <a:r>
              <a:rPr lang="zh-CN" altLang="en-US" sz="2800" b="1" dirty="0">
                <a:latin typeface="+mn-ea"/>
                <a:ea typeface="+mn-ea"/>
              </a:rPr>
              <a:t>设置计数器初值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XOR	DX, DX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XOR	AX, AX		;</a:t>
            </a:r>
            <a:r>
              <a:rPr lang="zh-CN" altLang="en-US" sz="2800" b="1" dirty="0">
                <a:latin typeface="+mn-ea"/>
                <a:ea typeface="+mn-ea"/>
              </a:rPr>
              <a:t>清累加器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ONE:	CMP	WORD PTR[BX], -1   ;</a:t>
            </a:r>
            <a:r>
              <a:rPr lang="zh-CN" altLang="en-US" sz="2800" b="1" dirty="0">
                <a:latin typeface="+mn-ea"/>
                <a:ea typeface="+mn-ea"/>
              </a:rPr>
              <a:t>判数组是否结束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JE	DONE     ;</a:t>
            </a:r>
            <a:r>
              <a:rPr lang="zh-CN" altLang="en-US" sz="2800" b="1" dirty="0">
                <a:latin typeface="+mn-ea"/>
                <a:ea typeface="+mn-ea"/>
              </a:rPr>
              <a:t>数组结束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  <a:r>
              <a:rPr lang="zh-CN" altLang="en-US" sz="2800" b="1" dirty="0">
                <a:latin typeface="+mn-ea"/>
                <a:ea typeface="+mn-ea"/>
              </a:rPr>
              <a:t>转</a:t>
            </a:r>
            <a:r>
              <a:rPr lang="en-US" altLang="zh-CN" sz="2800" b="1" dirty="0">
                <a:latin typeface="+mn-ea"/>
                <a:ea typeface="+mn-ea"/>
              </a:rPr>
              <a:t>DONE,</a:t>
            </a:r>
            <a:r>
              <a:rPr lang="zh-CN" altLang="en-US" sz="2800" b="1" dirty="0">
                <a:latin typeface="+mn-ea"/>
                <a:ea typeface="+mn-ea"/>
              </a:rPr>
              <a:t>结束处理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ADD	AX, [BX]		;</a:t>
            </a:r>
            <a:r>
              <a:rPr lang="zh-CN" altLang="en-US" sz="2800" b="1" dirty="0">
                <a:latin typeface="+mn-ea"/>
                <a:ea typeface="+mn-ea"/>
              </a:rPr>
              <a:t>累加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ADC	DX, 0			;</a:t>
            </a:r>
            <a:r>
              <a:rPr lang="zh-CN" altLang="en-US" sz="2800" b="1" dirty="0">
                <a:latin typeface="+mn-ea"/>
                <a:ea typeface="+mn-ea"/>
              </a:rPr>
              <a:t>保留进位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ADD	BX, 2			;</a:t>
            </a:r>
            <a:r>
              <a:rPr lang="zh-CN" altLang="en-US" sz="2800" b="1" dirty="0">
                <a:latin typeface="+mn-ea"/>
                <a:ea typeface="+mn-ea"/>
              </a:rPr>
              <a:t>修改指针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INC	CX			;</a:t>
            </a:r>
            <a:r>
              <a:rPr lang="zh-CN" altLang="en-US" sz="2800" b="1" dirty="0">
                <a:latin typeface="+mn-ea"/>
                <a:ea typeface="+mn-ea"/>
              </a:rPr>
              <a:t>数组元素个数计数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JMP	ONE	 </a:t>
            </a:r>
          </a:p>
        </p:txBody>
      </p:sp>
      <p:sp>
        <p:nvSpPr>
          <p:cNvPr id="176135" name="Text Box 1029">
            <a:extLst>
              <a:ext uri="{FF2B5EF4-FFF2-40B4-BE49-F238E27FC236}">
                <a16:creationId xmlns:a16="http://schemas.microsoft.com/office/drawing/2014/main" id="{CD3E6675-38E6-40C0-8DFD-6AFC228E7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6136" name="页脚占位符 14">
            <a:extLst>
              <a:ext uri="{FF2B5EF4-FFF2-40B4-BE49-F238E27FC236}">
                <a16:creationId xmlns:a16="http://schemas.microsoft.com/office/drawing/2014/main" id="{30DF9BDF-DD04-4263-9FDF-B47461D5558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76137" name="灯片编号占位符 13">
            <a:extLst>
              <a:ext uri="{FF2B5EF4-FFF2-40B4-BE49-F238E27FC236}">
                <a16:creationId xmlns:a16="http://schemas.microsoft.com/office/drawing/2014/main" id="{F0A51E45-2F6A-4DED-B952-FE506A7E8BD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E3762B4-BA27-4F6A-8199-05B66FEB95FB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6138" name="日期占位符 12">
            <a:extLst>
              <a:ext uri="{FF2B5EF4-FFF2-40B4-BE49-F238E27FC236}">
                <a16:creationId xmlns:a16="http://schemas.microsoft.com/office/drawing/2014/main" id="{2877EA0A-7BE4-4960-88B5-6280ACAFE2F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8D5E6B8-451A-481F-A468-6BE1C92CD40B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Line 1027">
            <a:extLst>
              <a:ext uri="{FF2B5EF4-FFF2-40B4-BE49-F238E27FC236}">
                <a16:creationId xmlns:a16="http://schemas.microsoft.com/office/drawing/2014/main" id="{91A97F9B-6F23-45F7-82D1-8197D0E5C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79" name="Line 1031">
            <a:extLst>
              <a:ext uri="{FF2B5EF4-FFF2-40B4-BE49-F238E27FC236}">
                <a16:creationId xmlns:a16="http://schemas.microsoft.com/office/drawing/2014/main" id="{266CB07E-82AD-4760-9713-297C19BF03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180" name="AutoShape 1032">
            <a:extLst>
              <a:ext uri="{FF2B5EF4-FFF2-40B4-BE49-F238E27FC236}">
                <a16:creationId xmlns:a16="http://schemas.microsoft.com/office/drawing/2014/main" id="{B8A1DA2F-79F9-4382-B301-BB27816C8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8181" name="AutoShape 1033">
            <a:extLst>
              <a:ext uri="{FF2B5EF4-FFF2-40B4-BE49-F238E27FC236}">
                <a16:creationId xmlns:a16="http://schemas.microsoft.com/office/drawing/2014/main" id="{95C3B3D9-6F9D-43AE-BD6E-D16CEFB29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A695CB2-2A82-4AF9-A309-AB62ED9745F9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1052513"/>
            <a:ext cx="8569325" cy="47529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DONE:		JCXZ	NULL	;</a:t>
            </a:r>
            <a:r>
              <a:rPr lang="zh-CN" altLang="en-US" sz="2800" b="1" dirty="0">
                <a:latin typeface="+mn-ea"/>
                <a:ea typeface="+mn-ea"/>
              </a:rPr>
              <a:t>数组元素个数为</a:t>
            </a:r>
            <a:r>
              <a:rPr lang="en-US" altLang="zh-CN" sz="2800" b="1" dirty="0">
                <a:latin typeface="+mn-ea"/>
                <a:ea typeface="+mn-ea"/>
              </a:rPr>
              <a:t>0, 						;</a:t>
            </a:r>
            <a:r>
              <a:rPr lang="zh-CN" altLang="en-US" sz="2800" b="1" dirty="0">
                <a:latin typeface="+mn-ea"/>
                <a:ea typeface="+mn-ea"/>
              </a:rPr>
              <a:t>不能求平均值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	</a:t>
            </a:r>
            <a:r>
              <a:rPr lang="en-US" altLang="zh-CN" sz="2800" b="1" dirty="0">
                <a:latin typeface="+mn-ea"/>
                <a:ea typeface="+mn-ea"/>
              </a:rPr>
              <a:t>DIV	CX			;</a:t>
            </a:r>
            <a:r>
              <a:rPr lang="zh-CN" altLang="en-US" sz="2800" b="1" dirty="0">
                <a:latin typeface="+mn-ea"/>
                <a:ea typeface="+mn-ea"/>
              </a:rPr>
              <a:t>计算数组平均值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	</a:t>
            </a:r>
            <a:r>
              <a:rPr lang="en-US" altLang="zh-CN" sz="2800" b="1" dirty="0">
                <a:latin typeface="+mn-ea"/>
                <a:ea typeface="+mn-ea"/>
              </a:rPr>
              <a:t>MOV	AVRG, AX		;</a:t>
            </a:r>
            <a:r>
              <a:rPr lang="zh-CN" altLang="en-US" sz="2800" b="1" dirty="0">
                <a:latin typeface="+mn-ea"/>
                <a:ea typeface="+mn-ea"/>
              </a:rPr>
              <a:t>保存结果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	</a:t>
            </a:r>
            <a:r>
              <a:rPr lang="en-US" altLang="zh-CN" sz="2800" b="1" dirty="0">
                <a:latin typeface="+mn-ea"/>
                <a:ea typeface="+mn-ea"/>
              </a:rPr>
              <a:t>JMP	EXIT</a:t>
            </a:r>
          </a:p>
          <a:p>
            <a:pPr lvl="1"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NULL:	MOV	AVRG, -1		;</a:t>
            </a:r>
            <a:r>
              <a:rPr lang="zh-CN" altLang="en-US" sz="2800" b="1" dirty="0">
                <a:latin typeface="+mn-ea"/>
                <a:ea typeface="+mn-ea"/>
              </a:rPr>
              <a:t>数组为“空”</a:t>
            </a:r>
            <a:r>
              <a:rPr lang="en-US" altLang="zh-CN" sz="2800" b="1" dirty="0">
                <a:latin typeface="+mn-ea"/>
                <a:ea typeface="+mn-ea"/>
              </a:rPr>
              <a:t>,</a:t>
            </a:r>
            <a:r>
              <a:rPr lang="zh-CN" altLang="en-US" sz="2800" b="1" dirty="0">
                <a:latin typeface="+mn-ea"/>
                <a:ea typeface="+mn-ea"/>
              </a:rPr>
              <a:t>记</a:t>
            </a:r>
            <a:r>
              <a:rPr lang="en-US" altLang="zh-CN" sz="2800" b="1" dirty="0">
                <a:latin typeface="+mn-ea"/>
                <a:ea typeface="+mn-ea"/>
              </a:rPr>
              <a:t>						;</a:t>
            </a:r>
            <a:r>
              <a:rPr lang="zh-CN" altLang="en-US" sz="2800" b="1" dirty="0">
                <a:latin typeface="+mn-ea"/>
                <a:ea typeface="+mn-ea"/>
              </a:rPr>
              <a:t>平均值为</a:t>
            </a:r>
            <a:r>
              <a:rPr lang="en-US" altLang="zh-CN" sz="2800" b="1" dirty="0">
                <a:latin typeface="+mn-ea"/>
                <a:ea typeface="+mn-ea"/>
              </a:rPr>
              <a:t>-1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EXIT:	MOV	AX, 4C00H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	INT	21H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CODE	ENDS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	END	START</a:t>
            </a:r>
          </a:p>
        </p:txBody>
      </p:sp>
      <p:sp>
        <p:nvSpPr>
          <p:cNvPr id="178183" name="Text Box 1029">
            <a:extLst>
              <a:ext uri="{FF2B5EF4-FFF2-40B4-BE49-F238E27FC236}">
                <a16:creationId xmlns:a16="http://schemas.microsoft.com/office/drawing/2014/main" id="{A59ACCD2-E319-4C64-86A3-2EE35B698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8184" name="页脚占位符 14">
            <a:extLst>
              <a:ext uri="{FF2B5EF4-FFF2-40B4-BE49-F238E27FC236}">
                <a16:creationId xmlns:a16="http://schemas.microsoft.com/office/drawing/2014/main" id="{65F2DFD6-23E2-4A5C-8E42-3B8A62C0EC4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78185" name="灯片编号占位符 13">
            <a:extLst>
              <a:ext uri="{FF2B5EF4-FFF2-40B4-BE49-F238E27FC236}">
                <a16:creationId xmlns:a16="http://schemas.microsoft.com/office/drawing/2014/main" id="{493AA145-7009-4113-BFC8-DE62F3B14933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C9C69F1-035F-4078-82BB-AF8484C1E242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8186" name="日期占位符 12">
            <a:extLst>
              <a:ext uri="{FF2B5EF4-FFF2-40B4-BE49-F238E27FC236}">
                <a16:creationId xmlns:a16="http://schemas.microsoft.com/office/drawing/2014/main" id="{EA0621FD-60C8-4EA4-8845-A4EE7861D650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ED30466-985F-4391-82B9-EA2B178EB574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Line 1027">
            <a:extLst>
              <a:ext uri="{FF2B5EF4-FFF2-40B4-BE49-F238E27FC236}">
                <a16:creationId xmlns:a16="http://schemas.microsoft.com/office/drawing/2014/main" id="{CBCA1D54-7A5D-419A-99F8-E5C9FD21ED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0227" name="Line 1031">
            <a:extLst>
              <a:ext uri="{FF2B5EF4-FFF2-40B4-BE49-F238E27FC236}">
                <a16:creationId xmlns:a16="http://schemas.microsoft.com/office/drawing/2014/main" id="{685EF52C-015F-4811-AF68-C68E6F668D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228" name="AutoShape 1032">
            <a:extLst>
              <a:ext uri="{FF2B5EF4-FFF2-40B4-BE49-F238E27FC236}">
                <a16:creationId xmlns:a16="http://schemas.microsoft.com/office/drawing/2014/main" id="{CA6141A4-F87C-4DC0-AB0E-1AAAF748E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80229" name="AutoShape 1033">
            <a:extLst>
              <a:ext uri="{FF2B5EF4-FFF2-40B4-BE49-F238E27FC236}">
                <a16:creationId xmlns:a16="http://schemas.microsoft.com/office/drawing/2014/main" id="{575C81D3-D4BA-4BEB-AD24-8CC20C13D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2ED9B3D-B243-406F-ADA8-7F1281BD032D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2492375"/>
            <a:ext cx="8208963" cy="34575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ea typeface="仿宋_GB2312" pitchFamily="49" charset="-122"/>
              </a:rPr>
              <a:t>DATA	SEGMENT</a:t>
            </a:r>
          </a:p>
          <a:p>
            <a:pPr eaLnBrk="1" hangingPunct="1">
              <a:defRPr/>
            </a:pPr>
            <a:r>
              <a:rPr lang="en-US" altLang="zh-CN" sz="2800" b="1" dirty="0">
                <a:ea typeface="仿宋_GB2312" pitchFamily="49" charset="-122"/>
              </a:rPr>
              <a:t>POSITION	DW  	?</a:t>
            </a:r>
          </a:p>
          <a:p>
            <a:pPr eaLnBrk="1" hangingPunct="1">
              <a:defRPr/>
            </a:pPr>
            <a:r>
              <a:rPr lang="en-US" altLang="zh-CN" sz="2800" b="1" dirty="0">
                <a:ea typeface="仿宋_GB2312" pitchFamily="49" charset="-122"/>
              </a:rPr>
              <a:t>STRING	DB  	‘This is a string for example. ’ , 0</a:t>
            </a:r>
          </a:p>
          <a:p>
            <a:pPr eaLnBrk="1" hangingPunct="1">
              <a:defRPr/>
            </a:pPr>
            <a:r>
              <a:rPr lang="en-US" altLang="zh-CN" sz="2800" b="1" dirty="0">
                <a:ea typeface="仿宋_GB2312" pitchFamily="49" charset="-122"/>
              </a:rPr>
              <a:t>DATA	ENDS</a:t>
            </a:r>
          </a:p>
          <a:p>
            <a:pPr eaLnBrk="1" hangingPunct="1">
              <a:defRPr/>
            </a:pPr>
            <a:r>
              <a:rPr lang="en-US" altLang="zh-CN" sz="2800" b="1" dirty="0">
                <a:ea typeface="仿宋_GB2312" pitchFamily="49" charset="-122"/>
              </a:rPr>
              <a:t>CODE	SEGMENT</a:t>
            </a:r>
          </a:p>
          <a:p>
            <a:pPr eaLnBrk="1" hangingPunct="1">
              <a:defRPr/>
            </a:pPr>
            <a:r>
              <a:rPr lang="en-US" altLang="zh-CN" sz="2800" b="1" dirty="0">
                <a:ea typeface="仿宋_GB2312" pitchFamily="49" charset="-122"/>
              </a:rPr>
              <a:t>ASSUME 	DS: DATA, CS: CODE</a:t>
            </a:r>
          </a:p>
          <a:p>
            <a:pPr eaLnBrk="1" hangingPunct="1">
              <a:defRPr/>
            </a:pPr>
            <a:r>
              <a:rPr lang="en-US" altLang="zh-CN" sz="2800" b="1" dirty="0">
                <a:ea typeface="仿宋_GB2312" pitchFamily="49" charset="-122"/>
              </a:rPr>
              <a:t>START:	MOV	AX, DATA</a:t>
            </a:r>
          </a:p>
          <a:p>
            <a:pPr eaLnBrk="1" hangingPunct="1">
              <a:defRPr/>
            </a:pPr>
            <a:r>
              <a:rPr lang="en-US" altLang="zh-CN" sz="2800" b="1" dirty="0">
                <a:ea typeface="仿宋_GB2312" pitchFamily="49" charset="-122"/>
              </a:rPr>
              <a:t>		MOV	DS, AX</a:t>
            </a:r>
          </a:p>
        </p:txBody>
      </p:sp>
      <p:sp>
        <p:nvSpPr>
          <p:cNvPr id="72714" name="矩形 12">
            <a:extLst>
              <a:ext uri="{FF2B5EF4-FFF2-40B4-BE49-F238E27FC236}">
                <a16:creationId xmlns:a16="http://schemas.microsoft.com/office/drawing/2014/main" id="{AC7B91D4-75C7-42A7-9C59-E0A004606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836613"/>
            <a:ext cx="8208963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[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24]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查找字母’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a’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在字符串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STRING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中第一次出现的位置，如果未出现，置位置值为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-1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。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						</a:t>
            </a:r>
            <a:r>
              <a:rPr lang="en-US" altLang="zh-CN" sz="28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itchFamily="49" charset="-122"/>
                <a:ea typeface="楷体" pitchFamily="49" charset="-122"/>
                <a:hlinkClick r:id="rId3" action="ppaction://hlinkfile"/>
              </a:rPr>
              <a:t>EP514.ASM</a:t>
            </a:r>
            <a:endParaRPr lang="zh-CN" altLang="en-US" sz="3200" b="1" dirty="0">
              <a:solidFill>
                <a:schemeClr val="accent2">
                  <a:lumMod val="20000"/>
                  <a:lumOff val="8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80232" name="Text Box 1029">
            <a:extLst>
              <a:ext uri="{FF2B5EF4-FFF2-40B4-BE49-F238E27FC236}">
                <a16:creationId xmlns:a16="http://schemas.microsoft.com/office/drawing/2014/main" id="{0126029F-DB9E-4009-B86D-DF01F551A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80233" name="页脚占位符 14">
            <a:extLst>
              <a:ext uri="{FF2B5EF4-FFF2-40B4-BE49-F238E27FC236}">
                <a16:creationId xmlns:a16="http://schemas.microsoft.com/office/drawing/2014/main" id="{A049A73F-95C6-4099-9684-2ACC2FEFE2E6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80234" name="灯片编号占位符 13">
            <a:extLst>
              <a:ext uri="{FF2B5EF4-FFF2-40B4-BE49-F238E27FC236}">
                <a16:creationId xmlns:a16="http://schemas.microsoft.com/office/drawing/2014/main" id="{3A127E19-2779-4584-8D9E-0B60F43C0CF4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79852BD-8945-44CA-9E8F-F18594C79FA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0235" name="日期占位符 12">
            <a:extLst>
              <a:ext uri="{FF2B5EF4-FFF2-40B4-BE49-F238E27FC236}">
                <a16:creationId xmlns:a16="http://schemas.microsoft.com/office/drawing/2014/main" id="{22448CF3-7C3C-4967-B44C-2EE70273771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2C437F-848C-4162-BB5F-36C28E3CC4E9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Line 1027">
            <a:extLst>
              <a:ext uri="{FF2B5EF4-FFF2-40B4-BE49-F238E27FC236}">
                <a16:creationId xmlns:a16="http://schemas.microsoft.com/office/drawing/2014/main" id="{E8C207B8-CA94-4228-823A-36805B831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275" name="Line 1031">
            <a:extLst>
              <a:ext uri="{FF2B5EF4-FFF2-40B4-BE49-F238E27FC236}">
                <a16:creationId xmlns:a16="http://schemas.microsoft.com/office/drawing/2014/main" id="{359EF290-F37C-46BF-AE0F-30E6AFADCD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276" name="AutoShape 1032">
            <a:extLst>
              <a:ext uri="{FF2B5EF4-FFF2-40B4-BE49-F238E27FC236}">
                <a16:creationId xmlns:a16="http://schemas.microsoft.com/office/drawing/2014/main" id="{83B0ACC7-A0F1-4093-8174-18F92723C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82277" name="AutoShape 1033">
            <a:extLst>
              <a:ext uri="{FF2B5EF4-FFF2-40B4-BE49-F238E27FC236}">
                <a16:creationId xmlns:a16="http://schemas.microsoft.com/office/drawing/2014/main" id="{3C75B185-AB80-4ABE-9369-AD0508772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BF19870-F77B-4F3B-97B5-0FBC1B8F8996}"/>
              </a:ext>
            </a:extLst>
          </p:cNvPr>
          <p:cNvSpPr txBox="1">
            <a:spLocks noChangeArrowheads="1"/>
          </p:cNvSpPr>
          <p:nvPr/>
        </p:nvSpPr>
        <p:spPr>
          <a:xfrm>
            <a:off x="250825" y="1052513"/>
            <a:ext cx="8748713" cy="47529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MOV	SI, -1		;SI</a:t>
            </a:r>
            <a:r>
              <a:rPr lang="zh-CN" altLang="en-US" b="1" dirty="0">
                <a:latin typeface="+mn-ea"/>
                <a:ea typeface="+mn-ea"/>
              </a:rPr>
              <a:t>用作字符串字符指针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MOV	CX, 30		;</a:t>
            </a:r>
            <a:r>
              <a:rPr lang="zh-CN" altLang="en-US" b="1" dirty="0">
                <a:latin typeface="+mn-ea"/>
                <a:ea typeface="+mn-ea"/>
              </a:rPr>
              <a:t>字符串长度</a:t>
            </a:r>
            <a:r>
              <a:rPr lang="en-US" altLang="zh-CN" b="1" dirty="0">
                <a:latin typeface="+mn-ea"/>
                <a:ea typeface="+mn-ea"/>
              </a:rPr>
              <a:t>30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L0:</a:t>
            </a:r>
            <a:r>
              <a:rPr lang="en-US" altLang="zh-CN" b="1" dirty="0">
                <a:latin typeface="+mn-ea"/>
                <a:ea typeface="+mn-ea"/>
              </a:rPr>
              <a:t>	INC	SI			;</a:t>
            </a:r>
            <a:r>
              <a:rPr lang="zh-CN" altLang="en-US" b="1" dirty="0">
                <a:latin typeface="+mn-ea"/>
                <a:ea typeface="+mn-ea"/>
              </a:rPr>
              <a:t>修改指针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CMP	STRING[SI], ‘a’	;</a:t>
            </a:r>
            <a:r>
              <a:rPr lang="zh-CN" altLang="en-US" b="1" dirty="0">
                <a:latin typeface="+mn-ea"/>
                <a:ea typeface="+mn-ea"/>
              </a:rPr>
              <a:t>一个字符与’</a:t>
            </a:r>
            <a:r>
              <a:rPr lang="en-US" altLang="zh-CN" b="1" dirty="0">
                <a:latin typeface="+mn-ea"/>
                <a:ea typeface="+mn-ea"/>
              </a:rPr>
              <a:t>a’</a:t>
            </a:r>
            <a:r>
              <a:rPr lang="zh-CN" altLang="en-US" b="1" dirty="0">
                <a:latin typeface="+mn-ea"/>
                <a:ea typeface="+mn-ea"/>
              </a:rPr>
              <a:t>进行比较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LOOPNE	L0</a:t>
            </a:r>
            <a:r>
              <a:rPr lang="en-US" altLang="zh-CN" b="1" dirty="0">
                <a:latin typeface="+mn-ea"/>
                <a:ea typeface="+mn-ea"/>
              </a:rPr>
              <a:t>		;</a:t>
            </a:r>
            <a:r>
              <a:rPr lang="zh-CN" altLang="en-US" b="1" dirty="0">
                <a:latin typeface="+mn-ea"/>
                <a:ea typeface="+mn-ea"/>
              </a:rPr>
              <a:t>字符串未结束</a:t>
            </a:r>
            <a:r>
              <a:rPr lang="en-US" altLang="zh-CN" b="1" dirty="0">
                <a:latin typeface="+mn-ea"/>
                <a:ea typeface="+mn-ea"/>
              </a:rPr>
              <a:t>,</a:t>
            </a:r>
            <a:r>
              <a:rPr lang="zh-CN" altLang="en-US" b="1" dirty="0">
                <a:latin typeface="+mn-ea"/>
                <a:ea typeface="+mn-ea"/>
              </a:rPr>
              <a:t>未找到</a:t>
            </a:r>
            <a:r>
              <a:rPr lang="en-US" altLang="zh-CN" b="1" dirty="0">
                <a:latin typeface="+mn-ea"/>
                <a:ea typeface="+mn-ea"/>
              </a:rPr>
              <a:t>,</a:t>
            </a:r>
            <a:r>
              <a:rPr lang="zh-CN" altLang="en-US" b="1" dirty="0">
                <a:latin typeface="+mn-ea"/>
                <a:ea typeface="+mn-ea"/>
              </a:rPr>
              <a:t>继续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JNE	NOTFOUND	</a:t>
            </a: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	;</a:t>
            </a:r>
            <a:r>
              <a:rPr lang="zh-CN" altLang="en-US" b="1" dirty="0">
                <a:solidFill>
                  <a:srgbClr val="3103DB"/>
                </a:solidFill>
                <a:latin typeface="+mn-ea"/>
                <a:ea typeface="+mn-ea"/>
              </a:rPr>
              <a:t>未找到，转“</a:t>
            </a: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NOTFOUND”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MOV	POSITION, SI	;</a:t>
            </a:r>
            <a:r>
              <a:rPr lang="zh-CN" altLang="en-US" b="1" dirty="0">
                <a:latin typeface="+mn-ea"/>
                <a:ea typeface="+mn-ea"/>
              </a:rPr>
              <a:t>保存位置值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JMP	EXIT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NOTFOUND:	MOV	POSITION, -1    ;</a:t>
            </a:r>
            <a:r>
              <a:rPr lang="zh-CN" altLang="en-US" b="1" dirty="0">
                <a:latin typeface="+mn-ea"/>
                <a:ea typeface="+mn-ea"/>
              </a:rPr>
              <a:t>未找到，置位置值为</a:t>
            </a:r>
            <a:r>
              <a:rPr lang="en-US" altLang="zh-CN" b="1" dirty="0">
                <a:latin typeface="+mn-ea"/>
                <a:ea typeface="+mn-ea"/>
              </a:rPr>
              <a:t>-1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EXIT:		MOV	AX, 4C00H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	INT	21H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CODE	 	ENDS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	END	START </a:t>
            </a:r>
          </a:p>
        </p:txBody>
      </p:sp>
      <p:sp>
        <p:nvSpPr>
          <p:cNvPr id="182279" name="Text Box 1029">
            <a:extLst>
              <a:ext uri="{FF2B5EF4-FFF2-40B4-BE49-F238E27FC236}">
                <a16:creationId xmlns:a16="http://schemas.microsoft.com/office/drawing/2014/main" id="{80B70AA1-809A-4EB6-8341-623B47035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82280" name="页脚占位符 14">
            <a:extLst>
              <a:ext uri="{FF2B5EF4-FFF2-40B4-BE49-F238E27FC236}">
                <a16:creationId xmlns:a16="http://schemas.microsoft.com/office/drawing/2014/main" id="{4C70F83A-F372-4908-8077-2BD3057650F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82281" name="灯片编号占位符 13">
            <a:extLst>
              <a:ext uri="{FF2B5EF4-FFF2-40B4-BE49-F238E27FC236}">
                <a16:creationId xmlns:a16="http://schemas.microsoft.com/office/drawing/2014/main" id="{E8CEBC2A-D287-4CDF-A4A7-FFD51B5AD9CD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E2D2815C-A0B1-4A57-B46F-1952F841938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2282" name="日期占位符 12">
            <a:extLst>
              <a:ext uri="{FF2B5EF4-FFF2-40B4-BE49-F238E27FC236}">
                <a16:creationId xmlns:a16="http://schemas.microsoft.com/office/drawing/2014/main" id="{8BF60CBA-512B-4F2E-BCA6-97EFFFF8488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5ECAB47-FF9B-434A-B107-012AB1EF870F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Line 1027">
            <a:extLst>
              <a:ext uri="{FF2B5EF4-FFF2-40B4-BE49-F238E27FC236}">
                <a16:creationId xmlns:a16="http://schemas.microsoft.com/office/drawing/2014/main" id="{2D983657-C5AA-427F-A22D-9F003912D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23" name="Line 1031">
            <a:extLst>
              <a:ext uri="{FF2B5EF4-FFF2-40B4-BE49-F238E27FC236}">
                <a16:creationId xmlns:a16="http://schemas.microsoft.com/office/drawing/2014/main" id="{8F03A30D-1432-4644-ABE0-993AF6722B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24" name="AutoShape 1032">
            <a:extLst>
              <a:ext uri="{FF2B5EF4-FFF2-40B4-BE49-F238E27FC236}">
                <a16:creationId xmlns:a16="http://schemas.microsoft.com/office/drawing/2014/main" id="{D3FE0489-8A29-4E36-8AAD-71E2D9DEC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84325" name="AutoShape 1033">
            <a:extLst>
              <a:ext uri="{FF2B5EF4-FFF2-40B4-BE49-F238E27FC236}">
                <a16:creationId xmlns:a16="http://schemas.microsoft.com/office/drawing/2014/main" id="{0581DBCD-0C2A-45D1-BB98-09976BB6A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003EE1A-15B4-44A7-9305-D1A78C7257A4}"/>
              </a:ext>
            </a:extLst>
          </p:cNvPr>
          <p:cNvSpPr txBox="1">
            <a:spLocks noChangeArrowheads="1"/>
          </p:cNvSpPr>
          <p:nvPr/>
        </p:nvSpPr>
        <p:spPr>
          <a:xfrm>
            <a:off x="250825" y="2492375"/>
            <a:ext cx="8569325" cy="208915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sz="3200" b="1" dirty="0">
                <a:latin typeface="+mn-ea"/>
                <a:ea typeface="+mn-ea"/>
              </a:rPr>
              <a:t>(1)</a:t>
            </a:r>
            <a:r>
              <a:rPr lang="zh-CN" altLang="en-US" sz="3200" b="1" dirty="0">
                <a:latin typeface="+mn-ea"/>
                <a:ea typeface="+mn-ea"/>
              </a:rPr>
              <a:t>字符串内找到字符’</a:t>
            </a:r>
            <a:r>
              <a:rPr lang="en-US" altLang="zh-CN" sz="3200" b="1" dirty="0">
                <a:latin typeface="+mn-ea"/>
                <a:ea typeface="+mn-ea"/>
              </a:rPr>
              <a:t>a’</a:t>
            </a:r>
            <a:r>
              <a:rPr lang="zh-CN" altLang="en-US" sz="3200" b="1" dirty="0">
                <a:latin typeface="+mn-ea"/>
                <a:ea typeface="+mn-ea"/>
              </a:rPr>
              <a:t>：循环结束时</a:t>
            </a:r>
            <a:r>
              <a:rPr lang="en-US" altLang="zh-CN" sz="3200" b="1" dirty="0">
                <a:latin typeface="+mn-ea"/>
                <a:ea typeface="+mn-ea"/>
              </a:rPr>
              <a:t>ZF=1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SI</a:t>
            </a:r>
            <a:r>
              <a:rPr lang="zh-CN" altLang="en-US" sz="3200" b="1" dirty="0">
                <a:latin typeface="+mn-ea"/>
                <a:ea typeface="+mn-ea"/>
              </a:rPr>
              <a:t>内是字符的出现位置（从</a:t>
            </a:r>
            <a:r>
              <a:rPr lang="en-US" altLang="zh-CN" sz="3200" b="1" dirty="0">
                <a:latin typeface="+mn-ea"/>
                <a:ea typeface="+mn-ea"/>
              </a:rPr>
              <a:t>0</a:t>
            </a:r>
            <a:r>
              <a:rPr lang="zh-CN" altLang="en-US" sz="3200" b="1" dirty="0">
                <a:latin typeface="+mn-ea"/>
                <a:ea typeface="+mn-ea"/>
              </a:rPr>
              <a:t>开始）；</a:t>
            </a:r>
          </a:p>
          <a:p>
            <a:pPr eaLnBrk="1" hangingPunct="1">
              <a:defRPr/>
            </a:pPr>
            <a:r>
              <a:rPr lang="en-US" altLang="zh-CN" sz="3200" b="1" dirty="0">
                <a:latin typeface="+mn-ea"/>
                <a:ea typeface="+mn-ea"/>
              </a:rPr>
              <a:t>(2)</a:t>
            </a:r>
            <a:r>
              <a:rPr lang="zh-CN" altLang="en-US" sz="3200" b="1" dirty="0">
                <a:latin typeface="+mn-ea"/>
                <a:ea typeface="+mn-ea"/>
              </a:rPr>
              <a:t>字符串内未找到字符’</a:t>
            </a:r>
            <a:r>
              <a:rPr lang="en-US" altLang="zh-CN" sz="3200" b="1" dirty="0">
                <a:latin typeface="+mn-ea"/>
                <a:ea typeface="+mn-ea"/>
              </a:rPr>
              <a:t>a’</a:t>
            </a:r>
            <a:r>
              <a:rPr lang="zh-CN" altLang="en-US" sz="3200" b="1" dirty="0">
                <a:latin typeface="+mn-ea"/>
                <a:ea typeface="+mn-ea"/>
              </a:rPr>
              <a:t>：循环结束时</a:t>
            </a:r>
            <a:r>
              <a:rPr lang="en-US" altLang="zh-CN" sz="3200" b="1" dirty="0">
                <a:latin typeface="+mn-ea"/>
                <a:ea typeface="+mn-ea"/>
              </a:rPr>
              <a:t>ZF=0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SI</a:t>
            </a:r>
            <a:r>
              <a:rPr lang="zh-CN" altLang="en-US" sz="3200" b="1" dirty="0">
                <a:latin typeface="+mn-ea"/>
                <a:ea typeface="+mn-ea"/>
              </a:rPr>
              <a:t>内是字符串的长度</a:t>
            </a:r>
            <a:r>
              <a:rPr lang="en-US" altLang="zh-CN" sz="3200" b="1" dirty="0">
                <a:latin typeface="+mn-ea"/>
                <a:ea typeface="+mn-ea"/>
              </a:rPr>
              <a:t>-1</a:t>
            </a:r>
            <a:r>
              <a:rPr lang="zh-CN" altLang="en-US" sz="3200" b="1" dirty="0">
                <a:latin typeface="+mn-ea"/>
                <a:ea typeface="+mn-ea"/>
              </a:rPr>
              <a:t>（</a:t>
            </a:r>
            <a:r>
              <a:rPr lang="en-US" altLang="zh-CN" sz="3200" b="1" dirty="0">
                <a:latin typeface="+mn-ea"/>
                <a:ea typeface="+mn-ea"/>
              </a:rPr>
              <a:t>30-1=29</a:t>
            </a:r>
            <a:r>
              <a:rPr lang="zh-CN" altLang="en-US" sz="3200" b="1" dirty="0">
                <a:latin typeface="+mn-ea"/>
                <a:ea typeface="+mn-ea"/>
              </a:rPr>
              <a:t>）。</a:t>
            </a:r>
            <a:endParaRPr lang="en-US" altLang="zh-CN" sz="3200" b="1" dirty="0">
              <a:latin typeface="+mn-ea"/>
              <a:ea typeface="+mn-ea"/>
            </a:endParaRPr>
          </a:p>
        </p:txBody>
      </p:sp>
      <p:sp>
        <p:nvSpPr>
          <p:cNvPr id="184327" name="Text Box 1029">
            <a:extLst>
              <a:ext uri="{FF2B5EF4-FFF2-40B4-BE49-F238E27FC236}">
                <a16:creationId xmlns:a16="http://schemas.microsoft.com/office/drawing/2014/main" id="{0DCCA6CC-C823-4AC2-976D-19A946197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84328" name="Rectangle 3">
            <a:extLst>
              <a:ext uri="{FF2B5EF4-FFF2-40B4-BE49-F238E27FC236}">
                <a16:creationId xmlns:a16="http://schemas.microsoft.com/office/drawing/2014/main" id="{B225B6D7-812A-4F44-BA84-B0CC0B7B1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39800"/>
            <a:ext cx="8305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</a:rPr>
              <a:t>        程序使用</a:t>
            </a:r>
            <a:r>
              <a:rPr lang="en-US" altLang="zh-CN" sz="3200" b="1">
                <a:latin typeface="Times New Roman" panose="02020603050405020304" pitchFamily="18" charset="0"/>
                <a:ea typeface="楷体" panose="02010609060101010101" pitchFamily="49" charset="-122"/>
              </a:rPr>
              <a:t>LOOPNE</a:t>
            </a:r>
            <a:r>
              <a:rPr lang="zh-CN" altLang="en-US" sz="3200" b="1">
                <a:latin typeface="Times New Roman" panose="02020603050405020304" pitchFamily="18" charset="0"/>
                <a:ea typeface="楷体" panose="02010609060101010101" pitchFamily="49" charset="-122"/>
              </a:rPr>
              <a:t>指令来控制循环，既有计数控制，又有条件控制。循环结束有两种可能性：</a:t>
            </a:r>
          </a:p>
        </p:txBody>
      </p:sp>
      <p:sp>
        <p:nvSpPr>
          <p:cNvPr id="184329" name="Rectangle 4">
            <a:extLst>
              <a:ext uri="{FF2B5EF4-FFF2-40B4-BE49-F238E27FC236}">
                <a16:creationId xmlns:a16="http://schemas.microsoft.com/office/drawing/2014/main" id="{A70EE9A5-C139-4A5A-9A98-A1F245ADA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652963"/>
            <a:ext cx="8458200" cy="138588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所以，对于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LOOPZ/LOOPE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LOOPNZ/LOOPNE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控制的循环，一般应在循环结束后用</a:t>
            </a:r>
            <a:r>
              <a:rPr lang="zh-CN" altLang="en-US" sz="28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条件转移指令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分这两种情况，分别处理。</a:t>
            </a:r>
          </a:p>
        </p:txBody>
      </p:sp>
      <p:sp>
        <p:nvSpPr>
          <p:cNvPr id="184330" name="页脚占位符 14">
            <a:extLst>
              <a:ext uri="{FF2B5EF4-FFF2-40B4-BE49-F238E27FC236}">
                <a16:creationId xmlns:a16="http://schemas.microsoft.com/office/drawing/2014/main" id="{4F5DFC0C-43C9-4475-B228-8201B1CBE3B0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84331" name="灯片编号占位符 13">
            <a:extLst>
              <a:ext uri="{FF2B5EF4-FFF2-40B4-BE49-F238E27FC236}">
                <a16:creationId xmlns:a16="http://schemas.microsoft.com/office/drawing/2014/main" id="{EFE39BA7-AF61-4DAC-B55C-3C898FCF215B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E1D4178-DE14-4A79-95C3-4ACDB62017B4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32" name="日期占位符 12">
            <a:extLst>
              <a:ext uri="{FF2B5EF4-FFF2-40B4-BE49-F238E27FC236}">
                <a16:creationId xmlns:a16="http://schemas.microsoft.com/office/drawing/2014/main" id="{DD105BEA-A292-4267-8183-6A7E4C477A3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051D5FA-B331-4E1D-B2B6-48E7E9BE8050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Line 1027">
            <a:extLst>
              <a:ext uri="{FF2B5EF4-FFF2-40B4-BE49-F238E27FC236}">
                <a16:creationId xmlns:a16="http://schemas.microsoft.com/office/drawing/2014/main" id="{CC7F07AF-50EC-4EF0-AAE0-C38FE275EE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371" name="Line 1031">
            <a:extLst>
              <a:ext uri="{FF2B5EF4-FFF2-40B4-BE49-F238E27FC236}">
                <a16:creationId xmlns:a16="http://schemas.microsoft.com/office/drawing/2014/main" id="{40D463E6-60CF-4442-9134-A1AD4D41EF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6372" name="AutoShape 1032">
            <a:extLst>
              <a:ext uri="{FF2B5EF4-FFF2-40B4-BE49-F238E27FC236}">
                <a16:creationId xmlns:a16="http://schemas.microsoft.com/office/drawing/2014/main" id="{A89CE88D-A554-4158-8233-E8B0B5FA6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86373" name="AutoShape 1033">
            <a:extLst>
              <a:ext uri="{FF2B5EF4-FFF2-40B4-BE49-F238E27FC236}">
                <a16:creationId xmlns:a16="http://schemas.microsoft.com/office/drawing/2014/main" id="{C7645C31-CFC0-4F85-97F0-243FC0823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957DFFB-BEEA-43CF-A08D-5207BFB40906}"/>
              </a:ext>
            </a:extLst>
          </p:cNvPr>
          <p:cNvSpPr txBox="1">
            <a:spLocks noChangeArrowheads="1"/>
          </p:cNvSpPr>
          <p:nvPr/>
        </p:nvSpPr>
        <p:spPr>
          <a:xfrm>
            <a:off x="323850" y="2276475"/>
            <a:ext cx="8532813" cy="36734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DATA		SEGMENT</a:t>
            </a:r>
          </a:p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C10		DW	10</a:t>
            </a:r>
          </a:p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NUM		DW	?</a:t>
            </a:r>
          </a:p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SIGN		DB	?</a:t>
            </a:r>
          </a:p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ERRMSG	DB  0DH, 0AH,  ‘Input a Decimal Digit ( 0~9 ) : $’</a:t>
            </a:r>
          </a:p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DATA		ENDS</a:t>
            </a:r>
          </a:p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CODE		SEGMENT</a:t>
            </a:r>
          </a:p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		ASSUME 	DS: DATA, CS: CODE</a:t>
            </a:r>
          </a:p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START:	MOV	AX, DATA</a:t>
            </a:r>
          </a:p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		MOV	DS, AX</a:t>
            </a:r>
          </a:p>
        </p:txBody>
      </p:sp>
      <p:sp>
        <p:nvSpPr>
          <p:cNvPr id="75786" name="矩形 12">
            <a:extLst>
              <a:ext uri="{FF2B5EF4-FFF2-40B4-BE49-F238E27FC236}">
                <a16:creationId xmlns:a16="http://schemas.microsoft.com/office/drawing/2014/main" id="{DB68B764-6A63-4264-9FE8-185D8FFCE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36613"/>
            <a:ext cx="7343775" cy="13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[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25]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从键盘上输入一个</a:t>
            </a:r>
            <a:r>
              <a:rPr lang="zh-CN" altLang="en-US" sz="28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有符号整数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（假设在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-32768 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～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 +32767 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之间），将它转换成二进制补码，存入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NUM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单元。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sz="28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itchFamily="49" charset="-122"/>
                <a:ea typeface="楷体" pitchFamily="49" charset="-122"/>
                <a:hlinkClick r:id="rId3" action="ppaction://hlinkfile"/>
              </a:rPr>
              <a:t>EP515.ASM</a:t>
            </a:r>
            <a:endParaRPr lang="zh-CN" altLang="en-US" sz="2800" b="1" dirty="0">
              <a:solidFill>
                <a:schemeClr val="accent2">
                  <a:lumMod val="20000"/>
                  <a:lumOff val="8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86376" name="Text Box 1029">
            <a:extLst>
              <a:ext uri="{FF2B5EF4-FFF2-40B4-BE49-F238E27FC236}">
                <a16:creationId xmlns:a16="http://schemas.microsoft.com/office/drawing/2014/main" id="{F94693D3-349F-426E-A609-121CB30FC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86377" name="页脚占位符 14">
            <a:extLst>
              <a:ext uri="{FF2B5EF4-FFF2-40B4-BE49-F238E27FC236}">
                <a16:creationId xmlns:a16="http://schemas.microsoft.com/office/drawing/2014/main" id="{69903CA0-6F42-4487-9D3A-0150EB7A2F80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86378" name="灯片编号占位符 13">
            <a:extLst>
              <a:ext uri="{FF2B5EF4-FFF2-40B4-BE49-F238E27FC236}">
                <a16:creationId xmlns:a16="http://schemas.microsoft.com/office/drawing/2014/main" id="{498BC8F0-FA5C-43A7-B525-E5A26B3DEBFA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C8D895B-D740-4B24-8FEB-5E26A370D43C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6379" name="日期占位符 12">
            <a:extLst>
              <a:ext uri="{FF2B5EF4-FFF2-40B4-BE49-F238E27FC236}">
                <a16:creationId xmlns:a16="http://schemas.microsoft.com/office/drawing/2014/main" id="{617DAAA8-79FE-46C4-8B9C-DF236ED66EA3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7892FB9-2673-421B-8DA0-EC689E7D1057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Line 1027">
            <a:extLst>
              <a:ext uri="{FF2B5EF4-FFF2-40B4-BE49-F238E27FC236}">
                <a16:creationId xmlns:a16="http://schemas.microsoft.com/office/drawing/2014/main" id="{93C9561D-DE9A-4934-B8C1-DFCADE4F9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419" name="Line 1031">
            <a:extLst>
              <a:ext uri="{FF2B5EF4-FFF2-40B4-BE49-F238E27FC236}">
                <a16:creationId xmlns:a16="http://schemas.microsoft.com/office/drawing/2014/main" id="{A718FD66-F647-4A48-8B1D-52AAE1A776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8420" name="AutoShape 1032">
            <a:extLst>
              <a:ext uri="{FF2B5EF4-FFF2-40B4-BE49-F238E27FC236}">
                <a16:creationId xmlns:a16="http://schemas.microsoft.com/office/drawing/2014/main" id="{D33E762E-93D9-4723-ADFA-4463CE04E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88421" name="AutoShape 1033">
            <a:extLst>
              <a:ext uri="{FF2B5EF4-FFF2-40B4-BE49-F238E27FC236}">
                <a16:creationId xmlns:a16="http://schemas.microsoft.com/office/drawing/2014/main" id="{24AA87E2-F738-461A-831A-E1E88C1B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C2CE4EB-C48F-4811-B9B9-A12975DBF3AB}"/>
              </a:ext>
            </a:extLst>
          </p:cNvPr>
          <p:cNvSpPr txBox="1">
            <a:spLocks noChangeArrowheads="1"/>
          </p:cNvSpPr>
          <p:nvPr/>
        </p:nvSpPr>
        <p:spPr>
          <a:xfrm>
            <a:off x="179388" y="981075"/>
            <a:ext cx="8748712" cy="482441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MOV	NUM, 0</a:t>
            </a:r>
            <a:r>
              <a:rPr lang="en-US" altLang="zh-CN" b="1" dirty="0">
                <a:latin typeface="+mn-ea"/>
                <a:ea typeface="+mn-ea"/>
              </a:rPr>
              <a:t>	;</a:t>
            </a:r>
            <a:r>
              <a:rPr lang="zh-CN" altLang="en-US" b="1" dirty="0">
                <a:latin typeface="+mn-ea"/>
                <a:ea typeface="+mn-ea"/>
              </a:rPr>
              <a:t>累加器清零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MOV	SIGN, 0</a:t>
            </a:r>
            <a:r>
              <a:rPr lang="en-US" altLang="zh-CN" b="1" dirty="0">
                <a:latin typeface="+mn-ea"/>
                <a:ea typeface="+mn-ea"/>
              </a:rPr>
              <a:t>	;</a:t>
            </a:r>
            <a:r>
              <a:rPr lang="zh-CN" altLang="en-US" b="1" dirty="0">
                <a:latin typeface="+mn-ea"/>
                <a:ea typeface="+mn-ea"/>
              </a:rPr>
              <a:t>符号预设为</a:t>
            </a:r>
            <a:r>
              <a:rPr lang="en-US" altLang="zh-CN" b="1" dirty="0">
                <a:latin typeface="+mn-ea"/>
                <a:ea typeface="+mn-ea"/>
              </a:rPr>
              <a:t>0</a:t>
            </a:r>
            <a:r>
              <a:rPr lang="zh-CN" altLang="en-US" b="1" dirty="0">
                <a:latin typeface="+mn-ea"/>
                <a:ea typeface="+mn-ea"/>
              </a:rPr>
              <a:t>（表示“</a:t>
            </a:r>
            <a:r>
              <a:rPr lang="en-US" altLang="zh-CN" b="1" dirty="0">
                <a:latin typeface="+mn-ea"/>
                <a:ea typeface="+mn-ea"/>
              </a:rPr>
              <a:t>+”</a:t>
            </a:r>
            <a:r>
              <a:rPr lang="zh-CN" altLang="en-US" b="1" dirty="0">
                <a:latin typeface="+mn-ea"/>
                <a:ea typeface="+mn-ea"/>
              </a:rPr>
              <a:t>）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BEGIN:MOV AH, 1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INT	21H</a:t>
            </a:r>
            <a:r>
              <a:rPr lang="en-US" altLang="zh-CN" b="1" dirty="0">
                <a:latin typeface="+mn-ea"/>
                <a:ea typeface="+mn-ea"/>
              </a:rPr>
              <a:t>	 	;</a:t>
            </a:r>
            <a:r>
              <a:rPr lang="zh-CN" altLang="en-US" b="1" dirty="0">
                <a:latin typeface="+mn-ea"/>
                <a:ea typeface="+mn-ea"/>
              </a:rPr>
              <a:t>从键盘输入一个字符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solidFill>
                  <a:srgbClr val="3103DB"/>
                </a:solidFill>
                <a:latin typeface="+mn-ea"/>
                <a:ea typeface="+mn-ea"/>
              </a:rPr>
              <a:t>CMP	AL, 0DH</a:t>
            </a: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	</a:t>
            </a:r>
            <a:r>
              <a:rPr lang="en-US" altLang="zh-CN" sz="2800" b="1" dirty="0">
                <a:solidFill>
                  <a:srgbClr val="3103DB"/>
                </a:solidFill>
                <a:latin typeface="+mn-ea"/>
                <a:ea typeface="+mn-ea"/>
              </a:rPr>
              <a:t>JE	EXIT	</a:t>
            </a:r>
            <a:r>
              <a:rPr lang="en-US" altLang="zh-CN" b="1" dirty="0">
                <a:latin typeface="+mn-ea"/>
                <a:ea typeface="+mn-ea"/>
              </a:rPr>
              <a:t>	;</a:t>
            </a:r>
            <a:r>
              <a:rPr lang="zh-CN" altLang="en-US" b="1" dirty="0">
                <a:latin typeface="+mn-ea"/>
                <a:ea typeface="+mn-ea"/>
              </a:rPr>
              <a:t>是回车，转</a:t>
            </a:r>
            <a:r>
              <a:rPr lang="en-US" altLang="zh-CN" b="1" dirty="0">
                <a:latin typeface="+mn-ea"/>
                <a:ea typeface="+mn-ea"/>
              </a:rPr>
              <a:t>EXIT</a:t>
            </a:r>
            <a:r>
              <a:rPr lang="zh-CN" altLang="en-US" b="1" dirty="0">
                <a:latin typeface="+mn-ea"/>
                <a:ea typeface="+mn-ea"/>
              </a:rPr>
              <a:t>，结束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CMP	AL, “+”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JE	INPUT</a:t>
            </a:r>
            <a:r>
              <a:rPr lang="en-US" altLang="zh-CN" b="1" dirty="0">
                <a:latin typeface="+mn-ea"/>
                <a:ea typeface="+mn-ea"/>
              </a:rPr>
              <a:t>		;</a:t>
            </a:r>
            <a:r>
              <a:rPr lang="zh-CN" altLang="en-US" b="1" dirty="0">
                <a:latin typeface="+mn-ea"/>
                <a:ea typeface="+mn-ea"/>
              </a:rPr>
              <a:t>是“</a:t>
            </a:r>
            <a:r>
              <a:rPr lang="en-US" altLang="zh-CN" b="1" dirty="0">
                <a:latin typeface="+mn-ea"/>
                <a:ea typeface="+mn-ea"/>
              </a:rPr>
              <a:t>+”,</a:t>
            </a:r>
            <a:r>
              <a:rPr lang="zh-CN" altLang="en-US" b="1" dirty="0">
                <a:latin typeface="+mn-ea"/>
                <a:ea typeface="+mn-ea"/>
              </a:rPr>
              <a:t>转</a:t>
            </a:r>
            <a:r>
              <a:rPr lang="en-US" altLang="zh-CN" b="1" dirty="0">
                <a:latin typeface="+mn-ea"/>
                <a:ea typeface="+mn-ea"/>
              </a:rPr>
              <a:t>INPUT</a:t>
            </a:r>
            <a:r>
              <a:rPr lang="zh-CN" altLang="en-US" b="1" dirty="0">
                <a:latin typeface="+mn-ea"/>
                <a:ea typeface="+mn-ea"/>
              </a:rPr>
              <a:t>输入下一个字符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CMP	AL, “-”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JNE	TWO</a:t>
            </a:r>
            <a:r>
              <a:rPr lang="en-US" altLang="zh-CN" b="1" dirty="0">
                <a:latin typeface="+mn-ea"/>
                <a:ea typeface="+mn-ea"/>
              </a:rPr>
              <a:t>		;</a:t>
            </a:r>
            <a:r>
              <a:rPr lang="zh-CN" altLang="en-US" b="1" dirty="0">
                <a:latin typeface="+mn-ea"/>
                <a:ea typeface="+mn-ea"/>
              </a:rPr>
              <a:t>非符号字符，转</a:t>
            </a:r>
            <a:r>
              <a:rPr lang="en-US" altLang="zh-CN" b="1" dirty="0">
                <a:latin typeface="+mn-ea"/>
                <a:ea typeface="+mn-ea"/>
              </a:rPr>
              <a:t>TWO</a:t>
            </a:r>
            <a:r>
              <a:rPr lang="zh-CN" altLang="en-US" b="1" dirty="0">
                <a:latin typeface="+mn-ea"/>
                <a:ea typeface="+mn-ea"/>
              </a:rPr>
              <a:t>处理该字符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sz="2800" b="1" dirty="0">
                <a:latin typeface="+mn-ea"/>
                <a:ea typeface="+mn-ea"/>
              </a:rPr>
              <a:t>MOV	SIGN, 1</a:t>
            </a:r>
            <a:r>
              <a:rPr lang="en-US" altLang="zh-CN" b="1" dirty="0">
                <a:latin typeface="+mn-ea"/>
                <a:ea typeface="+mn-ea"/>
              </a:rPr>
              <a:t>	;</a:t>
            </a:r>
            <a:r>
              <a:rPr lang="zh-CN" altLang="en-US" b="1" dirty="0">
                <a:latin typeface="+mn-ea"/>
                <a:ea typeface="+mn-ea"/>
              </a:rPr>
              <a:t>是“</a:t>
            </a:r>
            <a:r>
              <a:rPr lang="en-US" altLang="zh-CN" b="1" dirty="0">
                <a:latin typeface="+mn-ea"/>
                <a:ea typeface="+mn-ea"/>
              </a:rPr>
              <a:t>-”,</a:t>
            </a:r>
            <a:r>
              <a:rPr lang="zh-CN" altLang="en-US" b="1" dirty="0">
                <a:latin typeface="+mn-ea"/>
                <a:ea typeface="+mn-ea"/>
              </a:rPr>
              <a:t>把符号标识为</a:t>
            </a:r>
            <a:r>
              <a:rPr lang="en-US" altLang="zh-CN" b="1" dirty="0">
                <a:latin typeface="+mn-ea"/>
                <a:ea typeface="+mn-ea"/>
              </a:rPr>
              <a:t>1(</a:t>
            </a:r>
            <a:r>
              <a:rPr lang="zh-CN" altLang="en-US" b="1" dirty="0">
                <a:latin typeface="+mn-ea"/>
                <a:ea typeface="+mn-ea"/>
              </a:rPr>
              <a:t>表示“</a:t>
            </a:r>
            <a:r>
              <a:rPr lang="en-US" altLang="zh-CN" b="1" dirty="0">
                <a:latin typeface="+mn-ea"/>
                <a:ea typeface="+mn-ea"/>
              </a:rPr>
              <a:t>-”)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188423" name="Text Box 1029">
            <a:extLst>
              <a:ext uri="{FF2B5EF4-FFF2-40B4-BE49-F238E27FC236}">
                <a16:creationId xmlns:a16="http://schemas.microsoft.com/office/drawing/2014/main" id="{88302EB7-5743-42AD-9664-ABF32518E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88424" name="页脚占位符 14">
            <a:extLst>
              <a:ext uri="{FF2B5EF4-FFF2-40B4-BE49-F238E27FC236}">
                <a16:creationId xmlns:a16="http://schemas.microsoft.com/office/drawing/2014/main" id="{8CE8E579-5714-42B2-986C-3AFBB9A60FEF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88425" name="灯片编号占位符 13">
            <a:extLst>
              <a:ext uri="{FF2B5EF4-FFF2-40B4-BE49-F238E27FC236}">
                <a16:creationId xmlns:a16="http://schemas.microsoft.com/office/drawing/2014/main" id="{F19D67F8-DC03-44F4-8B3C-3BDD944CF1E7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A710BD2-4638-450D-9780-B0343B8E408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8426" name="日期占位符 12">
            <a:extLst>
              <a:ext uri="{FF2B5EF4-FFF2-40B4-BE49-F238E27FC236}">
                <a16:creationId xmlns:a16="http://schemas.microsoft.com/office/drawing/2014/main" id="{3AF183EC-B412-4639-A5B4-A332158CF0DD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C1EDDDD-5CD3-4047-952A-A09F6350903C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Line 1027">
            <a:extLst>
              <a:ext uri="{FF2B5EF4-FFF2-40B4-BE49-F238E27FC236}">
                <a16:creationId xmlns:a16="http://schemas.microsoft.com/office/drawing/2014/main" id="{5747F350-92B0-4EBE-9DF8-C9C859E13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467" name="Line 1031">
            <a:extLst>
              <a:ext uri="{FF2B5EF4-FFF2-40B4-BE49-F238E27FC236}">
                <a16:creationId xmlns:a16="http://schemas.microsoft.com/office/drawing/2014/main" id="{EA039C56-8CB7-4FA2-9A8C-7770E303B2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0468" name="AutoShape 1032">
            <a:extLst>
              <a:ext uri="{FF2B5EF4-FFF2-40B4-BE49-F238E27FC236}">
                <a16:creationId xmlns:a16="http://schemas.microsoft.com/office/drawing/2014/main" id="{919C4BAF-FA05-4883-AF3B-DA4FDA27C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90469" name="AutoShape 1033">
            <a:extLst>
              <a:ext uri="{FF2B5EF4-FFF2-40B4-BE49-F238E27FC236}">
                <a16:creationId xmlns:a16="http://schemas.microsoft.com/office/drawing/2014/main" id="{9BF6D5B4-7732-43AA-8029-37742D1D0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833" name="Rectangle 3">
            <a:extLst>
              <a:ext uri="{FF2B5EF4-FFF2-40B4-BE49-F238E27FC236}">
                <a16:creationId xmlns:a16="http://schemas.microsoft.com/office/drawing/2014/main" id="{7A693C8A-8AFF-4578-A113-1AC724562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49275"/>
            <a:ext cx="8569325" cy="554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INPUT:MOV AH, 1				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INT	21H		</a:t>
            </a:r>
            <a:r>
              <a:rPr lang="zh-CN" altLang="en-US" b="1" dirty="0">
                <a:latin typeface="+mn-ea"/>
                <a:ea typeface="+mn-ea"/>
              </a:rPr>
              <a:t>；从键盘再输入一个字符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CMP	AL, 0DH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JE	DONE		</a:t>
            </a:r>
            <a:r>
              <a:rPr lang="zh-CN" altLang="en-US" b="1" dirty="0">
                <a:latin typeface="+mn-ea"/>
                <a:ea typeface="+mn-ea"/>
              </a:rPr>
              <a:t>；是回车，转</a:t>
            </a:r>
            <a:r>
              <a:rPr lang="en-US" altLang="zh-CN" b="1" dirty="0">
                <a:latin typeface="+mn-ea"/>
                <a:ea typeface="+mn-ea"/>
              </a:rPr>
              <a:t>DONE</a:t>
            </a:r>
            <a:r>
              <a:rPr lang="zh-CN" altLang="en-US" b="1" dirty="0">
                <a:latin typeface="+mn-ea"/>
                <a:ea typeface="+mn-ea"/>
              </a:rPr>
              <a:t>，结束处理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TWO:	CMP	AL, “0”				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JB	ERRINPUT	</a:t>
            </a:r>
            <a:r>
              <a:rPr lang="zh-CN" altLang="en-US" b="1" dirty="0">
                <a:latin typeface="+mn-ea"/>
                <a:ea typeface="+mn-ea"/>
              </a:rPr>
              <a:t>；输入非数字，显示出错信息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CMP	AL, “9”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JA	ERRINPUT	</a:t>
            </a:r>
            <a:r>
              <a:rPr lang="zh-CN" altLang="en-US" b="1" dirty="0">
                <a:latin typeface="+mn-ea"/>
                <a:ea typeface="+mn-ea"/>
              </a:rPr>
              <a:t>；输入非数字，显示出错信息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MOV	BX, AX	</a:t>
            </a:r>
            <a:r>
              <a:rPr lang="zh-CN" altLang="en-US" b="1" dirty="0">
                <a:latin typeface="+mn-ea"/>
                <a:ea typeface="+mn-ea"/>
              </a:rPr>
              <a:t>；输入字符转移到</a:t>
            </a:r>
            <a:r>
              <a:rPr lang="en-US" altLang="zh-CN" b="1" dirty="0">
                <a:latin typeface="+mn-ea"/>
                <a:ea typeface="+mn-ea"/>
              </a:rPr>
              <a:t>BX</a:t>
            </a:r>
            <a:r>
              <a:rPr lang="zh-CN" altLang="en-US" b="1" dirty="0">
                <a:latin typeface="+mn-ea"/>
                <a:ea typeface="+mn-ea"/>
              </a:rPr>
              <a:t>寄存器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AND	BX, 000FH	</a:t>
            </a:r>
            <a:r>
              <a:rPr lang="zh-CN" altLang="en-US" b="1" dirty="0">
                <a:latin typeface="+mn-ea"/>
                <a:ea typeface="+mn-ea"/>
              </a:rPr>
              <a:t>；转换成二进制数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MOV	AX, NUM	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MUL	C10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ADD	AX, BX	</a:t>
            </a:r>
            <a:r>
              <a:rPr lang="zh-CN" altLang="en-US" b="1" dirty="0">
                <a:latin typeface="+mn-ea"/>
                <a:ea typeface="+mn-ea"/>
              </a:rPr>
              <a:t>；新输入数字拼接到已输入数字中</a:t>
            </a:r>
          </a:p>
          <a:p>
            <a:pPr eaLnBrk="1" hangingPunct="1">
              <a:defRPr/>
            </a:pPr>
            <a:r>
              <a:rPr lang="zh-CN" altLang="en-US" b="1" dirty="0">
                <a:latin typeface="+mn-ea"/>
                <a:ea typeface="+mn-ea"/>
              </a:rPr>
              <a:t>	</a:t>
            </a:r>
            <a:r>
              <a:rPr lang="en-US" altLang="zh-CN" b="1" dirty="0">
                <a:latin typeface="+mn-ea"/>
                <a:ea typeface="+mn-ea"/>
              </a:rPr>
              <a:t>MOV	NUM, AX</a:t>
            </a:r>
          </a:p>
          <a:p>
            <a:pPr eaLnBrk="1" hangingPunct="1">
              <a:defRPr/>
            </a:pPr>
            <a:r>
              <a:rPr lang="en-US" altLang="zh-CN" b="1" dirty="0">
                <a:latin typeface="+mn-ea"/>
                <a:ea typeface="+mn-ea"/>
              </a:rPr>
              <a:t>	</a:t>
            </a:r>
            <a:r>
              <a:rPr lang="en-US" altLang="zh-CN" b="1" dirty="0">
                <a:solidFill>
                  <a:srgbClr val="3103DB"/>
                </a:solidFill>
                <a:latin typeface="+mn-ea"/>
                <a:ea typeface="+mn-ea"/>
              </a:rPr>
              <a:t>JMP	INPUT	</a:t>
            </a:r>
            <a:r>
              <a:rPr lang="en-US" altLang="zh-CN" b="1" dirty="0">
                <a:latin typeface="+mn-ea"/>
                <a:ea typeface="+mn-ea"/>
              </a:rPr>
              <a:t>	</a:t>
            </a:r>
            <a:r>
              <a:rPr lang="zh-CN" altLang="en-US" b="1" dirty="0">
                <a:latin typeface="+mn-ea"/>
                <a:ea typeface="+mn-ea"/>
              </a:rPr>
              <a:t>；转</a:t>
            </a:r>
            <a:r>
              <a:rPr lang="en-US" altLang="zh-CN" b="1" dirty="0">
                <a:latin typeface="+mn-ea"/>
                <a:ea typeface="+mn-ea"/>
              </a:rPr>
              <a:t>INPUT</a:t>
            </a:r>
            <a:r>
              <a:rPr lang="zh-CN" altLang="en-US" b="1" dirty="0">
                <a:latin typeface="+mn-ea"/>
                <a:ea typeface="+mn-ea"/>
              </a:rPr>
              <a:t>，输入下一个字符 </a:t>
            </a:r>
          </a:p>
        </p:txBody>
      </p:sp>
      <p:sp>
        <p:nvSpPr>
          <p:cNvPr id="190471" name="Text Box 1029">
            <a:extLst>
              <a:ext uri="{FF2B5EF4-FFF2-40B4-BE49-F238E27FC236}">
                <a16:creationId xmlns:a16="http://schemas.microsoft.com/office/drawing/2014/main" id="{23217871-4508-482F-B7BB-0CC2B128B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0472" name="页脚占位符 14">
            <a:extLst>
              <a:ext uri="{FF2B5EF4-FFF2-40B4-BE49-F238E27FC236}">
                <a16:creationId xmlns:a16="http://schemas.microsoft.com/office/drawing/2014/main" id="{9B6CCE5E-4C9B-4D92-AE8A-3EE88B917C5B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90473" name="灯片编号占位符 13">
            <a:extLst>
              <a:ext uri="{FF2B5EF4-FFF2-40B4-BE49-F238E27FC236}">
                <a16:creationId xmlns:a16="http://schemas.microsoft.com/office/drawing/2014/main" id="{E4FDC142-D1E6-46C6-BBB6-225F12F4A99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B50BF0B6-0B52-4DFC-A65F-B5DEBFD8BC7C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0474" name="日期占位符 12">
            <a:extLst>
              <a:ext uri="{FF2B5EF4-FFF2-40B4-BE49-F238E27FC236}">
                <a16:creationId xmlns:a16="http://schemas.microsoft.com/office/drawing/2014/main" id="{8C86D148-F836-4A72-8A4A-954E60C9F162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906D0EF-C633-467A-9C41-3BC642EEDEAD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Line 1027">
            <a:extLst>
              <a:ext uri="{FF2B5EF4-FFF2-40B4-BE49-F238E27FC236}">
                <a16:creationId xmlns:a16="http://schemas.microsoft.com/office/drawing/2014/main" id="{4442DA80-A699-4F7F-8002-BFCFB8C82E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515" name="Line 1031">
            <a:extLst>
              <a:ext uri="{FF2B5EF4-FFF2-40B4-BE49-F238E27FC236}">
                <a16:creationId xmlns:a16="http://schemas.microsoft.com/office/drawing/2014/main" id="{415D72DC-8A88-4A03-A259-20C7EB39C2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2516" name="AutoShape 1032">
            <a:extLst>
              <a:ext uri="{FF2B5EF4-FFF2-40B4-BE49-F238E27FC236}">
                <a16:creationId xmlns:a16="http://schemas.microsoft.com/office/drawing/2014/main" id="{2CB9F1FE-60F7-4FC7-9B76-015F67638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92517" name="AutoShape 1033">
            <a:extLst>
              <a:ext uri="{FF2B5EF4-FFF2-40B4-BE49-F238E27FC236}">
                <a16:creationId xmlns:a16="http://schemas.microsoft.com/office/drawing/2014/main" id="{FB3F02CB-6BAA-4578-9C6D-8BD78009D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73DA7A3-5AF0-4C6D-B1B2-C9D490EB5827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692150"/>
            <a:ext cx="8424862" cy="52578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ERRINPUT: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   LEA	DX, ERRMSG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   MOV	AH, 9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   INT	21H		</a:t>
            </a:r>
            <a:r>
              <a:rPr lang="zh-CN" altLang="en-US" sz="2800" b="1" dirty="0">
                <a:latin typeface="+mn-ea"/>
                <a:ea typeface="+mn-ea"/>
              </a:rPr>
              <a:t>；显示出错信息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   </a:t>
            </a:r>
            <a:r>
              <a:rPr lang="en-US" altLang="zh-CN" sz="2800" b="1" dirty="0">
                <a:latin typeface="+mn-ea"/>
                <a:ea typeface="+mn-ea"/>
              </a:rPr>
              <a:t>JMP	INPUT	</a:t>
            </a:r>
            <a:r>
              <a:rPr lang="zh-CN" altLang="en-US" sz="2800" b="1" dirty="0">
                <a:latin typeface="+mn-ea"/>
                <a:ea typeface="+mn-ea"/>
              </a:rPr>
              <a:t>；转</a:t>
            </a:r>
            <a:r>
              <a:rPr lang="en-US" altLang="zh-CN" sz="2800" b="1" dirty="0">
                <a:latin typeface="+mn-ea"/>
                <a:ea typeface="+mn-ea"/>
              </a:rPr>
              <a:t>INPUT</a:t>
            </a:r>
            <a:r>
              <a:rPr lang="zh-CN" altLang="en-US" sz="2800" b="1" dirty="0">
                <a:latin typeface="+mn-ea"/>
                <a:ea typeface="+mn-ea"/>
              </a:rPr>
              <a:t>，重新输入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DONE:	   CMP	SIGN, 0	</a:t>
            </a:r>
            <a:r>
              <a:rPr lang="zh-CN" altLang="en-US" sz="2800" b="1" dirty="0">
                <a:latin typeface="+mn-ea"/>
                <a:ea typeface="+mn-ea"/>
              </a:rPr>
              <a:t>；判符号位</a:t>
            </a:r>
          </a:p>
          <a:p>
            <a:pPr eaLnBrk="1" hangingPunct="1">
              <a:defRPr/>
            </a:pPr>
            <a:r>
              <a:rPr lang="zh-CN" altLang="en-US" sz="2800" b="1" dirty="0">
                <a:latin typeface="+mn-ea"/>
                <a:ea typeface="+mn-ea"/>
              </a:rPr>
              <a:t>	   </a:t>
            </a:r>
            <a:r>
              <a:rPr lang="en-US" altLang="zh-CN" sz="2800" b="1" dirty="0">
                <a:latin typeface="+mn-ea"/>
                <a:ea typeface="+mn-ea"/>
              </a:rPr>
              <a:t>JE		EXIT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   NEG	NUM	 ;</a:t>
            </a:r>
            <a:r>
              <a:rPr lang="zh-CN" altLang="en-US" b="1" dirty="0">
                <a:latin typeface="+mn-ea"/>
                <a:ea typeface="+mn-ea"/>
              </a:rPr>
              <a:t>符号为“</a:t>
            </a:r>
            <a:r>
              <a:rPr lang="en-US" altLang="zh-CN" b="1" dirty="0">
                <a:latin typeface="+mn-ea"/>
                <a:ea typeface="+mn-ea"/>
              </a:rPr>
              <a:t>-”</a:t>
            </a:r>
            <a:r>
              <a:rPr lang="zh-CN" altLang="en-US" b="1" dirty="0">
                <a:latin typeface="+mn-ea"/>
                <a:ea typeface="+mn-ea"/>
              </a:rPr>
              <a:t>，对已输入数求补</a:t>
            </a:r>
            <a:endParaRPr lang="zh-CN" altLang="en-US" sz="2800" b="1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EXIT:   MOV	AX, 4C00H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   INT	21H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CODE    ENDS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+mn-ea"/>
                <a:ea typeface="+mn-ea"/>
              </a:rPr>
              <a:t>	   END	START </a:t>
            </a:r>
          </a:p>
        </p:txBody>
      </p:sp>
      <p:sp>
        <p:nvSpPr>
          <p:cNvPr id="192519" name="Text Box 1029">
            <a:extLst>
              <a:ext uri="{FF2B5EF4-FFF2-40B4-BE49-F238E27FC236}">
                <a16:creationId xmlns:a16="http://schemas.microsoft.com/office/drawing/2014/main" id="{9ED4E7EC-E639-4E04-A66E-65E08ECF2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2520" name="页脚占位符 14">
            <a:extLst>
              <a:ext uri="{FF2B5EF4-FFF2-40B4-BE49-F238E27FC236}">
                <a16:creationId xmlns:a16="http://schemas.microsoft.com/office/drawing/2014/main" id="{C3807B8C-50B8-4485-874F-20C78B42CDC5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92521" name="灯片编号占位符 13">
            <a:extLst>
              <a:ext uri="{FF2B5EF4-FFF2-40B4-BE49-F238E27FC236}">
                <a16:creationId xmlns:a16="http://schemas.microsoft.com/office/drawing/2014/main" id="{9D027009-C299-4274-8777-B2D9943195A3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50EEA86-AB62-4FBE-A479-A6C8F0284C67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2522" name="日期占位符 12">
            <a:extLst>
              <a:ext uri="{FF2B5EF4-FFF2-40B4-BE49-F238E27FC236}">
                <a16:creationId xmlns:a16="http://schemas.microsoft.com/office/drawing/2014/main" id="{B5742075-DECF-400F-A9BC-3412C26E383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8F832E9-494C-445E-843B-45137470EA16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dissolv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Line 3">
            <a:extLst>
              <a:ext uri="{FF2B5EF4-FFF2-40B4-BE49-F238E27FC236}">
                <a16:creationId xmlns:a16="http://schemas.microsoft.com/office/drawing/2014/main" id="{C5EE97B2-67E0-42DE-8C0B-3AB5E61E0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03D263F2-AB8B-4B73-B79A-9A4E1E710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194564" name="Line 6">
            <a:extLst>
              <a:ext uri="{FF2B5EF4-FFF2-40B4-BE49-F238E27FC236}">
                <a16:creationId xmlns:a16="http://schemas.microsoft.com/office/drawing/2014/main" id="{5F8B06E1-B533-44DA-9707-7AFB17560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4565" name="AutoShape 7">
            <a:extLst>
              <a:ext uri="{FF2B5EF4-FFF2-40B4-BE49-F238E27FC236}">
                <a16:creationId xmlns:a16="http://schemas.microsoft.com/office/drawing/2014/main" id="{048B54B7-20CD-4C2C-BB57-B48C1690D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94566" name="Text Box 9">
            <a:extLst>
              <a:ext uri="{FF2B5EF4-FFF2-40B4-BE49-F238E27FC236}">
                <a16:creationId xmlns:a16="http://schemas.microsoft.com/office/drawing/2014/main" id="{C2169A8B-EE0B-4876-B129-5D704B4F6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9879" name="Text Box 10">
            <a:extLst>
              <a:ext uri="{FF2B5EF4-FFF2-40B4-BE49-F238E27FC236}">
                <a16:creationId xmlns:a16="http://schemas.microsoft.com/office/drawing/2014/main" id="{0ECB29FB-9C80-4DBE-902D-C3A3845F2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08050"/>
            <a:ext cx="8078787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[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26] 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编写程序，将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16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位变量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内容作为补码数以十进制数显示出来。</a:t>
            </a:r>
            <a:r>
              <a:rPr lang="en-US" altLang="zh-CN" sz="3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itchFamily="49" charset="-122"/>
                <a:ea typeface="楷体" pitchFamily="49" charset="-122"/>
                <a:hlinkClick r:id="rId3" action="ppaction://hlinkfile"/>
              </a:rPr>
              <a:t>EP516.ASM</a:t>
            </a:r>
            <a:endParaRPr lang="zh-CN" altLang="en-US" sz="4400" b="1" dirty="0">
              <a:solidFill>
                <a:schemeClr val="accent2">
                  <a:lumMod val="20000"/>
                  <a:lumOff val="8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94568" name="Text Box 1029">
            <a:extLst>
              <a:ext uri="{FF2B5EF4-FFF2-40B4-BE49-F238E27FC236}">
                <a16:creationId xmlns:a16="http://schemas.microsoft.com/office/drawing/2014/main" id="{F3950F49-80EF-453A-B74B-D252E0D89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BC1769-1927-4B16-91AC-E8C2EAB62137}"/>
              </a:ext>
            </a:extLst>
          </p:cNvPr>
          <p:cNvSpPr/>
          <p:nvPr/>
        </p:nvSpPr>
        <p:spPr>
          <a:xfrm>
            <a:off x="776288" y="2370138"/>
            <a:ext cx="7777162" cy="353853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_DATA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SEGMENT 'DATA'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  <a:p>
            <a:pPr eaLnBrk="1" hangingPunct="1">
              <a:defRPr/>
            </a:pP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		X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DW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9ABCh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  <a:p>
            <a:pPr eaLnBrk="1" hangingPunct="1">
              <a:defRPr/>
            </a:pP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_DATA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ENDS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  <a:p>
            <a:pPr eaLnBrk="1" hangingPunct="1">
              <a:defRPr/>
            </a:pP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_TEXT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SEGMENT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'CODE'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  <a:p>
            <a:pPr eaLnBrk="1" hangingPunct="1">
              <a:defRPr/>
            </a:pP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	ASSUME CS: _TEXT, DS: _DATA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  <a:p>
            <a:pPr eaLnBrk="1" hangingPunct="1">
              <a:defRPr/>
            </a:pP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Start: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MOV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AX, _DATA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  <a:p>
            <a:pPr eaLnBrk="1" hangingPunct="1">
              <a:defRPr/>
            </a:pP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	MOV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DS, AX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194570" name="页脚占位符 14">
            <a:extLst>
              <a:ext uri="{FF2B5EF4-FFF2-40B4-BE49-F238E27FC236}">
                <a16:creationId xmlns:a16="http://schemas.microsoft.com/office/drawing/2014/main" id="{3316B859-4ACB-44A7-8481-5C7C89E1F7BD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94571" name="灯片编号占位符 13">
            <a:extLst>
              <a:ext uri="{FF2B5EF4-FFF2-40B4-BE49-F238E27FC236}">
                <a16:creationId xmlns:a16="http://schemas.microsoft.com/office/drawing/2014/main" id="{37DB82C0-0F72-4899-B04B-CAABC9A24DA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237ADD0-7FC7-4979-B9AA-72342012893B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572" name="日期占位符 12">
            <a:extLst>
              <a:ext uri="{FF2B5EF4-FFF2-40B4-BE49-F238E27FC236}">
                <a16:creationId xmlns:a16="http://schemas.microsoft.com/office/drawing/2014/main" id="{63FE547E-7030-4BA1-9CD0-589F74C87E42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CC7516C-1B59-46E7-93FA-BB932A6E3A3C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Line 3">
            <a:extLst>
              <a:ext uri="{FF2B5EF4-FFF2-40B4-BE49-F238E27FC236}">
                <a16:creationId xmlns:a16="http://schemas.microsoft.com/office/drawing/2014/main" id="{876443DD-93CF-4779-857D-B6AAD808E7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88F2BB3F-7B24-4AA3-A6A8-DC226B63F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196612" name="Line 6">
            <a:extLst>
              <a:ext uri="{FF2B5EF4-FFF2-40B4-BE49-F238E27FC236}">
                <a16:creationId xmlns:a16="http://schemas.microsoft.com/office/drawing/2014/main" id="{7D7DDE45-8ACA-4137-8732-F188AF6F47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6613" name="AutoShape 7">
            <a:extLst>
              <a:ext uri="{FF2B5EF4-FFF2-40B4-BE49-F238E27FC236}">
                <a16:creationId xmlns:a16="http://schemas.microsoft.com/office/drawing/2014/main" id="{42191D9B-99EF-40B4-8282-3DD8519F4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96614" name="Text Box 9">
            <a:extLst>
              <a:ext uri="{FF2B5EF4-FFF2-40B4-BE49-F238E27FC236}">
                <a16:creationId xmlns:a16="http://schemas.microsoft.com/office/drawing/2014/main" id="{6C36E610-09E1-44B6-B18B-9C8A9210A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6615" name="Text Box 1029">
            <a:extLst>
              <a:ext uri="{FF2B5EF4-FFF2-40B4-BE49-F238E27FC236}">
                <a16:creationId xmlns:a16="http://schemas.microsoft.com/office/drawing/2014/main" id="{D763F676-FB16-4C74-94CA-540EC93BF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6616" name="矩形 11">
            <a:extLst>
              <a:ext uri="{FF2B5EF4-FFF2-40B4-BE49-F238E27FC236}">
                <a16:creationId xmlns:a16="http://schemas.microsoft.com/office/drawing/2014/main" id="{41E6FB6B-FBF6-43BB-BF3C-5D33CF87A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620713"/>
            <a:ext cx="6840537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MOV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AX, X</a:t>
            </a:r>
            <a:endParaRPr lang="zh-CN" altLang="en-US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MOV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CX, 0	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计数器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MOV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BX, 10</a:t>
            </a:r>
            <a:endParaRPr lang="zh-CN" altLang="en-US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OR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AX, AX	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影响标志位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JNS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Endif1	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正则跳转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NEG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AX		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负则求补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PUSH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AX</a:t>
            </a:r>
            <a:endParaRPr lang="zh-CN" altLang="en-US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MOV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AH, 2</a:t>
            </a:r>
            <a:endParaRPr lang="zh-CN" altLang="en-US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MOV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DL, '-' 	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显示“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”号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INT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21h</a:t>
            </a:r>
            <a:endParaRPr lang="zh-CN" altLang="en-US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POP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AX		;***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Endif1:</a:t>
            </a:r>
            <a:endParaRPr lang="zh-CN" altLang="en-US" sz="3200" b="1">
              <a:solidFill>
                <a:srgbClr val="FF66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6617" name="页脚占位符 14">
            <a:extLst>
              <a:ext uri="{FF2B5EF4-FFF2-40B4-BE49-F238E27FC236}">
                <a16:creationId xmlns:a16="http://schemas.microsoft.com/office/drawing/2014/main" id="{57BE8733-3346-45DD-BDEB-B3ECBBC0A455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96618" name="灯片编号占位符 13">
            <a:extLst>
              <a:ext uri="{FF2B5EF4-FFF2-40B4-BE49-F238E27FC236}">
                <a16:creationId xmlns:a16="http://schemas.microsoft.com/office/drawing/2014/main" id="{2CCFD665-781C-4F93-96C1-2522C51EE7B2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EBFBEB7A-02B1-4BCF-A826-E03CB503A9E5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6619" name="日期占位符 12">
            <a:extLst>
              <a:ext uri="{FF2B5EF4-FFF2-40B4-BE49-F238E27FC236}">
                <a16:creationId xmlns:a16="http://schemas.microsoft.com/office/drawing/2014/main" id="{F311640D-87E9-4518-AAB4-52CEB962EEC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0096CD3-6C32-4E56-AED4-6A0E4875DFA0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Line 3">
            <a:extLst>
              <a:ext uri="{FF2B5EF4-FFF2-40B4-BE49-F238E27FC236}">
                <a16:creationId xmlns:a16="http://schemas.microsoft.com/office/drawing/2014/main" id="{91DFC7D1-EF76-4507-AB30-0E59711BD0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B5C72F7E-6260-42B1-9BEB-E8FFEEF16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198660" name="Line 6">
            <a:extLst>
              <a:ext uri="{FF2B5EF4-FFF2-40B4-BE49-F238E27FC236}">
                <a16:creationId xmlns:a16="http://schemas.microsoft.com/office/drawing/2014/main" id="{67FE28F4-BED8-459F-8264-23AE681AF6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8661" name="AutoShape 7">
            <a:extLst>
              <a:ext uri="{FF2B5EF4-FFF2-40B4-BE49-F238E27FC236}">
                <a16:creationId xmlns:a16="http://schemas.microsoft.com/office/drawing/2014/main" id="{DE3B6287-D6E6-4FF2-B5CD-6A1DC1179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98662" name="Text Box 9">
            <a:extLst>
              <a:ext uri="{FF2B5EF4-FFF2-40B4-BE49-F238E27FC236}">
                <a16:creationId xmlns:a16="http://schemas.microsoft.com/office/drawing/2014/main" id="{077ABE9E-E16C-49FE-B284-CAE468637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8663" name="Text Box 1029">
            <a:extLst>
              <a:ext uri="{FF2B5EF4-FFF2-40B4-BE49-F238E27FC236}">
                <a16:creationId xmlns:a16="http://schemas.microsoft.com/office/drawing/2014/main" id="{47F3D307-8315-4A83-AD8C-D88D5FE38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8664" name="矩形 11">
            <a:extLst>
              <a:ext uri="{FF2B5EF4-FFF2-40B4-BE49-F238E27FC236}">
                <a16:creationId xmlns:a16="http://schemas.microsoft.com/office/drawing/2014/main" id="{B455C957-A27B-46EE-B555-62BFBB6F3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49275"/>
            <a:ext cx="7705725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Rep1b:</a:t>
            </a: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MOV</a:t>
            </a: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DX, 0</a:t>
            </a:r>
            <a:endParaRPr lang="zh-CN" altLang="en-US" sz="3200" b="1">
              <a:solidFill>
                <a:srgbClr val="3103DB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DIV</a:t>
            </a: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BX	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除以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取余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ADD</a:t>
            </a: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DX, '0' 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;DL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30H</a:t>
            </a: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PUSH</a:t>
            </a: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DX	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先低后高入栈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INC</a:t>
            </a: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CX	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计余数个数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Rep1?:</a:t>
            </a: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OR</a:t>
            </a: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AX, AX</a:t>
            </a:r>
            <a:endParaRPr lang="zh-CN" altLang="en-US" sz="3200" b="1">
              <a:solidFill>
                <a:srgbClr val="3103DB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JNZ</a:t>
            </a:r>
            <a:r>
              <a:rPr lang="zh-CN" altLang="en-US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103D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Rep1b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商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结束循环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66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EndRep1:</a:t>
            </a:r>
            <a:endParaRPr lang="zh-CN" altLang="en-US" sz="3200" b="1">
              <a:solidFill>
                <a:srgbClr val="FF66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Rep2b:</a:t>
            </a:r>
            <a:r>
              <a:rPr lang="zh-CN" altLang="en-US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POP</a:t>
            </a:r>
            <a:r>
              <a:rPr lang="zh-CN" altLang="en-US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DX	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先高后低弹出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MOV</a:t>
            </a:r>
            <a:r>
              <a:rPr lang="zh-CN" altLang="en-US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AH, 2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显示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INT</a:t>
            </a:r>
            <a:r>
              <a:rPr lang="zh-CN" altLang="en-US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21h</a:t>
            </a:r>
            <a:endParaRPr lang="zh-CN" altLang="en-US" sz="3200" b="1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Rep2?:</a:t>
            </a:r>
            <a:r>
              <a:rPr lang="zh-CN" altLang="en-US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LOOP</a:t>
            </a:r>
            <a:r>
              <a:rPr lang="zh-CN" altLang="en-US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Rep2b</a:t>
            </a:r>
            <a:endParaRPr lang="zh-CN" altLang="en-US" sz="3200" b="1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8665" name="页脚占位符 14">
            <a:extLst>
              <a:ext uri="{FF2B5EF4-FFF2-40B4-BE49-F238E27FC236}">
                <a16:creationId xmlns:a16="http://schemas.microsoft.com/office/drawing/2014/main" id="{E88EE970-8B0E-498B-A230-B47ADA189EFC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198666" name="灯片编号占位符 13">
            <a:extLst>
              <a:ext uri="{FF2B5EF4-FFF2-40B4-BE49-F238E27FC236}">
                <a16:creationId xmlns:a16="http://schemas.microsoft.com/office/drawing/2014/main" id="{AD936C1D-6DD6-4D14-8B0F-0ECEE36D574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45D3DF90-F29E-46F4-A971-63EE31C050A1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8667" name="日期占位符 12">
            <a:extLst>
              <a:ext uri="{FF2B5EF4-FFF2-40B4-BE49-F238E27FC236}">
                <a16:creationId xmlns:a16="http://schemas.microsoft.com/office/drawing/2014/main" id="{15614371-C8DA-488F-A1AC-14FEA363844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78E5E3-10A5-4880-BD86-3F3C72A775E1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Line 3">
            <a:extLst>
              <a:ext uri="{FF2B5EF4-FFF2-40B4-BE49-F238E27FC236}">
                <a16:creationId xmlns:a16="http://schemas.microsoft.com/office/drawing/2014/main" id="{53FF676E-76DC-47E5-8857-F0D4E5866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616585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2874135C-521B-44D9-B824-5BE8D69A7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00708" name="Line 6">
            <a:extLst>
              <a:ext uri="{FF2B5EF4-FFF2-40B4-BE49-F238E27FC236}">
                <a16:creationId xmlns:a16="http://schemas.microsoft.com/office/drawing/2014/main" id="{C4076506-2CD8-46FB-ACD5-40901BB02B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0709" name="AutoShape 7">
            <a:extLst>
              <a:ext uri="{FF2B5EF4-FFF2-40B4-BE49-F238E27FC236}">
                <a16:creationId xmlns:a16="http://schemas.microsoft.com/office/drawing/2014/main" id="{49DEE369-48F5-4D4B-AD2E-7F7B32B77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0710" name="Text Box 9">
            <a:extLst>
              <a:ext uri="{FF2B5EF4-FFF2-40B4-BE49-F238E27FC236}">
                <a16:creationId xmlns:a16="http://schemas.microsoft.com/office/drawing/2014/main" id="{4FA1254E-3924-44B6-8F29-5ED9E9162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0711" name="Text Box 1029">
            <a:extLst>
              <a:ext uri="{FF2B5EF4-FFF2-40B4-BE49-F238E27FC236}">
                <a16:creationId xmlns:a16="http://schemas.microsoft.com/office/drawing/2014/main" id="{043F170A-F837-478C-911D-F960CC9C9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7E4CB6-6EB2-47B6-955F-A2A9B0FEEEF7}"/>
              </a:ext>
            </a:extLst>
          </p:cNvPr>
          <p:cNvSpPr/>
          <p:nvPr/>
        </p:nvSpPr>
        <p:spPr>
          <a:xfrm>
            <a:off x="827088" y="2205038"/>
            <a:ext cx="7345362" cy="20621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FF6600"/>
                </a:solidFill>
                <a:latin typeface="仿宋" pitchFamily="49" charset="-122"/>
                <a:ea typeface="仿宋" pitchFamily="49" charset="-122"/>
              </a:rPr>
              <a:t>EndRep2: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MOV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AX, 4C00h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  <a:p>
            <a:pPr eaLnBrk="1" hangingPunct="1">
              <a:defRPr/>
            </a:pP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	INT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21h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  <a:p>
            <a:pPr eaLnBrk="1" hangingPunct="1">
              <a:defRPr/>
            </a:pP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_TEXT</a:t>
            </a: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ENDS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  <a:p>
            <a:pPr eaLnBrk="1" hangingPunct="1">
              <a:defRPr/>
            </a:pPr>
            <a:r>
              <a:rPr lang="zh-CN" altLang="en-US" sz="3200" b="1" dirty="0"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3200" b="1" dirty="0">
                <a:latin typeface="仿宋" pitchFamily="49" charset="-122"/>
                <a:ea typeface="仿宋" pitchFamily="49" charset="-122"/>
              </a:rPr>
              <a:t>	END Start</a:t>
            </a:r>
            <a:endParaRPr lang="zh-CN" altLang="en-US" sz="3200" b="1" dirty="0"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200713" name="页脚占位符 14">
            <a:extLst>
              <a:ext uri="{FF2B5EF4-FFF2-40B4-BE49-F238E27FC236}">
                <a16:creationId xmlns:a16="http://schemas.microsoft.com/office/drawing/2014/main" id="{DCF19DF3-1A4F-44EA-A841-0C503C48A26B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00714" name="灯片编号占位符 13">
            <a:extLst>
              <a:ext uri="{FF2B5EF4-FFF2-40B4-BE49-F238E27FC236}">
                <a16:creationId xmlns:a16="http://schemas.microsoft.com/office/drawing/2014/main" id="{C3C5EC65-8DF5-45E1-A524-8FB21C2AEE6A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3BF161BD-C965-4636-82AC-A94E9A92573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0715" name="日期占位符 12">
            <a:extLst>
              <a:ext uri="{FF2B5EF4-FFF2-40B4-BE49-F238E27FC236}">
                <a16:creationId xmlns:a16="http://schemas.microsoft.com/office/drawing/2014/main" id="{F75B615A-2E18-4E66-84B5-BEB37819890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8A3A3F-B878-4107-9B67-C66835AF004C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Line 3">
            <a:extLst>
              <a:ext uri="{FF2B5EF4-FFF2-40B4-BE49-F238E27FC236}">
                <a16:creationId xmlns:a16="http://schemas.microsoft.com/office/drawing/2014/main" id="{805636FD-1259-40E6-80F0-EB3D0E94E1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5" name="Text Box 5">
            <a:extLst>
              <a:ext uri="{FF2B5EF4-FFF2-40B4-BE49-F238E27FC236}">
                <a16:creationId xmlns:a16="http://schemas.microsoft.com/office/drawing/2014/main" id="{D8F645FA-9A7B-4143-8A05-92055D742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02756" name="Line 6">
            <a:extLst>
              <a:ext uri="{FF2B5EF4-FFF2-40B4-BE49-F238E27FC236}">
                <a16:creationId xmlns:a16="http://schemas.microsoft.com/office/drawing/2014/main" id="{4DB8A838-FE8E-4401-B745-0B34F214FE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2757" name="AutoShape 7">
            <a:extLst>
              <a:ext uri="{FF2B5EF4-FFF2-40B4-BE49-F238E27FC236}">
                <a16:creationId xmlns:a16="http://schemas.microsoft.com/office/drawing/2014/main" id="{F64453AE-C54B-4925-BC67-B8DFDBDB3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2758" name="Text Box 9">
            <a:extLst>
              <a:ext uri="{FF2B5EF4-FFF2-40B4-BE49-F238E27FC236}">
                <a16:creationId xmlns:a16="http://schemas.microsoft.com/office/drawing/2014/main" id="{E8014AFB-9847-46AA-BD34-E07306B65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492375"/>
            <a:ext cx="86106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: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MOV	CX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0	;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初始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,CX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为计数器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LOP:	AND	AX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AX	;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先判断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,TEST AX,0FFFFH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也可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JZ	STOP		;AX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为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0,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结束循环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SAL	AX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1	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JNC	NOD			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INC	CX		;</a:t>
            </a:r>
            <a:r>
              <a:rPr lang="zh-CN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计数，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INC  CL		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NOD:	JMP	LOP				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STOP:HLT</a:t>
            </a:r>
            <a:r>
              <a:rPr lang="en-US" altLang="zh-CN" sz="4000" b="1">
                <a:latin typeface="仿宋" panose="02010609060101010101" pitchFamily="49" charset="-122"/>
                <a:ea typeface="仿宋" panose="02010609060101010101" pitchFamily="49" charset="-122"/>
              </a:rPr>
              <a:t>			</a:t>
            </a:r>
            <a:endParaRPr lang="en-US" altLang="zh-CN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9880" name="Text Box 10">
            <a:extLst>
              <a:ext uri="{FF2B5EF4-FFF2-40B4-BE49-F238E27FC236}">
                <a16:creationId xmlns:a16="http://schemas.microsoft.com/office/drawing/2014/main" id="{18F93E75-8D04-4BE1-85C9-0930FB350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557338"/>
            <a:ext cx="7467600" cy="9461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1" dirty="0">
                <a:latin typeface="宋体" pitchFamily="2" charset="-122"/>
              </a:rPr>
              <a:t>[</a:t>
            </a:r>
            <a:r>
              <a:rPr lang="zh-CN" altLang="en-US" sz="2800" b="1" dirty="0">
                <a:latin typeface="宋体" pitchFamily="2" charset="-122"/>
              </a:rPr>
              <a:t>例</a:t>
            </a:r>
            <a:r>
              <a:rPr lang="en-US" altLang="zh-CN" sz="2800" b="1" dirty="0">
                <a:latin typeface="宋体" pitchFamily="2" charset="-122"/>
              </a:rPr>
              <a:t>27] AX</a:t>
            </a:r>
            <a:r>
              <a:rPr lang="zh-CN" altLang="en-US" sz="2800" b="1" dirty="0">
                <a:latin typeface="宋体" pitchFamily="2" charset="-122"/>
              </a:rPr>
              <a:t>寄存器中的一个</a:t>
            </a:r>
            <a:r>
              <a:rPr lang="en-US" altLang="zh-CN" sz="2800" b="1" dirty="0">
                <a:latin typeface="宋体" pitchFamily="2" charset="-122"/>
              </a:rPr>
              <a:t>16</a:t>
            </a:r>
            <a:r>
              <a:rPr lang="zh-CN" altLang="en-US" sz="2800" b="1" dirty="0">
                <a:latin typeface="宋体" pitchFamily="2" charset="-122"/>
              </a:rPr>
              <a:t>位二进制数，编程统计其中</a:t>
            </a:r>
            <a:r>
              <a:rPr lang="en-US" altLang="zh-CN" sz="2800" b="1" dirty="0">
                <a:latin typeface="宋体" pitchFamily="2" charset="-122"/>
              </a:rPr>
              <a:t>1</a:t>
            </a:r>
            <a:r>
              <a:rPr lang="zh-CN" altLang="en-US" sz="2800" b="1" dirty="0">
                <a:latin typeface="宋体" pitchFamily="2" charset="-122"/>
              </a:rPr>
              <a:t>的个数，结果存入</a:t>
            </a:r>
            <a:r>
              <a:rPr lang="en-US" altLang="zh-CN" sz="2800" b="1" dirty="0">
                <a:latin typeface="宋体" pitchFamily="2" charset="-122"/>
              </a:rPr>
              <a:t>CL</a:t>
            </a:r>
            <a:r>
              <a:rPr lang="zh-CN" altLang="en-US" sz="2800" b="1" dirty="0">
                <a:latin typeface="宋体" pitchFamily="2" charset="-122"/>
              </a:rPr>
              <a:t>中。</a:t>
            </a:r>
            <a:endParaRPr lang="zh-CN" altLang="en-US" sz="2000" dirty="0"/>
          </a:p>
        </p:txBody>
      </p:sp>
      <p:sp>
        <p:nvSpPr>
          <p:cNvPr id="202760" name="Rectangle 11">
            <a:extLst>
              <a:ext uri="{FF2B5EF4-FFF2-40B4-BE49-F238E27FC236}">
                <a16:creationId xmlns:a16="http://schemas.microsoft.com/office/drawing/2014/main" id="{F461AC74-9D45-442F-B584-E99E31EC036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27088" y="765175"/>
            <a:ext cx="3889375" cy="555625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先判断后循环的例子</a:t>
            </a:r>
          </a:p>
        </p:txBody>
      </p:sp>
      <p:sp>
        <p:nvSpPr>
          <p:cNvPr id="202761" name="Text Box 1029">
            <a:extLst>
              <a:ext uri="{FF2B5EF4-FFF2-40B4-BE49-F238E27FC236}">
                <a16:creationId xmlns:a16="http://schemas.microsoft.com/office/drawing/2014/main" id="{19380E3C-84B9-4C5D-A5A1-D339E7AEA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66779A2C-033B-40C0-BF0C-4FE063A07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6163" y="5559425"/>
            <a:ext cx="3887787" cy="55721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lIns="0" rIns="0" bIns="0" anchor="b"/>
          <a:lstStyle/>
          <a:p>
            <a:pPr eaLnBrk="1" hangingPunct="1">
              <a:defRPr/>
            </a:pP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+mj-cs"/>
              </a:rPr>
              <a:t>优点：减少循环次数</a:t>
            </a:r>
          </a:p>
        </p:txBody>
      </p:sp>
      <p:sp>
        <p:nvSpPr>
          <p:cNvPr id="202763" name="页脚占位符 14">
            <a:extLst>
              <a:ext uri="{FF2B5EF4-FFF2-40B4-BE49-F238E27FC236}">
                <a16:creationId xmlns:a16="http://schemas.microsoft.com/office/drawing/2014/main" id="{8F046394-2B9C-409A-9C47-A3CDBAB78AB7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02764" name="灯片编号占位符 13">
            <a:extLst>
              <a:ext uri="{FF2B5EF4-FFF2-40B4-BE49-F238E27FC236}">
                <a16:creationId xmlns:a16="http://schemas.microsoft.com/office/drawing/2014/main" id="{EAC4F71B-7FD9-418A-A057-69BD8B191023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5E15D44-278B-43E6-8B9F-BE3BEC2D9F42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2765" name="日期占位符 12">
            <a:extLst>
              <a:ext uri="{FF2B5EF4-FFF2-40B4-BE49-F238E27FC236}">
                <a16:creationId xmlns:a16="http://schemas.microsoft.com/office/drawing/2014/main" id="{5E678904-A3EC-4734-8B66-7D5FAE6924DD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241C6C-6F9F-48B4-95E2-35E9B33B3312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5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Line 3">
            <a:extLst>
              <a:ext uri="{FF2B5EF4-FFF2-40B4-BE49-F238E27FC236}">
                <a16:creationId xmlns:a16="http://schemas.microsoft.com/office/drawing/2014/main" id="{019FF073-1C3C-4CCA-A680-25C644634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03" name="Line 6">
            <a:extLst>
              <a:ext uri="{FF2B5EF4-FFF2-40B4-BE49-F238E27FC236}">
                <a16:creationId xmlns:a16="http://schemas.microsoft.com/office/drawing/2014/main" id="{B575FB15-CDB6-4EDA-98D3-0054BB4C69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4804" name="AutoShape 7">
            <a:extLst>
              <a:ext uri="{FF2B5EF4-FFF2-40B4-BE49-F238E27FC236}">
                <a16:creationId xmlns:a16="http://schemas.microsoft.com/office/drawing/2014/main" id="{F5ED70D2-C5E9-40BF-A326-2B949D543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4805" name="Text Box 9">
            <a:extLst>
              <a:ext uri="{FF2B5EF4-FFF2-40B4-BE49-F238E27FC236}">
                <a16:creationId xmlns:a16="http://schemas.microsoft.com/office/drawing/2014/main" id="{7F787E5F-A3CE-4E19-81DF-291876F08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06" name="Text Box 10">
            <a:extLst>
              <a:ext uri="{FF2B5EF4-FFF2-40B4-BE49-F238E27FC236}">
                <a16:creationId xmlns:a16="http://schemas.microsoft.com/office/drawing/2014/main" id="{89E16BDD-1C9A-4A1F-A8AC-D36CCA2E0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00213"/>
            <a:ext cx="74676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3600" b="1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600" b="1">
                <a:latin typeface="楷体" panose="02010609060101010101" pitchFamily="49" charset="-122"/>
                <a:ea typeface="楷体" panose="02010609060101010101" pitchFamily="49" charset="-122"/>
              </a:rPr>
              <a:t>28] </a:t>
            </a:r>
            <a:endParaRPr lang="en-US" altLang="zh-CN" sz="32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latin typeface="宋体" panose="02010600030101010101" pitchFamily="2" charset="-122"/>
              </a:rPr>
              <a:t>	</a:t>
            </a:r>
            <a:r>
              <a:rPr lang="zh-CN" altLang="zh-CN" sz="3600" b="1">
                <a:latin typeface="宋体" panose="02010600030101010101" pitchFamily="2" charset="-122"/>
              </a:rPr>
              <a:t>在</a:t>
            </a:r>
            <a:r>
              <a:rPr lang="en-US" altLang="zh-CN" sz="3600" b="1">
                <a:latin typeface="宋体" panose="02010600030101010101" pitchFamily="2" charset="-122"/>
              </a:rPr>
              <a:t>ADDR</a:t>
            </a:r>
            <a:r>
              <a:rPr lang="zh-CN" altLang="zh-CN" sz="3600" b="1">
                <a:latin typeface="宋体" panose="02010600030101010101" pitchFamily="2" charset="-122"/>
              </a:rPr>
              <a:t>存放着数</a:t>
            </a:r>
            <a:r>
              <a:rPr lang="en-US" altLang="zh-CN" sz="3600" b="1">
                <a:solidFill>
                  <a:srgbClr val="3103DB"/>
                </a:solidFill>
                <a:latin typeface="宋体" panose="02010600030101010101" pitchFamily="2" charset="-122"/>
              </a:rPr>
              <a:t>NUM</a:t>
            </a:r>
            <a:r>
              <a:rPr lang="zh-CN" altLang="zh-CN" sz="3600" b="1">
                <a:solidFill>
                  <a:srgbClr val="3103DB"/>
                </a:solidFill>
                <a:latin typeface="宋体" panose="02010600030101010101" pitchFamily="2" charset="-122"/>
              </a:rPr>
              <a:t>的地址</a:t>
            </a:r>
            <a:r>
              <a:rPr lang="zh-CN" altLang="zh-CN" sz="3600" b="1">
                <a:latin typeface="宋体" panose="02010600030101010101" pitchFamily="2" charset="-122"/>
              </a:rPr>
              <a:t>，试编程把</a:t>
            </a:r>
            <a:r>
              <a:rPr lang="zh-CN" altLang="en-US" sz="3600" b="1">
                <a:latin typeface="宋体" panose="02010600030101010101" pitchFamily="2" charset="-122"/>
              </a:rPr>
              <a:t>无符号数</a:t>
            </a:r>
            <a:r>
              <a:rPr lang="en-US" altLang="zh-CN" sz="3600" b="1">
                <a:latin typeface="宋体" panose="02010600030101010101" pitchFamily="2" charset="-122"/>
              </a:rPr>
              <a:t>NUM</a:t>
            </a:r>
            <a:r>
              <a:rPr lang="zh-CN" altLang="zh-CN" sz="3600" b="1">
                <a:latin typeface="宋体" panose="02010600030101010101" pitchFamily="2" charset="-122"/>
              </a:rPr>
              <a:t>中1的个数存入</a:t>
            </a:r>
            <a:r>
              <a:rPr lang="en-US" altLang="zh-CN" sz="3600" b="1">
                <a:latin typeface="宋体" panose="02010600030101010101" pitchFamily="2" charset="-122"/>
              </a:rPr>
              <a:t>COUNT</a:t>
            </a:r>
            <a:r>
              <a:rPr lang="zh-CN" altLang="zh-CN" sz="3600" b="1">
                <a:latin typeface="宋体" panose="02010600030101010101" pitchFamily="2" charset="-122"/>
              </a:rPr>
              <a:t>单元。</a:t>
            </a:r>
            <a:endParaRPr lang="en-US" altLang="zh-CN" sz="36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36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>
                <a:solidFill>
                  <a:srgbClr val="DDDDDD"/>
                </a:solidFill>
                <a:latin typeface="宋体" panose="02010600030101010101" pitchFamily="2" charset="-122"/>
              </a:rPr>
              <a:t>					</a:t>
            </a:r>
            <a:r>
              <a:rPr lang="en-US" altLang="zh-CN" sz="3200">
                <a:solidFill>
                  <a:srgbClr val="DDDDDD"/>
                </a:solidFill>
                <a:latin typeface="宋体" panose="02010600030101010101" pitchFamily="2" charset="-122"/>
                <a:hlinkClick r:id="rId3" action="ppaction://hlinkfile"/>
              </a:rPr>
              <a:t>EP517.asm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204807" name="Text Box 1029">
            <a:extLst>
              <a:ext uri="{FF2B5EF4-FFF2-40B4-BE49-F238E27FC236}">
                <a16:creationId xmlns:a16="http://schemas.microsoft.com/office/drawing/2014/main" id="{7B5DEEF6-09E7-4491-99CA-F91026F04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04808" name="页脚占位符 14">
            <a:extLst>
              <a:ext uri="{FF2B5EF4-FFF2-40B4-BE49-F238E27FC236}">
                <a16:creationId xmlns:a16="http://schemas.microsoft.com/office/drawing/2014/main" id="{1906A4BE-E146-439A-A7F9-CDA0A2358F2F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04809" name="灯片编号占位符 13">
            <a:extLst>
              <a:ext uri="{FF2B5EF4-FFF2-40B4-BE49-F238E27FC236}">
                <a16:creationId xmlns:a16="http://schemas.microsoft.com/office/drawing/2014/main" id="{63040D4C-6DA1-4C24-AF3E-7DF3568E23E7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8F066B97-759D-4AB1-B6CE-290AF7EC20BC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4810" name="日期占位符 12">
            <a:extLst>
              <a:ext uri="{FF2B5EF4-FFF2-40B4-BE49-F238E27FC236}">
                <a16:creationId xmlns:a16="http://schemas.microsoft.com/office/drawing/2014/main" id="{3311AAA8-4613-47C5-A0E9-01F443F8267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086EF3F-C134-47F8-A4BC-C0ACE4502AA5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Line 3">
            <a:extLst>
              <a:ext uri="{FF2B5EF4-FFF2-40B4-BE49-F238E27FC236}">
                <a16:creationId xmlns:a16="http://schemas.microsoft.com/office/drawing/2014/main" id="{0AFE19BD-6F76-40DC-851F-7B40785AC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81" name="Text Box 5">
            <a:extLst>
              <a:ext uri="{FF2B5EF4-FFF2-40B4-BE49-F238E27FC236}">
                <a16:creationId xmlns:a16="http://schemas.microsoft.com/office/drawing/2014/main" id="{A9838D7C-2663-48FD-B236-02791C3B6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06852" name="Line 6">
            <a:extLst>
              <a:ext uri="{FF2B5EF4-FFF2-40B4-BE49-F238E27FC236}">
                <a16:creationId xmlns:a16="http://schemas.microsoft.com/office/drawing/2014/main" id="{A18EA388-FD1E-4D38-93AE-A69D579E1F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6853" name="AutoShape 7">
            <a:extLst>
              <a:ext uri="{FF2B5EF4-FFF2-40B4-BE49-F238E27FC236}">
                <a16:creationId xmlns:a16="http://schemas.microsoft.com/office/drawing/2014/main" id="{CA351FA9-BB06-4C13-B7E3-0BE35890C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6854" name="Text Box 9">
            <a:extLst>
              <a:ext uri="{FF2B5EF4-FFF2-40B4-BE49-F238E27FC236}">
                <a16:creationId xmlns:a16="http://schemas.microsoft.com/office/drawing/2014/main" id="{F1096857-C0D2-4F18-8D40-1527D430C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28" name="Text Box 10">
            <a:extLst>
              <a:ext uri="{FF2B5EF4-FFF2-40B4-BE49-F238E27FC236}">
                <a16:creationId xmlns:a16="http://schemas.microsoft.com/office/drawing/2014/main" id="{461D15C2-0FD4-44C5-AAE9-79D4D6D01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565400"/>
            <a:ext cx="7704137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600" b="1" dirty="0">
                <a:latin typeface="+mn-ea"/>
                <a:ea typeface="+mn-ea"/>
              </a:rPr>
              <a:t>利用变址寄存器或基址寄存器（</a:t>
            </a:r>
            <a:r>
              <a:rPr lang="en-US" altLang="zh-CN" sz="3600" b="1" dirty="0">
                <a:latin typeface="+mn-ea"/>
                <a:ea typeface="+mn-ea"/>
              </a:rPr>
              <a:t>SI</a:t>
            </a:r>
            <a:r>
              <a:rPr lang="zh-CN" altLang="en-US" sz="3600" b="1" dirty="0">
                <a:latin typeface="+mn-ea"/>
                <a:ea typeface="+mn-ea"/>
              </a:rPr>
              <a:t>、</a:t>
            </a:r>
            <a:r>
              <a:rPr lang="en-US" altLang="zh-CN" sz="3600" b="1" dirty="0">
                <a:latin typeface="+mn-ea"/>
                <a:ea typeface="+mn-ea"/>
              </a:rPr>
              <a:t>DI</a:t>
            </a:r>
            <a:r>
              <a:rPr lang="zh-CN" altLang="en-US" sz="3600" b="1" dirty="0">
                <a:latin typeface="+mn-ea"/>
                <a:ea typeface="+mn-ea"/>
              </a:rPr>
              <a:t>、</a:t>
            </a:r>
            <a:r>
              <a:rPr lang="en-US" altLang="zh-CN" sz="3600" b="1" dirty="0">
                <a:latin typeface="+mn-ea"/>
                <a:ea typeface="+mn-ea"/>
              </a:rPr>
              <a:t>BX</a:t>
            </a:r>
            <a:r>
              <a:rPr lang="zh-CN" altLang="en-US" sz="3600" b="1" dirty="0">
                <a:latin typeface="+mn-ea"/>
                <a:ea typeface="+mn-ea"/>
              </a:rPr>
              <a:t>、</a:t>
            </a:r>
            <a:r>
              <a:rPr lang="en-US" altLang="zh-CN" sz="3600" b="1" dirty="0">
                <a:latin typeface="+mn-ea"/>
                <a:ea typeface="+mn-ea"/>
              </a:rPr>
              <a:t>BP</a:t>
            </a:r>
            <a:r>
              <a:rPr lang="zh-CN" altLang="en-US" sz="3600" b="1" dirty="0">
                <a:latin typeface="+mn-ea"/>
                <a:ea typeface="+mn-ea"/>
              </a:rPr>
              <a:t>），有间接寻址、变址寻址等方式访问数据。每循环一次，修改一次变址或基址寄存器，指向下一个数据。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06856" name="Rectangle 11">
            <a:extLst>
              <a:ext uri="{FF2B5EF4-FFF2-40B4-BE49-F238E27FC236}">
                <a16:creationId xmlns:a16="http://schemas.microsoft.com/office/drawing/2014/main" id="{3171C3A3-AD8F-4B57-8D47-5E0C410A71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4213" y="1125538"/>
            <a:ext cx="7523162" cy="10795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循环程序设计根据算法需要可以采用多种寻址方式访问数据。</a:t>
            </a:r>
          </a:p>
        </p:txBody>
      </p:sp>
      <p:sp>
        <p:nvSpPr>
          <p:cNvPr id="206857" name="Text Box 1029">
            <a:extLst>
              <a:ext uri="{FF2B5EF4-FFF2-40B4-BE49-F238E27FC236}">
                <a16:creationId xmlns:a16="http://schemas.microsoft.com/office/drawing/2014/main" id="{1F1FBC4E-7ED7-4B5E-A145-E5F3CF47A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06858" name="页脚占位符 14">
            <a:extLst>
              <a:ext uri="{FF2B5EF4-FFF2-40B4-BE49-F238E27FC236}">
                <a16:creationId xmlns:a16="http://schemas.microsoft.com/office/drawing/2014/main" id="{96FB1E79-861D-4245-9610-2CB9C6308BCF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06859" name="灯片编号占位符 13">
            <a:extLst>
              <a:ext uri="{FF2B5EF4-FFF2-40B4-BE49-F238E27FC236}">
                <a16:creationId xmlns:a16="http://schemas.microsoft.com/office/drawing/2014/main" id="{5746A3A3-C755-49B2-83BF-573D5F52BC0E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2CDC7B26-A140-48E9-B173-E66E34E4A10D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6860" name="日期占位符 12">
            <a:extLst>
              <a:ext uri="{FF2B5EF4-FFF2-40B4-BE49-F238E27FC236}">
                <a16:creationId xmlns:a16="http://schemas.microsoft.com/office/drawing/2014/main" id="{A0FE6322-1361-4950-97AA-52ACF1D8E587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301352-ACEB-4C29-8293-0A52FB04ED7F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1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Line 3">
            <a:extLst>
              <a:ext uri="{FF2B5EF4-FFF2-40B4-BE49-F238E27FC236}">
                <a16:creationId xmlns:a16="http://schemas.microsoft.com/office/drawing/2014/main" id="{8B14751B-2A7A-40EA-8C25-15B6EE6EB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7FAB8179-2E43-4479-86BC-97F095266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08900" name="Line 6">
            <a:extLst>
              <a:ext uri="{FF2B5EF4-FFF2-40B4-BE49-F238E27FC236}">
                <a16:creationId xmlns:a16="http://schemas.microsoft.com/office/drawing/2014/main" id="{398264BD-3A7C-4B90-B2A2-181896139C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8901" name="AutoShape 7">
            <a:extLst>
              <a:ext uri="{FF2B5EF4-FFF2-40B4-BE49-F238E27FC236}">
                <a16:creationId xmlns:a16="http://schemas.microsoft.com/office/drawing/2014/main" id="{4DD99585-50A7-40EC-9CD9-455D02142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8902" name="Text Box 10">
            <a:extLst>
              <a:ext uri="{FF2B5EF4-FFF2-40B4-BE49-F238E27FC236}">
                <a16:creationId xmlns:a16="http://schemas.microsoft.com/office/drawing/2014/main" id="{659181A3-44E2-4A85-A472-B9DE1B4E6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484313"/>
            <a:ext cx="7342188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29] 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在字节数组中找最大（小）数。</a:t>
            </a:r>
            <a:r>
              <a:rPr lang="en-US" altLang="zh-CN" sz="32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3" action="ppaction://hlinkfile"/>
              </a:rPr>
              <a:t>EP518.asm</a:t>
            </a:r>
            <a:endParaRPr lang="zh-CN" altLang="en-US" sz="4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8903" name="Text Box 1029">
            <a:extLst>
              <a:ext uri="{FF2B5EF4-FFF2-40B4-BE49-F238E27FC236}">
                <a16:creationId xmlns:a16="http://schemas.microsoft.com/office/drawing/2014/main" id="{AD76BB3F-11E5-4908-9B85-012BB5178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7DD02-FDA1-4242-B5EC-2B2AC4FF8B70}"/>
              </a:ext>
            </a:extLst>
          </p:cNvPr>
          <p:cNvSpPr txBox="1"/>
          <p:nvPr/>
        </p:nvSpPr>
        <p:spPr>
          <a:xfrm>
            <a:off x="827088" y="2708275"/>
            <a:ext cx="7489825" cy="120173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实验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：在一字数组中，找最小偶数，并按十六进制输出该数。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1433D-8D90-4D19-896C-A0CB1EBE11CA}"/>
              </a:ext>
            </a:extLst>
          </p:cNvPr>
          <p:cNvSpPr txBox="1"/>
          <p:nvPr/>
        </p:nvSpPr>
        <p:spPr>
          <a:xfrm>
            <a:off x="468313" y="4221163"/>
            <a:ext cx="8207375" cy="15081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提示：</a:t>
            </a:r>
            <a:endParaRPr lang="en-US" altLang="zh-CN" sz="3600" b="1" dirty="0">
              <a:latin typeface="楷体" pitchFamily="49" charset="-122"/>
              <a:ea typeface="楷体" pitchFamily="49" charset="-122"/>
            </a:endParaRPr>
          </a:p>
          <a:p>
            <a:pPr eaLnBrk="1" hangingPunct="1">
              <a:defRPr/>
            </a:pP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ARRAY	 DW	2345H,5678H,0,0FFD7H,89ABH,……</a:t>
            </a:r>
          </a:p>
          <a:p>
            <a:pPr eaLnBrk="1" hangingPunct="1">
              <a:defRPr/>
            </a:pP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CNT	EQU  $-ARRAY</a:t>
            </a:r>
            <a:endParaRPr lang="zh-CN" altLang="en-US" sz="28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08906" name="页脚占位符 14">
            <a:extLst>
              <a:ext uri="{FF2B5EF4-FFF2-40B4-BE49-F238E27FC236}">
                <a16:creationId xmlns:a16="http://schemas.microsoft.com/office/drawing/2014/main" id="{51AB834A-D1B8-4F9C-A48B-877BF3B495FE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08907" name="灯片编号占位符 13">
            <a:extLst>
              <a:ext uri="{FF2B5EF4-FFF2-40B4-BE49-F238E27FC236}">
                <a16:creationId xmlns:a16="http://schemas.microsoft.com/office/drawing/2014/main" id="{BDD10947-2E01-4D47-A7FC-B9EA7790CF4B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8F16AADD-D49A-4EF5-B07E-C20FC247941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8908" name="日期占位符 12">
            <a:extLst>
              <a:ext uri="{FF2B5EF4-FFF2-40B4-BE49-F238E27FC236}">
                <a16:creationId xmlns:a16="http://schemas.microsoft.com/office/drawing/2014/main" id="{3565B22F-EC26-49C2-9E01-3FDCE2A99C89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12E805-D0EB-4324-BC1C-AE9D5E7A06D3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Line 3">
            <a:extLst>
              <a:ext uri="{FF2B5EF4-FFF2-40B4-BE49-F238E27FC236}">
                <a16:creationId xmlns:a16="http://schemas.microsoft.com/office/drawing/2014/main" id="{13352AF2-4ABB-45BD-BED6-5D39B4445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947" name="Line 6">
            <a:extLst>
              <a:ext uri="{FF2B5EF4-FFF2-40B4-BE49-F238E27FC236}">
                <a16:creationId xmlns:a16="http://schemas.microsoft.com/office/drawing/2014/main" id="{2AEB9CDC-F284-4D20-B65B-9BA6E59B63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0948" name="AutoShape 7">
            <a:extLst>
              <a:ext uri="{FF2B5EF4-FFF2-40B4-BE49-F238E27FC236}">
                <a16:creationId xmlns:a16="http://schemas.microsoft.com/office/drawing/2014/main" id="{9397BE6E-C4D1-4B5E-9C16-0AE360B57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10949" name="Text Box 9">
            <a:extLst>
              <a:ext uri="{FF2B5EF4-FFF2-40B4-BE49-F238E27FC236}">
                <a16:creationId xmlns:a16="http://schemas.microsoft.com/office/drawing/2014/main" id="{6FFD7AC2-60A1-410F-BA59-C70293B31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0950" name="Text Box 10">
            <a:extLst>
              <a:ext uri="{FF2B5EF4-FFF2-40B4-BE49-F238E27FC236}">
                <a16:creationId xmlns:a16="http://schemas.microsoft.com/office/drawing/2014/main" id="{483384E0-3BC5-45D3-9A3C-ABD2ABB68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90600"/>
            <a:ext cx="8153400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30] 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编程将以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S1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为起始地址的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26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个字母，依次送到以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S2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为起始地址的连续字节存储单元中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	方法一、采用</a:t>
            </a:r>
            <a:r>
              <a:rPr lang="zh-CN" altLang="en-US" sz="32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寄存器间接寻址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方式编程。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DDDDD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					</a:t>
            </a:r>
            <a:r>
              <a:rPr lang="en-US" altLang="zh-CN" sz="3200" b="1">
                <a:solidFill>
                  <a:srgbClr val="DDDDDD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3" action="ppaction://hlinkfile"/>
              </a:rPr>
              <a:t>EP519A.asm</a:t>
            </a:r>
            <a:endParaRPr lang="en-US" altLang="zh-CN" sz="32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方法二、采用</a:t>
            </a:r>
            <a:r>
              <a:rPr lang="zh-CN" altLang="en-US" sz="32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变址寻址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方式编程。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DDDDD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					</a:t>
            </a:r>
            <a:r>
              <a:rPr lang="en-US" altLang="zh-CN" sz="3200" b="1">
                <a:solidFill>
                  <a:srgbClr val="DDDDDD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4" action="ppaction://hlinkfile"/>
              </a:rPr>
              <a:t>EP519B.asm</a:t>
            </a:r>
            <a:endParaRPr lang="en-US" altLang="zh-CN" sz="32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方法三、采用</a:t>
            </a:r>
            <a:r>
              <a:rPr lang="zh-CN" altLang="en-US" sz="32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基址</a:t>
            </a:r>
            <a:r>
              <a:rPr lang="en-US" altLang="zh-CN" sz="32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3200" b="1">
                <a:solidFill>
                  <a:srgbClr val="3103D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变址寻址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方式编程。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DDDDD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					</a:t>
            </a:r>
            <a:r>
              <a:rPr lang="en-US" altLang="zh-CN" sz="3200" b="1">
                <a:solidFill>
                  <a:srgbClr val="DDDDDD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5" action="ppaction://hlinkfile"/>
              </a:rPr>
              <a:t>EP519C.asm</a:t>
            </a:r>
            <a:endParaRPr lang="en-US" altLang="zh-CN" sz="32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方法四、采用</a:t>
            </a:r>
            <a:r>
              <a:rPr lang="zh-CN" altLang="en-US" sz="32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串操作指令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编程。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DDDDD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					</a:t>
            </a:r>
            <a:r>
              <a:rPr lang="en-US" altLang="zh-CN" sz="3200" b="1">
                <a:solidFill>
                  <a:srgbClr val="DDDDDD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6" action="ppaction://hlinkfile"/>
              </a:rPr>
              <a:t>EP519D.asm</a:t>
            </a:r>
            <a:endParaRPr lang="en-US" altLang="zh-CN" sz="2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0951" name="Text Box 1029">
            <a:extLst>
              <a:ext uri="{FF2B5EF4-FFF2-40B4-BE49-F238E27FC236}">
                <a16:creationId xmlns:a16="http://schemas.microsoft.com/office/drawing/2014/main" id="{E2965F8C-1036-466A-8832-52690F058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10952" name="页脚占位符 14">
            <a:extLst>
              <a:ext uri="{FF2B5EF4-FFF2-40B4-BE49-F238E27FC236}">
                <a16:creationId xmlns:a16="http://schemas.microsoft.com/office/drawing/2014/main" id="{5BA03FF0-86C1-4F22-BDB0-3F99442B02EB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10953" name="灯片编号占位符 13">
            <a:extLst>
              <a:ext uri="{FF2B5EF4-FFF2-40B4-BE49-F238E27FC236}">
                <a16:creationId xmlns:a16="http://schemas.microsoft.com/office/drawing/2014/main" id="{E32D95A3-9A3B-4398-AA79-9816489EFFF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B5E5FEC-B010-4E4B-824E-6B51681E993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0954" name="日期占位符 12">
            <a:extLst>
              <a:ext uri="{FF2B5EF4-FFF2-40B4-BE49-F238E27FC236}">
                <a16:creationId xmlns:a16="http://schemas.microsoft.com/office/drawing/2014/main" id="{F52AC4FB-5E60-481B-84E4-A50675E218D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56E15CB-4490-4CD5-B755-04B2858B5D24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Line 3">
            <a:extLst>
              <a:ext uri="{FF2B5EF4-FFF2-40B4-BE49-F238E27FC236}">
                <a16:creationId xmlns:a16="http://schemas.microsoft.com/office/drawing/2014/main" id="{9084AB6D-EBC8-4406-9011-BB203E7CE4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616585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222" name="Text Box 6">
            <a:extLst>
              <a:ext uri="{FF2B5EF4-FFF2-40B4-BE49-F238E27FC236}">
                <a16:creationId xmlns:a16="http://schemas.microsoft.com/office/drawing/2014/main" id="{475B01F2-CDE3-4428-9BE0-3689D18BB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362200"/>
            <a:ext cx="63246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3103DB"/>
                </a:solidFill>
                <a:latin typeface="楷体_GB2312" pitchFamily="49" charset="-122"/>
                <a:ea typeface="楷体_GB2312" pitchFamily="49" charset="-122"/>
              </a:rPr>
              <a:t>多重循环</a:t>
            </a:r>
            <a:r>
              <a:rPr lang="en-US" altLang="zh-CN" sz="3600" b="1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3600" b="1">
                <a:latin typeface="Times New Roman" panose="02020603050405020304" pitchFamily="18" charset="0"/>
                <a:ea typeface="楷体_GB2312" pitchFamily="49" charset="-122"/>
              </a:rPr>
              <a:t>在循环程序的循环体中又包含着循环结构。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6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latin typeface="华文行楷" panose="02010800040101010101" pitchFamily="2" charset="-122"/>
                <a:ea typeface="华文行楷" panose="02010800040101010101" pitchFamily="2" charset="-122"/>
              </a:rPr>
              <a:t>双重循环的一般结构：</a:t>
            </a:r>
          </a:p>
        </p:txBody>
      </p:sp>
      <p:sp>
        <p:nvSpPr>
          <p:cNvPr id="212996" name="Line 7">
            <a:extLst>
              <a:ext uri="{FF2B5EF4-FFF2-40B4-BE49-F238E27FC236}">
                <a16:creationId xmlns:a16="http://schemas.microsoft.com/office/drawing/2014/main" id="{748FC38D-C968-4E09-B7C5-99AE3D7118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2997" name="AutoShape 8">
            <a:extLst>
              <a:ext uri="{FF2B5EF4-FFF2-40B4-BE49-F238E27FC236}">
                <a16:creationId xmlns:a16="http://schemas.microsoft.com/office/drawing/2014/main" id="{9B47E27E-5274-4528-9D54-8115F929F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12998" name="Rectangle 40">
            <a:extLst>
              <a:ext uri="{FF2B5EF4-FFF2-40B4-BE49-F238E27FC236}">
                <a16:creationId xmlns:a16="http://schemas.microsoft.com/office/drawing/2014/main" id="{B0C857D8-DFBC-40D7-8A59-06728CDBDA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58888" y="1268413"/>
            <a:ext cx="3924300" cy="62865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四、多重循环</a:t>
            </a:r>
          </a:p>
        </p:txBody>
      </p:sp>
      <p:sp>
        <p:nvSpPr>
          <p:cNvPr id="212999" name="Text Box 1029">
            <a:extLst>
              <a:ext uri="{FF2B5EF4-FFF2-40B4-BE49-F238E27FC236}">
                <a16:creationId xmlns:a16="http://schemas.microsoft.com/office/drawing/2014/main" id="{0DC178C8-BFE9-4006-AE54-DA3116698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13000" name="页脚占位符 14">
            <a:extLst>
              <a:ext uri="{FF2B5EF4-FFF2-40B4-BE49-F238E27FC236}">
                <a16:creationId xmlns:a16="http://schemas.microsoft.com/office/drawing/2014/main" id="{154F239F-BD75-4DDF-B621-C70F81396137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13001" name="灯片编号占位符 13">
            <a:extLst>
              <a:ext uri="{FF2B5EF4-FFF2-40B4-BE49-F238E27FC236}">
                <a16:creationId xmlns:a16="http://schemas.microsoft.com/office/drawing/2014/main" id="{36FD6D69-B8E0-4437-B665-8D03DF01CA95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665F7B09-7AA1-4AB8-B01D-F36A521E03F9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3002" name="日期占位符 12">
            <a:extLst>
              <a:ext uri="{FF2B5EF4-FFF2-40B4-BE49-F238E27FC236}">
                <a16:creationId xmlns:a16="http://schemas.microsoft.com/office/drawing/2014/main" id="{79E0FAC9-BD83-4961-881A-0B130B38872F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BF128A3-5EE5-490B-BFED-4C27137A07B4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2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Line 7">
            <a:extLst>
              <a:ext uri="{FF2B5EF4-FFF2-40B4-BE49-F238E27FC236}">
                <a16:creationId xmlns:a16="http://schemas.microsoft.com/office/drawing/2014/main" id="{FF993ED2-709A-4FD1-AF7B-C8A9BFFFB4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043" name="AutoShape 8">
            <a:extLst>
              <a:ext uri="{FF2B5EF4-FFF2-40B4-BE49-F238E27FC236}">
                <a16:creationId xmlns:a16="http://schemas.microsoft.com/office/drawing/2014/main" id="{65FE5E9D-30DE-4EA1-9114-4C55EA0E9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15044" name="Group 9">
            <a:extLst>
              <a:ext uri="{FF2B5EF4-FFF2-40B4-BE49-F238E27FC236}">
                <a16:creationId xmlns:a16="http://schemas.microsoft.com/office/drawing/2014/main" id="{91EF903F-554F-4042-8B19-8E658AD3285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04800"/>
            <a:ext cx="8305800" cy="6324600"/>
            <a:chOff x="1538" y="2504"/>
            <a:chExt cx="5900" cy="5660"/>
          </a:xfrm>
        </p:grpSpPr>
        <p:sp>
          <p:nvSpPr>
            <p:cNvPr id="215046" name="AutoShape 10">
              <a:extLst>
                <a:ext uri="{FF2B5EF4-FFF2-40B4-BE49-F238E27FC236}">
                  <a16:creationId xmlns:a16="http://schemas.microsoft.com/office/drawing/2014/main" id="{38238FB9-31C5-4210-856B-F21DECA84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" y="2864"/>
              <a:ext cx="480" cy="4700"/>
            </a:xfrm>
            <a:prstGeom prst="rightBrace">
              <a:avLst>
                <a:gd name="adj1" fmla="val 81597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047" name="Rectangle 11">
              <a:extLst>
                <a:ext uri="{FF2B5EF4-FFF2-40B4-BE49-F238E27FC236}">
                  <a16:creationId xmlns:a16="http://schemas.microsoft.com/office/drawing/2014/main" id="{9CA78574-79EC-4F64-A851-0A8C97191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784"/>
              <a:ext cx="140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外循环初值</a:t>
              </a:r>
            </a:p>
          </p:txBody>
        </p:sp>
        <p:sp>
          <p:nvSpPr>
            <p:cNvPr id="215048" name="Text Box 12">
              <a:extLst>
                <a:ext uri="{FF2B5EF4-FFF2-40B4-BE49-F238E27FC236}">
                  <a16:creationId xmlns:a16="http://schemas.microsoft.com/office/drawing/2014/main" id="{5087430D-4942-4F4C-A936-FBF2D1EA2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8" y="4184"/>
              <a:ext cx="1440" cy="4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3103DB"/>
                  </a:solidFill>
                  <a:latin typeface="楷体_GB2312" pitchFamily="49" charset="-122"/>
                  <a:ea typeface="楷体_GB2312" pitchFamily="49" charset="-122"/>
                </a:rPr>
                <a:t>内循环初值</a:t>
              </a:r>
            </a:p>
          </p:txBody>
        </p:sp>
        <p:sp>
          <p:nvSpPr>
            <p:cNvPr id="215049" name="Text Box 13">
              <a:extLst>
                <a:ext uri="{FF2B5EF4-FFF2-40B4-BE49-F238E27FC236}">
                  <a16:creationId xmlns:a16="http://schemas.microsoft.com/office/drawing/2014/main" id="{03D4CF05-C113-455E-B419-5BE6CC569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8" y="3524"/>
              <a:ext cx="152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外层程序段</a:t>
              </a: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215050" name="Text Box 14">
              <a:extLst>
                <a:ext uri="{FF2B5EF4-FFF2-40B4-BE49-F238E27FC236}">
                  <a16:creationId xmlns:a16="http://schemas.microsoft.com/office/drawing/2014/main" id="{7C71A89B-53CD-4FCE-BEA7-969B1DA14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8" y="5004"/>
              <a:ext cx="146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3103DB"/>
                  </a:solidFill>
                  <a:latin typeface="楷体_GB2312" pitchFamily="49" charset="-122"/>
                  <a:ea typeface="楷体_GB2312" pitchFamily="49" charset="-122"/>
                </a:rPr>
                <a:t>内层循环体</a:t>
              </a:r>
            </a:p>
          </p:txBody>
        </p:sp>
        <p:sp>
          <p:nvSpPr>
            <p:cNvPr id="215051" name="Text Box 15">
              <a:extLst>
                <a:ext uri="{FF2B5EF4-FFF2-40B4-BE49-F238E27FC236}">
                  <a16:creationId xmlns:a16="http://schemas.microsoft.com/office/drawing/2014/main" id="{643841DF-A363-4093-9306-9D64EFB31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8" y="6604"/>
              <a:ext cx="1560" cy="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外层程序段</a:t>
              </a:r>
              <a:r>
                <a:rPr lang="en-US" altLang="zh-CN" sz="2400" b="1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215052" name="AutoShape 16">
              <a:extLst>
                <a:ext uri="{FF2B5EF4-FFF2-40B4-BE49-F238E27FC236}">
                  <a16:creationId xmlns:a16="http://schemas.microsoft.com/office/drawing/2014/main" id="{8FBAE409-C9EC-4862-8415-823FBA1B5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" y="5684"/>
              <a:ext cx="2880" cy="68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3103DB"/>
                  </a:solidFill>
                  <a:latin typeface="楷体_GB2312" pitchFamily="49" charset="-122"/>
                  <a:ea typeface="楷体_GB2312" pitchFamily="49" charset="-122"/>
                </a:rPr>
                <a:t>内层循环控制</a:t>
              </a:r>
            </a:p>
          </p:txBody>
        </p:sp>
        <p:sp>
          <p:nvSpPr>
            <p:cNvPr id="215053" name="AutoShape 17">
              <a:extLst>
                <a:ext uri="{FF2B5EF4-FFF2-40B4-BE49-F238E27FC236}">
                  <a16:creationId xmlns:a16="http://schemas.microsoft.com/office/drawing/2014/main" id="{521D47F9-9EEB-4222-A419-C3D522C05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8" y="7244"/>
              <a:ext cx="2940" cy="700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外层循环控制</a:t>
              </a:r>
            </a:p>
          </p:txBody>
        </p:sp>
        <p:sp>
          <p:nvSpPr>
            <p:cNvPr id="215054" name="Line 18">
              <a:extLst>
                <a:ext uri="{FF2B5EF4-FFF2-40B4-BE49-F238E27FC236}">
                  <a16:creationId xmlns:a16="http://schemas.microsoft.com/office/drawing/2014/main" id="{C886D5B4-D40E-4043-B6FF-D4D7D4643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2504"/>
              <a:ext cx="0" cy="2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55" name="Line 19">
              <a:extLst>
                <a:ext uri="{FF2B5EF4-FFF2-40B4-BE49-F238E27FC236}">
                  <a16:creationId xmlns:a16="http://schemas.microsoft.com/office/drawing/2014/main" id="{FD1A6AC6-A3EF-4CF0-A8B3-1BE774DCA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8" y="3204"/>
              <a:ext cx="0" cy="3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56" name="Line 20">
              <a:extLst>
                <a:ext uri="{FF2B5EF4-FFF2-40B4-BE49-F238E27FC236}">
                  <a16:creationId xmlns:a16="http://schemas.microsoft.com/office/drawing/2014/main" id="{BC9EA521-1C1F-4138-B9DC-91B61C2F0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8" y="3944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57" name="Line 21">
              <a:extLst>
                <a:ext uri="{FF2B5EF4-FFF2-40B4-BE49-F238E27FC236}">
                  <a16:creationId xmlns:a16="http://schemas.microsoft.com/office/drawing/2014/main" id="{060ADD02-13E4-4D26-B71E-A98D5CD1F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8" y="4624"/>
              <a:ext cx="0" cy="3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58" name="Line 22">
              <a:extLst>
                <a:ext uri="{FF2B5EF4-FFF2-40B4-BE49-F238E27FC236}">
                  <a16:creationId xmlns:a16="http://schemas.microsoft.com/office/drawing/2014/main" id="{8636BA52-6F32-4C7E-B782-6D3516862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8" y="5424"/>
              <a:ext cx="0" cy="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59" name="Line 23">
              <a:extLst>
                <a:ext uri="{FF2B5EF4-FFF2-40B4-BE49-F238E27FC236}">
                  <a16:creationId xmlns:a16="http://schemas.microsoft.com/office/drawing/2014/main" id="{F9F212F5-71AF-4F90-B199-7FA7F0CA7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8" y="6344"/>
              <a:ext cx="0" cy="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0" name="Line 24">
              <a:extLst>
                <a:ext uri="{FF2B5EF4-FFF2-40B4-BE49-F238E27FC236}">
                  <a16:creationId xmlns:a16="http://schemas.microsoft.com/office/drawing/2014/main" id="{FE235F17-7CFE-46CA-A45E-344486991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8" y="7024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1" name="Line 25">
              <a:extLst>
                <a:ext uri="{FF2B5EF4-FFF2-40B4-BE49-F238E27FC236}">
                  <a16:creationId xmlns:a16="http://schemas.microsoft.com/office/drawing/2014/main" id="{698513B4-7387-43FC-BE3C-CB3A03651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7964"/>
              <a:ext cx="0" cy="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2" name="Line 26">
              <a:extLst>
                <a:ext uri="{FF2B5EF4-FFF2-40B4-BE49-F238E27FC236}">
                  <a16:creationId xmlns:a16="http://schemas.microsoft.com/office/drawing/2014/main" id="{3FA9B8CA-070B-401B-A66B-D658830611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8" y="6024"/>
              <a:ext cx="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3" name="Line 27">
              <a:extLst>
                <a:ext uri="{FF2B5EF4-FFF2-40B4-BE49-F238E27FC236}">
                  <a16:creationId xmlns:a16="http://schemas.microsoft.com/office/drawing/2014/main" id="{B931D184-17C0-487D-9DFB-767793F6E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98" y="4744"/>
              <a:ext cx="0" cy="12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4" name="Line 28">
              <a:extLst>
                <a:ext uri="{FF2B5EF4-FFF2-40B4-BE49-F238E27FC236}">
                  <a16:creationId xmlns:a16="http://schemas.microsoft.com/office/drawing/2014/main" id="{B1239A19-0A5F-473F-BC69-7A9096CBA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98" y="4744"/>
              <a:ext cx="1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5" name="Line 29">
              <a:extLst>
                <a:ext uri="{FF2B5EF4-FFF2-40B4-BE49-F238E27FC236}">
                  <a16:creationId xmlns:a16="http://schemas.microsoft.com/office/drawing/2014/main" id="{36E9A9B6-21AB-48C6-9A98-9168F40138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8" y="7584"/>
              <a:ext cx="5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6" name="Line 30">
              <a:extLst>
                <a:ext uri="{FF2B5EF4-FFF2-40B4-BE49-F238E27FC236}">
                  <a16:creationId xmlns:a16="http://schemas.microsoft.com/office/drawing/2014/main" id="{7A9ACBBA-3A02-42A3-9B90-4144FD3227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8" y="3304"/>
              <a:ext cx="0" cy="42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7" name="Line 31">
              <a:extLst>
                <a:ext uri="{FF2B5EF4-FFF2-40B4-BE49-F238E27FC236}">
                  <a16:creationId xmlns:a16="http://schemas.microsoft.com/office/drawing/2014/main" id="{AA6DC56E-A10A-4E52-8DC7-65AE131EF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" y="3324"/>
              <a:ext cx="19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068" name="AutoShape 32">
              <a:extLst>
                <a:ext uri="{FF2B5EF4-FFF2-40B4-BE49-F238E27FC236}">
                  <a16:creationId xmlns:a16="http://schemas.microsoft.com/office/drawing/2014/main" id="{2C795D29-D3EA-4BAE-B25A-5382E75D2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" y="4244"/>
              <a:ext cx="460" cy="1840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5069" name="Text Box 33">
              <a:extLst>
                <a:ext uri="{FF2B5EF4-FFF2-40B4-BE49-F238E27FC236}">
                  <a16:creationId xmlns:a16="http://schemas.microsoft.com/office/drawing/2014/main" id="{507F7BE2-5D8E-4E7E-9E6B-66CF562C1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" y="4464"/>
              <a:ext cx="500" cy="1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内</a:t>
              </a: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层循环</a:t>
              </a:r>
            </a:p>
          </p:txBody>
        </p:sp>
        <p:sp>
          <p:nvSpPr>
            <p:cNvPr id="215070" name="Text Box 34">
              <a:extLst>
                <a:ext uri="{FF2B5EF4-FFF2-40B4-BE49-F238E27FC236}">
                  <a16:creationId xmlns:a16="http://schemas.microsoft.com/office/drawing/2014/main" id="{E4406879-8D8F-4676-BC1F-AFB760A11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8" y="3981"/>
              <a:ext cx="520" cy="2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外</a:t>
              </a: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层</a:t>
              </a: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  </a:t>
              </a: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循</a:t>
              </a: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  </a:t>
              </a: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楷体_GB2312" pitchFamily="49" charset="-122"/>
                  <a:ea typeface="楷体_GB2312" pitchFamily="49" charset="-122"/>
                </a:rPr>
                <a:t>环</a:t>
              </a:r>
            </a:p>
          </p:txBody>
        </p:sp>
      </p:grpSp>
      <p:sp>
        <p:nvSpPr>
          <p:cNvPr id="215045" name="Text Box 1029">
            <a:extLst>
              <a:ext uri="{FF2B5EF4-FFF2-40B4-BE49-F238E27FC236}">
                <a16:creationId xmlns:a16="http://schemas.microsoft.com/office/drawing/2014/main" id="{60EE77CD-AD6F-4194-9712-7B9FDCC60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Line 3">
            <a:extLst>
              <a:ext uri="{FF2B5EF4-FFF2-40B4-BE49-F238E27FC236}">
                <a16:creationId xmlns:a16="http://schemas.microsoft.com/office/drawing/2014/main" id="{823A9AA6-8507-4BBB-A34C-16BF775E2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F4BE3917-724E-456A-B49B-E8A91B998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17092" name="Line 6">
            <a:extLst>
              <a:ext uri="{FF2B5EF4-FFF2-40B4-BE49-F238E27FC236}">
                <a16:creationId xmlns:a16="http://schemas.microsoft.com/office/drawing/2014/main" id="{85EBC8ED-AAC7-465B-8A87-C4B21A3EED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7093" name="AutoShape 7">
            <a:extLst>
              <a:ext uri="{FF2B5EF4-FFF2-40B4-BE49-F238E27FC236}">
                <a16:creationId xmlns:a16="http://schemas.microsoft.com/office/drawing/2014/main" id="{9C2D1028-7C78-4259-A62D-0A0D5DA85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17094" name="Text Box 10">
            <a:extLst>
              <a:ext uri="{FF2B5EF4-FFF2-40B4-BE49-F238E27FC236}">
                <a16:creationId xmlns:a16="http://schemas.microsoft.com/office/drawing/2014/main" id="{8DE9EDEF-551A-458C-BCBC-52AFE7921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25538"/>
            <a:ext cx="734218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31]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打印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20H~7FH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之间的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ASCII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字符表。</a:t>
            </a:r>
            <a:r>
              <a:rPr lang="en-US" altLang="zh-CN" sz="32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3" action="ppaction://hlinkfile"/>
              </a:rPr>
              <a:t>ep520.asm</a:t>
            </a:r>
            <a:endParaRPr lang="zh-CN" altLang="en-US" sz="44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7095" name="Text Box 1029">
            <a:extLst>
              <a:ext uri="{FF2B5EF4-FFF2-40B4-BE49-F238E27FC236}">
                <a16:creationId xmlns:a16="http://schemas.microsoft.com/office/drawing/2014/main" id="{08959BAB-3C31-4E96-B076-640F36CCE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17096" name="Rectangle 3">
            <a:extLst>
              <a:ext uri="{FF2B5EF4-FFF2-40B4-BE49-F238E27FC236}">
                <a16:creationId xmlns:a16="http://schemas.microsoft.com/office/drawing/2014/main" id="{44440B03-94A2-45FA-B9DE-893B3A713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49500"/>
            <a:ext cx="7467600" cy="3508375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0480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  ! </a:t>
            </a:r>
            <a:r>
              <a:rPr lang="en-US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  <a:t>“</a:t>
            </a: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# $ % &amp; </a:t>
            </a:r>
            <a:r>
              <a:rPr lang="en-US" altLang="zh-CN" sz="2800" b="1">
                <a:latin typeface="Times New Roman" panose="02020603050405020304" pitchFamily="18" charset="0"/>
                <a:cs typeface="Courier New" panose="02070309020205020404" pitchFamily="49" charset="0"/>
              </a:rPr>
              <a:t>‘</a:t>
            </a: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( ) * + , - . /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0 1 2 3 4 5 6 7 8 9 : ; &lt; = &gt; ?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@ A B C D E F G H I J K L M N O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P Q R S T U V W X Y Z [ \ ] ^ _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` a b c d e f g h I j k l m n o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p q r s t u v w x y z { | } ~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17097" name="页脚占位符 14">
            <a:extLst>
              <a:ext uri="{FF2B5EF4-FFF2-40B4-BE49-F238E27FC236}">
                <a16:creationId xmlns:a16="http://schemas.microsoft.com/office/drawing/2014/main" id="{71BF23CF-C5AE-42DB-9540-C8CFF3F7EFD5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17098" name="灯片编号占位符 13">
            <a:extLst>
              <a:ext uri="{FF2B5EF4-FFF2-40B4-BE49-F238E27FC236}">
                <a16:creationId xmlns:a16="http://schemas.microsoft.com/office/drawing/2014/main" id="{2A297FAA-E196-45D9-BEFD-282F1D7A4BB4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56A7D5C-8DD1-4849-A6B8-CC89A3B0DA94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7099" name="日期占位符 12">
            <a:extLst>
              <a:ext uri="{FF2B5EF4-FFF2-40B4-BE49-F238E27FC236}">
                <a16:creationId xmlns:a16="http://schemas.microsoft.com/office/drawing/2014/main" id="{3A0D3E88-2164-4191-8D3D-5E7C41959828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6F3B59-FA22-49B7-B572-A054AC790495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Line 3">
            <a:extLst>
              <a:ext uri="{FF2B5EF4-FFF2-40B4-BE49-F238E27FC236}">
                <a16:creationId xmlns:a16="http://schemas.microsoft.com/office/drawing/2014/main" id="{3148D499-0B07-4251-80DC-4604D36CEC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C6D1651E-1EE0-4C3E-9EBB-71353E82D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19140" name="Line 6">
            <a:extLst>
              <a:ext uri="{FF2B5EF4-FFF2-40B4-BE49-F238E27FC236}">
                <a16:creationId xmlns:a16="http://schemas.microsoft.com/office/drawing/2014/main" id="{53DBB4F9-82D5-4FE7-9246-82F7964038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9141" name="AutoShape 7">
            <a:extLst>
              <a:ext uri="{FF2B5EF4-FFF2-40B4-BE49-F238E27FC236}">
                <a16:creationId xmlns:a16="http://schemas.microsoft.com/office/drawing/2014/main" id="{D7A36F27-B05F-4A11-A1F9-FEAA7CAA3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19142" name="Text Box 9">
            <a:extLst>
              <a:ext uri="{FF2B5EF4-FFF2-40B4-BE49-F238E27FC236}">
                <a16:creationId xmlns:a16="http://schemas.microsoft.com/office/drawing/2014/main" id="{8386B98F-394D-49A8-922D-1F7FCE4FE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9143" name="Text Box 1029">
            <a:extLst>
              <a:ext uri="{FF2B5EF4-FFF2-40B4-BE49-F238E27FC236}">
                <a16:creationId xmlns:a16="http://schemas.microsoft.com/office/drawing/2014/main" id="{26324537-8999-4F43-8686-4596CFB23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165A51A-6436-4667-9EF3-1417F6F08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8302625" cy="42291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CODE		SEGMENT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ASSUME	CS: CODE, DS: CODE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START: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MOV	BL, 20H	</a:t>
            </a:r>
            <a:r>
              <a:rPr lang="zh-CN" altLang="en-US" b="1" dirty="0">
                <a:ea typeface="仿宋_GB2312" pitchFamily="49" charset="-122"/>
              </a:rPr>
              <a:t>；第一个字符的</a:t>
            </a:r>
            <a:r>
              <a:rPr lang="en-US" altLang="zh-CN" b="1" dirty="0">
                <a:ea typeface="仿宋_GB2312" pitchFamily="49" charset="-122"/>
              </a:rPr>
              <a:t>ASCII</a:t>
            </a:r>
            <a:r>
              <a:rPr lang="zh-CN" altLang="en-US" b="1" dirty="0">
                <a:ea typeface="仿宋_GB2312" pitchFamily="49" charset="-122"/>
              </a:rPr>
              <a:t>代码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MOV	CH, 6		</a:t>
            </a:r>
            <a:r>
              <a:rPr lang="zh-CN" altLang="en-US" b="1" dirty="0">
                <a:ea typeface="仿宋_GB2312" pitchFamily="49" charset="-122"/>
              </a:rPr>
              <a:t>；行数计数器初值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; ============ </a:t>
            </a:r>
            <a:r>
              <a:rPr lang="zh-CN" altLang="en-US" b="1" dirty="0">
                <a:ea typeface="仿宋_GB2312" pitchFamily="49" charset="-122"/>
              </a:rPr>
              <a:t>打印一行循环开始 </a:t>
            </a:r>
            <a:r>
              <a:rPr lang="en-US" altLang="zh-CN" b="1" dirty="0">
                <a:ea typeface="仿宋_GB2312" pitchFamily="49" charset="-122"/>
              </a:rPr>
              <a:t>======= ======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L0:	CRLF			</a:t>
            </a:r>
            <a:r>
              <a:rPr lang="zh-CN" altLang="en-US" b="1" dirty="0">
                <a:ea typeface="仿宋_GB2312" pitchFamily="49" charset="-122"/>
              </a:rPr>
              <a:t>；开始一个新行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MOV	CL, 16		</a:t>
            </a:r>
            <a:r>
              <a:rPr lang="zh-CN" altLang="en-US" b="1" dirty="0">
                <a:ea typeface="仿宋_GB2312" pitchFamily="49" charset="-122"/>
              </a:rPr>
              <a:t>；列计数器初值 </a:t>
            </a:r>
          </a:p>
        </p:txBody>
      </p:sp>
      <p:sp>
        <p:nvSpPr>
          <p:cNvPr id="219145" name="页脚占位符 14">
            <a:extLst>
              <a:ext uri="{FF2B5EF4-FFF2-40B4-BE49-F238E27FC236}">
                <a16:creationId xmlns:a16="http://schemas.microsoft.com/office/drawing/2014/main" id="{CBCD7C66-447C-4BF5-9CD0-650624C809D3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19146" name="灯片编号占位符 13">
            <a:extLst>
              <a:ext uri="{FF2B5EF4-FFF2-40B4-BE49-F238E27FC236}">
                <a16:creationId xmlns:a16="http://schemas.microsoft.com/office/drawing/2014/main" id="{5D21F7FC-AF89-4579-9930-D5FE1B0C9E26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FEF96E8-5A89-4E34-ACC3-0F58AC60C742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9147" name="日期占位符 12">
            <a:extLst>
              <a:ext uri="{FF2B5EF4-FFF2-40B4-BE49-F238E27FC236}">
                <a16:creationId xmlns:a16="http://schemas.microsoft.com/office/drawing/2014/main" id="{434CFCE5-6211-43CB-940B-A76FF8842CA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F4AF3C-C43B-4666-BA98-41DAF52D0460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Line 3">
            <a:extLst>
              <a:ext uri="{FF2B5EF4-FFF2-40B4-BE49-F238E27FC236}">
                <a16:creationId xmlns:a16="http://schemas.microsoft.com/office/drawing/2014/main" id="{223C54A5-84C3-4D95-92F4-23ECAA338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FF659E5C-A0A7-43CC-A2D7-1E757EC76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21188" name="Line 6">
            <a:extLst>
              <a:ext uri="{FF2B5EF4-FFF2-40B4-BE49-F238E27FC236}">
                <a16:creationId xmlns:a16="http://schemas.microsoft.com/office/drawing/2014/main" id="{00CD3DF1-4128-407D-A6A3-1C7859A823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189" name="AutoShape 7">
            <a:extLst>
              <a:ext uri="{FF2B5EF4-FFF2-40B4-BE49-F238E27FC236}">
                <a16:creationId xmlns:a16="http://schemas.microsoft.com/office/drawing/2014/main" id="{F42E6C48-C0E1-4370-B113-B7468E0AD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21190" name="Text Box 9">
            <a:extLst>
              <a:ext uri="{FF2B5EF4-FFF2-40B4-BE49-F238E27FC236}">
                <a16:creationId xmlns:a16="http://schemas.microsoft.com/office/drawing/2014/main" id="{F7FD99FD-25B5-4F99-97F8-09A823FB1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1191" name="Text Box 1029">
            <a:extLst>
              <a:ext uri="{FF2B5EF4-FFF2-40B4-BE49-F238E27FC236}">
                <a16:creationId xmlns:a16="http://schemas.microsoft.com/office/drawing/2014/main" id="{D4BAF4E9-5D7C-4383-B40F-1A15B9955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B744156-3C71-4CDA-B85C-DD7161012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782638"/>
            <a:ext cx="8610600" cy="53133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; ------------------- </a:t>
            </a:r>
            <a:r>
              <a:rPr lang="zh-CN" altLang="en-US" b="1" dirty="0">
                <a:ea typeface="仿宋_GB2312" pitchFamily="49" charset="-122"/>
              </a:rPr>
              <a:t>打印一个字符的循环开始 </a:t>
            </a:r>
            <a:r>
              <a:rPr lang="en-US" altLang="zh-CN" b="1" dirty="0">
                <a:ea typeface="仿宋_GB2312" pitchFamily="49" charset="-122"/>
              </a:rPr>
              <a:t>---------------------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L1:	MOV	DL, BL	</a:t>
            </a:r>
            <a:r>
              <a:rPr lang="zh-CN" altLang="en-US" b="1" dirty="0">
                <a:ea typeface="仿宋_GB2312" pitchFamily="49" charset="-122"/>
              </a:rPr>
              <a:t>；装入一个字符</a:t>
            </a:r>
            <a:r>
              <a:rPr lang="en-US" altLang="zh-CN" b="1" dirty="0">
                <a:ea typeface="仿宋_GB2312" pitchFamily="49" charset="-122"/>
              </a:rPr>
              <a:t>ASCII</a:t>
            </a:r>
            <a:r>
              <a:rPr lang="zh-CN" altLang="en-US" b="1" dirty="0">
                <a:ea typeface="仿宋_GB2312" pitchFamily="49" charset="-122"/>
              </a:rPr>
              <a:t>代码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MOV	AH, 2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INT	21H		</a:t>
            </a:r>
            <a:r>
              <a:rPr lang="zh-CN" altLang="en-US" b="1" dirty="0">
                <a:ea typeface="仿宋_GB2312" pitchFamily="49" charset="-122"/>
              </a:rPr>
              <a:t>；输出一个字符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MOV	DL, 20H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MOV	AH, 2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INT	21H		</a:t>
            </a:r>
            <a:r>
              <a:rPr lang="zh-CN" altLang="en-US" b="1" dirty="0">
                <a:ea typeface="仿宋_GB2312" pitchFamily="49" charset="-122"/>
              </a:rPr>
              <a:t>；输出一个空格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INC	BL		</a:t>
            </a:r>
            <a:r>
              <a:rPr lang="zh-CN" altLang="en-US" b="1" dirty="0">
                <a:ea typeface="仿宋_GB2312" pitchFamily="49" charset="-122"/>
              </a:rPr>
              <a:t>；准备下一个待输出的</a:t>
            </a:r>
            <a:r>
              <a:rPr lang="en-US" altLang="zh-CN" b="1" dirty="0">
                <a:ea typeface="仿宋_GB2312" pitchFamily="49" charset="-122"/>
              </a:rPr>
              <a:t>ASCII</a:t>
            </a:r>
            <a:r>
              <a:rPr lang="zh-CN" altLang="en-US" b="1" dirty="0">
                <a:ea typeface="仿宋_GB2312" pitchFamily="49" charset="-122"/>
              </a:rPr>
              <a:t>码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DEC	CL		</a:t>
            </a:r>
            <a:r>
              <a:rPr lang="zh-CN" altLang="en-US" b="1" dirty="0">
                <a:ea typeface="仿宋_GB2312" pitchFamily="49" charset="-122"/>
              </a:rPr>
              <a:t>；列数计数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L11:	JNZ	L1		</a:t>
            </a:r>
            <a:r>
              <a:rPr lang="zh-CN" altLang="en-US" b="1" dirty="0">
                <a:ea typeface="仿宋_GB2312" pitchFamily="49" charset="-122"/>
              </a:rPr>
              <a:t>；列数未满</a:t>
            </a:r>
            <a:r>
              <a:rPr lang="en-US" altLang="zh-CN" b="1" dirty="0">
                <a:ea typeface="仿宋_GB2312" pitchFamily="49" charset="-122"/>
              </a:rPr>
              <a:t>(</a:t>
            </a:r>
            <a:r>
              <a:rPr lang="zh-CN" altLang="en-US" b="1" dirty="0">
                <a:ea typeface="仿宋_GB2312" pitchFamily="49" charset="-122"/>
              </a:rPr>
              <a:t>本行未完</a:t>
            </a:r>
            <a:r>
              <a:rPr lang="en-US" altLang="zh-CN" b="1" dirty="0">
                <a:ea typeface="仿宋_GB2312" pitchFamily="49" charset="-122"/>
              </a:rPr>
              <a:t>)</a:t>
            </a:r>
            <a:r>
              <a:rPr lang="zh-CN" altLang="en-US" b="1" dirty="0">
                <a:ea typeface="仿宋_GB2312" pitchFamily="49" charset="-122"/>
              </a:rPr>
              <a:t>，转</a:t>
            </a:r>
            <a:r>
              <a:rPr lang="en-US" altLang="zh-CN" b="1" dirty="0">
                <a:ea typeface="仿宋_GB2312" pitchFamily="49" charset="-122"/>
              </a:rPr>
              <a:t>L1</a:t>
            </a:r>
            <a:r>
              <a:rPr lang="zh-CN" altLang="en-US" b="1" dirty="0">
                <a:ea typeface="仿宋_GB2312" pitchFamily="49" charset="-122"/>
              </a:rPr>
              <a:t>继续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；</a:t>
            </a:r>
            <a:r>
              <a:rPr lang="en-US" altLang="zh-CN" b="1" dirty="0">
                <a:ea typeface="仿宋_GB2312" pitchFamily="49" charset="-122"/>
              </a:rPr>
              <a:t>--------------------- </a:t>
            </a:r>
            <a:r>
              <a:rPr lang="zh-CN" altLang="en-US" b="1" dirty="0">
                <a:ea typeface="仿宋_GB2312" pitchFamily="49" charset="-122"/>
              </a:rPr>
              <a:t>打印一个字符的循环结束 </a:t>
            </a:r>
            <a:r>
              <a:rPr lang="en-US" altLang="zh-CN" b="1" dirty="0">
                <a:ea typeface="仿宋_GB2312" pitchFamily="49" charset="-122"/>
              </a:rPr>
              <a:t>----------------------</a:t>
            </a:r>
          </a:p>
        </p:txBody>
      </p:sp>
      <p:sp>
        <p:nvSpPr>
          <p:cNvPr id="221193" name="页脚占位符 14">
            <a:extLst>
              <a:ext uri="{FF2B5EF4-FFF2-40B4-BE49-F238E27FC236}">
                <a16:creationId xmlns:a16="http://schemas.microsoft.com/office/drawing/2014/main" id="{832264A3-C94F-4F37-8573-4D5604A61D69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21194" name="灯片编号占位符 13">
            <a:extLst>
              <a:ext uri="{FF2B5EF4-FFF2-40B4-BE49-F238E27FC236}">
                <a16:creationId xmlns:a16="http://schemas.microsoft.com/office/drawing/2014/main" id="{42A197A7-4935-4FA8-8553-43ACAB39AD60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335A5F9E-F0A2-4A1F-96CE-5AED4904E4A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1195" name="日期占位符 12">
            <a:extLst>
              <a:ext uri="{FF2B5EF4-FFF2-40B4-BE49-F238E27FC236}">
                <a16:creationId xmlns:a16="http://schemas.microsoft.com/office/drawing/2014/main" id="{AC4F2504-5715-4C44-84E5-1C7AE59FD00D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73350C4-F71E-42F7-9694-0E45D0346511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Line 3">
            <a:extLst>
              <a:ext uri="{FF2B5EF4-FFF2-40B4-BE49-F238E27FC236}">
                <a16:creationId xmlns:a16="http://schemas.microsoft.com/office/drawing/2014/main" id="{5D6BF365-DCDF-4ADD-892F-68152A686C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3016CF41-8D16-4A1E-BE8C-8362F997B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23236" name="Line 6">
            <a:extLst>
              <a:ext uri="{FF2B5EF4-FFF2-40B4-BE49-F238E27FC236}">
                <a16:creationId xmlns:a16="http://schemas.microsoft.com/office/drawing/2014/main" id="{E4E5515F-FB2C-4E64-814F-CE8F7E9EEB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3237" name="AutoShape 7">
            <a:extLst>
              <a:ext uri="{FF2B5EF4-FFF2-40B4-BE49-F238E27FC236}">
                <a16:creationId xmlns:a16="http://schemas.microsoft.com/office/drawing/2014/main" id="{6A1D05CA-F5A7-43F2-9E3A-09BCEEE6D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23238" name="Text Box 9">
            <a:extLst>
              <a:ext uri="{FF2B5EF4-FFF2-40B4-BE49-F238E27FC236}">
                <a16:creationId xmlns:a16="http://schemas.microsoft.com/office/drawing/2014/main" id="{9D314967-6241-43FB-981B-529C3E169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3239" name="Text Box 1029">
            <a:extLst>
              <a:ext uri="{FF2B5EF4-FFF2-40B4-BE49-F238E27FC236}">
                <a16:creationId xmlns:a16="http://schemas.microsoft.com/office/drawing/2014/main" id="{2A290496-E608-4791-9E1C-0908B3731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6AF8919-9762-4C11-9B43-CDD8DC6DE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12875"/>
            <a:ext cx="8305800" cy="393382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DEC	CH		</a:t>
            </a:r>
            <a:r>
              <a:rPr lang="zh-CN" altLang="en-US" b="1" dirty="0">
                <a:ea typeface="仿宋_GB2312" pitchFamily="49" charset="-122"/>
              </a:rPr>
              <a:t>；行数计数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L00:	JNZ	L0 		</a:t>
            </a:r>
            <a:r>
              <a:rPr lang="zh-CN" altLang="en-US" b="1" dirty="0">
                <a:ea typeface="仿宋_GB2312" pitchFamily="49" charset="-122"/>
              </a:rPr>
              <a:t>；行数未满，转</a:t>
            </a:r>
            <a:r>
              <a:rPr lang="en-US" altLang="zh-CN" b="1" dirty="0">
                <a:ea typeface="仿宋_GB2312" pitchFamily="49" charset="-122"/>
              </a:rPr>
              <a:t>L0</a:t>
            </a:r>
            <a:r>
              <a:rPr lang="zh-CN" altLang="en-US" b="1" dirty="0">
                <a:ea typeface="仿宋_GB2312" pitchFamily="49" charset="-122"/>
              </a:rPr>
              <a:t>继续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; ============= </a:t>
            </a:r>
            <a:r>
              <a:rPr lang="zh-CN" altLang="en-US" b="1" dirty="0">
                <a:ea typeface="仿宋_GB2312" pitchFamily="49" charset="-122"/>
              </a:rPr>
              <a:t>打印一行的循环结束 </a:t>
            </a:r>
            <a:r>
              <a:rPr lang="en-US" altLang="zh-CN" b="1" dirty="0">
                <a:ea typeface="仿宋_GB2312" pitchFamily="49" charset="-122"/>
              </a:rPr>
              <a:t>============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CRLF			</a:t>
            </a:r>
            <a:r>
              <a:rPr lang="zh-CN" altLang="en-US" b="1" dirty="0">
                <a:ea typeface="仿宋_GB2312" pitchFamily="49" charset="-122"/>
              </a:rPr>
              <a:t>；结束最后一行	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MOV	AX, 4C00H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INT	21H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CODE		ENDS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END	START</a:t>
            </a:r>
          </a:p>
        </p:txBody>
      </p:sp>
      <p:sp>
        <p:nvSpPr>
          <p:cNvPr id="223241" name="页脚占位符 14">
            <a:extLst>
              <a:ext uri="{FF2B5EF4-FFF2-40B4-BE49-F238E27FC236}">
                <a16:creationId xmlns:a16="http://schemas.microsoft.com/office/drawing/2014/main" id="{43A00B8E-2524-4996-A9D9-CEFDD62196D1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23242" name="灯片编号占位符 13">
            <a:extLst>
              <a:ext uri="{FF2B5EF4-FFF2-40B4-BE49-F238E27FC236}">
                <a16:creationId xmlns:a16="http://schemas.microsoft.com/office/drawing/2014/main" id="{34E6B883-321F-456D-B93A-D4E61E13344F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1103007-A339-40AE-8AB8-C9A4C3E62E24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3243" name="日期占位符 12">
            <a:extLst>
              <a:ext uri="{FF2B5EF4-FFF2-40B4-BE49-F238E27FC236}">
                <a16:creationId xmlns:a16="http://schemas.microsoft.com/office/drawing/2014/main" id="{3F7E5D59-56C6-4A45-8D35-D007AD45787A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711F352-69BA-43AB-B0C0-089C32051E74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Line 3">
            <a:extLst>
              <a:ext uri="{FF2B5EF4-FFF2-40B4-BE49-F238E27FC236}">
                <a16:creationId xmlns:a16="http://schemas.microsoft.com/office/drawing/2014/main" id="{CA0272FB-F869-4379-ACCD-6E7BA178D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271DBD72-36AE-46C7-A594-F6A25238C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25284" name="Line 6">
            <a:extLst>
              <a:ext uri="{FF2B5EF4-FFF2-40B4-BE49-F238E27FC236}">
                <a16:creationId xmlns:a16="http://schemas.microsoft.com/office/drawing/2014/main" id="{95B2F202-A087-4D3A-95EF-DE1B2AD773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285" name="AutoShape 7">
            <a:extLst>
              <a:ext uri="{FF2B5EF4-FFF2-40B4-BE49-F238E27FC236}">
                <a16:creationId xmlns:a16="http://schemas.microsoft.com/office/drawing/2014/main" id="{9DDDE20F-3BA0-4E14-A033-BB1411E70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25286" name="Text Box 9">
            <a:extLst>
              <a:ext uri="{FF2B5EF4-FFF2-40B4-BE49-F238E27FC236}">
                <a16:creationId xmlns:a16="http://schemas.microsoft.com/office/drawing/2014/main" id="{DD92FC63-B941-45E7-A289-C9F084FDF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287" name="Text Box 1029">
            <a:extLst>
              <a:ext uri="{FF2B5EF4-FFF2-40B4-BE49-F238E27FC236}">
                <a16:creationId xmlns:a16="http://schemas.microsoft.com/office/drawing/2014/main" id="{53B87758-C2B3-420E-A828-439F48283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64B2301-5CB7-439B-A91C-1F659D20B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36613"/>
            <a:ext cx="7343775" cy="881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160000"/>
              </a:lnSpc>
              <a:defRPr/>
            </a:pP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借助于堆栈，将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CX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使用于两个</a:t>
            </a:r>
            <a:r>
              <a:rPr lang="en-US" altLang="zh-CN" sz="3200" b="1" dirty="0">
                <a:latin typeface="楷体" pitchFamily="49" charset="-122"/>
                <a:ea typeface="楷体" pitchFamily="49" charset="-122"/>
              </a:rPr>
              <a:t>LOOP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指令。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EEFAEB0-66BB-417F-87CB-C2BC99E0B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89138"/>
            <a:ext cx="8382000" cy="39703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……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MOV	BL, 20H	</a:t>
            </a:r>
            <a:r>
              <a:rPr lang="zh-CN" altLang="en-US" b="1" dirty="0">
                <a:ea typeface="仿宋_GB2312" pitchFamily="49" charset="-122"/>
              </a:rPr>
              <a:t>；第一个字符的</a:t>
            </a:r>
            <a:r>
              <a:rPr lang="en-US" altLang="zh-CN" b="1" dirty="0">
                <a:ea typeface="仿宋_GB2312" pitchFamily="49" charset="-122"/>
              </a:rPr>
              <a:t>ASCII</a:t>
            </a:r>
            <a:r>
              <a:rPr lang="zh-CN" altLang="en-US" b="1" dirty="0">
                <a:ea typeface="仿宋_GB2312" pitchFamily="49" charset="-122"/>
              </a:rPr>
              <a:t>代码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MOV	CX, 6	</a:t>
            </a:r>
            <a:r>
              <a:rPr lang="zh-CN" altLang="en-US" b="1" dirty="0">
                <a:ea typeface="仿宋_GB2312" pitchFamily="49" charset="-122"/>
              </a:rPr>
              <a:t>；行数计数器初值		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; ============= </a:t>
            </a:r>
            <a:r>
              <a:rPr lang="zh-CN" altLang="en-US" b="1" dirty="0">
                <a:ea typeface="仿宋_GB2312" pitchFamily="49" charset="-122"/>
              </a:rPr>
              <a:t>打印一行循环开始 </a:t>
            </a:r>
            <a:r>
              <a:rPr lang="en-US" altLang="zh-CN" b="1" dirty="0">
                <a:ea typeface="仿宋_GB2312" pitchFamily="49" charset="-122"/>
              </a:rPr>
              <a:t>==============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L0:	CRLF		</a:t>
            </a:r>
            <a:r>
              <a:rPr lang="zh-CN" altLang="en-US" b="1" dirty="0">
                <a:ea typeface="仿宋_GB2312" pitchFamily="49" charset="-122"/>
              </a:rPr>
              <a:t>；开始一个新行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solidFill>
                  <a:srgbClr val="3103DB"/>
                </a:solidFill>
                <a:ea typeface="仿宋_GB2312" pitchFamily="49" charset="-122"/>
              </a:rPr>
              <a:t>PUSH	CX</a:t>
            </a: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zh-CN" altLang="en-US" b="1" dirty="0">
                <a:ea typeface="仿宋_GB2312" pitchFamily="49" charset="-122"/>
              </a:rPr>
              <a:t>；保存</a:t>
            </a:r>
            <a:r>
              <a:rPr lang="en-US" altLang="zh-CN" b="1" dirty="0">
                <a:ea typeface="仿宋_GB2312" pitchFamily="49" charset="-122"/>
              </a:rPr>
              <a:t>CX</a:t>
            </a:r>
            <a:r>
              <a:rPr lang="zh-CN" altLang="en-US" b="1" dirty="0">
                <a:ea typeface="仿宋_GB2312" pitchFamily="49" charset="-122"/>
              </a:rPr>
              <a:t>中的行计数器值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MOV	CX, 16	</a:t>
            </a:r>
            <a:r>
              <a:rPr lang="zh-CN" altLang="en-US" b="1" dirty="0">
                <a:ea typeface="仿宋_GB2312" pitchFamily="49" charset="-122"/>
              </a:rPr>
              <a:t>；</a:t>
            </a:r>
            <a:r>
              <a:rPr lang="en-US" altLang="zh-CN" b="1" dirty="0">
                <a:ea typeface="仿宋_GB2312" pitchFamily="49" charset="-122"/>
              </a:rPr>
              <a:t>CX</a:t>
            </a:r>
            <a:r>
              <a:rPr lang="zh-CN" altLang="en-US" b="1" dirty="0">
                <a:ea typeface="仿宋_GB2312" pitchFamily="49" charset="-122"/>
              </a:rPr>
              <a:t>中置入列计数器初值</a:t>
            </a:r>
            <a:endParaRPr lang="en-US" altLang="zh-CN" b="1" dirty="0">
              <a:ea typeface="仿宋_GB2312" pitchFamily="49" charset="-122"/>
            </a:endParaRPr>
          </a:p>
        </p:txBody>
      </p:sp>
      <p:sp>
        <p:nvSpPr>
          <p:cNvPr id="225290" name="页脚占位符 14">
            <a:extLst>
              <a:ext uri="{FF2B5EF4-FFF2-40B4-BE49-F238E27FC236}">
                <a16:creationId xmlns:a16="http://schemas.microsoft.com/office/drawing/2014/main" id="{09318418-E827-4657-B0C4-C03CAEE6CCEB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25291" name="灯片编号占位符 13">
            <a:extLst>
              <a:ext uri="{FF2B5EF4-FFF2-40B4-BE49-F238E27FC236}">
                <a16:creationId xmlns:a16="http://schemas.microsoft.com/office/drawing/2014/main" id="{494373A4-2FE6-4041-8794-101ED9763A57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7CF336C-51F3-4F68-A9A2-17ECA3942257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292" name="日期占位符 12">
            <a:extLst>
              <a:ext uri="{FF2B5EF4-FFF2-40B4-BE49-F238E27FC236}">
                <a16:creationId xmlns:a16="http://schemas.microsoft.com/office/drawing/2014/main" id="{E42C9A8F-58B5-4875-95D2-4D8267DA0DA9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9A5D1A-1C83-433B-910F-239DCAA136DD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Line 3">
            <a:extLst>
              <a:ext uri="{FF2B5EF4-FFF2-40B4-BE49-F238E27FC236}">
                <a16:creationId xmlns:a16="http://schemas.microsoft.com/office/drawing/2014/main" id="{C67693EB-5263-4178-8082-1BC780286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37EC1A37-CFDA-4912-B7A5-81AAB7AD4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27332" name="Line 6">
            <a:extLst>
              <a:ext uri="{FF2B5EF4-FFF2-40B4-BE49-F238E27FC236}">
                <a16:creationId xmlns:a16="http://schemas.microsoft.com/office/drawing/2014/main" id="{D2B3F372-06DC-41DB-9007-5D72D8027E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7333" name="AutoShape 7">
            <a:extLst>
              <a:ext uri="{FF2B5EF4-FFF2-40B4-BE49-F238E27FC236}">
                <a16:creationId xmlns:a16="http://schemas.microsoft.com/office/drawing/2014/main" id="{76A1CDB9-AEB3-4EAA-A60D-4DBE85EB3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27334" name="Text Box 9">
            <a:extLst>
              <a:ext uri="{FF2B5EF4-FFF2-40B4-BE49-F238E27FC236}">
                <a16:creationId xmlns:a16="http://schemas.microsoft.com/office/drawing/2014/main" id="{EB720BF5-48F5-4EAD-BF3E-5B1F1A7A9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7335" name="Text Box 1029">
            <a:extLst>
              <a:ext uri="{FF2B5EF4-FFF2-40B4-BE49-F238E27FC236}">
                <a16:creationId xmlns:a16="http://schemas.microsoft.com/office/drawing/2014/main" id="{F790C006-2148-41D2-9035-E79DF89CD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0913AB7-AD05-4C7A-817D-52FDCBB94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8458200" cy="52625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; -------------------- </a:t>
            </a:r>
            <a:r>
              <a:rPr lang="zh-CN" altLang="en-US" b="1" dirty="0">
                <a:ea typeface="仿宋_GB2312" pitchFamily="49" charset="-122"/>
              </a:rPr>
              <a:t>打印一个字符的循环开始 </a:t>
            </a:r>
            <a:r>
              <a:rPr lang="en-US" altLang="zh-CN" b="1" dirty="0">
                <a:ea typeface="仿宋_GB2312" pitchFamily="49" charset="-122"/>
              </a:rPr>
              <a:t>--------------------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L1:	MOV	DL, BL	</a:t>
            </a:r>
            <a:r>
              <a:rPr lang="zh-CN" altLang="en-US" b="1" dirty="0">
                <a:ea typeface="仿宋_GB2312" pitchFamily="49" charset="-122"/>
              </a:rPr>
              <a:t>；装入一个字符</a:t>
            </a:r>
            <a:r>
              <a:rPr lang="en-US" altLang="zh-CN" b="1" dirty="0">
                <a:ea typeface="仿宋_GB2312" pitchFamily="49" charset="-122"/>
              </a:rPr>
              <a:t>ASCII</a:t>
            </a:r>
            <a:r>
              <a:rPr lang="zh-CN" altLang="en-US" b="1" dirty="0">
                <a:ea typeface="仿宋_GB2312" pitchFamily="49" charset="-122"/>
              </a:rPr>
              <a:t>代码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b="1" dirty="0">
                <a:ea typeface="仿宋_GB2312" pitchFamily="49" charset="-122"/>
              </a:rPr>
              <a:t>	</a:t>
            </a:r>
            <a:r>
              <a:rPr lang="en-US" altLang="zh-CN" b="1" dirty="0">
                <a:ea typeface="仿宋_GB2312" pitchFamily="49" charset="-122"/>
              </a:rPr>
              <a:t>……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……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L11:	LOOP	L1	</a:t>
            </a:r>
            <a:r>
              <a:rPr lang="zh-CN" altLang="en-US" b="1" dirty="0">
                <a:ea typeface="仿宋_GB2312" pitchFamily="49" charset="-122"/>
              </a:rPr>
              <a:t>；列数未满（本行未完），转</a:t>
            </a:r>
            <a:r>
              <a:rPr lang="en-US" altLang="zh-CN" b="1" dirty="0">
                <a:ea typeface="仿宋_GB2312" pitchFamily="49" charset="-122"/>
              </a:rPr>
              <a:t>L1</a:t>
            </a:r>
            <a:r>
              <a:rPr lang="zh-CN" altLang="en-US" b="1" dirty="0">
                <a:ea typeface="仿宋_GB2312" pitchFamily="49" charset="-122"/>
              </a:rPr>
              <a:t>继续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; ------------------- </a:t>
            </a:r>
            <a:r>
              <a:rPr lang="zh-CN" altLang="en-US" b="1" dirty="0">
                <a:ea typeface="仿宋_GB2312" pitchFamily="49" charset="-122"/>
              </a:rPr>
              <a:t>打印一个字符的循环结束 </a:t>
            </a:r>
            <a:r>
              <a:rPr lang="en-US" altLang="zh-CN" b="1" dirty="0">
                <a:ea typeface="仿宋_GB2312" pitchFamily="49" charset="-122"/>
              </a:rPr>
              <a:t>-----------------------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en-US" altLang="zh-CN" b="1" dirty="0">
                <a:solidFill>
                  <a:srgbClr val="3103DB"/>
                </a:solidFill>
                <a:ea typeface="仿宋_GB2312" pitchFamily="49" charset="-122"/>
              </a:rPr>
              <a:t>POP	CX</a:t>
            </a:r>
            <a:r>
              <a:rPr lang="en-US" altLang="zh-CN" b="1" dirty="0">
                <a:ea typeface="仿宋_GB2312" pitchFamily="49" charset="-122"/>
              </a:rPr>
              <a:t>	</a:t>
            </a:r>
            <a:r>
              <a:rPr lang="zh-CN" altLang="en-US" b="1" dirty="0">
                <a:ea typeface="仿宋_GB2312" pitchFamily="49" charset="-122"/>
              </a:rPr>
              <a:t>；恢复</a:t>
            </a:r>
            <a:r>
              <a:rPr lang="en-US" altLang="zh-CN" b="1" dirty="0">
                <a:ea typeface="仿宋_GB2312" pitchFamily="49" charset="-122"/>
              </a:rPr>
              <a:t>CX</a:t>
            </a:r>
            <a:r>
              <a:rPr lang="zh-CN" altLang="en-US" b="1" dirty="0">
                <a:ea typeface="仿宋_GB2312" pitchFamily="49" charset="-122"/>
              </a:rPr>
              <a:t>为行计数器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L00:	LOOP	L0	</a:t>
            </a:r>
            <a:r>
              <a:rPr lang="zh-CN" altLang="en-US" b="1" dirty="0">
                <a:ea typeface="仿宋_GB2312" pitchFamily="49" charset="-122"/>
              </a:rPr>
              <a:t>；行数计数，行数未满，转</a:t>
            </a:r>
            <a:r>
              <a:rPr lang="en-US" altLang="zh-CN" b="1" dirty="0">
                <a:ea typeface="仿宋_GB2312" pitchFamily="49" charset="-122"/>
              </a:rPr>
              <a:t>L0</a:t>
            </a:r>
            <a:r>
              <a:rPr lang="zh-CN" altLang="en-US" b="1" dirty="0">
                <a:ea typeface="仿宋_GB2312" pitchFamily="49" charset="-122"/>
              </a:rPr>
              <a:t>继续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; ============== </a:t>
            </a:r>
            <a:r>
              <a:rPr lang="zh-CN" altLang="en-US" b="1" dirty="0">
                <a:ea typeface="仿宋_GB2312" pitchFamily="49" charset="-122"/>
              </a:rPr>
              <a:t>打印一行的循环结束 </a:t>
            </a:r>
            <a:r>
              <a:rPr lang="en-US" altLang="zh-CN" b="1" dirty="0">
                <a:ea typeface="仿宋_GB2312" pitchFamily="49" charset="-122"/>
              </a:rPr>
              <a:t>==============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b="1" dirty="0">
                <a:ea typeface="仿宋_GB2312" pitchFamily="49" charset="-122"/>
              </a:rPr>
              <a:t>	……</a:t>
            </a:r>
          </a:p>
        </p:txBody>
      </p:sp>
      <p:sp>
        <p:nvSpPr>
          <p:cNvPr id="227337" name="页脚占位符 14">
            <a:extLst>
              <a:ext uri="{FF2B5EF4-FFF2-40B4-BE49-F238E27FC236}">
                <a16:creationId xmlns:a16="http://schemas.microsoft.com/office/drawing/2014/main" id="{E536D035-280F-484B-8C78-44FE43FC3ED1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27338" name="灯片编号占位符 13">
            <a:extLst>
              <a:ext uri="{FF2B5EF4-FFF2-40B4-BE49-F238E27FC236}">
                <a16:creationId xmlns:a16="http://schemas.microsoft.com/office/drawing/2014/main" id="{F8AF61A4-DF69-4CE6-9717-65AC8DF7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5458F6C-49B4-47BA-849F-7515B24BA79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7339" name="日期占位符 12">
            <a:extLst>
              <a:ext uri="{FF2B5EF4-FFF2-40B4-BE49-F238E27FC236}">
                <a16:creationId xmlns:a16="http://schemas.microsoft.com/office/drawing/2014/main" id="{F37C68A8-A9B9-415B-A9CC-48F0A1330B79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F962029-7E3B-473F-B116-4C6C0C234689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Line 3">
            <a:extLst>
              <a:ext uri="{FF2B5EF4-FFF2-40B4-BE49-F238E27FC236}">
                <a16:creationId xmlns:a16="http://schemas.microsoft.com/office/drawing/2014/main" id="{6BCCF7B2-5152-432A-AA40-EA73AADB7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18" name="Text Box 6">
            <a:extLst>
              <a:ext uri="{FF2B5EF4-FFF2-40B4-BE49-F238E27FC236}">
                <a16:creationId xmlns:a16="http://schemas.microsoft.com/office/drawing/2014/main" id="{9E53578D-97C8-4A45-BE1B-15BB38B1A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844675"/>
            <a:ext cx="6324600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dirty="0">
                <a:latin typeface="宋体" pitchFamily="2" charset="-122"/>
              </a:rPr>
              <a:t>	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[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32] 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在内存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DATA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开始存放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100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个字节数据，编程统计这些数据内“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0”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和“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1”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的个数相等的数据个数，并存入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NUMB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单元。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sz="3600" b="1" dirty="0">
                <a:solidFill>
                  <a:schemeClr val="bg1">
                    <a:lumMod val="85000"/>
                  </a:schemeClr>
                </a:solidFill>
                <a:latin typeface="楷体" pitchFamily="49" charset="-122"/>
                <a:ea typeface="楷体" pitchFamily="49" charset="-122"/>
                <a:hlinkClick r:id="rId3" action="ppaction://hlinkfile"/>
              </a:rPr>
              <a:t>EP521.asm</a:t>
            </a:r>
            <a:endParaRPr lang="en-US" altLang="zh-CN" sz="3600" b="1" dirty="0">
              <a:solidFill>
                <a:schemeClr val="bg1">
                  <a:lumMod val="85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29380" name="Line 7">
            <a:extLst>
              <a:ext uri="{FF2B5EF4-FFF2-40B4-BE49-F238E27FC236}">
                <a16:creationId xmlns:a16="http://schemas.microsoft.com/office/drawing/2014/main" id="{0045D231-B586-4D44-BBF3-6B7F2405AA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9381" name="AutoShape 8">
            <a:extLst>
              <a:ext uri="{FF2B5EF4-FFF2-40B4-BE49-F238E27FC236}">
                <a16:creationId xmlns:a16="http://schemas.microsoft.com/office/drawing/2014/main" id="{EB589E90-83F1-4FF5-9DAF-F7EF595EE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29382" name="Text Box 1029">
            <a:extLst>
              <a:ext uri="{FF2B5EF4-FFF2-40B4-BE49-F238E27FC236}">
                <a16:creationId xmlns:a16="http://schemas.microsoft.com/office/drawing/2014/main" id="{323F0DC8-CDC5-4FC4-AAB4-43B5E942B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29383" name="页脚占位符 14">
            <a:extLst>
              <a:ext uri="{FF2B5EF4-FFF2-40B4-BE49-F238E27FC236}">
                <a16:creationId xmlns:a16="http://schemas.microsoft.com/office/drawing/2014/main" id="{40A417CA-209B-415D-9630-CAD820E671CB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29384" name="灯片编号占位符 13">
            <a:extLst>
              <a:ext uri="{FF2B5EF4-FFF2-40B4-BE49-F238E27FC236}">
                <a16:creationId xmlns:a16="http://schemas.microsoft.com/office/drawing/2014/main" id="{55339600-D116-473C-A885-3176ADF194FB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6D0AC35-2FB9-4488-8F0E-0FBB22D99F1E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107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9385" name="日期占位符 12">
            <a:extLst>
              <a:ext uri="{FF2B5EF4-FFF2-40B4-BE49-F238E27FC236}">
                <a16:creationId xmlns:a16="http://schemas.microsoft.com/office/drawing/2014/main" id="{01B88272-12EB-498F-AE81-60693E617ED4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5D2E35-4923-437B-879C-83BE1500820B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8" grpId="0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Line 3">
            <a:extLst>
              <a:ext uri="{FF2B5EF4-FFF2-40B4-BE49-F238E27FC236}">
                <a16:creationId xmlns:a16="http://schemas.microsoft.com/office/drawing/2014/main" id="{FFFB4A83-EF4A-4C89-B504-07E8B4C85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66" name="Text Box 6">
            <a:extLst>
              <a:ext uri="{FF2B5EF4-FFF2-40B4-BE49-F238E27FC236}">
                <a16:creationId xmlns:a16="http://schemas.microsoft.com/office/drawing/2014/main" id="{E5C2DC90-2935-4113-A920-E78DFC8BA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752600"/>
            <a:ext cx="63246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dirty="0">
                <a:latin typeface="宋体" pitchFamily="2" charset="-122"/>
              </a:rPr>
              <a:t>	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[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33] 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从内存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BUF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单元开始存放有若干字节的数据块，编程统计该数据块中，所有位为“</a:t>
            </a:r>
            <a:r>
              <a:rPr lang="en-US" altLang="zh-CN" sz="3600" b="1" dirty="0">
                <a:latin typeface="楷体" pitchFamily="49" charset="-122"/>
                <a:ea typeface="楷体" pitchFamily="49" charset="-122"/>
              </a:rPr>
              <a:t>1”</a:t>
            </a:r>
            <a:r>
              <a:rPr lang="zh-CN" altLang="en-US" sz="3600" b="1" dirty="0">
                <a:latin typeface="楷体" pitchFamily="49" charset="-122"/>
                <a:ea typeface="楷体" pitchFamily="49" charset="-122"/>
              </a:rPr>
              <a:t>的个数。</a:t>
            </a:r>
            <a:r>
              <a:rPr lang="en-US" altLang="zh-CN" sz="3600" b="1" dirty="0">
                <a:solidFill>
                  <a:schemeClr val="bg1">
                    <a:lumMod val="85000"/>
                  </a:schemeClr>
                </a:solidFill>
                <a:latin typeface="楷体" pitchFamily="49" charset="-122"/>
                <a:ea typeface="楷体" pitchFamily="49" charset="-122"/>
                <a:hlinkClick r:id="rId3" action="ppaction://hlinkfile"/>
              </a:rPr>
              <a:t>EP522.asm</a:t>
            </a:r>
            <a:endParaRPr lang="en-US" altLang="zh-CN" sz="3600" b="1" dirty="0">
              <a:solidFill>
                <a:schemeClr val="bg1">
                  <a:lumMod val="85000"/>
                </a:schemeClr>
              </a:solidFill>
              <a:latin typeface="楷体" pitchFamily="49" charset="-122"/>
              <a:ea typeface="楷体" pitchFamily="49" charset="-122"/>
            </a:endParaRPr>
          </a:p>
          <a:p>
            <a:pPr algn="just" eaLnBrk="1" hangingPunct="1">
              <a:defRPr/>
            </a:pPr>
            <a:endParaRPr lang="en-US" altLang="zh-CN" sz="36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31428" name="Line 7">
            <a:extLst>
              <a:ext uri="{FF2B5EF4-FFF2-40B4-BE49-F238E27FC236}">
                <a16:creationId xmlns:a16="http://schemas.microsoft.com/office/drawing/2014/main" id="{E954577E-2682-4A25-839A-2D78A49C96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1429" name="AutoShape 8">
            <a:extLst>
              <a:ext uri="{FF2B5EF4-FFF2-40B4-BE49-F238E27FC236}">
                <a16:creationId xmlns:a16="http://schemas.microsoft.com/office/drawing/2014/main" id="{AAE19356-5ECC-4DCA-A0CC-BF7BB1C6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31430" name="Text Box 1029">
            <a:extLst>
              <a:ext uri="{FF2B5EF4-FFF2-40B4-BE49-F238E27FC236}">
                <a16:creationId xmlns:a16="http://schemas.microsoft.com/office/drawing/2014/main" id="{C2FBFA69-6F59-4558-A05B-18FFA5EF5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31431" name="页脚占位符 14">
            <a:extLst>
              <a:ext uri="{FF2B5EF4-FFF2-40B4-BE49-F238E27FC236}">
                <a16:creationId xmlns:a16="http://schemas.microsoft.com/office/drawing/2014/main" id="{3572761E-6B89-4D3D-BAE8-AEEC6C2D3B56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31432" name="灯片编号占位符 13">
            <a:extLst>
              <a:ext uri="{FF2B5EF4-FFF2-40B4-BE49-F238E27FC236}">
                <a16:creationId xmlns:a16="http://schemas.microsoft.com/office/drawing/2014/main" id="{C63D0F90-1568-472E-98B2-537488E6D2B1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ACE0A3E-1074-45D4-81A7-FFDC7169A450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1433" name="日期占位符 12">
            <a:extLst>
              <a:ext uri="{FF2B5EF4-FFF2-40B4-BE49-F238E27FC236}">
                <a16:creationId xmlns:a16="http://schemas.microsoft.com/office/drawing/2014/main" id="{66A6D1EF-DD21-4043-941A-9EFA30D31B16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B20DB4A-4206-45C3-A48C-238796A6A6B6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6" grpId="0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Line 3">
            <a:extLst>
              <a:ext uri="{FF2B5EF4-FFF2-40B4-BE49-F238E27FC236}">
                <a16:creationId xmlns:a16="http://schemas.microsoft.com/office/drawing/2014/main" id="{50F55078-CE53-4B14-AA28-11C5C16A7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14" name="Text Box 6">
            <a:extLst>
              <a:ext uri="{FF2B5EF4-FFF2-40B4-BE49-F238E27FC236}">
                <a16:creationId xmlns:a16="http://schemas.microsoft.com/office/drawing/2014/main" id="{3BFD060F-847A-4F45-8CA4-7C8914BC2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1019175"/>
            <a:ext cx="8382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34] 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用双重循环编写软件延时子程序。</a:t>
            </a:r>
            <a:endParaRPr lang="en-US" altLang="zh-CN" sz="32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SOFTDLY	PROC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		MOV	BL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DELAY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：	</a:t>
            </a: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	CX</a:t>
            </a:r>
            <a:r>
              <a:rPr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2801	;</a:t>
            </a: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内循环，延时</a:t>
            </a: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10ms</a:t>
            </a:r>
            <a:endParaRPr lang="en-US" altLang="zh-CN" sz="32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WAIT</a:t>
            </a:r>
            <a:r>
              <a:rPr lang="zh-CN" altLang="en-US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	</a:t>
            </a:r>
            <a:r>
              <a:rPr lang="en-US" altLang="zh-CN" sz="3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LOOP	WAIT</a:t>
            </a:r>
            <a:endParaRPr lang="en-US" altLang="zh-CN" sz="32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		DEC		BL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		JNC		DELAY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		RET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SOFTDLY	ENDP</a:t>
            </a:r>
          </a:p>
        </p:txBody>
      </p:sp>
      <p:sp>
        <p:nvSpPr>
          <p:cNvPr id="233476" name="Line 7">
            <a:extLst>
              <a:ext uri="{FF2B5EF4-FFF2-40B4-BE49-F238E27FC236}">
                <a16:creationId xmlns:a16="http://schemas.microsoft.com/office/drawing/2014/main" id="{A73EC1E0-338B-4C3F-B5DB-1B1E674DE5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3477" name="AutoShape 8">
            <a:extLst>
              <a:ext uri="{FF2B5EF4-FFF2-40B4-BE49-F238E27FC236}">
                <a16:creationId xmlns:a16="http://schemas.microsoft.com/office/drawing/2014/main" id="{416F0A7B-1186-49F9-9CC1-35C6B5B74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33478" name="Text Box 1029">
            <a:extLst>
              <a:ext uri="{FF2B5EF4-FFF2-40B4-BE49-F238E27FC236}">
                <a16:creationId xmlns:a16="http://schemas.microsoft.com/office/drawing/2014/main" id="{FB688BD7-E914-40A7-8750-89DF36595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33479" name="页脚占位符 14">
            <a:extLst>
              <a:ext uri="{FF2B5EF4-FFF2-40B4-BE49-F238E27FC236}">
                <a16:creationId xmlns:a16="http://schemas.microsoft.com/office/drawing/2014/main" id="{23150FBD-AE95-4CD9-9DAF-6666C53AE96F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33480" name="灯片编号占位符 13">
            <a:extLst>
              <a:ext uri="{FF2B5EF4-FFF2-40B4-BE49-F238E27FC236}">
                <a16:creationId xmlns:a16="http://schemas.microsoft.com/office/drawing/2014/main" id="{8DDA7144-B759-43C4-A229-3FECB5E8A19E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68CF141-ED18-4660-9645-21F0641BEC03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109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3481" name="日期占位符 12">
            <a:extLst>
              <a:ext uri="{FF2B5EF4-FFF2-40B4-BE49-F238E27FC236}">
                <a16:creationId xmlns:a16="http://schemas.microsoft.com/office/drawing/2014/main" id="{4041ACD7-5EA6-4A20-8B9E-C32677607F4E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7F0AEAD-88EA-44C9-BF95-2596272E514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4" grpId="0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Line 3">
            <a:extLst>
              <a:ext uri="{FF2B5EF4-FFF2-40B4-BE49-F238E27FC236}">
                <a16:creationId xmlns:a16="http://schemas.microsoft.com/office/drawing/2014/main" id="{55FB010D-3908-461D-AC75-11275C0C5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14" name="Text Box 6">
            <a:extLst>
              <a:ext uri="{FF2B5EF4-FFF2-40B4-BE49-F238E27FC236}">
                <a16:creationId xmlns:a16="http://schemas.microsoft.com/office/drawing/2014/main" id="{FA48F2FE-5F6A-48D7-B881-D0692C34B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65175"/>
            <a:ext cx="8382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35]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用“冒泡”的方法对数组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的元素排序，按从小到大的顺序排列。</a:t>
            </a:r>
            <a:r>
              <a:rPr lang="en-US" altLang="zh-CN" sz="32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hlinkClick r:id="rId3" action="ppaction://hlinkfile"/>
              </a:rPr>
              <a:t>EP523.asm</a:t>
            </a: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5524" name="Line 7">
            <a:extLst>
              <a:ext uri="{FF2B5EF4-FFF2-40B4-BE49-F238E27FC236}">
                <a16:creationId xmlns:a16="http://schemas.microsoft.com/office/drawing/2014/main" id="{38EC236D-6CE9-4049-B395-B5A2DBACE3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525" name="AutoShape 8">
            <a:extLst>
              <a:ext uri="{FF2B5EF4-FFF2-40B4-BE49-F238E27FC236}">
                <a16:creationId xmlns:a16="http://schemas.microsoft.com/office/drawing/2014/main" id="{00DABF2D-169A-438C-AECD-FC7FF02D5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35526" name="Text Box 1029">
            <a:extLst>
              <a:ext uri="{FF2B5EF4-FFF2-40B4-BE49-F238E27FC236}">
                <a16:creationId xmlns:a16="http://schemas.microsoft.com/office/drawing/2014/main" id="{5EC8D254-0E40-4DA0-A2FE-53792EBFC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35527" name="Group 3">
            <a:extLst>
              <a:ext uri="{FF2B5EF4-FFF2-40B4-BE49-F238E27FC236}">
                <a16:creationId xmlns:a16="http://schemas.microsoft.com/office/drawing/2014/main" id="{66013B82-2939-490B-8422-FAACBFB2B875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060575"/>
            <a:ext cx="8763000" cy="3960813"/>
            <a:chOff x="-3" y="-3"/>
            <a:chExt cx="3039" cy="2598"/>
          </a:xfrm>
        </p:grpSpPr>
        <p:grpSp>
          <p:nvGrpSpPr>
            <p:cNvPr id="235531" name="Group 4">
              <a:extLst>
                <a:ext uri="{FF2B5EF4-FFF2-40B4-BE49-F238E27FC236}">
                  <a16:creationId xmlns:a16="http://schemas.microsoft.com/office/drawing/2014/main" id="{3CB70239-AD49-42BF-A3C4-E1BDDB1F3C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33" cy="2592"/>
              <a:chOff x="0" y="0"/>
              <a:chExt cx="3033" cy="2592"/>
            </a:xfrm>
          </p:grpSpPr>
          <p:grpSp>
            <p:nvGrpSpPr>
              <p:cNvPr id="235533" name="Group 5">
                <a:extLst>
                  <a:ext uri="{FF2B5EF4-FFF2-40B4-BE49-F238E27FC236}">
                    <a16:creationId xmlns:a16="http://schemas.microsoft.com/office/drawing/2014/main" id="{A9409B63-6E93-4E12-8648-F85A0DFB7B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68" cy="672"/>
                <a:chOff x="0" y="0"/>
                <a:chExt cx="268" cy="672"/>
              </a:xfrm>
            </p:grpSpPr>
            <p:sp>
              <p:nvSpPr>
                <p:cNvPr id="235631" name="Rectangle 6">
                  <a:extLst>
                    <a:ext uri="{FF2B5EF4-FFF2-40B4-BE49-F238E27FC236}">
                      <a16:creationId xmlns:a16="http://schemas.microsoft.com/office/drawing/2014/main" id="{2806E42C-4C8E-4892-BF47-581F792B92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68" cy="672"/>
                </a:xfrm>
                <a:prstGeom prst="rect">
                  <a:avLst/>
                </a:prstGeom>
                <a:solidFill>
                  <a:srgbClr val="D9D9D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5632" name="Group 7">
                  <a:extLst>
                    <a:ext uri="{FF2B5EF4-FFF2-40B4-BE49-F238E27FC236}">
                      <a16:creationId xmlns:a16="http://schemas.microsoft.com/office/drawing/2014/main" id="{B874F087-BF17-4869-A266-24325B166B5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68" cy="672"/>
                  <a:chOff x="0" y="0"/>
                  <a:chExt cx="268" cy="672"/>
                </a:xfrm>
              </p:grpSpPr>
              <p:sp>
                <p:nvSpPr>
                  <p:cNvPr id="235633" name="Rectangle 8">
                    <a:extLst>
                      <a:ext uri="{FF2B5EF4-FFF2-40B4-BE49-F238E27FC236}">
                        <a16:creationId xmlns:a16="http://schemas.microsoft.com/office/drawing/2014/main" id="{591C8E5F-CD95-44D0-828E-13F2BA460D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68" cy="672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 anchor="ctr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宋体" panose="02010600030101010101" pitchFamily="2" charset="-122"/>
                      </a:rPr>
                      <a:t>排序</a:t>
                    </a:r>
                    <a:endParaRPr lang="zh-CN" altLang="en-US" sz="2000" b="1">
                      <a:latin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宋体" panose="02010600030101010101" pitchFamily="2" charset="-122"/>
                      </a:rPr>
                      <a:t>遍数</a:t>
                    </a:r>
                    <a:endParaRPr lang="zh-CN" altLang="en-US" sz="2000" b="1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5634" name="Rectangle 9">
                    <a:extLst>
                      <a:ext uri="{FF2B5EF4-FFF2-40B4-BE49-F238E27FC236}">
                        <a16:creationId xmlns:a16="http://schemas.microsoft.com/office/drawing/2014/main" id="{37334371-8215-4D7C-9935-86EA77B4A0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68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35534" name="Group 10">
                <a:extLst>
                  <a:ext uri="{FF2B5EF4-FFF2-40B4-BE49-F238E27FC236}">
                    <a16:creationId xmlns:a16="http://schemas.microsoft.com/office/drawing/2014/main" id="{6283F3DF-60D5-4A59-991A-951AC0C251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" y="0"/>
                <a:ext cx="553" cy="672"/>
                <a:chOff x="268" y="0"/>
                <a:chExt cx="553" cy="672"/>
              </a:xfrm>
            </p:grpSpPr>
            <p:sp>
              <p:nvSpPr>
                <p:cNvPr id="235627" name="Rectangle 11">
                  <a:extLst>
                    <a:ext uri="{FF2B5EF4-FFF2-40B4-BE49-F238E27FC236}">
                      <a16:creationId xmlns:a16="http://schemas.microsoft.com/office/drawing/2014/main" id="{28E4E40A-2225-49D9-AA71-76A8CFAE12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" y="0"/>
                  <a:ext cx="553" cy="672"/>
                </a:xfrm>
                <a:prstGeom prst="rect">
                  <a:avLst/>
                </a:prstGeom>
                <a:solidFill>
                  <a:srgbClr val="D9D9D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5628" name="Group 12">
                  <a:extLst>
                    <a:ext uri="{FF2B5EF4-FFF2-40B4-BE49-F238E27FC236}">
                      <a16:creationId xmlns:a16="http://schemas.microsoft.com/office/drawing/2014/main" id="{6325B7EE-EF6D-4614-8BEE-090B4C9F8D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8" y="0"/>
                  <a:ext cx="553" cy="672"/>
                  <a:chOff x="268" y="0"/>
                  <a:chExt cx="553" cy="672"/>
                </a:xfrm>
              </p:grpSpPr>
              <p:sp>
                <p:nvSpPr>
                  <p:cNvPr id="235629" name="Rectangle 13">
                    <a:extLst>
                      <a:ext uri="{FF2B5EF4-FFF2-40B4-BE49-F238E27FC236}">
                        <a16:creationId xmlns:a16="http://schemas.microsoft.com/office/drawing/2014/main" id="{42293F12-C472-449D-B62C-7A76FCA268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8" y="0"/>
                    <a:ext cx="553" cy="672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 anchor="ctr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本遍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整序前</a:t>
                    </a:r>
                  </a:p>
                </p:txBody>
              </p:sp>
              <p:sp>
                <p:nvSpPr>
                  <p:cNvPr id="235630" name="Rectangle 14">
                    <a:extLst>
                      <a:ext uri="{FF2B5EF4-FFF2-40B4-BE49-F238E27FC236}">
                        <a16:creationId xmlns:a16="http://schemas.microsoft.com/office/drawing/2014/main" id="{5E687130-9049-43BB-9CEB-43AD2CF0F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8" y="0"/>
                    <a:ext cx="553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35535" name="Group 15">
                <a:extLst>
                  <a:ext uri="{FF2B5EF4-FFF2-40B4-BE49-F238E27FC236}">
                    <a16:creationId xmlns:a16="http://schemas.microsoft.com/office/drawing/2014/main" id="{AD8D06F9-1DBF-4736-AAA6-95500D6D75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0"/>
                <a:ext cx="553" cy="672"/>
                <a:chOff x="821" y="0"/>
                <a:chExt cx="553" cy="672"/>
              </a:xfrm>
            </p:grpSpPr>
            <p:sp>
              <p:nvSpPr>
                <p:cNvPr id="235623" name="Rectangle 16">
                  <a:extLst>
                    <a:ext uri="{FF2B5EF4-FFF2-40B4-BE49-F238E27FC236}">
                      <a16:creationId xmlns:a16="http://schemas.microsoft.com/office/drawing/2014/main" id="{B39520BB-9838-465C-95A3-CB00F9B7BB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" y="0"/>
                  <a:ext cx="553" cy="672"/>
                </a:xfrm>
                <a:prstGeom prst="rect">
                  <a:avLst/>
                </a:prstGeom>
                <a:solidFill>
                  <a:srgbClr val="D9D9D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5624" name="Group 17">
                  <a:extLst>
                    <a:ext uri="{FF2B5EF4-FFF2-40B4-BE49-F238E27FC236}">
                      <a16:creationId xmlns:a16="http://schemas.microsoft.com/office/drawing/2014/main" id="{0BE837FA-F7C9-44A5-A52E-3793E1BDFF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1" y="0"/>
                  <a:ext cx="553" cy="672"/>
                  <a:chOff x="821" y="0"/>
                  <a:chExt cx="553" cy="672"/>
                </a:xfrm>
              </p:grpSpPr>
              <p:sp>
                <p:nvSpPr>
                  <p:cNvPr id="235625" name="Rectangle 18">
                    <a:extLst>
                      <a:ext uri="{FF2B5EF4-FFF2-40B4-BE49-F238E27FC236}">
                        <a16:creationId xmlns:a16="http://schemas.microsoft.com/office/drawing/2014/main" id="{8D878D0B-CF6E-4B9C-9CDB-CBEEF9D3B5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1" y="0"/>
                    <a:ext cx="553" cy="672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 anchor="ctr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第</a:t>
                    </a:r>
                    <a:r>
                      <a:rPr lang="en-US" altLang="zh-CN" sz="2000" b="1">
                        <a:latin typeface="Times New Roman" panose="02020603050405020304" pitchFamily="18" charset="0"/>
                      </a:rPr>
                      <a:t>1</a:t>
                    </a: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次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整序后</a:t>
                    </a:r>
                  </a:p>
                </p:txBody>
              </p:sp>
              <p:sp>
                <p:nvSpPr>
                  <p:cNvPr id="235626" name="Rectangle 19">
                    <a:extLst>
                      <a:ext uri="{FF2B5EF4-FFF2-40B4-BE49-F238E27FC236}">
                        <a16:creationId xmlns:a16="http://schemas.microsoft.com/office/drawing/2014/main" id="{B5034BBE-CCB5-4E27-8A03-1FE7C17144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1" y="0"/>
                    <a:ext cx="553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35536" name="Group 20">
                <a:extLst>
                  <a:ext uri="{FF2B5EF4-FFF2-40B4-BE49-F238E27FC236}">
                    <a16:creationId xmlns:a16="http://schemas.microsoft.com/office/drawing/2014/main" id="{6FF4EA85-B310-4660-A2AD-E151280B51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4" y="0"/>
                <a:ext cx="553" cy="672"/>
                <a:chOff x="1374" y="0"/>
                <a:chExt cx="553" cy="672"/>
              </a:xfrm>
            </p:grpSpPr>
            <p:sp>
              <p:nvSpPr>
                <p:cNvPr id="235619" name="Rectangle 21">
                  <a:extLst>
                    <a:ext uri="{FF2B5EF4-FFF2-40B4-BE49-F238E27FC236}">
                      <a16:creationId xmlns:a16="http://schemas.microsoft.com/office/drawing/2014/main" id="{ECCC2E0C-6D0E-412B-B07B-33A484F504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" y="0"/>
                  <a:ext cx="553" cy="672"/>
                </a:xfrm>
                <a:prstGeom prst="rect">
                  <a:avLst/>
                </a:prstGeom>
                <a:solidFill>
                  <a:srgbClr val="D9D9D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5620" name="Group 22">
                  <a:extLst>
                    <a:ext uri="{FF2B5EF4-FFF2-40B4-BE49-F238E27FC236}">
                      <a16:creationId xmlns:a16="http://schemas.microsoft.com/office/drawing/2014/main" id="{0F797CB7-D512-4345-B168-1BB54B21DD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74" y="0"/>
                  <a:ext cx="553" cy="672"/>
                  <a:chOff x="1374" y="0"/>
                  <a:chExt cx="553" cy="672"/>
                </a:xfrm>
              </p:grpSpPr>
              <p:sp>
                <p:nvSpPr>
                  <p:cNvPr id="235621" name="Rectangle 23">
                    <a:extLst>
                      <a:ext uri="{FF2B5EF4-FFF2-40B4-BE49-F238E27FC236}">
                        <a16:creationId xmlns:a16="http://schemas.microsoft.com/office/drawing/2014/main" id="{42755DC8-8640-4DF7-9841-A0188D1436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4" y="0"/>
                    <a:ext cx="553" cy="672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 anchor="ctr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第</a:t>
                    </a:r>
                    <a:r>
                      <a:rPr lang="en-US" altLang="zh-CN" sz="2000" b="1">
                        <a:latin typeface="Times New Roman" panose="02020603050405020304" pitchFamily="18" charset="0"/>
                      </a:rPr>
                      <a:t>2</a:t>
                    </a: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次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整序后</a:t>
                    </a:r>
                  </a:p>
                </p:txBody>
              </p:sp>
              <p:sp>
                <p:nvSpPr>
                  <p:cNvPr id="235622" name="Rectangle 24">
                    <a:extLst>
                      <a:ext uri="{FF2B5EF4-FFF2-40B4-BE49-F238E27FC236}">
                        <a16:creationId xmlns:a16="http://schemas.microsoft.com/office/drawing/2014/main" id="{CCD789BB-7902-42F4-A0AD-91D5A19237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74" y="0"/>
                    <a:ext cx="553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35537" name="Group 25">
                <a:extLst>
                  <a:ext uri="{FF2B5EF4-FFF2-40B4-BE49-F238E27FC236}">
                    <a16:creationId xmlns:a16="http://schemas.microsoft.com/office/drawing/2014/main" id="{918951B3-FFAD-40A9-91A5-D1D34B5CC1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" y="0"/>
                <a:ext cx="553" cy="672"/>
                <a:chOff x="1927" y="0"/>
                <a:chExt cx="553" cy="672"/>
              </a:xfrm>
            </p:grpSpPr>
            <p:sp>
              <p:nvSpPr>
                <p:cNvPr id="235615" name="Rectangle 26">
                  <a:extLst>
                    <a:ext uri="{FF2B5EF4-FFF2-40B4-BE49-F238E27FC236}">
                      <a16:creationId xmlns:a16="http://schemas.microsoft.com/office/drawing/2014/main" id="{68CC6197-7FE6-44D2-B544-2052B4D81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0"/>
                  <a:ext cx="553" cy="672"/>
                </a:xfrm>
                <a:prstGeom prst="rect">
                  <a:avLst/>
                </a:prstGeom>
                <a:solidFill>
                  <a:srgbClr val="D9D9D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5616" name="Group 27">
                  <a:extLst>
                    <a:ext uri="{FF2B5EF4-FFF2-40B4-BE49-F238E27FC236}">
                      <a16:creationId xmlns:a16="http://schemas.microsoft.com/office/drawing/2014/main" id="{B5C43E80-C0BB-4621-AC73-293466FD72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7" y="0"/>
                  <a:ext cx="553" cy="672"/>
                  <a:chOff x="1927" y="0"/>
                  <a:chExt cx="553" cy="672"/>
                </a:xfrm>
              </p:grpSpPr>
              <p:sp>
                <p:nvSpPr>
                  <p:cNvPr id="235617" name="Rectangle 28">
                    <a:extLst>
                      <a:ext uri="{FF2B5EF4-FFF2-40B4-BE49-F238E27FC236}">
                        <a16:creationId xmlns:a16="http://schemas.microsoft.com/office/drawing/2014/main" id="{60CB5868-B513-410D-ACE0-AA344971CE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7" y="0"/>
                    <a:ext cx="553" cy="672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 anchor="ctr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第</a:t>
                    </a:r>
                    <a:r>
                      <a:rPr lang="en-US" altLang="zh-CN" sz="2000" b="1">
                        <a:latin typeface="Times New Roman" panose="02020603050405020304" pitchFamily="18" charset="0"/>
                      </a:rPr>
                      <a:t>3</a:t>
                    </a: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次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整序后</a:t>
                    </a:r>
                  </a:p>
                </p:txBody>
              </p:sp>
              <p:sp>
                <p:nvSpPr>
                  <p:cNvPr id="235618" name="Rectangle 29">
                    <a:extLst>
                      <a:ext uri="{FF2B5EF4-FFF2-40B4-BE49-F238E27FC236}">
                        <a16:creationId xmlns:a16="http://schemas.microsoft.com/office/drawing/2014/main" id="{E6601616-4556-4E5A-9E23-87387F3268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7" y="0"/>
                    <a:ext cx="553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35538" name="Group 30">
                <a:extLst>
                  <a:ext uri="{FF2B5EF4-FFF2-40B4-BE49-F238E27FC236}">
                    <a16:creationId xmlns:a16="http://schemas.microsoft.com/office/drawing/2014/main" id="{0664BE55-0E28-4269-9244-9D5CC9E395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0" y="0"/>
                <a:ext cx="553" cy="672"/>
                <a:chOff x="2480" y="0"/>
                <a:chExt cx="553" cy="672"/>
              </a:xfrm>
            </p:grpSpPr>
            <p:sp>
              <p:nvSpPr>
                <p:cNvPr id="235611" name="Rectangle 31">
                  <a:extLst>
                    <a:ext uri="{FF2B5EF4-FFF2-40B4-BE49-F238E27FC236}">
                      <a16:creationId xmlns:a16="http://schemas.microsoft.com/office/drawing/2014/main" id="{E69F42C8-B27D-4C67-B3B0-DA71FED8D6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0" y="0"/>
                  <a:ext cx="553" cy="672"/>
                </a:xfrm>
                <a:prstGeom prst="rect">
                  <a:avLst/>
                </a:prstGeom>
                <a:solidFill>
                  <a:srgbClr val="D9D9D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5612" name="Group 32">
                  <a:extLst>
                    <a:ext uri="{FF2B5EF4-FFF2-40B4-BE49-F238E27FC236}">
                      <a16:creationId xmlns:a16="http://schemas.microsoft.com/office/drawing/2014/main" id="{8682BEBD-B2D5-44DA-967D-1BA0218877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80" y="0"/>
                  <a:ext cx="553" cy="672"/>
                  <a:chOff x="2480" y="0"/>
                  <a:chExt cx="553" cy="672"/>
                </a:xfrm>
              </p:grpSpPr>
              <p:sp>
                <p:nvSpPr>
                  <p:cNvPr id="235613" name="Rectangle 33">
                    <a:extLst>
                      <a:ext uri="{FF2B5EF4-FFF2-40B4-BE49-F238E27FC236}">
                        <a16:creationId xmlns:a16="http://schemas.microsoft.com/office/drawing/2014/main" id="{5FAD1A6B-C521-477A-82F3-7F295ABAC0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80" y="0"/>
                    <a:ext cx="553" cy="672"/>
                  </a:xfrm>
                  <a:prstGeom prst="rect">
                    <a:avLst/>
                  </a:prstGeom>
                  <a:solidFill>
                    <a:srgbClr val="D9D9D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 anchor="ctr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第</a:t>
                    </a:r>
                    <a:r>
                      <a:rPr lang="en-US" altLang="zh-CN" sz="2000" b="1">
                        <a:latin typeface="Times New Roman" panose="02020603050405020304" pitchFamily="18" charset="0"/>
                      </a:rPr>
                      <a:t>4</a:t>
                    </a: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次</a:t>
                    </a:r>
                  </a:p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>
                        <a:latin typeface="Times New Roman" panose="02020603050405020304" pitchFamily="18" charset="0"/>
                      </a:rPr>
                      <a:t>整序后</a:t>
                    </a:r>
                  </a:p>
                </p:txBody>
              </p:sp>
              <p:sp>
                <p:nvSpPr>
                  <p:cNvPr id="235614" name="Rectangle 34">
                    <a:extLst>
                      <a:ext uri="{FF2B5EF4-FFF2-40B4-BE49-F238E27FC236}">
                        <a16:creationId xmlns:a16="http://schemas.microsoft.com/office/drawing/2014/main" id="{ED2E9EC0-541C-4F0F-8199-F325710740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80" y="0"/>
                    <a:ext cx="553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rIns="0"/>
                  <a:lstStyle>
                    <a:lvl1pPr>
                      <a:spcBef>
                        <a:spcPct val="20000"/>
                      </a:spcBef>
                      <a:buClr>
                        <a:srgbClr val="0BD0D9"/>
                      </a:buClr>
                      <a:buSzPct val="95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85000"/>
                      <a:buFont typeface="Wingdings 2" panose="05020102010507070707" pitchFamily="18" charset="2"/>
                      <a:buChar char=""/>
                      <a:defRPr sz="24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 2" panose="05020102010507070707" pitchFamily="18" charset="2"/>
                      <a:buChar char=""/>
                      <a:defRPr sz="21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BD0D9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10CF9B"/>
                      </a:buClr>
                      <a:buSzPct val="65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Constantia" panose="0203060205030603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35539" name="Group 35">
                <a:extLst>
                  <a:ext uri="{FF2B5EF4-FFF2-40B4-BE49-F238E27FC236}">
                    <a16:creationId xmlns:a16="http://schemas.microsoft.com/office/drawing/2014/main" id="{53FD352D-BC1D-45E2-BBB8-6EF96DA24B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672"/>
                <a:ext cx="268" cy="480"/>
                <a:chOff x="0" y="672"/>
                <a:chExt cx="268" cy="480"/>
              </a:xfrm>
            </p:grpSpPr>
            <p:sp>
              <p:nvSpPr>
                <p:cNvPr id="235609" name="Rectangle 36">
                  <a:extLst>
                    <a:ext uri="{FF2B5EF4-FFF2-40B4-BE49-F238E27FC236}">
                      <a16:creationId xmlns:a16="http://schemas.microsoft.com/office/drawing/2014/main" id="{DDEA57AB-91D6-461E-A451-CFDE1AA78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72"/>
                  <a:ext cx="268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	     1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610" name="Rectangle 37">
                  <a:extLst>
                    <a:ext uri="{FF2B5EF4-FFF2-40B4-BE49-F238E27FC236}">
                      <a16:creationId xmlns:a16="http://schemas.microsoft.com/office/drawing/2014/main" id="{E3234139-AC48-4180-ADA0-6DB42DF7E5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672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0" name="Group 38">
                <a:extLst>
                  <a:ext uri="{FF2B5EF4-FFF2-40B4-BE49-F238E27FC236}">
                    <a16:creationId xmlns:a16="http://schemas.microsoft.com/office/drawing/2014/main" id="{58F66D79-20A6-44D1-AE37-2666432836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" y="672"/>
                <a:ext cx="553" cy="480"/>
                <a:chOff x="268" y="672"/>
                <a:chExt cx="553" cy="480"/>
              </a:xfrm>
            </p:grpSpPr>
            <p:sp>
              <p:nvSpPr>
                <p:cNvPr id="235607" name="Rectangle 39">
                  <a:extLst>
                    <a:ext uri="{FF2B5EF4-FFF2-40B4-BE49-F238E27FC236}">
                      <a16:creationId xmlns:a16="http://schemas.microsoft.com/office/drawing/2014/main" id="{8F0CC4C4-E870-477C-937B-0944531F0C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" y="67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>
                      <a:solidFill>
                        <a:srgbClr val="3103DB"/>
                      </a:solidFill>
                      <a:latin typeface="Times New Roman" panose="02020603050405020304" pitchFamily="18" charset="0"/>
                    </a:rPr>
                    <a:t>42 15 81 7 5</a:t>
                  </a:r>
                </a:p>
              </p:txBody>
            </p:sp>
            <p:sp>
              <p:nvSpPr>
                <p:cNvPr id="235608" name="Rectangle 40">
                  <a:extLst>
                    <a:ext uri="{FF2B5EF4-FFF2-40B4-BE49-F238E27FC236}">
                      <a16:creationId xmlns:a16="http://schemas.microsoft.com/office/drawing/2014/main" id="{5F639F2B-947B-48EF-9CA1-418EC1388B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" y="67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1" name="Group 41">
                <a:extLst>
                  <a:ext uri="{FF2B5EF4-FFF2-40B4-BE49-F238E27FC236}">
                    <a16:creationId xmlns:a16="http://schemas.microsoft.com/office/drawing/2014/main" id="{DED71914-CA2E-4AD9-A340-8087A06209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672"/>
                <a:ext cx="553" cy="480"/>
                <a:chOff x="821" y="672"/>
                <a:chExt cx="553" cy="480"/>
              </a:xfrm>
            </p:grpSpPr>
            <p:sp>
              <p:nvSpPr>
                <p:cNvPr id="235605" name="Rectangle 42">
                  <a:extLst>
                    <a:ext uri="{FF2B5EF4-FFF2-40B4-BE49-F238E27FC236}">
                      <a16:creationId xmlns:a16="http://schemas.microsoft.com/office/drawing/2014/main" id="{20CBF4F4-D801-4F63-AB2F-F06F39AFA9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" y="67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15 42 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81 7 5</a:t>
                  </a:r>
                </a:p>
              </p:txBody>
            </p:sp>
            <p:sp>
              <p:nvSpPr>
                <p:cNvPr id="235606" name="Rectangle 43">
                  <a:extLst>
                    <a:ext uri="{FF2B5EF4-FFF2-40B4-BE49-F238E27FC236}">
                      <a16:creationId xmlns:a16="http://schemas.microsoft.com/office/drawing/2014/main" id="{F53A699C-445B-4565-9FB9-9F79792641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" y="67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2" name="Group 44">
                <a:extLst>
                  <a:ext uri="{FF2B5EF4-FFF2-40B4-BE49-F238E27FC236}">
                    <a16:creationId xmlns:a16="http://schemas.microsoft.com/office/drawing/2014/main" id="{A48103DA-24B3-4099-B256-881068C829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4" y="672"/>
                <a:ext cx="553" cy="480"/>
                <a:chOff x="1374" y="672"/>
                <a:chExt cx="553" cy="480"/>
              </a:xfrm>
            </p:grpSpPr>
            <p:sp>
              <p:nvSpPr>
                <p:cNvPr id="235603" name="Rectangle 45">
                  <a:extLst>
                    <a:ext uri="{FF2B5EF4-FFF2-40B4-BE49-F238E27FC236}">
                      <a16:creationId xmlns:a16="http://schemas.microsoft.com/office/drawing/2014/main" id="{94819199-9869-4246-B63F-F74EB686EE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" y="67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15 </a:t>
                  </a: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42 81</a:t>
                  </a:r>
                  <a:r>
                    <a:rPr lang="en-US" altLang="zh-CN" sz="2000" b="1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7 5</a:t>
                  </a:r>
                </a:p>
              </p:txBody>
            </p:sp>
            <p:sp>
              <p:nvSpPr>
                <p:cNvPr id="235604" name="Rectangle 46">
                  <a:extLst>
                    <a:ext uri="{FF2B5EF4-FFF2-40B4-BE49-F238E27FC236}">
                      <a16:creationId xmlns:a16="http://schemas.microsoft.com/office/drawing/2014/main" id="{F39BDBF1-B138-45CA-AF9A-B0A7FC184D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" y="67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3" name="Group 47">
                <a:extLst>
                  <a:ext uri="{FF2B5EF4-FFF2-40B4-BE49-F238E27FC236}">
                    <a16:creationId xmlns:a16="http://schemas.microsoft.com/office/drawing/2014/main" id="{7CC04B83-F1BD-4139-B7C8-2E654EEA29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" y="672"/>
                <a:ext cx="553" cy="480"/>
                <a:chOff x="1927" y="672"/>
                <a:chExt cx="553" cy="480"/>
              </a:xfrm>
            </p:grpSpPr>
            <p:sp>
              <p:nvSpPr>
                <p:cNvPr id="235601" name="Rectangle 48">
                  <a:extLst>
                    <a:ext uri="{FF2B5EF4-FFF2-40B4-BE49-F238E27FC236}">
                      <a16:creationId xmlns:a16="http://schemas.microsoft.com/office/drawing/2014/main" id="{4D5E0D80-B19A-410E-B6E4-04D22CABEE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67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15 42 </a:t>
                  </a: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7 81 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235602" name="Rectangle 49">
                  <a:extLst>
                    <a:ext uri="{FF2B5EF4-FFF2-40B4-BE49-F238E27FC236}">
                      <a16:creationId xmlns:a16="http://schemas.microsoft.com/office/drawing/2014/main" id="{0561406B-5474-4FFA-A00B-23E60B83E8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67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4" name="Group 50">
                <a:extLst>
                  <a:ext uri="{FF2B5EF4-FFF2-40B4-BE49-F238E27FC236}">
                    <a16:creationId xmlns:a16="http://schemas.microsoft.com/office/drawing/2014/main" id="{EF660839-6EDC-4BD4-BB3D-9F29550B1A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0" y="672"/>
                <a:ext cx="553" cy="480"/>
                <a:chOff x="2480" y="672"/>
                <a:chExt cx="553" cy="480"/>
              </a:xfrm>
            </p:grpSpPr>
            <p:sp>
              <p:nvSpPr>
                <p:cNvPr id="235599" name="Rectangle 51">
                  <a:extLst>
                    <a:ext uri="{FF2B5EF4-FFF2-40B4-BE49-F238E27FC236}">
                      <a16:creationId xmlns:a16="http://schemas.microsoft.com/office/drawing/2014/main" id="{524F49EB-2114-4A9C-9E6F-04B23C18A9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0" y="67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15 42 7 </a:t>
                  </a: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5 81</a:t>
                  </a:r>
                </a:p>
              </p:txBody>
            </p:sp>
            <p:sp>
              <p:nvSpPr>
                <p:cNvPr id="235600" name="Rectangle 52">
                  <a:extLst>
                    <a:ext uri="{FF2B5EF4-FFF2-40B4-BE49-F238E27FC236}">
                      <a16:creationId xmlns:a16="http://schemas.microsoft.com/office/drawing/2014/main" id="{01DBF254-F0D2-4B5C-A034-12221EF3D9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0" y="67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5" name="Group 53">
                <a:extLst>
                  <a:ext uri="{FF2B5EF4-FFF2-40B4-BE49-F238E27FC236}">
                    <a16:creationId xmlns:a16="http://schemas.microsoft.com/office/drawing/2014/main" id="{CD2C9EF0-82D8-4FCC-AE74-B6A153CFFA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268" cy="480"/>
                <a:chOff x="0" y="1152"/>
                <a:chExt cx="268" cy="480"/>
              </a:xfrm>
            </p:grpSpPr>
            <p:sp>
              <p:nvSpPr>
                <p:cNvPr id="235597" name="Rectangle 54">
                  <a:extLst>
                    <a:ext uri="{FF2B5EF4-FFF2-40B4-BE49-F238E27FC236}">
                      <a16:creationId xmlns:a16="http://schemas.microsoft.com/office/drawing/2014/main" id="{2B39A4EA-549C-4FEC-B87A-D5B3768172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268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	     2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98" name="Rectangle 55">
                  <a:extLst>
                    <a:ext uri="{FF2B5EF4-FFF2-40B4-BE49-F238E27FC236}">
                      <a16:creationId xmlns:a16="http://schemas.microsoft.com/office/drawing/2014/main" id="{7193FA54-4932-4DF3-A42E-B7887915F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6" name="Group 56">
                <a:extLst>
                  <a:ext uri="{FF2B5EF4-FFF2-40B4-BE49-F238E27FC236}">
                    <a16:creationId xmlns:a16="http://schemas.microsoft.com/office/drawing/2014/main" id="{34D55697-98D9-4322-95D2-F2B1F009BB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" y="1152"/>
                <a:ext cx="553" cy="480"/>
                <a:chOff x="268" y="1152"/>
                <a:chExt cx="553" cy="480"/>
              </a:xfrm>
            </p:grpSpPr>
            <p:sp>
              <p:nvSpPr>
                <p:cNvPr id="235595" name="Rectangle 57">
                  <a:extLst>
                    <a:ext uri="{FF2B5EF4-FFF2-40B4-BE49-F238E27FC236}">
                      <a16:creationId xmlns:a16="http://schemas.microsoft.com/office/drawing/2014/main" id="{6F33190A-CA8F-40BB-AF27-09237F9940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" y="115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15 42 7 5 </a:t>
                  </a:r>
                  <a:r>
                    <a:rPr lang="en-US" altLang="zh-CN" sz="2000" b="1">
                      <a:solidFill>
                        <a:srgbClr val="3103DB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81</a:t>
                  </a:r>
                  <a:endParaRPr lang="en-US" altLang="zh-CN" sz="2000" b="1">
                    <a:solidFill>
                      <a:srgbClr val="3103DB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96" name="Rectangle 58">
                  <a:extLst>
                    <a:ext uri="{FF2B5EF4-FFF2-40B4-BE49-F238E27FC236}">
                      <a16:creationId xmlns:a16="http://schemas.microsoft.com/office/drawing/2014/main" id="{FCA88EEC-541F-4E85-8980-9A6B50A70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" y="115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7" name="Group 59">
                <a:extLst>
                  <a:ext uri="{FF2B5EF4-FFF2-40B4-BE49-F238E27FC236}">
                    <a16:creationId xmlns:a16="http://schemas.microsoft.com/office/drawing/2014/main" id="{4200E919-5939-48E1-BE50-58BD129A58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152"/>
                <a:ext cx="553" cy="480"/>
                <a:chOff x="821" y="1152"/>
                <a:chExt cx="553" cy="480"/>
              </a:xfrm>
            </p:grpSpPr>
            <p:sp>
              <p:nvSpPr>
                <p:cNvPr id="235593" name="Rectangle 60">
                  <a:extLst>
                    <a:ext uri="{FF2B5EF4-FFF2-40B4-BE49-F238E27FC236}">
                      <a16:creationId xmlns:a16="http://schemas.microsoft.com/office/drawing/2014/main" id="{965B4074-4FB3-4CAE-824C-E254AF1DA2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" y="115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15 42 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7 5 </a:t>
                  </a:r>
                  <a:r>
                    <a:rPr lang="en-US" altLang="zh-CN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81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94" name="Rectangle 61">
                  <a:extLst>
                    <a:ext uri="{FF2B5EF4-FFF2-40B4-BE49-F238E27FC236}">
                      <a16:creationId xmlns:a16="http://schemas.microsoft.com/office/drawing/2014/main" id="{4E687FCB-76A0-4140-80AF-002D8D8512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" y="115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8" name="Group 62">
                <a:extLst>
                  <a:ext uri="{FF2B5EF4-FFF2-40B4-BE49-F238E27FC236}">
                    <a16:creationId xmlns:a16="http://schemas.microsoft.com/office/drawing/2014/main" id="{E1A4A78C-0CDE-4775-8490-9FDE06C8FE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4" y="1152"/>
                <a:ext cx="553" cy="480"/>
                <a:chOff x="1374" y="1152"/>
                <a:chExt cx="553" cy="480"/>
              </a:xfrm>
            </p:grpSpPr>
            <p:sp>
              <p:nvSpPr>
                <p:cNvPr id="235591" name="Rectangle 63">
                  <a:extLst>
                    <a:ext uri="{FF2B5EF4-FFF2-40B4-BE49-F238E27FC236}">
                      <a16:creationId xmlns:a16="http://schemas.microsoft.com/office/drawing/2014/main" id="{7014D893-7EEE-4902-961F-A814A634B3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" y="115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15 7</a:t>
                  </a: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 42 5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81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92" name="Rectangle 64">
                  <a:extLst>
                    <a:ext uri="{FF2B5EF4-FFF2-40B4-BE49-F238E27FC236}">
                      <a16:creationId xmlns:a16="http://schemas.microsoft.com/office/drawing/2014/main" id="{8769B4EA-7291-46E4-A71D-555E5E6C2B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" y="115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49" name="Group 65">
                <a:extLst>
                  <a:ext uri="{FF2B5EF4-FFF2-40B4-BE49-F238E27FC236}">
                    <a16:creationId xmlns:a16="http://schemas.microsoft.com/office/drawing/2014/main" id="{43ADFFA9-DEC3-4642-8249-C9C4DF657E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" y="1152"/>
                <a:ext cx="553" cy="480"/>
                <a:chOff x="1927" y="1152"/>
                <a:chExt cx="553" cy="480"/>
              </a:xfrm>
            </p:grpSpPr>
            <p:sp>
              <p:nvSpPr>
                <p:cNvPr id="235589" name="Rectangle 66">
                  <a:extLst>
                    <a:ext uri="{FF2B5EF4-FFF2-40B4-BE49-F238E27FC236}">
                      <a16:creationId xmlns:a16="http://schemas.microsoft.com/office/drawing/2014/main" id="{70652624-62D3-46ED-88C4-CD22BF53C6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115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15 7 </a:t>
                  </a: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5 42 </a:t>
                  </a:r>
                  <a:r>
                    <a:rPr lang="en-US" altLang="zh-CN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81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90" name="Rectangle 67">
                  <a:extLst>
                    <a:ext uri="{FF2B5EF4-FFF2-40B4-BE49-F238E27FC236}">
                      <a16:creationId xmlns:a16="http://schemas.microsoft.com/office/drawing/2014/main" id="{55449948-3960-408A-A7A1-352CE8F770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115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0" name="Group 68">
                <a:extLst>
                  <a:ext uri="{FF2B5EF4-FFF2-40B4-BE49-F238E27FC236}">
                    <a16:creationId xmlns:a16="http://schemas.microsoft.com/office/drawing/2014/main" id="{8161A124-7B55-49DE-9470-03C8D30B9A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0" y="1152"/>
                <a:ext cx="553" cy="480"/>
                <a:chOff x="2480" y="1152"/>
                <a:chExt cx="553" cy="480"/>
              </a:xfrm>
            </p:grpSpPr>
            <p:sp>
              <p:nvSpPr>
                <p:cNvPr id="235587" name="Rectangle 69">
                  <a:extLst>
                    <a:ext uri="{FF2B5EF4-FFF2-40B4-BE49-F238E27FC236}">
                      <a16:creationId xmlns:a16="http://schemas.microsoft.com/office/drawing/2014/main" id="{BCE3AD8F-B335-4AB8-9F4B-88B47F3DE3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0" y="115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88" name="Rectangle 70">
                  <a:extLst>
                    <a:ext uri="{FF2B5EF4-FFF2-40B4-BE49-F238E27FC236}">
                      <a16:creationId xmlns:a16="http://schemas.microsoft.com/office/drawing/2014/main" id="{42FF2B05-1B93-4C63-9A59-F4546CDEDC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0" y="115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1" name="Group 71">
                <a:extLst>
                  <a:ext uri="{FF2B5EF4-FFF2-40B4-BE49-F238E27FC236}">
                    <a16:creationId xmlns:a16="http://schemas.microsoft.com/office/drawing/2014/main" id="{F6F077FE-2A7D-4D8C-948E-8DC99414A3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632"/>
                <a:ext cx="268" cy="480"/>
                <a:chOff x="0" y="1632"/>
                <a:chExt cx="268" cy="480"/>
              </a:xfrm>
            </p:grpSpPr>
            <p:sp>
              <p:nvSpPr>
                <p:cNvPr id="235585" name="Rectangle 72">
                  <a:extLst>
                    <a:ext uri="{FF2B5EF4-FFF2-40B4-BE49-F238E27FC236}">
                      <a16:creationId xmlns:a16="http://schemas.microsoft.com/office/drawing/2014/main" id="{B95BD279-4673-4E8D-B6D0-FBA8C837A5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32"/>
                  <a:ext cx="268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	     3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86" name="Rectangle 73">
                  <a:extLst>
                    <a:ext uri="{FF2B5EF4-FFF2-40B4-BE49-F238E27FC236}">
                      <a16:creationId xmlns:a16="http://schemas.microsoft.com/office/drawing/2014/main" id="{F08F5B07-C1E1-4258-ADCD-158006372E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32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2" name="Group 74">
                <a:extLst>
                  <a:ext uri="{FF2B5EF4-FFF2-40B4-BE49-F238E27FC236}">
                    <a16:creationId xmlns:a16="http://schemas.microsoft.com/office/drawing/2014/main" id="{2465B7DB-7FF9-4273-B6DF-8156DAB17E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" y="1632"/>
                <a:ext cx="553" cy="480"/>
                <a:chOff x="268" y="1632"/>
                <a:chExt cx="553" cy="480"/>
              </a:xfrm>
            </p:grpSpPr>
            <p:sp>
              <p:nvSpPr>
                <p:cNvPr id="235583" name="Rectangle 75">
                  <a:extLst>
                    <a:ext uri="{FF2B5EF4-FFF2-40B4-BE49-F238E27FC236}">
                      <a16:creationId xmlns:a16="http://schemas.microsoft.com/office/drawing/2014/main" id="{B80DA9D6-DB64-4B3A-8604-F5E4AADB35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" y="163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15 7 5</a:t>
                  </a:r>
                  <a:r>
                    <a:rPr lang="en-US" altLang="zh-CN" sz="2000" b="1">
                      <a:solidFill>
                        <a:srgbClr val="3103DB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42 81</a:t>
                  </a:r>
                </a:p>
              </p:txBody>
            </p:sp>
            <p:sp>
              <p:nvSpPr>
                <p:cNvPr id="235584" name="Rectangle 76">
                  <a:extLst>
                    <a:ext uri="{FF2B5EF4-FFF2-40B4-BE49-F238E27FC236}">
                      <a16:creationId xmlns:a16="http://schemas.microsoft.com/office/drawing/2014/main" id="{AB361773-0186-4968-A29B-6C6151307B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" y="163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3" name="Group 77">
                <a:extLst>
                  <a:ext uri="{FF2B5EF4-FFF2-40B4-BE49-F238E27FC236}">
                    <a16:creationId xmlns:a16="http://schemas.microsoft.com/office/drawing/2014/main" id="{85CD5AD3-671B-4AAC-B2B0-83263D685C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1632"/>
                <a:ext cx="553" cy="480"/>
                <a:chOff x="821" y="1632"/>
                <a:chExt cx="553" cy="480"/>
              </a:xfrm>
            </p:grpSpPr>
            <p:sp>
              <p:nvSpPr>
                <p:cNvPr id="235581" name="Rectangle 78">
                  <a:extLst>
                    <a:ext uri="{FF2B5EF4-FFF2-40B4-BE49-F238E27FC236}">
                      <a16:creationId xmlns:a16="http://schemas.microsoft.com/office/drawing/2014/main" id="{289E41F7-AA8C-412F-A6C7-10CABB08F2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" y="163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 7 15 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zh-CN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 42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81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82" name="Rectangle 79">
                  <a:extLst>
                    <a:ext uri="{FF2B5EF4-FFF2-40B4-BE49-F238E27FC236}">
                      <a16:creationId xmlns:a16="http://schemas.microsoft.com/office/drawing/2014/main" id="{8437C61F-1C0B-41B2-8E03-ED2C9252F5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" y="163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4" name="Group 80">
                <a:extLst>
                  <a:ext uri="{FF2B5EF4-FFF2-40B4-BE49-F238E27FC236}">
                    <a16:creationId xmlns:a16="http://schemas.microsoft.com/office/drawing/2014/main" id="{6B3184C7-C531-44C1-A0BD-A362462333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4" y="1632"/>
                <a:ext cx="553" cy="480"/>
                <a:chOff x="1374" y="1632"/>
                <a:chExt cx="553" cy="480"/>
              </a:xfrm>
            </p:grpSpPr>
            <p:sp>
              <p:nvSpPr>
                <p:cNvPr id="235579" name="Rectangle 81">
                  <a:extLst>
                    <a:ext uri="{FF2B5EF4-FFF2-40B4-BE49-F238E27FC236}">
                      <a16:creationId xmlns:a16="http://schemas.microsoft.com/office/drawing/2014/main" id="{1DA6F898-93BE-42EF-83AA-53CCF68D34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" y="163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7 </a:t>
                  </a: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5 15 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42 </a:t>
                  </a:r>
                  <a:r>
                    <a:rPr lang="en-US" altLang="zh-CN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81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80" name="Rectangle 82">
                  <a:extLst>
                    <a:ext uri="{FF2B5EF4-FFF2-40B4-BE49-F238E27FC236}">
                      <a16:creationId xmlns:a16="http://schemas.microsoft.com/office/drawing/2014/main" id="{DF884F9B-1497-47C7-8FEA-E53BF6305D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" y="163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5" name="Group 83">
                <a:extLst>
                  <a:ext uri="{FF2B5EF4-FFF2-40B4-BE49-F238E27FC236}">
                    <a16:creationId xmlns:a16="http://schemas.microsoft.com/office/drawing/2014/main" id="{88CF45ED-7129-4498-978B-2F1324D7E9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" y="1632"/>
                <a:ext cx="553" cy="480"/>
                <a:chOff x="1927" y="1632"/>
                <a:chExt cx="553" cy="480"/>
              </a:xfrm>
            </p:grpSpPr>
            <p:sp>
              <p:nvSpPr>
                <p:cNvPr id="235577" name="Rectangle 84">
                  <a:extLst>
                    <a:ext uri="{FF2B5EF4-FFF2-40B4-BE49-F238E27FC236}">
                      <a16:creationId xmlns:a16="http://schemas.microsoft.com/office/drawing/2014/main" id="{2E6623CC-5F91-4360-867C-1F39940870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163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78" name="Rectangle 85">
                  <a:extLst>
                    <a:ext uri="{FF2B5EF4-FFF2-40B4-BE49-F238E27FC236}">
                      <a16:creationId xmlns:a16="http://schemas.microsoft.com/office/drawing/2014/main" id="{6B55B2C5-E7B4-4E18-9E07-70D4A2CBFD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163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6" name="Group 86">
                <a:extLst>
                  <a:ext uri="{FF2B5EF4-FFF2-40B4-BE49-F238E27FC236}">
                    <a16:creationId xmlns:a16="http://schemas.microsoft.com/office/drawing/2014/main" id="{B8C01457-DEBD-43B8-8CAD-6EFBD75807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0" y="1632"/>
                <a:ext cx="553" cy="480"/>
                <a:chOff x="2480" y="1632"/>
                <a:chExt cx="553" cy="480"/>
              </a:xfrm>
            </p:grpSpPr>
            <p:sp>
              <p:nvSpPr>
                <p:cNvPr id="235575" name="Rectangle 87">
                  <a:extLst>
                    <a:ext uri="{FF2B5EF4-FFF2-40B4-BE49-F238E27FC236}">
                      <a16:creationId xmlns:a16="http://schemas.microsoft.com/office/drawing/2014/main" id="{3BB97027-0C69-434A-A9F7-A59212B09F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0" y="163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76" name="Rectangle 88">
                  <a:extLst>
                    <a:ext uri="{FF2B5EF4-FFF2-40B4-BE49-F238E27FC236}">
                      <a16:creationId xmlns:a16="http://schemas.microsoft.com/office/drawing/2014/main" id="{B316FC14-FA17-4230-9B0E-86EA10AE04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0" y="163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7" name="Group 89">
                <a:extLst>
                  <a:ext uri="{FF2B5EF4-FFF2-40B4-BE49-F238E27FC236}">
                    <a16:creationId xmlns:a16="http://schemas.microsoft.com/office/drawing/2014/main" id="{F1871ABC-37FC-4991-9F9B-C6C8C426FE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12"/>
                <a:ext cx="268" cy="480"/>
                <a:chOff x="0" y="2112"/>
                <a:chExt cx="268" cy="480"/>
              </a:xfrm>
            </p:grpSpPr>
            <p:sp>
              <p:nvSpPr>
                <p:cNvPr id="235573" name="Rectangle 90">
                  <a:extLst>
                    <a:ext uri="{FF2B5EF4-FFF2-40B4-BE49-F238E27FC236}">
                      <a16:creationId xmlns:a16="http://schemas.microsoft.com/office/drawing/2014/main" id="{FDACB5EC-580A-437A-89E2-ACEA2ADF22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12"/>
                  <a:ext cx="268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	     4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74" name="Rectangle 91">
                  <a:extLst>
                    <a:ext uri="{FF2B5EF4-FFF2-40B4-BE49-F238E27FC236}">
                      <a16:creationId xmlns:a16="http://schemas.microsoft.com/office/drawing/2014/main" id="{0E29BD26-F4D0-4AE0-8DBB-C7007ED694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12"/>
                  <a:ext cx="26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8" name="Group 92">
                <a:extLst>
                  <a:ext uri="{FF2B5EF4-FFF2-40B4-BE49-F238E27FC236}">
                    <a16:creationId xmlns:a16="http://schemas.microsoft.com/office/drawing/2014/main" id="{21BB134B-8745-4533-948E-E86DBDC29C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" y="2112"/>
                <a:ext cx="553" cy="480"/>
                <a:chOff x="268" y="2112"/>
                <a:chExt cx="553" cy="480"/>
              </a:xfrm>
            </p:grpSpPr>
            <p:sp>
              <p:nvSpPr>
                <p:cNvPr id="235571" name="Rectangle 93">
                  <a:extLst>
                    <a:ext uri="{FF2B5EF4-FFF2-40B4-BE49-F238E27FC236}">
                      <a16:creationId xmlns:a16="http://schemas.microsoft.com/office/drawing/2014/main" id="{26FE7151-F947-4B4E-AB4E-12731A62D8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" y="211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7 5 </a:t>
                  </a:r>
                  <a:r>
                    <a:rPr lang="en-US" altLang="zh-CN" sz="2000" b="1">
                      <a:solidFill>
                        <a:srgbClr val="3103DB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15 42 81</a:t>
                  </a:r>
                </a:p>
              </p:txBody>
            </p:sp>
            <p:sp>
              <p:nvSpPr>
                <p:cNvPr id="235572" name="Rectangle 94">
                  <a:extLst>
                    <a:ext uri="{FF2B5EF4-FFF2-40B4-BE49-F238E27FC236}">
                      <a16:creationId xmlns:a16="http://schemas.microsoft.com/office/drawing/2014/main" id="{39DE5EF1-0DE4-486D-BAA8-758BB79362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8" y="211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59" name="Group 95">
                <a:extLst>
                  <a:ext uri="{FF2B5EF4-FFF2-40B4-BE49-F238E27FC236}">
                    <a16:creationId xmlns:a16="http://schemas.microsoft.com/office/drawing/2014/main" id="{3181DAAB-7182-4ADB-9BE1-FAB1E5FA7F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1" y="2112"/>
                <a:ext cx="553" cy="480"/>
                <a:chOff x="821" y="2112"/>
                <a:chExt cx="553" cy="480"/>
              </a:xfrm>
            </p:grpSpPr>
            <p:sp>
              <p:nvSpPr>
                <p:cNvPr id="235569" name="Rectangle 96">
                  <a:extLst>
                    <a:ext uri="{FF2B5EF4-FFF2-40B4-BE49-F238E27FC236}">
                      <a16:creationId xmlns:a16="http://schemas.microsoft.com/office/drawing/2014/main" id="{40F53502-25ED-48B1-B3C0-18CA80D134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" y="211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 u="sng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5 7 </a:t>
                  </a:r>
                  <a:r>
                    <a:rPr lang="en-US" altLang="zh-CN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15 42</a:t>
                  </a:r>
                  <a:r>
                    <a:rPr lang="en-US" altLang="zh-CN" sz="2000" b="1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81</a:t>
                  </a: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70" name="Rectangle 97">
                  <a:extLst>
                    <a:ext uri="{FF2B5EF4-FFF2-40B4-BE49-F238E27FC236}">
                      <a16:creationId xmlns:a16="http://schemas.microsoft.com/office/drawing/2014/main" id="{7383893E-8D4F-4D10-B524-1D91AA7BB2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1" y="211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60" name="Group 98">
                <a:extLst>
                  <a:ext uri="{FF2B5EF4-FFF2-40B4-BE49-F238E27FC236}">
                    <a16:creationId xmlns:a16="http://schemas.microsoft.com/office/drawing/2014/main" id="{2C1BCFBD-8A11-4BD4-A0DF-BA61AA78D0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4" y="2112"/>
                <a:ext cx="553" cy="480"/>
                <a:chOff x="1374" y="2112"/>
                <a:chExt cx="553" cy="480"/>
              </a:xfrm>
            </p:grpSpPr>
            <p:sp>
              <p:nvSpPr>
                <p:cNvPr id="235567" name="Rectangle 99">
                  <a:extLst>
                    <a:ext uri="{FF2B5EF4-FFF2-40B4-BE49-F238E27FC236}">
                      <a16:creationId xmlns:a16="http://schemas.microsoft.com/office/drawing/2014/main" id="{FEEB1756-0C1F-47FC-98C7-DED0C94413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" y="211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68" name="Rectangle 100">
                  <a:extLst>
                    <a:ext uri="{FF2B5EF4-FFF2-40B4-BE49-F238E27FC236}">
                      <a16:creationId xmlns:a16="http://schemas.microsoft.com/office/drawing/2014/main" id="{5D0281D1-6433-49FA-B97D-12A313146D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" y="211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61" name="Group 101">
                <a:extLst>
                  <a:ext uri="{FF2B5EF4-FFF2-40B4-BE49-F238E27FC236}">
                    <a16:creationId xmlns:a16="http://schemas.microsoft.com/office/drawing/2014/main" id="{5096E945-6B83-4BDA-A602-8E72545C0E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7" y="2112"/>
                <a:ext cx="553" cy="480"/>
                <a:chOff x="1927" y="2112"/>
                <a:chExt cx="553" cy="480"/>
              </a:xfrm>
            </p:grpSpPr>
            <p:sp>
              <p:nvSpPr>
                <p:cNvPr id="235565" name="Rectangle 102">
                  <a:extLst>
                    <a:ext uri="{FF2B5EF4-FFF2-40B4-BE49-F238E27FC236}">
                      <a16:creationId xmlns:a16="http://schemas.microsoft.com/office/drawing/2014/main" id="{8E83337E-B132-40F3-A3C9-4883AED9CD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211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66" name="Rectangle 103">
                  <a:extLst>
                    <a:ext uri="{FF2B5EF4-FFF2-40B4-BE49-F238E27FC236}">
                      <a16:creationId xmlns:a16="http://schemas.microsoft.com/office/drawing/2014/main" id="{CF838A72-0A6C-4010-9F3B-1A82A9A538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7" y="211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562" name="Group 104">
                <a:extLst>
                  <a:ext uri="{FF2B5EF4-FFF2-40B4-BE49-F238E27FC236}">
                    <a16:creationId xmlns:a16="http://schemas.microsoft.com/office/drawing/2014/main" id="{D8B3924A-3229-459F-A642-BA0A52E7C9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0" y="2112"/>
                <a:ext cx="553" cy="480"/>
                <a:chOff x="2480" y="2112"/>
                <a:chExt cx="553" cy="480"/>
              </a:xfrm>
            </p:grpSpPr>
            <p:sp>
              <p:nvSpPr>
                <p:cNvPr id="235563" name="Rectangle 105">
                  <a:extLst>
                    <a:ext uri="{FF2B5EF4-FFF2-40B4-BE49-F238E27FC236}">
                      <a16:creationId xmlns:a16="http://schemas.microsoft.com/office/drawing/2014/main" id="{5AE3F425-43AB-4615-A719-C9F9B356D3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0" y="2112"/>
                  <a:ext cx="553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>
                      <a:latin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0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564" name="Rectangle 106">
                  <a:extLst>
                    <a:ext uri="{FF2B5EF4-FFF2-40B4-BE49-F238E27FC236}">
                      <a16:creationId xmlns:a16="http://schemas.microsoft.com/office/drawing/2014/main" id="{021D9673-BFAF-4419-91D8-4958E093A5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0" y="2112"/>
                  <a:ext cx="553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lr>
                      <a:srgbClr val="0BD0D9"/>
                    </a:buClr>
                    <a:buSzPct val="9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 2" panose="05020102010507070707" pitchFamily="18" charset="2"/>
                    <a:buChar char=""/>
                    <a:defRPr sz="21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BD0D9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10CF9B"/>
                    </a:buClr>
                    <a:buSzPct val="6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nstantia" panose="0203060205030603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35532" name="Rectangle 107">
              <a:extLst>
                <a:ext uri="{FF2B5EF4-FFF2-40B4-BE49-F238E27FC236}">
                  <a16:creationId xmlns:a16="http://schemas.microsoft.com/office/drawing/2014/main" id="{CCECDA5A-AFB7-4219-89DD-E73A0E99A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039" cy="2598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35528" name="页脚占位符 14">
            <a:extLst>
              <a:ext uri="{FF2B5EF4-FFF2-40B4-BE49-F238E27FC236}">
                <a16:creationId xmlns:a16="http://schemas.microsoft.com/office/drawing/2014/main" id="{EBAFB011-ED74-4673-B58F-277B8337F102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35529" name="灯片编号占位符 13">
            <a:extLst>
              <a:ext uri="{FF2B5EF4-FFF2-40B4-BE49-F238E27FC236}">
                <a16:creationId xmlns:a16="http://schemas.microsoft.com/office/drawing/2014/main" id="{588A0DAA-7D7C-4FCB-8F88-ADDE5EB480E4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BA7F4906-A7A2-46A5-9B2F-AA54E7651646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30" name="日期占位符 12">
            <a:extLst>
              <a:ext uri="{FF2B5EF4-FFF2-40B4-BE49-F238E27FC236}">
                <a16:creationId xmlns:a16="http://schemas.microsoft.com/office/drawing/2014/main" id="{E32438CB-140B-4CB2-BC44-014A311E7F31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1110E20-5530-4EB8-9DA1-D338E56C2AD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4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Line 3">
            <a:extLst>
              <a:ext uri="{FF2B5EF4-FFF2-40B4-BE49-F238E27FC236}">
                <a16:creationId xmlns:a16="http://schemas.microsoft.com/office/drawing/2014/main" id="{D2C7062C-B26F-42BF-AACF-6DBCBF822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528A88CE-A38C-421E-BA47-A3EDBB409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9906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</a:p>
        </p:txBody>
      </p:sp>
      <p:sp>
        <p:nvSpPr>
          <p:cNvPr id="237572" name="Line 6">
            <a:extLst>
              <a:ext uri="{FF2B5EF4-FFF2-40B4-BE49-F238E27FC236}">
                <a16:creationId xmlns:a16="http://schemas.microsoft.com/office/drawing/2014/main" id="{1F1BACFB-5ECE-4565-BD59-FB94043216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7573" name="AutoShape 7">
            <a:extLst>
              <a:ext uri="{FF2B5EF4-FFF2-40B4-BE49-F238E27FC236}">
                <a16:creationId xmlns:a16="http://schemas.microsoft.com/office/drawing/2014/main" id="{DED5FBC4-74DA-4837-B350-A38C867AA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37574" name="Text Box 9">
            <a:extLst>
              <a:ext uri="{FF2B5EF4-FFF2-40B4-BE49-F238E27FC236}">
                <a16:creationId xmlns:a16="http://schemas.microsoft.com/office/drawing/2014/main" id="{1F05CCA1-33F3-471C-9D67-2320CAB4F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14600"/>
            <a:ext cx="8610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endParaRPr lang="en-US" altLang="zh-CN" sz="40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7575" name="Text Box 1029">
            <a:extLst>
              <a:ext uri="{FF2B5EF4-FFF2-40B4-BE49-F238E27FC236}">
                <a16:creationId xmlns:a16="http://schemas.microsoft.com/office/drawing/2014/main" id="{9ACADA62-314A-4BD2-B870-95F1F9304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0"/>
            <a:ext cx="316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 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循环程序设计</a:t>
            </a:r>
            <a:endParaRPr lang="zh-CN" altLang="en-US" sz="44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B925B67-A52D-4673-A6CC-91EB1B5E7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36613"/>
            <a:ext cx="8424863" cy="52625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/>
              <a:t>               MOV    CX, N           	;</a:t>
            </a:r>
            <a:r>
              <a:rPr lang="zh-CN" altLang="en-US" dirty="0"/>
              <a:t>设置外层循环计数器</a:t>
            </a:r>
          </a:p>
          <a:p>
            <a:pPr eaLnBrk="1" hangingPunct="1">
              <a:defRPr/>
            </a:pPr>
            <a:r>
              <a:rPr lang="zh-CN" altLang="en-US" dirty="0"/>
              <a:t>	</a:t>
            </a:r>
            <a:r>
              <a:rPr lang="en-US" altLang="zh-CN" dirty="0"/>
              <a:t>   DEC     CX                	;CX</a:t>
            </a:r>
            <a:r>
              <a:rPr lang="zh-CN" altLang="en-US" dirty="0"/>
              <a:t>中为排序的“遍数”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FF0000"/>
                </a:solidFill>
              </a:rPr>
              <a:t>LOOP1:  </a:t>
            </a:r>
            <a:r>
              <a:rPr lang="en-US" altLang="zh-CN" dirty="0"/>
              <a:t>PUSH    CX              	;</a:t>
            </a:r>
            <a:r>
              <a:rPr lang="zh-CN" altLang="en-US" dirty="0"/>
              <a:t>保存外循环计数器</a:t>
            </a:r>
          </a:p>
          <a:p>
            <a:pPr eaLnBrk="1" hangingPunct="1">
              <a:defRPr/>
            </a:pPr>
            <a:r>
              <a:rPr lang="zh-CN" altLang="en-US" dirty="0"/>
              <a:t>	   </a:t>
            </a:r>
            <a:r>
              <a:rPr lang="en-US" altLang="zh-CN" dirty="0"/>
              <a:t>MOV     BX, 0           	;</a:t>
            </a:r>
            <a:r>
              <a:rPr lang="zh-CN" altLang="en-US" dirty="0"/>
              <a:t>元素在数组内的位移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3103DB"/>
                </a:solidFill>
              </a:rPr>
              <a:t>LOOP2:  MOV     AX, P[BX]</a:t>
            </a:r>
            <a:endParaRPr lang="zh-CN" altLang="en-US" dirty="0">
              <a:solidFill>
                <a:srgbClr val="3103DB"/>
              </a:solidFill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3103DB"/>
                </a:solidFill>
              </a:rPr>
              <a:t>	   </a:t>
            </a:r>
            <a:r>
              <a:rPr lang="en-US" altLang="zh-CN" dirty="0">
                <a:solidFill>
                  <a:srgbClr val="3103DB"/>
                </a:solidFill>
              </a:rPr>
              <a:t>CMP     AX, P[BX+2]     	;</a:t>
            </a:r>
            <a:r>
              <a:rPr lang="zh-CN" altLang="en-US" dirty="0">
                <a:solidFill>
                  <a:srgbClr val="3103DB"/>
                </a:solidFill>
              </a:rPr>
              <a:t>邻元素比较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3103DB"/>
                </a:solidFill>
              </a:rPr>
              <a:t>	  </a:t>
            </a:r>
            <a:r>
              <a:rPr lang="en-US" altLang="zh-CN" dirty="0">
                <a:solidFill>
                  <a:srgbClr val="3103DB"/>
                </a:solidFill>
              </a:rPr>
              <a:t>JLE     NEXT            	;</a:t>
            </a:r>
            <a:r>
              <a:rPr lang="zh-CN" altLang="en-US" dirty="0">
                <a:solidFill>
                  <a:srgbClr val="3103DB"/>
                </a:solidFill>
              </a:rPr>
              <a:t>不需要整序</a:t>
            </a:r>
            <a:r>
              <a:rPr lang="en-US" altLang="zh-CN" dirty="0">
                <a:solidFill>
                  <a:srgbClr val="3103DB"/>
                </a:solidFill>
              </a:rPr>
              <a:t>,</a:t>
            </a:r>
            <a:r>
              <a:rPr lang="zh-CN" altLang="en-US" dirty="0">
                <a:solidFill>
                  <a:srgbClr val="3103DB"/>
                </a:solidFill>
              </a:rPr>
              <a:t>转</a:t>
            </a:r>
            <a:r>
              <a:rPr lang="en-US" altLang="zh-CN" dirty="0">
                <a:solidFill>
                  <a:srgbClr val="3103DB"/>
                </a:solidFill>
              </a:rPr>
              <a:t>NEXT</a:t>
            </a:r>
            <a:endParaRPr lang="zh-CN" altLang="en-US" dirty="0">
              <a:solidFill>
                <a:srgbClr val="3103DB"/>
              </a:solidFill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3103DB"/>
                </a:solidFill>
              </a:rPr>
              <a:t>	  </a:t>
            </a:r>
            <a:r>
              <a:rPr lang="en-US" altLang="zh-CN" dirty="0">
                <a:solidFill>
                  <a:srgbClr val="3103DB"/>
                </a:solidFill>
              </a:rPr>
              <a:t>XCHG    AX, P[BX+2]     	;</a:t>
            </a:r>
            <a:r>
              <a:rPr lang="zh-CN" altLang="en-US" dirty="0">
                <a:solidFill>
                  <a:srgbClr val="3103DB"/>
                </a:solidFill>
              </a:rPr>
              <a:t>交换邻元素位置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3103DB"/>
                </a:solidFill>
              </a:rPr>
              <a:t>	  </a:t>
            </a:r>
            <a:r>
              <a:rPr lang="en-US" altLang="zh-CN" dirty="0">
                <a:solidFill>
                  <a:srgbClr val="3103DB"/>
                </a:solidFill>
              </a:rPr>
              <a:t>XCHG    AX, P[BX]</a:t>
            </a:r>
            <a:endParaRPr lang="zh-CN" altLang="en-US" dirty="0">
              <a:solidFill>
                <a:srgbClr val="3103DB"/>
              </a:solidFill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rgbClr val="3103DB"/>
                </a:solidFill>
              </a:rPr>
              <a:t>NEXT:   INC     BX              		;</a:t>
            </a:r>
            <a:r>
              <a:rPr lang="zh-CN" altLang="en-US" dirty="0">
                <a:solidFill>
                  <a:srgbClr val="3103DB"/>
                </a:solidFill>
              </a:rPr>
              <a:t>修改指针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rgbClr val="3103DB"/>
                </a:solidFill>
              </a:rPr>
              <a:t>	  </a:t>
            </a:r>
            <a:r>
              <a:rPr lang="en-US" altLang="zh-CN" dirty="0">
                <a:solidFill>
                  <a:srgbClr val="3103DB"/>
                </a:solidFill>
              </a:rPr>
              <a:t>INC     BX</a:t>
            </a:r>
            <a:endParaRPr lang="zh-CN" altLang="en-US" dirty="0">
              <a:solidFill>
                <a:srgbClr val="3103DB"/>
              </a:solidFill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3103DB"/>
                </a:solidFill>
              </a:rPr>
              <a:t>	  </a:t>
            </a:r>
            <a:r>
              <a:rPr lang="en-US" altLang="zh-CN" dirty="0">
                <a:solidFill>
                  <a:srgbClr val="3103DB"/>
                </a:solidFill>
              </a:rPr>
              <a:t>LOOP    LOOP2          	 ;</a:t>
            </a:r>
            <a:r>
              <a:rPr lang="zh-CN" altLang="en-US" dirty="0">
                <a:solidFill>
                  <a:srgbClr val="3103DB"/>
                </a:solidFill>
              </a:rPr>
              <a:t>本遍未结束</a:t>
            </a:r>
            <a:r>
              <a:rPr lang="en-US" altLang="zh-CN" dirty="0">
                <a:solidFill>
                  <a:srgbClr val="3103DB"/>
                </a:solidFill>
              </a:rPr>
              <a:t>,</a:t>
            </a:r>
            <a:r>
              <a:rPr lang="zh-CN" altLang="en-US" dirty="0">
                <a:solidFill>
                  <a:srgbClr val="3103DB"/>
                </a:solidFill>
              </a:rPr>
              <a:t>转</a:t>
            </a:r>
            <a:r>
              <a:rPr lang="en-US" altLang="zh-CN" dirty="0">
                <a:solidFill>
                  <a:srgbClr val="3103DB"/>
                </a:solidFill>
              </a:rPr>
              <a:t>LOOP2</a:t>
            </a:r>
            <a:r>
              <a:rPr lang="zh-CN" altLang="en-US" dirty="0">
                <a:solidFill>
                  <a:srgbClr val="3103DB"/>
                </a:solidFill>
              </a:rPr>
              <a:t>继</a:t>
            </a:r>
            <a:r>
              <a:rPr lang="zh-CN" altLang="en-US" dirty="0"/>
              <a:t>续</a:t>
            </a:r>
          </a:p>
          <a:p>
            <a:pPr eaLnBrk="1" hangingPunct="1">
              <a:defRPr/>
            </a:pPr>
            <a:r>
              <a:rPr lang="zh-CN" altLang="en-US" dirty="0"/>
              <a:t>	  </a:t>
            </a:r>
            <a:r>
              <a:rPr lang="en-US" altLang="zh-CN" dirty="0"/>
              <a:t>POP     CX              		;</a:t>
            </a:r>
            <a:r>
              <a:rPr lang="zh-CN" altLang="en-US" dirty="0"/>
              <a:t>恢复外层循环计数器</a:t>
            </a:r>
          </a:p>
          <a:p>
            <a:pPr eaLnBrk="1" hangingPunct="1">
              <a:defRPr/>
            </a:pPr>
            <a:r>
              <a:rPr lang="zh-CN" altLang="en-US" dirty="0"/>
              <a:t>	  </a:t>
            </a:r>
            <a:r>
              <a:rPr lang="en-US" altLang="zh-CN" dirty="0">
                <a:solidFill>
                  <a:srgbClr val="FF0000"/>
                </a:solidFill>
              </a:rPr>
              <a:t>LOOP    LOOP1           </a:t>
            </a:r>
            <a:r>
              <a:rPr lang="en-US" altLang="zh-CN" dirty="0"/>
              <a:t>;</a:t>
            </a:r>
            <a:r>
              <a:rPr lang="zh-CN" altLang="en-US" dirty="0"/>
              <a:t>“遍数”未满</a:t>
            </a:r>
            <a:r>
              <a:rPr lang="en-US" altLang="zh-CN" dirty="0"/>
              <a:t>,</a:t>
            </a:r>
            <a:r>
              <a:rPr lang="zh-CN" altLang="en-US" dirty="0"/>
              <a:t>转</a:t>
            </a:r>
            <a:r>
              <a:rPr lang="en-US" altLang="zh-CN" dirty="0"/>
              <a:t>LOOP1</a:t>
            </a:r>
            <a:r>
              <a:rPr lang="zh-CN" altLang="en-US" dirty="0"/>
              <a:t>继续</a:t>
            </a:r>
          </a:p>
        </p:txBody>
      </p:sp>
      <p:sp>
        <p:nvSpPr>
          <p:cNvPr id="237577" name="页脚占位符 14">
            <a:extLst>
              <a:ext uri="{FF2B5EF4-FFF2-40B4-BE49-F238E27FC236}">
                <a16:creationId xmlns:a16="http://schemas.microsoft.com/office/drawing/2014/main" id="{325CC3CB-9E67-4DD3-95DD-6E64146DB3B0}"/>
              </a:ext>
            </a:extLst>
          </p:cNvPr>
          <p:cNvSpPr txBox="1">
            <a:spLocks noGrp="1"/>
          </p:cNvSpPr>
          <p:nvPr/>
        </p:nvSpPr>
        <p:spPr bwMode="auto">
          <a:xfrm>
            <a:off x="2916238" y="6308725"/>
            <a:ext cx="410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 分支、循环程序设计</a:t>
            </a:r>
          </a:p>
        </p:txBody>
      </p:sp>
      <p:sp>
        <p:nvSpPr>
          <p:cNvPr id="237578" name="灯片编号占位符 13">
            <a:extLst>
              <a:ext uri="{FF2B5EF4-FFF2-40B4-BE49-F238E27FC236}">
                <a16:creationId xmlns:a16="http://schemas.microsoft.com/office/drawing/2014/main" id="{BBFC4FAF-4FFB-4E3D-92D0-EE7C32050FBD}"/>
              </a:ext>
            </a:extLst>
          </p:cNvPr>
          <p:cNvSpPr txBox="1">
            <a:spLocks noGrp="1"/>
          </p:cNvSpPr>
          <p:nvPr/>
        </p:nvSpPr>
        <p:spPr bwMode="auto">
          <a:xfrm>
            <a:off x="8172450" y="6308725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F0AD73-ACFD-439E-B2AB-BE3CD916138A}" type="slidenum">
              <a:rPr kumimoji="0" lang="en-US" altLang="zh-CN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7579" name="日期占位符 12">
            <a:extLst>
              <a:ext uri="{FF2B5EF4-FFF2-40B4-BE49-F238E27FC236}">
                <a16:creationId xmlns:a16="http://schemas.microsoft.com/office/drawing/2014/main" id="{291D20BA-0773-429E-8ED0-0CEDD30699CC}"/>
              </a:ext>
            </a:extLst>
          </p:cNvPr>
          <p:cNvSpPr txBox="1">
            <a:spLocks noGrp="1"/>
          </p:cNvSpPr>
          <p:nvPr/>
        </p:nvSpPr>
        <p:spPr bwMode="auto">
          <a:xfrm>
            <a:off x="468313" y="630872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F8E588E-6DFE-42BC-8EAB-29FDC648C698}" type="datetime1">
              <a:rPr kumimoji="0" lang="zh-CN" altLang="en-US" sz="24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400" b="1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Line 3">
            <a:extLst>
              <a:ext uri="{FF2B5EF4-FFF2-40B4-BE49-F238E27FC236}">
                <a16:creationId xmlns:a16="http://schemas.microsoft.com/office/drawing/2014/main" id="{CE96E41A-DB02-4D82-9B9F-896BF1A72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9619" name="Line 7">
            <a:extLst>
              <a:ext uri="{FF2B5EF4-FFF2-40B4-BE49-F238E27FC236}">
                <a16:creationId xmlns:a16="http://schemas.microsoft.com/office/drawing/2014/main" id="{1D6F2D56-3C6C-4F39-A536-65B3FFA219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9620" name="AutoShape 8">
            <a:extLst>
              <a:ext uri="{FF2B5EF4-FFF2-40B4-BE49-F238E27FC236}">
                <a16:creationId xmlns:a16="http://schemas.microsoft.com/office/drawing/2014/main" id="{0122612F-76BA-4F2E-AC42-B321B4040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39621" name="Text Box 9">
            <a:extLst>
              <a:ext uri="{FF2B5EF4-FFF2-40B4-BE49-F238E27FC236}">
                <a16:creationId xmlns:a16="http://schemas.microsoft.com/office/drawing/2014/main" id="{E61231A7-37AB-4A7C-A389-300393431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96975"/>
            <a:ext cx="8763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仿宋_GB2312" pitchFamily="49" charset="-122"/>
                <a:ea typeface="仿宋_GB2312" pitchFamily="49" charset="-122"/>
              </a:rPr>
              <a:t>主要：</a:t>
            </a:r>
            <a:endParaRPr lang="zh-CN" altLang="en-US" sz="3200" b="1">
              <a:latin typeface="仿宋_GB2312" pitchFamily="49" charset="-122"/>
              <a:ea typeface="仿宋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	与地址有关的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种寻址方式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	顺序、分支、循环程序的基本结构和程序设计方法。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重点：</a:t>
            </a:r>
            <a:endParaRPr lang="zh-CN" altLang="en-US" sz="3200" b="1">
              <a:latin typeface="仿宋_GB2312" pitchFamily="49" charset="-122"/>
              <a:ea typeface="仿宋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3200" b="1">
                <a:latin typeface="仿宋_GB2312" pitchFamily="49" charset="-122"/>
                <a:ea typeface="仿宋_GB2312" pitchFamily="49" charset="-122"/>
              </a:rPr>
              <a:t>	</a:t>
            </a:r>
            <a:r>
              <a:rPr lang="zh-CN" altLang="en-US" sz="3200" b="1">
                <a:latin typeface="幼圆" panose="02010509060101010101" pitchFamily="49" charset="-122"/>
                <a:ea typeface="幼圆" panose="02010509060101010101" pitchFamily="49" charset="-122"/>
              </a:rPr>
              <a:t>双分支程序中的产生条件和条件转移指令。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3200" b="1">
                <a:latin typeface="幼圆" panose="02010509060101010101" pitchFamily="49" charset="-122"/>
                <a:ea typeface="幼圆" panose="02010509060101010101" pitchFamily="49" charset="-122"/>
              </a:rPr>
              <a:t>	循环程序由初始化、循环体和循环控制三个部分组成。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3200" b="1">
                <a:latin typeface="幼圆" panose="02010509060101010101" pitchFamily="49" charset="-122"/>
                <a:ea typeface="幼圆" panose="02010509060101010101" pitchFamily="49" charset="-122"/>
              </a:rPr>
              <a:t>	掌握循环程序中的计数法和条件法。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其它：多分支程序的实现方法；多重循环结构。</a:t>
            </a:r>
            <a:endParaRPr lang="zh-CN" altLang="en-US" sz="2400">
              <a:solidFill>
                <a:srgbClr val="80808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9622" name="Rectangle 10">
            <a:extLst>
              <a:ext uri="{FF2B5EF4-FFF2-40B4-BE49-F238E27FC236}">
                <a16:creationId xmlns:a16="http://schemas.microsoft.com/office/drawing/2014/main" id="{17973E7F-6E0C-4AA8-8AFF-077FE31437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71775" y="620713"/>
            <a:ext cx="3708400" cy="614362"/>
          </a:xfrm>
        </p:spPr>
        <p:txBody>
          <a:bodyPr/>
          <a:lstStyle/>
          <a:p>
            <a:pPr eaLnBrk="1" hangingPunct="1"/>
            <a:r>
              <a:rPr lang="zh-CN" altLang="en-US" sz="4000" b="1">
                <a:solidFill>
                  <a:srgbClr val="FF3300"/>
                </a:solidFill>
              </a:rPr>
              <a:t>第</a:t>
            </a:r>
            <a:r>
              <a:rPr lang="en-US" altLang="zh-CN" sz="4000" b="1">
                <a:solidFill>
                  <a:srgbClr val="FF3300"/>
                </a:solidFill>
              </a:rPr>
              <a:t>5</a:t>
            </a:r>
            <a:r>
              <a:rPr lang="zh-CN" altLang="en-US" sz="4000" b="1">
                <a:solidFill>
                  <a:srgbClr val="FF3300"/>
                </a:solidFill>
              </a:rPr>
              <a:t>章	小结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3900DEC3-2D74-47A4-8247-DA8900F4A4FC}"/>
              </a:ext>
            </a:extLst>
          </p:cNvPr>
          <p:cNvSpPr txBox="1">
            <a:spLocks noGrp="1"/>
          </p:cNvSpPr>
          <p:nvPr/>
        </p:nvSpPr>
        <p:spPr>
          <a:xfrm>
            <a:off x="457200" y="6308725"/>
            <a:ext cx="1666875" cy="4127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1A15DB0-C7B6-4C60-AB99-58B8902D16A1}" type="datetime1">
              <a:rPr kumimoji="0" lang="zh-CN" altLang="en-US" b="1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b="1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39624" name="灯片编号占位符 11">
            <a:extLst>
              <a:ext uri="{FF2B5EF4-FFF2-40B4-BE49-F238E27FC236}">
                <a16:creationId xmlns:a16="http://schemas.microsoft.com/office/drawing/2014/main" id="{73FA5F1E-D904-4513-B7DA-5E924B8B7A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8B0303B5-3CB9-45C8-B065-AAEC7D57E441}" type="slidenum">
              <a:rPr kumimoji="0" lang="en-US" altLang="zh-CN" sz="2400" b="1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112</a:t>
            </a:fld>
            <a:endParaRPr kumimoji="0" lang="en-US" altLang="zh-CN" sz="2400" b="1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9625" name="页脚占位符 12">
            <a:extLst>
              <a:ext uri="{FF2B5EF4-FFF2-40B4-BE49-F238E27FC236}">
                <a16:creationId xmlns:a16="http://schemas.microsoft.com/office/drawing/2014/main" id="{5E27B78F-F8AC-456B-A287-18D80CA1F957}"/>
              </a:ext>
            </a:extLst>
          </p:cNvPr>
          <p:cNvSpPr txBox="1">
            <a:spLocks noGrp="1"/>
          </p:cNvSpPr>
          <p:nvPr/>
        </p:nvSpPr>
        <p:spPr bwMode="auto">
          <a:xfrm>
            <a:off x="2484438" y="6308725"/>
            <a:ext cx="44640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045C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汇编语言程序设计  </a:t>
            </a:r>
            <a:endParaRPr kumimoji="0" lang="en-US" altLang="zh-CN" sz="2400" b="1">
              <a:solidFill>
                <a:srgbClr val="045C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Line 3">
            <a:extLst>
              <a:ext uri="{FF2B5EF4-FFF2-40B4-BE49-F238E27FC236}">
                <a16:creationId xmlns:a16="http://schemas.microsoft.com/office/drawing/2014/main" id="{F850B871-BCEE-480E-AB0B-24F3B70F1E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C55807D9-AF70-4991-BB81-737CCC811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752600"/>
            <a:ext cx="3810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800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 谢！</a:t>
            </a:r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F15D7FFB-9D32-43F1-9E8B-D1B508CBE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3276600"/>
          <a:ext cx="1992313" cy="288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48" name="剪辑" r:id="rId4" imgW="3467100" imgH="5018088" progId="MS_ClipArt_Gallery.2">
                  <p:embed/>
                </p:oleObj>
              </mc:Choice>
              <mc:Fallback>
                <p:oleObj name="剪辑" r:id="rId4" imgW="3467100" imgH="5018088" progId="MS_ClipArt_Gallery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276600"/>
                        <a:ext cx="1992313" cy="288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D9AA7A19-4E20-4F74-BB86-0D80C64BA952}"/>
              </a:ext>
            </a:extLst>
          </p:cNvPr>
          <p:cNvSpPr txBox="1">
            <a:spLocks noGrp="1"/>
          </p:cNvSpPr>
          <p:nvPr/>
        </p:nvSpPr>
        <p:spPr>
          <a:xfrm>
            <a:off x="457200" y="6308725"/>
            <a:ext cx="1666875" cy="4127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1A15DB0-C7B6-4C60-AB99-58B8902D16A1}" type="datetime1">
              <a:rPr kumimoji="0" lang="zh-CN" altLang="en-US" b="1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b="1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40646" name="灯片编号占位符 11">
            <a:extLst>
              <a:ext uri="{FF2B5EF4-FFF2-40B4-BE49-F238E27FC236}">
                <a16:creationId xmlns:a16="http://schemas.microsoft.com/office/drawing/2014/main" id="{C796DE7E-6A34-443C-973A-F7228582C5B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3AB9D861-3683-427F-BAF6-42B4032334FF}" type="slidenum">
              <a:rPr kumimoji="0" lang="en-US" altLang="zh-CN" sz="2400" b="1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113</a:t>
            </a:fld>
            <a:endParaRPr kumimoji="0" lang="en-US" altLang="zh-CN" sz="2400" b="1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0647" name="页脚占位符 12">
            <a:extLst>
              <a:ext uri="{FF2B5EF4-FFF2-40B4-BE49-F238E27FC236}">
                <a16:creationId xmlns:a16="http://schemas.microsoft.com/office/drawing/2014/main" id="{075743C4-D3C7-4A9B-8E88-3D31A5443215}"/>
              </a:ext>
            </a:extLst>
          </p:cNvPr>
          <p:cNvSpPr txBox="1">
            <a:spLocks noGrp="1"/>
          </p:cNvSpPr>
          <p:nvPr/>
        </p:nvSpPr>
        <p:spPr bwMode="auto">
          <a:xfrm>
            <a:off x="2484438" y="6308725"/>
            <a:ext cx="446405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solidFill>
                  <a:srgbClr val="045C7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汇编语言程序设计  </a:t>
            </a:r>
            <a:endParaRPr kumimoji="0" lang="en-US" altLang="zh-CN" sz="2400" b="1">
              <a:solidFill>
                <a:srgbClr val="045C7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Line 1027">
            <a:extLst>
              <a:ext uri="{FF2B5EF4-FFF2-40B4-BE49-F238E27FC236}">
                <a16:creationId xmlns:a16="http://schemas.microsoft.com/office/drawing/2014/main" id="{AF1DEC06-B9F2-4380-AF99-9639DDD767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691" name="Line 1031">
            <a:extLst>
              <a:ext uri="{FF2B5EF4-FFF2-40B4-BE49-F238E27FC236}">
                <a16:creationId xmlns:a16="http://schemas.microsoft.com/office/drawing/2014/main" id="{5484F6A5-BFEE-4387-A511-0ED2683ADF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2692" name="AutoShape 1032">
            <a:extLst>
              <a:ext uri="{FF2B5EF4-FFF2-40B4-BE49-F238E27FC236}">
                <a16:creationId xmlns:a16="http://schemas.microsoft.com/office/drawing/2014/main" id="{EB863189-B327-417A-A220-72B89F0B1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42693" name="AutoShape 1033">
            <a:extLst>
              <a:ext uri="{FF2B5EF4-FFF2-40B4-BE49-F238E27FC236}">
                <a16:creationId xmlns:a16="http://schemas.microsoft.com/office/drawing/2014/main" id="{18904773-81C6-4554-AF52-F6D139697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42694" name="日期占位符 12">
            <a:extLst>
              <a:ext uri="{FF2B5EF4-FFF2-40B4-BE49-F238E27FC236}">
                <a16:creationId xmlns:a16="http://schemas.microsoft.com/office/drawing/2014/main" id="{D7F5CD98-A5F7-46D0-AFCA-0992828431AD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7E2756F-6026-4906-AEA2-784294AE127D}" type="datetime1">
              <a:rPr kumimoji="0" lang="zh-CN" altLang="en-US" sz="2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0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2695" name="页脚占位符 14">
            <a:extLst>
              <a:ext uri="{FF2B5EF4-FFF2-40B4-BE49-F238E27FC236}">
                <a16:creationId xmlns:a16="http://schemas.microsoft.com/office/drawing/2014/main" id="{2DA62B98-9263-424F-9D96-A2D81847F122}"/>
              </a:ext>
            </a:extLst>
          </p:cNvPr>
          <p:cNvSpPr txBox="1">
            <a:spLocks noGrp="1"/>
          </p:cNvSpPr>
          <p:nvPr/>
        </p:nvSpPr>
        <p:spPr bwMode="auto">
          <a:xfrm>
            <a:off x="3203575" y="6308725"/>
            <a:ext cx="2736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2696" name="灯片编号占位符 13">
            <a:extLst>
              <a:ext uri="{FF2B5EF4-FFF2-40B4-BE49-F238E27FC236}">
                <a16:creationId xmlns:a16="http://schemas.microsoft.com/office/drawing/2014/main" id="{8CCD0D8E-624C-4646-BD80-05A1D75AC94D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2CE405E3-560D-44E1-8A22-EDC618C4E82B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114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2697" name="Text Box 1029">
            <a:extLst>
              <a:ext uri="{FF2B5EF4-FFF2-40B4-BE49-F238E27FC236}">
                <a16:creationId xmlns:a16="http://schemas.microsoft.com/office/drawing/2014/main" id="{80E90032-2510-4BBC-AD2D-31809B2B6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0"/>
            <a:ext cx="42116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第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章 汇编语言程序设计初步</a:t>
            </a:r>
            <a:endParaRPr lang="zh-CN" altLang="en-US" sz="400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35557DD5-FFD5-4FAE-9474-B3452293D2A7}"/>
              </a:ext>
            </a:extLst>
          </p:cNvPr>
          <p:cNvSpPr txBox="1">
            <a:spLocks noChangeArrowheads="1"/>
          </p:cNvSpPr>
          <p:nvPr/>
        </p:nvSpPr>
        <p:spPr>
          <a:xfrm>
            <a:off x="1476375" y="836613"/>
            <a:ext cx="3455988" cy="606425"/>
          </a:xfrm>
          <a:prstGeom prst="rect">
            <a:avLst/>
          </a:prstGeom>
        </p:spPr>
        <p:txBody>
          <a:bodyPr lIns="0" rIns="0" bIns="0" anchor="b">
            <a:normAutofit fontScale="97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4000" b="1" dirty="0">
                <a:solidFill>
                  <a:srgbClr val="FF3300"/>
                </a:solidFill>
                <a:latin typeface="+mj-lt"/>
                <a:ea typeface="+mj-ea"/>
                <a:cs typeface="+mj-cs"/>
              </a:rPr>
              <a:t>5.5 </a:t>
            </a:r>
            <a:r>
              <a:rPr kumimoji="0" lang="zh-CN" altLang="en-US" sz="4000" b="1" dirty="0">
                <a:solidFill>
                  <a:srgbClr val="FF3300"/>
                </a:solidFill>
                <a:latin typeface="+mj-lt"/>
                <a:ea typeface="+mj-ea"/>
                <a:cs typeface="+mj-cs"/>
              </a:rPr>
              <a:t>宏指令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36E9198-00E2-4A80-BFB7-36508F16E170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628775"/>
            <a:ext cx="7920037" cy="417671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ea typeface="楷体_GB2312" pitchFamily="49" charset="-122"/>
              </a:rPr>
              <a:t>为了简化源程序，一次定义多次使用。</a:t>
            </a:r>
          </a:p>
          <a:p>
            <a:pPr eaLnBrk="1" hangingPunct="1">
              <a:defRPr/>
            </a:pPr>
            <a:endParaRPr lang="zh-CN" altLang="en-US" sz="3600" b="1" dirty="0">
              <a:solidFill>
                <a:schemeClr val="bg2"/>
              </a:solidFill>
              <a:ea typeface="楷体_GB2312" pitchFamily="49" charset="-122"/>
            </a:endParaRPr>
          </a:p>
          <a:p>
            <a:pPr eaLnBrk="1" hangingPunct="1">
              <a:defRPr/>
            </a:pPr>
            <a:r>
              <a:rPr lang="zh-CN" altLang="en-US" sz="3600" b="1" dirty="0">
                <a:solidFill>
                  <a:schemeClr val="bg2"/>
                </a:solidFill>
              </a:rPr>
              <a:t>	</a:t>
            </a:r>
            <a:r>
              <a:rPr lang="zh-CN" altLang="en-US" sz="3600" b="1" dirty="0">
                <a:solidFill>
                  <a:srgbClr val="0913D5"/>
                </a:solidFill>
              </a:rPr>
              <a:t>一、宏定义</a:t>
            </a:r>
          </a:p>
          <a:p>
            <a:pPr eaLnBrk="1" hangingPunct="1">
              <a:defRPr/>
            </a:pPr>
            <a:r>
              <a:rPr lang="zh-CN" altLang="en-US" sz="3600" b="1" dirty="0">
                <a:solidFill>
                  <a:srgbClr val="0913D5"/>
                </a:solidFill>
              </a:rPr>
              <a:t>	二、宏调用</a:t>
            </a:r>
          </a:p>
          <a:p>
            <a:pPr eaLnBrk="1" hangingPunct="1">
              <a:defRPr/>
            </a:pPr>
            <a:r>
              <a:rPr lang="zh-CN" altLang="en-US" sz="3600" b="1" dirty="0">
                <a:solidFill>
                  <a:srgbClr val="0913D5"/>
                </a:solidFill>
              </a:rPr>
              <a:t>	三、宏展开</a:t>
            </a:r>
          </a:p>
          <a:p>
            <a:pPr eaLnBrk="1" hangingPunct="1">
              <a:defRPr/>
            </a:pPr>
            <a:r>
              <a:rPr lang="zh-CN" altLang="en-US" sz="3600" b="1" dirty="0">
                <a:solidFill>
                  <a:srgbClr val="0913D5"/>
                </a:solidFill>
              </a:rPr>
              <a:t>	四、宏指令与子程序的比较</a:t>
            </a:r>
          </a:p>
          <a:p>
            <a:pPr eaLnBrk="1" hangingPunct="1">
              <a:defRPr/>
            </a:pPr>
            <a:r>
              <a:rPr lang="zh-CN" altLang="en-US" sz="3600" b="1" dirty="0">
                <a:solidFill>
                  <a:srgbClr val="0913D5"/>
                </a:solidFill>
              </a:rPr>
              <a:t>	五、宏指令举例</a:t>
            </a:r>
          </a:p>
        </p:txBody>
      </p:sp>
    </p:spTree>
  </p:cSld>
  <p:clrMapOvr>
    <a:masterClrMapping/>
  </p:clrMapOvr>
  <p:transition>
    <p:dissolv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Line 3">
            <a:extLst>
              <a:ext uri="{FF2B5EF4-FFF2-40B4-BE49-F238E27FC236}">
                <a16:creationId xmlns:a16="http://schemas.microsoft.com/office/drawing/2014/main" id="{9D4B66FD-56F7-4C0C-A193-5D0BE1F6A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4739" name="Text Box 5">
            <a:extLst>
              <a:ext uri="{FF2B5EF4-FFF2-40B4-BE49-F238E27FC236}">
                <a16:creationId xmlns:a16="http://schemas.microsoft.com/office/drawing/2014/main" id="{BA02A4CD-AE4A-42A4-8421-486E805F2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宏定义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4758" name="Text Box 6">
            <a:extLst>
              <a:ext uri="{FF2B5EF4-FFF2-40B4-BE49-F238E27FC236}">
                <a16:creationId xmlns:a16="http://schemas.microsoft.com/office/drawing/2014/main" id="{A9058964-518A-49CA-BC7E-275173D5B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95400"/>
            <a:ext cx="83820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宏定义</a:t>
            </a:r>
            <a:r>
              <a: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在源程序中，用一条宏指令来代替一段有独立功能的程序段</a:t>
            </a:r>
            <a:r>
              <a:rPr lang="zh-CN" altLang="en-US" sz="3200" b="1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Times New Roman" panose="02020603050405020304" pitchFamily="18" charset="0"/>
                <a:ea typeface="黑体" panose="02010609060101010101" pitchFamily="49" charset="-122"/>
              </a:rPr>
              <a:t>格式</a:t>
            </a:r>
            <a:r>
              <a:rPr lang="zh-CN" altLang="en-US" sz="2400" b="1">
                <a:latin typeface="Times New Roman" panose="02020603050405020304" pitchFamily="18" charset="0"/>
              </a:rPr>
              <a:t>：	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宏指令名	</a:t>
            </a:r>
            <a:r>
              <a:rPr lang="en-US" altLang="zh-CN" sz="32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MACRO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[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哑元表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]	</a:t>
            </a:r>
            <a:r>
              <a:rPr lang="en-US" altLang="zh-CN" sz="2400" b="1">
                <a:latin typeface="仿宋" panose="02010609060101010101" pitchFamily="49" charset="-122"/>
                <a:ea typeface="仿宋" panose="02010609060101010101" pitchFamily="49" charset="-122"/>
              </a:rPr>
              <a:t>;</a:t>
            </a: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形式参数表</a:t>
            </a:r>
            <a:endParaRPr lang="zh-CN" altLang="en-US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		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	:  (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宏体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</a:t>
            </a:r>
            <a:r>
              <a:rPr lang="en-US" altLang="zh-CN" sz="32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ENDM</a:t>
            </a: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例如：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SHIFT	MACRO	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Y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MOV		CL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Y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SHL		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CL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ENDM</a:t>
            </a:r>
            <a:endParaRPr lang="en-US" altLang="zh-CN" sz="320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44741" name="Line 7">
            <a:extLst>
              <a:ext uri="{FF2B5EF4-FFF2-40B4-BE49-F238E27FC236}">
                <a16:creationId xmlns:a16="http://schemas.microsoft.com/office/drawing/2014/main" id="{4A884747-4260-422C-9BB8-B3EE63C977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4742" name="AutoShape 8">
            <a:extLst>
              <a:ext uri="{FF2B5EF4-FFF2-40B4-BE49-F238E27FC236}">
                <a16:creationId xmlns:a16="http://schemas.microsoft.com/office/drawing/2014/main" id="{72E826A6-6244-4409-80A4-0EA2E8925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44743" name="AutoShape 9">
            <a:extLst>
              <a:ext uri="{FF2B5EF4-FFF2-40B4-BE49-F238E27FC236}">
                <a16:creationId xmlns:a16="http://schemas.microsoft.com/office/drawing/2014/main" id="{E0E468B0-AC33-464B-9744-169512CB4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5EF67A62-53F6-4E2E-B87C-069EB83D1BB7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2191621C-F58A-4DA0-9AAE-97E565C02E62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44745" name="灯片编号占位符 10">
            <a:extLst>
              <a:ext uri="{FF2B5EF4-FFF2-40B4-BE49-F238E27FC236}">
                <a16:creationId xmlns:a16="http://schemas.microsoft.com/office/drawing/2014/main" id="{426051AF-EB2E-4CFD-B361-9A7C5724A93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A5C37F52-B9EA-44F4-BD07-A0A4C348D19D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115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C71F5BAA-D36F-480D-AA52-D9E5D51711F8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 autoUpdateAnimBg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Line 3">
            <a:extLst>
              <a:ext uri="{FF2B5EF4-FFF2-40B4-BE49-F238E27FC236}">
                <a16:creationId xmlns:a16="http://schemas.microsoft.com/office/drawing/2014/main" id="{87A4E9CC-E5E9-40D1-9CB0-73DE8CF7A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63" name="Text Box 5">
            <a:extLst>
              <a:ext uri="{FF2B5EF4-FFF2-40B4-BE49-F238E27FC236}">
                <a16:creationId xmlns:a16="http://schemas.microsoft.com/office/drawing/2014/main" id="{B319ABED-3903-4AD9-A3C5-E4E43D64C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048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宏定义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5782" name="Text Box 6">
            <a:extLst>
              <a:ext uri="{FF2B5EF4-FFF2-40B4-BE49-F238E27FC236}">
                <a16:creationId xmlns:a16="http://schemas.microsoft.com/office/drawing/2014/main" id="{3C280CBC-F630-416E-B5D3-DB18B8C7A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792480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1] 	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计算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RESULT=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OPR1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）*（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OPR2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MULTIPLY	</a:t>
            </a:r>
            <a:r>
              <a:rPr lang="en-US" altLang="zh-CN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MACRO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OPR1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OPR2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RESULT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PUSH		DX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PUSH		AX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MOV		AX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OPR1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IMUL		OPR2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MOV		RESULT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AX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POP		AX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POP		DX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2800" b="1">
                <a:solidFill>
                  <a:schemeClr val="accent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ENDM</a:t>
            </a:r>
            <a:endParaRPr lang="en-US" altLang="zh-CN" sz="28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说明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:1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MACRO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ENDM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成对出现；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2800" b="1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800" b="1">
                <a:latin typeface="仿宋" panose="02010609060101010101" pitchFamily="49" charset="-122"/>
                <a:ea typeface="仿宋" panose="02010609060101010101" pitchFamily="49" charset="-122"/>
              </a:rPr>
              <a:t>）宏体可由指令、伪指令、宏指令组成。</a:t>
            </a:r>
            <a:endParaRPr lang="zh-CN" altLang="en-US" sz="280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45765" name="Line 7">
            <a:extLst>
              <a:ext uri="{FF2B5EF4-FFF2-40B4-BE49-F238E27FC236}">
                <a16:creationId xmlns:a16="http://schemas.microsoft.com/office/drawing/2014/main" id="{5CFF8437-B661-4F32-BD0F-9A0351E34C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766" name="AutoShape 8">
            <a:extLst>
              <a:ext uri="{FF2B5EF4-FFF2-40B4-BE49-F238E27FC236}">
                <a16:creationId xmlns:a16="http://schemas.microsoft.com/office/drawing/2014/main" id="{737D1F33-6B80-4FC4-913F-E682109B0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45767" name="AutoShape 9">
            <a:extLst>
              <a:ext uri="{FF2B5EF4-FFF2-40B4-BE49-F238E27FC236}">
                <a16:creationId xmlns:a16="http://schemas.microsoft.com/office/drawing/2014/main" id="{DFB37936-8791-4FF5-95AF-D671F6EB9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B2DF52E0-06C7-4F79-99BD-4BDEF16A279D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CF2BC4A4-9F26-4BE1-843E-D06AF4E7150B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45769" name="灯片编号占位符 10">
            <a:extLst>
              <a:ext uri="{FF2B5EF4-FFF2-40B4-BE49-F238E27FC236}">
                <a16:creationId xmlns:a16="http://schemas.microsoft.com/office/drawing/2014/main" id="{10CEFC05-66C5-4D31-86D6-C1115FF00D8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E269D52-2C7C-4175-AB4D-72B67416E2DE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116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6081BAB6-5848-492D-9219-496169D1B6DD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b="1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b="1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2" grpId="0" autoUpdateAnimBg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Line 3">
            <a:extLst>
              <a:ext uri="{FF2B5EF4-FFF2-40B4-BE49-F238E27FC236}">
                <a16:creationId xmlns:a16="http://schemas.microsoft.com/office/drawing/2014/main" id="{7258AF0D-EBD9-4E4E-A851-38ADCB5CD7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787" name="Text Box 5">
            <a:extLst>
              <a:ext uri="{FF2B5EF4-FFF2-40B4-BE49-F238E27FC236}">
                <a16:creationId xmlns:a16="http://schemas.microsoft.com/office/drawing/2014/main" id="{3FEF34EA-BA7F-4AE4-A512-65EAD4CAA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宏调用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6806" name="Text Box 6">
            <a:extLst>
              <a:ext uri="{FF2B5EF4-FFF2-40B4-BE49-F238E27FC236}">
                <a16:creationId xmlns:a16="http://schemas.microsoft.com/office/drawing/2014/main" id="{C142D40D-405C-4964-A75D-DA26A87C7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66800"/>
            <a:ext cx="8686800" cy="51149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宏调用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在源程序中，用宏指令名来调用经定义后的宏指令。</a:t>
            </a:r>
            <a:endParaRPr lang="zh-CN" altLang="en-US" sz="32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格式：宏指令名	</a:t>
            </a:r>
            <a:r>
              <a:rPr lang="en-US" altLang="zh-CN" sz="3200" b="1" dirty="0">
                <a:latin typeface="+mn-ea"/>
                <a:ea typeface="+mn-ea"/>
              </a:rPr>
              <a:t>&lt;</a:t>
            </a:r>
            <a:r>
              <a:rPr lang="zh-CN" altLang="en-US" sz="3200" b="1" dirty="0">
                <a:latin typeface="+mn-ea"/>
                <a:ea typeface="+mn-ea"/>
              </a:rPr>
              <a:t>实元表</a:t>
            </a:r>
            <a:r>
              <a:rPr lang="en-US" altLang="zh-CN" sz="3200" b="1" dirty="0">
                <a:latin typeface="+mn-ea"/>
                <a:ea typeface="+mn-ea"/>
              </a:rPr>
              <a:t>&gt;		;</a:t>
            </a:r>
            <a:r>
              <a:rPr lang="zh-CN" altLang="en-US" sz="3200" b="1" dirty="0">
                <a:latin typeface="+mn-ea"/>
                <a:ea typeface="+mn-ea"/>
              </a:rPr>
              <a:t>实参表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其中：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	实元一般应与哑元一一对应，或舍去多余。例如： 	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SHIFT	MACRO	X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，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Y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	MOV		CL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Y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	SHL		X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CL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	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ENDM</a:t>
            </a:r>
            <a:endParaRPr lang="en-US" altLang="zh-CN" sz="3200" dirty="0">
              <a:latin typeface="+mn-ea"/>
              <a:ea typeface="+mn-ea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调用时，	</a:t>
            </a:r>
            <a:r>
              <a:rPr lang="en-US" altLang="zh-CN" sz="3200" b="1" dirty="0">
                <a:latin typeface="+mn-ea"/>
                <a:ea typeface="+mn-ea"/>
              </a:rPr>
              <a:t>SHIFT	AL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4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SHIFT	BX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4		</a:t>
            </a:r>
          </a:p>
        </p:txBody>
      </p:sp>
      <p:sp>
        <p:nvSpPr>
          <p:cNvPr id="246789" name="Line 7">
            <a:extLst>
              <a:ext uri="{FF2B5EF4-FFF2-40B4-BE49-F238E27FC236}">
                <a16:creationId xmlns:a16="http://schemas.microsoft.com/office/drawing/2014/main" id="{1A690143-BAB3-4456-8B84-8D9F5F7E9C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6790" name="AutoShape 8">
            <a:extLst>
              <a:ext uri="{FF2B5EF4-FFF2-40B4-BE49-F238E27FC236}">
                <a16:creationId xmlns:a16="http://schemas.microsoft.com/office/drawing/2014/main" id="{76168110-0A86-41B2-8722-FB0302F1E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46791" name="AutoShape 9">
            <a:extLst>
              <a:ext uri="{FF2B5EF4-FFF2-40B4-BE49-F238E27FC236}">
                <a16:creationId xmlns:a16="http://schemas.microsoft.com/office/drawing/2014/main" id="{82C00D98-0AA2-48FC-AF1F-4ADA83BDA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12D89847-AB95-4354-A2F9-A438711E9CB4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775284DE-55B8-4512-9D94-AC35ACE05083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12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46793" name="灯片编号占位符 10">
            <a:extLst>
              <a:ext uri="{FF2B5EF4-FFF2-40B4-BE49-F238E27FC236}">
                <a16:creationId xmlns:a16="http://schemas.microsoft.com/office/drawing/2014/main" id="{A9FF0A7E-98C2-452F-920A-B6A984B310D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26219A0-23BB-49E3-84EB-3388E340968B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117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7DBB1DA6-65FE-442E-A526-8705BC5312B0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b="1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b="1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6" grpId="0" autoUpdateAnimBg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Line 3">
            <a:extLst>
              <a:ext uri="{FF2B5EF4-FFF2-40B4-BE49-F238E27FC236}">
                <a16:creationId xmlns:a16="http://schemas.microsoft.com/office/drawing/2014/main" id="{25138406-6B16-4186-A756-F76DDE433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7811" name="Text Box 5">
            <a:extLst>
              <a:ext uri="{FF2B5EF4-FFF2-40B4-BE49-F238E27FC236}">
                <a16:creationId xmlns:a16="http://schemas.microsoft.com/office/drawing/2014/main" id="{B53F4535-6898-4DCA-96E0-BBEFFE79F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宏调用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7830" name="Text Box 6">
            <a:extLst>
              <a:ext uri="{FF2B5EF4-FFF2-40B4-BE49-F238E27FC236}">
                <a16:creationId xmlns:a16="http://schemas.microsoft.com/office/drawing/2014/main" id="{D4888734-EF22-408B-8D75-051F02BD1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47800"/>
            <a:ext cx="7770813" cy="452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又如，有例</a:t>
            </a:r>
            <a:r>
              <a:rPr lang="en-US" altLang="zh-CN" sz="3200" b="1" dirty="0">
                <a:latin typeface="+mn-ea"/>
                <a:ea typeface="+mn-ea"/>
              </a:rPr>
              <a:t>1</a:t>
            </a:r>
            <a:r>
              <a:rPr lang="zh-CN" altLang="en-US" sz="3200" b="1" dirty="0">
                <a:latin typeface="+mn-ea"/>
                <a:ea typeface="+mn-ea"/>
              </a:rPr>
              <a:t>的定义，则调用时，		</a:t>
            </a:r>
            <a:r>
              <a:rPr lang="en-US" altLang="zh-CN" sz="3200" b="1" dirty="0">
                <a:latin typeface="+mn-ea"/>
                <a:ea typeface="+mn-ea"/>
              </a:rPr>
              <a:t>MULTIPLY	CX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VAR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XYZ[BX]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MULTIPLY	240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BX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SAVE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3200" b="1" dirty="0">
              <a:latin typeface="+mn-ea"/>
              <a:ea typeface="+mn-ea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注意：实参取代形参后，应使语句合法。否则</a:t>
            </a:r>
            <a:r>
              <a:rPr lang="en-US" altLang="zh-CN" sz="3200" b="1" dirty="0">
                <a:latin typeface="+mn-ea"/>
                <a:ea typeface="+mn-ea"/>
              </a:rPr>
              <a:t>MASM</a:t>
            </a:r>
            <a:r>
              <a:rPr lang="zh-CN" altLang="en-US" sz="3200" b="1" dirty="0">
                <a:latin typeface="+mn-ea"/>
                <a:ea typeface="+mn-ea"/>
              </a:rPr>
              <a:t>将指示出错：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	</a:t>
            </a:r>
            <a:r>
              <a:rPr lang="en-US" altLang="zh-CN" sz="3200" b="1" dirty="0">
                <a:latin typeface="+mn-ea"/>
                <a:ea typeface="+mn-ea"/>
              </a:rPr>
              <a:t>MULTIPLY	DX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120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[1200] 		SHIFT	4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AX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</a:t>
            </a:r>
          </a:p>
        </p:txBody>
      </p:sp>
      <p:sp>
        <p:nvSpPr>
          <p:cNvPr id="247813" name="Line 7">
            <a:extLst>
              <a:ext uri="{FF2B5EF4-FFF2-40B4-BE49-F238E27FC236}">
                <a16:creationId xmlns:a16="http://schemas.microsoft.com/office/drawing/2014/main" id="{A8C32883-C342-4515-B7EC-FD5F691756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7814" name="AutoShape 8">
            <a:extLst>
              <a:ext uri="{FF2B5EF4-FFF2-40B4-BE49-F238E27FC236}">
                <a16:creationId xmlns:a16="http://schemas.microsoft.com/office/drawing/2014/main" id="{1CA898EC-13F1-4E35-B462-BB07C76E2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47815" name="AutoShape 9">
            <a:extLst>
              <a:ext uri="{FF2B5EF4-FFF2-40B4-BE49-F238E27FC236}">
                <a16:creationId xmlns:a16="http://schemas.microsoft.com/office/drawing/2014/main" id="{83FEB91E-0A09-4269-844E-1A9D6160B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F06AE768-D51F-452C-96D1-6FB3E1E78DA8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4E43B24B-713F-42E5-9F6B-69D7B9A2A53F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47817" name="灯片编号占位符 10">
            <a:extLst>
              <a:ext uri="{FF2B5EF4-FFF2-40B4-BE49-F238E27FC236}">
                <a16:creationId xmlns:a16="http://schemas.microsoft.com/office/drawing/2014/main" id="{82398608-756A-4164-B91A-821BAE34121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3091D638-D8DE-49A3-8862-92E32A529747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118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986EE9B-5DB9-4F7D-B11F-15ECF3439ED2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0" grpId="0" autoUpdateAnimBg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Line 3">
            <a:extLst>
              <a:ext uri="{FF2B5EF4-FFF2-40B4-BE49-F238E27FC236}">
                <a16:creationId xmlns:a16="http://schemas.microsoft.com/office/drawing/2014/main" id="{239A63E4-E465-473B-8973-315DECFA0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8835" name="Text Box 5">
            <a:extLst>
              <a:ext uri="{FF2B5EF4-FFF2-40B4-BE49-F238E27FC236}">
                <a16:creationId xmlns:a16="http://schemas.microsoft.com/office/drawing/2014/main" id="{EED4EA9A-3690-466C-96D4-C8EB6C702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宏展开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8854" name="Text Box 6">
            <a:extLst>
              <a:ext uri="{FF2B5EF4-FFF2-40B4-BE49-F238E27FC236}">
                <a16:creationId xmlns:a16="http://schemas.microsoft.com/office/drawing/2014/main" id="{594C68E0-12C3-410E-A436-61565095C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0"/>
            <a:ext cx="74676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Times New Roman" panose="02020603050405020304" pitchFamily="18" charset="0"/>
                <a:ea typeface="楷体_GB2312" pitchFamily="49" charset="-122"/>
              </a:rPr>
              <a:t>宏展开</a:t>
            </a:r>
            <a:r>
              <a:rPr lang="en-US" altLang="zh-CN" sz="3200" b="1">
                <a:solidFill>
                  <a:srgbClr val="3712AC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3200" b="1">
                <a:solidFill>
                  <a:srgbClr val="3712AC"/>
                </a:solidFill>
                <a:latin typeface="Times New Roman" panose="02020603050405020304" pitchFamily="18" charset="0"/>
                <a:ea typeface="楷体_GB2312" pitchFamily="49" charset="-122"/>
              </a:rPr>
              <a:t>汇编时，用对应的宏体来代替该宏指令，产生目标代码。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例如：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SHIFT	AL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4	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展开时将产生：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+	MOV	CL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+	SHL	AL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汇编程序在所展开的指令前加上“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+”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号，以示区别。	</a:t>
            </a:r>
          </a:p>
        </p:txBody>
      </p:sp>
      <p:sp>
        <p:nvSpPr>
          <p:cNvPr id="248837" name="Line 7">
            <a:extLst>
              <a:ext uri="{FF2B5EF4-FFF2-40B4-BE49-F238E27FC236}">
                <a16:creationId xmlns:a16="http://schemas.microsoft.com/office/drawing/2014/main" id="{22399A49-6617-4276-AFAD-EEBD108F4E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8838" name="AutoShape 8">
            <a:extLst>
              <a:ext uri="{FF2B5EF4-FFF2-40B4-BE49-F238E27FC236}">
                <a16:creationId xmlns:a16="http://schemas.microsoft.com/office/drawing/2014/main" id="{5CA76E1E-1639-4FB7-ACAD-63FE85A01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48839" name="AutoShape 9">
            <a:extLst>
              <a:ext uri="{FF2B5EF4-FFF2-40B4-BE49-F238E27FC236}">
                <a16:creationId xmlns:a16="http://schemas.microsoft.com/office/drawing/2014/main" id="{F6F8BD1B-5A93-4365-AA45-5FD0DBBBB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97BA842D-2FE1-4144-BBCD-A0194B83B396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9046D2EB-09DF-4CCA-ACCA-A465293F5BC3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48841" name="灯片编号占位符 10">
            <a:extLst>
              <a:ext uri="{FF2B5EF4-FFF2-40B4-BE49-F238E27FC236}">
                <a16:creationId xmlns:a16="http://schemas.microsoft.com/office/drawing/2014/main" id="{4EBA95BC-6DEF-4BAA-8BCC-AF81BFA64F2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0BB06DEF-C012-48C8-AA52-F47BB5E0490B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119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800D206D-B6B0-436F-9AA7-0684C61D9B66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4" grpId="0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Line 3">
            <a:extLst>
              <a:ext uri="{FF2B5EF4-FFF2-40B4-BE49-F238E27FC236}">
                <a16:creationId xmlns:a16="http://schemas.microsoft.com/office/drawing/2014/main" id="{4155234E-82A0-4AB1-9BEE-50710C55A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859" name="Text Box 5">
            <a:extLst>
              <a:ext uri="{FF2B5EF4-FFF2-40B4-BE49-F238E27FC236}">
                <a16:creationId xmlns:a16="http://schemas.microsoft.com/office/drawing/2014/main" id="{117E32A5-774B-4102-8427-D62033134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624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宏指令与子程序的比较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9878" name="Text Box 6">
            <a:extLst>
              <a:ext uri="{FF2B5EF4-FFF2-40B4-BE49-F238E27FC236}">
                <a16:creationId xmlns:a16="http://schemas.microsoft.com/office/drawing/2014/main" id="{186C306F-0D18-47C4-9250-4948FEFF1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219200"/>
            <a:ext cx="7467600" cy="50165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3200" b="1" dirty="0">
                <a:latin typeface="+mn-ea"/>
                <a:ea typeface="+mn-ea"/>
              </a:rPr>
              <a:t>SHIFT	MACRO	X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Y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MOV		CL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Y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SHL		X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CL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ENDM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—————————————————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SHIFT	PROC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MOV		CL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Y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SHL		X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CL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	RET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SHIFT	ENDP</a:t>
            </a:r>
          </a:p>
        </p:txBody>
      </p:sp>
      <p:sp>
        <p:nvSpPr>
          <p:cNvPr id="249861" name="Line 7">
            <a:extLst>
              <a:ext uri="{FF2B5EF4-FFF2-40B4-BE49-F238E27FC236}">
                <a16:creationId xmlns:a16="http://schemas.microsoft.com/office/drawing/2014/main" id="{57B99123-C243-407B-A97D-ECA9D8C95E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9862" name="AutoShape 8">
            <a:extLst>
              <a:ext uri="{FF2B5EF4-FFF2-40B4-BE49-F238E27FC236}">
                <a16:creationId xmlns:a16="http://schemas.microsoft.com/office/drawing/2014/main" id="{8B327AF2-2473-4CD7-A827-1D95B687A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49863" name="AutoShape 9">
            <a:extLst>
              <a:ext uri="{FF2B5EF4-FFF2-40B4-BE49-F238E27FC236}">
                <a16:creationId xmlns:a16="http://schemas.microsoft.com/office/drawing/2014/main" id="{F937E3F6-0D6C-4052-B9A9-BACA595CE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48D933B5-8EEE-4219-838F-5AFDDE53F6CA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4621F2AE-4377-412F-A928-F2C86DB13556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12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49865" name="灯片编号占位符 10">
            <a:extLst>
              <a:ext uri="{FF2B5EF4-FFF2-40B4-BE49-F238E27FC236}">
                <a16:creationId xmlns:a16="http://schemas.microsoft.com/office/drawing/2014/main" id="{25049D95-1B70-4897-9B53-B293E597A85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0D25D7F6-2A0E-4505-82F9-E8BEA9B06366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120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CF275E9D-D1D3-4AC3-8F9A-7B0FEC2CD3E9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8" grpId="0" autoUpdateAnimBg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Line 3">
            <a:extLst>
              <a:ext uri="{FF2B5EF4-FFF2-40B4-BE49-F238E27FC236}">
                <a16:creationId xmlns:a16="http://schemas.microsoft.com/office/drawing/2014/main" id="{960FB523-9F27-4A52-B0F2-3B2B0A9C3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0883" name="Text Box 5">
            <a:extLst>
              <a:ext uri="{FF2B5EF4-FFF2-40B4-BE49-F238E27FC236}">
                <a16:creationId xmlns:a16="http://schemas.microsoft.com/office/drawing/2014/main" id="{EF1B9785-E9F1-405B-A527-D7CF3DA4A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0"/>
            <a:ext cx="6248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宏指令与子程序的比较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80902" name="Text Box 6">
            <a:extLst>
              <a:ext uri="{FF2B5EF4-FFF2-40B4-BE49-F238E27FC236}">
                <a16:creationId xmlns:a16="http://schemas.microsoft.com/office/drawing/2014/main" id="{E6061810-DF72-456E-98B2-DF1E57124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838200"/>
            <a:ext cx="74676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共同点</a:t>
            </a: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	简化源程序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不同点：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宏指令没有简化目标代码，子程序的目标代码只有一个。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	子程序调用时，调用和返回需时间，宏指令没有。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使用场合：</a:t>
            </a:r>
            <a:endParaRPr lang="zh-CN" altLang="en-US" sz="32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代替的程序段不长，速度是主要矛盾时</a:t>
            </a:r>
            <a:r>
              <a:rPr lang="en-US" altLang="zh-CN" sz="2800" b="1">
                <a:latin typeface="幼圆" panose="02010509060101010101" pitchFamily="49" charset="-122"/>
                <a:ea typeface="幼圆" panose="02010509060101010101" pitchFamily="49" charset="-122"/>
              </a:rPr>
              <a:t>——</a:t>
            </a:r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用宏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	代替的程序段较长，空间是主要矛盾时</a:t>
            </a:r>
            <a:r>
              <a:rPr lang="en-US" altLang="zh-CN" sz="2800" b="1">
                <a:latin typeface="幼圆" panose="02010509060101010101" pitchFamily="49" charset="-122"/>
                <a:ea typeface="幼圆" panose="02010509060101010101" pitchFamily="49" charset="-122"/>
              </a:rPr>
              <a:t>——</a:t>
            </a:r>
            <a:r>
              <a:rPr lang="zh-CN" altLang="en-US" sz="2800" b="1">
                <a:latin typeface="幼圆" panose="02010509060101010101" pitchFamily="49" charset="-122"/>
                <a:ea typeface="幼圆" panose="02010509060101010101" pitchFamily="49" charset="-122"/>
              </a:rPr>
              <a:t>用子程序</a:t>
            </a:r>
          </a:p>
        </p:txBody>
      </p:sp>
      <p:sp>
        <p:nvSpPr>
          <p:cNvPr id="250885" name="Line 7">
            <a:extLst>
              <a:ext uri="{FF2B5EF4-FFF2-40B4-BE49-F238E27FC236}">
                <a16:creationId xmlns:a16="http://schemas.microsoft.com/office/drawing/2014/main" id="{A773C707-BEDD-4079-AEDB-574E030CDD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0886" name="AutoShape 8">
            <a:extLst>
              <a:ext uri="{FF2B5EF4-FFF2-40B4-BE49-F238E27FC236}">
                <a16:creationId xmlns:a16="http://schemas.microsoft.com/office/drawing/2014/main" id="{7A8EE992-1B2B-42F3-A955-7690155AF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0887" name="AutoShape 9">
            <a:extLst>
              <a:ext uri="{FF2B5EF4-FFF2-40B4-BE49-F238E27FC236}">
                <a16:creationId xmlns:a16="http://schemas.microsoft.com/office/drawing/2014/main" id="{F8A10209-36A2-4742-9D80-AB9F777D5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273F4F09-2C5A-437A-AD1B-75E4128A1617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FD70D1E3-BC2C-409E-800E-3259D6D0ED4D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12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50889" name="灯片编号占位符 10">
            <a:extLst>
              <a:ext uri="{FF2B5EF4-FFF2-40B4-BE49-F238E27FC236}">
                <a16:creationId xmlns:a16="http://schemas.microsoft.com/office/drawing/2014/main" id="{5DBB1C6A-4CDB-4446-9C35-0D27DF7BB36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990F691-8523-4944-80D1-37D82BEA548B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121</a:t>
            </a:fld>
            <a:endParaRPr kumimoji="0" lang="en-US" altLang="zh-CN" sz="12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662FF7A2-AC45-4A49-9867-0CB965DB2F2E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2" grpId="0" autoUpdateAnimBg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Line 3">
            <a:extLst>
              <a:ext uri="{FF2B5EF4-FFF2-40B4-BE49-F238E27FC236}">
                <a16:creationId xmlns:a16="http://schemas.microsoft.com/office/drawing/2014/main" id="{22A8218A-FF04-4BB2-8CD8-1E9505DC39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907" name="Text Box 5">
            <a:extLst>
              <a:ext uri="{FF2B5EF4-FFF2-40B4-BE49-F238E27FC236}">
                <a16:creationId xmlns:a16="http://schemas.microsoft.com/office/drawing/2014/main" id="{DC8D7D4A-D59F-49E2-BAF2-0C92EA232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宏指令举例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1926" name="Text Box 6">
            <a:extLst>
              <a:ext uri="{FF2B5EF4-FFF2-40B4-BE49-F238E27FC236}">
                <a16:creationId xmlns:a16="http://schemas.microsoft.com/office/drawing/2014/main" id="{C4DF45BD-D68E-4C1B-B890-BED3B33E6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371600"/>
            <a:ext cx="66294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一、宏定义具有接收参数的能力，但有时可以没有参数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SHIFT	MACRO	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MOV		CL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SHL		AL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ENDM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宏调用：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SHIFT</a:t>
            </a:r>
          </a:p>
        </p:txBody>
      </p:sp>
      <p:sp>
        <p:nvSpPr>
          <p:cNvPr id="251909" name="Line 7">
            <a:extLst>
              <a:ext uri="{FF2B5EF4-FFF2-40B4-BE49-F238E27FC236}">
                <a16:creationId xmlns:a16="http://schemas.microsoft.com/office/drawing/2014/main" id="{9D715636-5716-4B2D-B2DE-137841A6F4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1910" name="AutoShape 8">
            <a:extLst>
              <a:ext uri="{FF2B5EF4-FFF2-40B4-BE49-F238E27FC236}">
                <a16:creationId xmlns:a16="http://schemas.microsoft.com/office/drawing/2014/main" id="{2088C333-9F7A-4646-80FC-448E8E35F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1911" name="AutoShape 9">
            <a:extLst>
              <a:ext uri="{FF2B5EF4-FFF2-40B4-BE49-F238E27FC236}">
                <a16:creationId xmlns:a16="http://schemas.microsoft.com/office/drawing/2014/main" id="{934DCA12-8FD6-4676-BB98-006F7407B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972E469A-E220-405B-8A9A-842BCBE79211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9612D56-4F8E-4727-8881-AE358DDF1D2C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12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51913" name="灯片编号占位符 10">
            <a:extLst>
              <a:ext uri="{FF2B5EF4-FFF2-40B4-BE49-F238E27FC236}">
                <a16:creationId xmlns:a16="http://schemas.microsoft.com/office/drawing/2014/main" id="{3A6A33E2-EBEC-4476-B610-0994C0664BC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6195089-F5CC-4A30-9C07-BB27365B55E8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122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DCD5C93-0B3F-4689-8BBB-ADCC2811A61D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6" grpId="0" autoUpdateAnimBg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Line 3">
            <a:extLst>
              <a:ext uri="{FF2B5EF4-FFF2-40B4-BE49-F238E27FC236}">
                <a16:creationId xmlns:a16="http://schemas.microsoft.com/office/drawing/2014/main" id="{BA6F760A-0AF6-4ECD-A544-B91991ADD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931" name="Text Box 5">
            <a:extLst>
              <a:ext uri="{FF2B5EF4-FFF2-40B4-BE49-F238E27FC236}">
                <a16:creationId xmlns:a16="http://schemas.microsoft.com/office/drawing/2014/main" id="{ADE5774F-39C6-451A-99E3-6605BC409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宏指令举例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2950" name="Text Box 6">
            <a:extLst>
              <a:ext uri="{FF2B5EF4-FFF2-40B4-BE49-F238E27FC236}">
                <a16:creationId xmlns:a16="http://schemas.microsoft.com/office/drawing/2014/main" id="{336E1299-1276-4250-B934-C1DC1D80A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752600"/>
            <a:ext cx="6629400" cy="40322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二、变元可以是操作码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例</a:t>
            </a:r>
            <a:r>
              <a:rPr lang="en-US" altLang="zh-CN" sz="3200" b="1" dirty="0">
                <a:latin typeface="+mn-ea"/>
                <a:ea typeface="+mn-ea"/>
              </a:rPr>
              <a:t>3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FOO	MACRO	P1</a:t>
            </a:r>
            <a:r>
              <a:rPr lang="zh-CN" altLang="en-US" sz="3200" b="1" dirty="0">
                <a:latin typeface="+mn-ea"/>
                <a:ea typeface="+mn-ea"/>
              </a:rPr>
              <a:t>，	</a:t>
            </a:r>
            <a:r>
              <a:rPr lang="en-US" altLang="zh-CN" sz="3200" b="1" dirty="0">
                <a:latin typeface="+mn-ea"/>
                <a:ea typeface="+mn-ea"/>
              </a:rPr>
              <a:t>P2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P3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MOV		AX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P1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P2		P3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+mn-ea"/>
                <a:ea typeface="+mn-ea"/>
              </a:rPr>
              <a:t>		ENDM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宏调用：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ea"/>
                <a:ea typeface="+mn-ea"/>
              </a:rPr>
              <a:t>	</a:t>
            </a:r>
            <a:r>
              <a:rPr lang="en-US" altLang="zh-CN" sz="3200" b="1" dirty="0">
                <a:latin typeface="+mn-ea"/>
                <a:ea typeface="+mn-ea"/>
              </a:rPr>
              <a:t>FOO	WORD_VAR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solidFill>
                  <a:srgbClr val="3712AC"/>
                </a:solidFill>
                <a:latin typeface="+mn-ea"/>
                <a:ea typeface="+mn-ea"/>
              </a:rPr>
              <a:t>INC</a:t>
            </a:r>
            <a:r>
              <a:rPr lang="zh-CN" altLang="en-US" sz="3200" b="1" dirty="0">
                <a:latin typeface="+mn-ea"/>
                <a:ea typeface="+mn-ea"/>
              </a:rPr>
              <a:t>，</a:t>
            </a:r>
            <a:r>
              <a:rPr lang="en-US" altLang="zh-CN" sz="3200" b="1" dirty="0">
                <a:latin typeface="+mn-ea"/>
                <a:ea typeface="+mn-ea"/>
              </a:rPr>
              <a:t>AX</a:t>
            </a:r>
          </a:p>
        </p:txBody>
      </p:sp>
      <p:sp>
        <p:nvSpPr>
          <p:cNvPr id="252933" name="Line 7">
            <a:extLst>
              <a:ext uri="{FF2B5EF4-FFF2-40B4-BE49-F238E27FC236}">
                <a16:creationId xmlns:a16="http://schemas.microsoft.com/office/drawing/2014/main" id="{42CF3118-C9EA-4C64-AB25-BAAFB135E9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2934" name="AutoShape 8">
            <a:extLst>
              <a:ext uri="{FF2B5EF4-FFF2-40B4-BE49-F238E27FC236}">
                <a16:creationId xmlns:a16="http://schemas.microsoft.com/office/drawing/2014/main" id="{C66518F6-DC21-47CD-A8DF-473AA37F1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2935" name="AutoShape 9">
            <a:extLst>
              <a:ext uri="{FF2B5EF4-FFF2-40B4-BE49-F238E27FC236}">
                <a16:creationId xmlns:a16="http://schemas.microsoft.com/office/drawing/2014/main" id="{AA6D6D82-B2AC-446D-8B5A-D4BCBA865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C7FB63A5-3231-4BC4-A816-4A75E0270E60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507CAA26-7257-49E6-A855-FBD4C46BD44C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12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52937" name="灯片编号占位符 10">
            <a:extLst>
              <a:ext uri="{FF2B5EF4-FFF2-40B4-BE49-F238E27FC236}">
                <a16:creationId xmlns:a16="http://schemas.microsoft.com/office/drawing/2014/main" id="{FF78CB1E-D801-4020-9550-8F894AF7EE9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1825536B-605A-4636-99EB-0FC1AE29ECF2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123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FDD510EC-06FA-467C-BE1A-92C6196B9F95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0" grpId="0" autoUpdateAnimBg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Line 3">
            <a:extLst>
              <a:ext uri="{FF2B5EF4-FFF2-40B4-BE49-F238E27FC236}">
                <a16:creationId xmlns:a16="http://schemas.microsoft.com/office/drawing/2014/main" id="{DB8E4214-7915-4CC7-A2E4-6878CF4035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3955" name="Text Box 5">
            <a:extLst>
              <a:ext uri="{FF2B5EF4-FFF2-40B4-BE49-F238E27FC236}">
                <a16:creationId xmlns:a16="http://schemas.microsoft.com/office/drawing/2014/main" id="{22C832E1-7BD7-4439-9C85-E991EE7AC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宏指令举例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3974" name="Text Box 6">
            <a:extLst>
              <a:ext uri="{FF2B5EF4-FFF2-40B4-BE49-F238E27FC236}">
                <a16:creationId xmlns:a16="http://schemas.microsoft.com/office/drawing/2014/main" id="{80F8D1F6-B750-418B-A589-03A311CF1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219200"/>
            <a:ext cx="7620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三、变元可以是操作码的一部分，但需分隔符</a:t>
            </a:r>
            <a:r>
              <a:rPr lang="en-US" altLang="zh-CN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&amp;</a:t>
            </a: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SHIFT	MACRO	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Y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Z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MOV		CL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S&amp;Z		Y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ENDM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宏调用：	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SHIFT	4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AX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AL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SHIFT	2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AL		</a:t>
            </a:r>
          </a:p>
        </p:txBody>
      </p:sp>
      <p:sp>
        <p:nvSpPr>
          <p:cNvPr id="253957" name="Line 7">
            <a:extLst>
              <a:ext uri="{FF2B5EF4-FFF2-40B4-BE49-F238E27FC236}">
                <a16:creationId xmlns:a16="http://schemas.microsoft.com/office/drawing/2014/main" id="{F51DC23C-C4C8-44FE-AEAB-B83E5E475A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3958" name="AutoShape 8">
            <a:extLst>
              <a:ext uri="{FF2B5EF4-FFF2-40B4-BE49-F238E27FC236}">
                <a16:creationId xmlns:a16="http://schemas.microsoft.com/office/drawing/2014/main" id="{F4B515B1-68DB-477D-A3AE-4BD106E17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3959" name="AutoShape 9">
            <a:extLst>
              <a:ext uri="{FF2B5EF4-FFF2-40B4-BE49-F238E27FC236}">
                <a16:creationId xmlns:a16="http://schemas.microsoft.com/office/drawing/2014/main" id="{7D6CCFAB-D117-461D-93ED-C02A6B017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716A73D2-0FE1-499E-B820-19FE4AE61967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406CA9AA-CDC0-47EF-8B30-39D00647D657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53961" name="灯片编号占位符 10">
            <a:extLst>
              <a:ext uri="{FF2B5EF4-FFF2-40B4-BE49-F238E27FC236}">
                <a16:creationId xmlns:a16="http://schemas.microsoft.com/office/drawing/2014/main" id="{07C77E67-DD78-47EA-8CE6-7396ED782EF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5AC29C22-614E-4E7D-BF98-E941CB368E01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124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473A38F8-BB08-46DD-B3F0-1D64BD89CAE5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 autoUpdateAnimBg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Line 3">
            <a:extLst>
              <a:ext uri="{FF2B5EF4-FFF2-40B4-BE49-F238E27FC236}">
                <a16:creationId xmlns:a16="http://schemas.microsoft.com/office/drawing/2014/main" id="{A3292EF8-A31C-408C-9721-49D858485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79" name="Text Box 5">
            <a:extLst>
              <a:ext uri="{FF2B5EF4-FFF2-40B4-BE49-F238E27FC236}">
                <a16:creationId xmlns:a16="http://schemas.microsoft.com/office/drawing/2014/main" id="{4DF31CF0-9F46-4448-A039-DBCFBA7A4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836613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宏指令举例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4998" name="Text Box 6">
            <a:extLst>
              <a:ext uri="{FF2B5EF4-FFF2-40B4-BE49-F238E27FC236}">
                <a16:creationId xmlns:a16="http://schemas.microsoft.com/office/drawing/2014/main" id="{48492B74-A183-49D3-B367-E3DC4D1F8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133600"/>
            <a:ext cx="61722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600" b="1">
                <a:latin typeface="幼圆" panose="02010509060101010101" pitchFamily="49" charset="-122"/>
                <a:ea typeface="幼圆" panose="02010509060101010101" pitchFamily="49" charset="-122"/>
              </a:rPr>
              <a:t>在上面的例子中，宏指令</a:t>
            </a:r>
            <a:r>
              <a:rPr lang="en-US" altLang="zh-CN" sz="3600" b="1">
                <a:latin typeface="幼圆" panose="02010509060101010101" pitchFamily="49" charset="-122"/>
                <a:ea typeface="幼圆" panose="02010509060101010101" pitchFamily="49" charset="-122"/>
              </a:rPr>
              <a:t>SHIFT</a:t>
            </a:r>
            <a:r>
              <a:rPr lang="zh-CN" altLang="en-US" sz="3600" b="1">
                <a:latin typeface="幼圆" panose="02010509060101010101" pitchFamily="49" charset="-122"/>
                <a:ea typeface="幼圆" panose="02010509060101010101" pitchFamily="49" charset="-122"/>
              </a:rPr>
              <a:t>的参数可以有</a:t>
            </a:r>
            <a:r>
              <a:rPr lang="en-US" altLang="zh-CN" sz="3600" b="1"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zh-CN" altLang="en-US" sz="3600" b="1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en-US" altLang="zh-CN" sz="3600" b="1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3600" b="1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en-US" altLang="zh-CN" sz="3600" b="1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3600" b="1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en-US" altLang="zh-CN" sz="3600" b="1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3600" b="1">
                <a:latin typeface="幼圆" panose="02010509060101010101" pitchFamily="49" charset="-122"/>
                <a:ea typeface="幼圆" panose="02010509060101010101" pitchFamily="49" charset="-122"/>
              </a:rPr>
              <a:t>个，并可以出现在不同的位置。</a:t>
            </a:r>
          </a:p>
        </p:txBody>
      </p:sp>
      <p:sp>
        <p:nvSpPr>
          <p:cNvPr id="254981" name="Line 7">
            <a:extLst>
              <a:ext uri="{FF2B5EF4-FFF2-40B4-BE49-F238E27FC236}">
                <a16:creationId xmlns:a16="http://schemas.microsoft.com/office/drawing/2014/main" id="{1F3365A3-5DC6-4D8F-BCF9-AAD311B582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4982" name="AutoShape 8">
            <a:extLst>
              <a:ext uri="{FF2B5EF4-FFF2-40B4-BE49-F238E27FC236}">
                <a16:creationId xmlns:a16="http://schemas.microsoft.com/office/drawing/2014/main" id="{E1FA8CC0-C431-473B-AA18-31A8A5D86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4983" name="AutoShape 9">
            <a:extLst>
              <a:ext uri="{FF2B5EF4-FFF2-40B4-BE49-F238E27FC236}">
                <a16:creationId xmlns:a16="http://schemas.microsoft.com/office/drawing/2014/main" id="{6A45816B-122E-475C-A7CE-5CA26B502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241F0020-2FE7-4FDF-B78B-D553BD39C02A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5533F3F5-6186-4152-8CC5-C38922946A4C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54985" name="灯片编号占位符 10">
            <a:extLst>
              <a:ext uri="{FF2B5EF4-FFF2-40B4-BE49-F238E27FC236}">
                <a16:creationId xmlns:a16="http://schemas.microsoft.com/office/drawing/2014/main" id="{A6E9B59D-BA96-420F-B3A2-BC99D1E8FCD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0AD561BD-B953-4022-8937-02C5F6FC1287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125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E9418FC3-D6E1-46E7-902C-708E0728CD6D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8" grpId="0" autoUpdateAnimBg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Line 3">
            <a:extLst>
              <a:ext uri="{FF2B5EF4-FFF2-40B4-BE49-F238E27FC236}">
                <a16:creationId xmlns:a16="http://schemas.microsoft.com/office/drawing/2014/main" id="{7305F97D-1A79-4234-BCC6-C40E1ADF0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03" name="Text Box 5">
            <a:extLst>
              <a:ext uri="{FF2B5EF4-FFF2-40B4-BE49-F238E27FC236}">
                <a16:creationId xmlns:a16="http://schemas.microsoft.com/office/drawing/2014/main" id="{79CA52AB-B404-45C3-87CA-08BE031E0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65175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宏指令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6022" name="Text Box 6">
            <a:extLst>
              <a:ext uri="{FF2B5EF4-FFF2-40B4-BE49-F238E27FC236}">
                <a16:creationId xmlns:a16="http://schemas.microsoft.com/office/drawing/2014/main" id="{E5DE356E-FA16-4D10-9216-FC16DDF74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752600"/>
            <a:ext cx="68580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四、</a:t>
            </a:r>
            <a:r>
              <a:rPr lang="en-US" altLang="zh-CN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PURGE</a:t>
            </a: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伪操作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功能：取消已定义的宏定义。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格式：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PURGE  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宏指令名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……]	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例如：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PURGE	SHIFT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MULTIPLY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3200" b="1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 	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一次可取消多个</a:t>
            </a:r>
          </a:p>
        </p:txBody>
      </p:sp>
      <p:sp>
        <p:nvSpPr>
          <p:cNvPr id="256005" name="Line 7">
            <a:extLst>
              <a:ext uri="{FF2B5EF4-FFF2-40B4-BE49-F238E27FC236}">
                <a16:creationId xmlns:a16="http://schemas.microsoft.com/office/drawing/2014/main" id="{1D9F2785-B420-456A-A0CF-D53D4FFE50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006" name="AutoShape 8">
            <a:extLst>
              <a:ext uri="{FF2B5EF4-FFF2-40B4-BE49-F238E27FC236}">
                <a16:creationId xmlns:a16="http://schemas.microsoft.com/office/drawing/2014/main" id="{63632218-EA04-4C63-A05C-8B213AF33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6007" name="AutoShape 9">
            <a:extLst>
              <a:ext uri="{FF2B5EF4-FFF2-40B4-BE49-F238E27FC236}">
                <a16:creationId xmlns:a16="http://schemas.microsoft.com/office/drawing/2014/main" id="{4946D548-B8E0-4EFE-854B-C032D78CA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38A96C99-5C85-4341-A47B-42A766967434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4FD8D31-4F07-4343-8C3C-4E29DC02EF48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56009" name="灯片编号占位符 10">
            <a:extLst>
              <a:ext uri="{FF2B5EF4-FFF2-40B4-BE49-F238E27FC236}">
                <a16:creationId xmlns:a16="http://schemas.microsoft.com/office/drawing/2014/main" id="{32EEE047-3529-4D42-9BC5-AC1EC2D4DFB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CCB322A-9F05-446F-8EAD-8F161B2E1609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126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F6B9F767-4BAD-4124-89AD-3CC054CEC460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2" grpId="0" autoUpdateAnimBg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Line 3">
            <a:extLst>
              <a:ext uri="{FF2B5EF4-FFF2-40B4-BE49-F238E27FC236}">
                <a16:creationId xmlns:a16="http://schemas.microsoft.com/office/drawing/2014/main" id="{B658BC4A-5C13-43F7-8550-A78EB4E99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6" name="Text Box 6">
            <a:extLst>
              <a:ext uri="{FF2B5EF4-FFF2-40B4-BE49-F238E27FC236}">
                <a16:creationId xmlns:a16="http://schemas.microsoft.com/office/drawing/2014/main" id="{B9AFF911-A1C3-478A-A9F5-51887C7F8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143000"/>
            <a:ext cx="7848600" cy="516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五、</a:t>
            </a:r>
            <a:r>
              <a:rPr lang="en-US" altLang="zh-CN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LOCAL</a:t>
            </a: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伪操作</a:t>
            </a: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功能：定义宏体内的标号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格式：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LOCAL	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标号表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例：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中的一位十六进制数转换为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ASCII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码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CHANGE	MACRO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</a:t>
            </a:r>
            <a:r>
              <a:rPr lang="en-US" altLang="zh-CN" sz="3200" b="1">
                <a:solidFill>
                  <a:srgbClr val="3712A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LOCAL	ADD0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CMP		AL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JL		ADD0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ADD		AL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'A'-'0'-10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en-US" altLang="zh-CN" sz="3200" b="1">
                <a:solidFill>
                  <a:srgbClr val="3712A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ADD0: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ADD		AL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'0'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			ENDM</a:t>
            </a:r>
          </a:p>
        </p:txBody>
      </p:sp>
      <p:sp>
        <p:nvSpPr>
          <p:cNvPr id="257028" name="Line 7">
            <a:extLst>
              <a:ext uri="{FF2B5EF4-FFF2-40B4-BE49-F238E27FC236}">
                <a16:creationId xmlns:a16="http://schemas.microsoft.com/office/drawing/2014/main" id="{49957A85-7E73-4E96-82C8-1567B96E38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7029" name="AutoShape 8">
            <a:extLst>
              <a:ext uri="{FF2B5EF4-FFF2-40B4-BE49-F238E27FC236}">
                <a16:creationId xmlns:a16="http://schemas.microsoft.com/office/drawing/2014/main" id="{08425B68-6B4B-4295-8B8C-BD9803E91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7030" name="AutoShape 9">
            <a:extLst>
              <a:ext uri="{FF2B5EF4-FFF2-40B4-BE49-F238E27FC236}">
                <a16:creationId xmlns:a16="http://schemas.microsoft.com/office/drawing/2014/main" id="{5BB6F9D2-0D80-4EF2-B1DD-248545F55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F6778352-0797-4830-B5EA-708B4E480345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09E5C9D-B18B-4725-A80E-4DE735B7ECD1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57032" name="灯片编号占位符 10">
            <a:extLst>
              <a:ext uri="{FF2B5EF4-FFF2-40B4-BE49-F238E27FC236}">
                <a16:creationId xmlns:a16="http://schemas.microsoft.com/office/drawing/2014/main" id="{B4022C4E-8CD3-4C62-AC67-ED5B09D7A3B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526C15E0-FE93-4854-BB05-97E981DB79BE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127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28DD532C-EC7C-4214-AF20-FAE791569E70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6" grpId="0" autoUpdateAnimBg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Line 3">
            <a:extLst>
              <a:ext uri="{FF2B5EF4-FFF2-40B4-BE49-F238E27FC236}">
                <a16:creationId xmlns:a16="http://schemas.microsoft.com/office/drawing/2014/main" id="{2EE66329-745D-42D7-B8E7-B964E14F7F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172200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051" name="Text Box 5">
            <a:extLst>
              <a:ext uri="{FF2B5EF4-FFF2-40B4-BE49-F238E27FC236}">
                <a16:creationId xmlns:a16="http://schemas.microsoft.com/office/drawing/2014/main" id="{E93B5AA0-1585-4693-90EA-8D95D91BC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宏指令</a:t>
            </a:r>
            <a:endParaRPr lang="zh-CN" altLang="en-US" sz="4000">
              <a:solidFill>
                <a:srgbClr val="CC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8070" name="Text Box 6">
            <a:extLst>
              <a:ext uri="{FF2B5EF4-FFF2-40B4-BE49-F238E27FC236}">
                <a16:creationId xmlns:a16="http://schemas.microsoft.com/office/drawing/2014/main" id="{D8A362DC-15A3-4101-90F7-ED63D6C87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95400"/>
            <a:ext cx="7239000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五、</a:t>
            </a:r>
            <a:r>
              <a:rPr lang="en-US" altLang="zh-CN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LOCAL</a:t>
            </a:r>
            <a:r>
              <a:rPr lang="zh-CN" altLang="en-US" sz="3200" b="1">
                <a:solidFill>
                  <a:srgbClr val="3712AC"/>
                </a:solidFill>
                <a:latin typeface="楷体_GB2312" pitchFamily="49" charset="-122"/>
                <a:ea typeface="楷体_GB2312" pitchFamily="49" charset="-122"/>
              </a:rPr>
              <a:t>伪操作</a:t>
            </a:r>
            <a:endParaRPr lang="zh-CN" altLang="en-US" sz="3200" b="1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LOCAL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只能在宏定义体内；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）必须是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MACRO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后的第一个语句；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）它们之间不允许注释及分号。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例如：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CHANGE	MACRO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			</a:t>
            </a:r>
            <a:r>
              <a:rPr lang="en-US" altLang="zh-CN" sz="3200" b="1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LOCAL	ADD0</a:t>
            </a:r>
            <a:endParaRPr lang="en-US" altLang="zh-CN" sz="3200" b="1">
              <a:solidFill>
                <a:srgbClr val="3712A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3712A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		CMP		AL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	ADD0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3200" b="1">
                <a:solidFill>
                  <a:srgbClr val="3712A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			</a:t>
            </a:r>
            <a:r>
              <a:rPr lang="en-US" altLang="zh-CN" sz="3200" b="1">
                <a:latin typeface="楷体" panose="02010609060101010101" pitchFamily="49" charset="-122"/>
                <a:ea typeface="楷体" panose="02010609060101010101" pitchFamily="49" charset="-122"/>
              </a:rPr>
              <a:t>ENDM</a:t>
            </a:r>
          </a:p>
        </p:txBody>
      </p:sp>
      <p:sp>
        <p:nvSpPr>
          <p:cNvPr id="258053" name="Line 7">
            <a:extLst>
              <a:ext uri="{FF2B5EF4-FFF2-40B4-BE49-F238E27FC236}">
                <a16:creationId xmlns:a16="http://schemas.microsoft.com/office/drawing/2014/main" id="{60D2DD0B-95DE-4091-84A0-C04435598C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8054" name="AutoShape 8">
            <a:extLst>
              <a:ext uri="{FF2B5EF4-FFF2-40B4-BE49-F238E27FC236}">
                <a16:creationId xmlns:a16="http://schemas.microsoft.com/office/drawing/2014/main" id="{D861DFFA-9D54-4019-B5CC-B01782F85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8055" name="AutoShape 9">
            <a:extLst>
              <a:ext uri="{FF2B5EF4-FFF2-40B4-BE49-F238E27FC236}">
                <a16:creationId xmlns:a16="http://schemas.microsoft.com/office/drawing/2014/main" id="{3AAA2618-4E04-40AB-82CE-1B8B0FE32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37514B35-4353-4743-9C2D-41D29B26165B}"/>
              </a:ext>
            </a:extLst>
          </p:cNvPr>
          <p:cNvSpPr txBox="1"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fld id="{678FD8D0-6A78-40C9-B2AF-45D3F6448925}" type="datetime1">
              <a:rPr kumimoji="0" lang="zh-CN" altLang="en-US" sz="2000">
                <a:solidFill>
                  <a:schemeClr val="tx2">
                    <a:shade val="90000"/>
                  </a:schemeClr>
                </a:solidFill>
              </a:rPr>
              <a:pPr eaLnBrk="1" hangingPunct="1">
                <a:defRPr/>
              </a:pPr>
              <a:t>2023/6/25</a:t>
            </a:fld>
            <a:endParaRPr kumimoji="0" lang="en-US" altLang="zh-CN" sz="2000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58057" name="灯片编号占位符 10">
            <a:extLst>
              <a:ext uri="{FF2B5EF4-FFF2-40B4-BE49-F238E27FC236}">
                <a16:creationId xmlns:a16="http://schemas.microsoft.com/office/drawing/2014/main" id="{8481F2E6-EB62-4D66-9B78-1D114247D87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E3EC7E6E-763E-45AF-B870-E28AD1A89A91}" type="slidenum">
              <a:rPr kumimoji="0" lang="en-US" altLang="zh-CN" sz="2000">
                <a:solidFill>
                  <a:srgbClr val="045C75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128</a:t>
            </a:fld>
            <a:endParaRPr kumimoji="0" lang="en-US" altLang="zh-CN" sz="2000">
              <a:solidFill>
                <a:srgbClr val="045C7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00A1EB30-9DFF-4941-9CEC-7D0CB2A256AF}"/>
              </a:ext>
            </a:extLst>
          </p:cNvPr>
          <p:cNvSpPr txBox="1">
            <a:spLocks noGrp="1"/>
          </p:cNvSpPr>
          <p:nvPr/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2">
                    <a:shade val="90000"/>
                  </a:schemeClr>
                </a:solidFill>
                <a:latin typeface="楷体" pitchFamily="49" charset="-122"/>
                <a:ea typeface="楷体" pitchFamily="49" charset="-122"/>
              </a:rPr>
              <a:t>汇编语言程序设计</a:t>
            </a:r>
            <a:endParaRPr kumimoji="0" lang="en-US" altLang="zh-CN" dirty="0">
              <a:solidFill>
                <a:schemeClr val="tx2">
                  <a:shade val="9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 autoUpdateAnimBg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Line 1027">
            <a:extLst>
              <a:ext uri="{FF2B5EF4-FFF2-40B4-BE49-F238E27FC236}">
                <a16:creationId xmlns:a16="http://schemas.microsoft.com/office/drawing/2014/main" id="{10EBEC9E-88B1-48BB-B012-80D18D27E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" y="6092825"/>
            <a:ext cx="838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9075" name="Line 1031">
            <a:extLst>
              <a:ext uri="{FF2B5EF4-FFF2-40B4-BE49-F238E27FC236}">
                <a16:creationId xmlns:a16="http://schemas.microsoft.com/office/drawing/2014/main" id="{DCEF5EC6-4152-485D-B18A-45E37D937A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438400"/>
            <a:ext cx="381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9076" name="AutoShape 1032">
            <a:extLst>
              <a:ext uri="{FF2B5EF4-FFF2-40B4-BE49-F238E27FC236}">
                <a16:creationId xmlns:a16="http://schemas.microsoft.com/office/drawing/2014/main" id="{CD902E4D-1252-49CD-9474-3684DAB4A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146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9077" name="AutoShape 1033">
            <a:extLst>
              <a:ext uri="{FF2B5EF4-FFF2-40B4-BE49-F238E27FC236}">
                <a16:creationId xmlns:a16="http://schemas.microsoft.com/office/drawing/2014/main" id="{C973F88A-8BEF-419A-9A67-818103882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91200"/>
            <a:ext cx="1981200" cy="76200"/>
          </a:xfrm>
          <a:prstGeom prst="leftArrow">
            <a:avLst>
              <a:gd name="adj1" fmla="val 50000"/>
              <a:gd name="adj2" fmla="val 6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59078" name="日期占位符 12">
            <a:extLst>
              <a:ext uri="{FF2B5EF4-FFF2-40B4-BE49-F238E27FC236}">
                <a16:creationId xmlns:a16="http://schemas.microsoft.com/office/drawing/2014/main" id="{0FD115F5-76E4-4729-92AA-7D672D23FD05}"/>
              </a:ext>
            </a:extLst>
          </p:cNvPr>
          <p:cNvSpPr txBox="1">
            <a:spLocks noGrp="1"/>
          </p:cNvSpPr>
          <p:nvPr/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E1E6064-91DA-4A6B-AD14-CB6AE3B8079E}" type="datetime1">
              <a:rPr kumimoji="0" lang="zh-CN" altLang="en-US" sz="2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2023/6/25</a:t>
            </a:fld>
            <a:endParaRPr kumimoji="0" lang="en-US" altLang="zh-CN" sz="20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9079" name="页脚占位符 14">
            <a:extLst>
              <a:ext uri="{FF2B5EF4-FFF2-40B4-BE49-F238E27FC236}">
                <a16:creationId xmlns:a16="http://schemas.microsoft.com/office/drawing/2014/main" id="{746627A4-8883-4046-998B-EED1FEEA23FF}"/>
              </a:ext>
            </a:extLst>
          </p:cNvPr>
          <p:cNvSpPr txBox="1">
            <a:spLocks noGrp="1"/>
          </p:cNvSpPr>
          <p:nvPr/>
        </p:nvSpPr>
        <p:spPr bwMode="auto">
          <a:xfrm>
            <a:off x="3203575" y="6308725"/>
            <a:ext cx="2736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汇编语言程序设计</a:t>
            </a:r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9080" name="灯片编号占位符 13">
            <a:extLst>
              <a:ext uri="{FF2B5EF4-FFF2-40B4-BE49-F238E27FC236}">
                <a16:creationId xmlns:a16="http://schemas.microsoft.com/office/drawing/2014/main" id="{19F5DB55-DEE2-422E-A1C8-460842670FA8}"/>
              </a:ext>
            </a:extLst>
          </p:cNvPr>
          <p:cNvSpPr txBox="1">
            <a:spLocks noGrp="1"/>
          </p:cNvSpPr>
          <p:nvPr/>
        </p:nvSpPr>
        <p:spPr bwMode="auto"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2E26354-0E41-4E9F-B0DC-9AD38805CFCF}" type="slidenum">
              <a:rPr kumimoji="0" lang="en-US" altLang="zh-CN" sz="24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129</a:t>
            </a:fld>
            <a:endParaRPr kumimoji="0" lang="en-US" altLang="zh-CN" sz="240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3AC11C3A-9D3F-4637-93B6-E5C6AAED4A4C}"/>
              </a:ext>
            </a:extLst>
          </p:cNvPr>
          <p:cNvSpPr txBox="1">
            <a:spLocks noChangeArrowheads="1"/>
          </p:cNvSpPr>
          <p:nvPr/>
        </p:nvSpPr>
        <p:spPr>
          <a:xfrm>
            <a:off x="1042988" y="1052513"/>
            <a:ext cx="5905500" cy="576262"/>
          </a:xfrm>
          <a:prstGeom prst="rect">
            <a:avLst/>
          </a:prstGeom>
        </p:spPr>
        <p:txBody>
          <a:bodyPr lIns="0" rIns="0" bIns="0" anchor="b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zh-CN" altLang="en-US" sz="3300" b="1" dirty="0">
                <a:solidFill>
                  <a:srgbClr val="FF3300"/>
                </a:solidFill>
                <a:latin typeface="+mj-lt"/>
                <a:ea typeface="+mj-ea"/>
                <a:cs typeface="+mj-cs"/>
              </a:rPr>
              <a:t>汇编语言程序设计的一般步骤：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73987E-271C-4550-97D3-CA477D685E18}"/>
              </a:ext>
            </a:extLst>
          </p:cNvPr>
          <p:cNvSpPr/>
          <p:nvPr/>
        </p:nvSpPr>
        <p:spPr>
          <a:xfrm>
            <a:off x="755650" y="2060575"/>
            <a:ext cx="7920038" cy="354012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1. 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分析问题，抽象出描述问题的数学模型。 </a:t>
            </a:r>
          </a:p>
          <a:p>
            <a:pPr eaLnBrk="1" hangingPunct="1">
              <a:defRPr/>
            </a:pP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2. 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确定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解决问题的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算法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或算法思想。</a:t>
            </a:r>
          </a:p>
          <a:p>
            <a:pPr eaLnBrk="1" hangingPunct="1">
              <a:defRPr/>
            </a:pP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3. 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绘制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流程图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或结构图。</a:t>
            </a:r>
          </a:p>
          <a:p>
            <a:pPr eaLnBrk="1" hangingPunct="1">
              <a:defRPr/>
            </a:pPr>
            <a:r>
              <a:rPr kumimoji="0" lang="en-US" altLang="zh-CN" sz="32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4. </a:t>
            </a:r>
            <a:r>
              <a:rPr kumimoji="0" lang="zh-CN" altLang="en-US" sz="32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分配存储空间及工作单元</a:t>
            </a:r>
            <a:r>
              <a:rPr kumimoji="0" lang="en-US" altLang="zh-CN" sz="32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kumimoji="0" lang="zh-CN" altLang="en-US" sz="32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包括寄存器</a:t>
            </a:r>
            <a:r>
              <a:rPr kumimoji="0" lang="en-US" altLang="zh-CN" sz="32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kumimoji="0" lang="zh-CN" altLang="en-US" sz="3200" b="1" dirty="0">
                <a:solidFill>
                  <a:srgbClr val="3103DB"/>
                </a:solidFill>
                <a:latin typeface="楷体" pitchFamily="49" charset="-122"/>
                <a:ea typeface="楷体" pitchFamily="49" charset="-122"/>
              </a:rPr>
              <a:t>。</a:t>
            </a:r>
          </a:p>
          <a:p>
            <a:pPr eaLnBrk="1" hangingPunct="1">
              <a:defRPr/>
            </a:pP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5. 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逐条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编写程序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。</a:t>
            </a:r>
          </a:p>
          <a:p>
            <a:pPr eaLnBrk="1" hangingPunct="1">
              <a:defRPr/>
            </a:pP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6. 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静态检查。</a:t>
            </a:r>
          </a:p>
          <a:p>
            <a:pPr eaLnBrk="1" hangingPunct="1">
              <a:defRPr/>
            </a:pPr>
            <a:r>
              <a:rPr kumimoji="0" lang="en-US" altLang="zh-CN" sz="3200" b="1" dirty="0">
                <a:latin typeface="楷体" pitchFamily="49" charset="-122"/>
                <a:ea typeface="楷体" pitchFamily="49" charset="-122"/>
              </a:rPr>
              <a:t>7. 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上机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运行</a:t>
            </a:r>
            <a:r>
              <a:rPr kumimoji="0" lang="zh-CN" altLang="en-US" sz="3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调试</a:t>
            </a:r>
            <a:r>
              <a:rPr kumimoji="0" lang="zh-CN" altLang="en-US" sz="3200" b="1" dirty="0">
                <a:latin typeface="楷体" pitchFamily="49" charset="-122"/>
                <a:ea typeface="楷体" pitchFamily="49" charset="-122"/>
              </a:rPr>
              <a:t>。</a:t>
            </a:r>
          </a:p>
        </p:txBody>
      </p:sp>
    </p:spTree>
  </p:cSld>
  <p:clrMapOvr>
    <a:masterClrMapping/>
  </p:clrMapOvr>
  <p:transition>
    <p:dissolv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4941</TotalTime>
  <Words>12021</Words>
  <Application>Microsoft Office PowerPoint</Application>
  <PresentationFormat>全屏显示(4:3)</PresentationFormat>
  <Paragraphs>1944</Paragraphs>
  <Slides>129</Slides>
  <Notes>101</Notes>
  <HiddenSlides>1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129</vt:i4>
      </vt:variant>
    </vt:vector>
  </HeadingPairs>
  <TitlesOfParts>
    <vt:vector size="152" baseType="lpstr">
      <vt:lpstr>Times New Roman</vt:lpstr>
      <vt:lpstr>宋体</vt:lpstr>
      <vt:lpstr>Arial</vt:lpstr>
      <vt:lpstr>Calibri</vt:lpstr>
      <vt:lpstr>隶书</vt:lpstr>
      <vt:lpstr>Constantia</vt:lpstr>
      <vt:lpstr>Wingdings 2</vt:lpstr>
      <vt:lpstr>楷体</vt:lpstr>
      <vt:lpstr>华文新魏</vt:lpstr>
      <vt:lpstr>仿宋</vt:lpstr>
      <vt:lpstr>Wingdings</vt:lpstr>
      <vt:lpstr>楷体_GB2312</vt:lpstr>
      <vt:lpstr>幼圆</vt:lpstr>
      <vt:lpstr>仿宋_GB2312</vt:lpstr>
      <vt:lpstr>Symbol</vt:lpstr>
      <vt:lpstr>黑体</vt:lpstr>
      <vt:lpstr>新宋体</vt:lpstr>
      <vt:lpstr>华文行楷</vt:lpstr>
      <vt:lpstr>微软雅黑</vt:lpstr>
      <vt:lpstr>Courier New</vt:lpstr>
      <vt:lpstr>流畅</vt:lpstr>
      <vt:lpstr>Microsoft Word 97 - 2003 文档</vt:lpstr>
      <vt:lpstr>Microsoft Clip Gallery</vt:lpstr>
      <vt:lpstr>PowerPoint 演示文稿</vt:lpstr>
      <vt:lpstr>PowerPoint 演示文稿</vt:lpstr>
      <vt:lpstr>PowerPoint 演示文稿</vt:lpstr>
      <vt:lpstr>PowerPoint 演示文稿</vt:lpstr>
      <vt:lpstr>一、无条件转移指令</vt:lpstr>
      <vt:lpstr>二、条件转移指令</vt:lpstr>
      <vt:lpstr>PowerPoint 演示文稿</vt:lpstr>
      <vt:lpstr>1. 单个标志的条件转移指令</vt:lpstr>
      <vt:lpstr>PowerPoint 演示文稿</vt:lpstr>
      <vt:lpstr>2. 无符号数的条件转移指令</vt:lpstr>
      <vt:lpstr>3. 带符号数的条件转移指令</vt:lpstr>
      <vt:lpstr>4. 测试CX转移指令</vt:lpstr>
      <vt:lpstr>PowerPoint 演示文稿</vt:lpstr>
      <vt:lpstr>PowerPoint 演示文稿</vt:lpstr>
      <vt:lpstr>PowerPoint 演示文稿</vt:lpstr>
      <vt:lpstr>PowerPoint 演示文稿</vt:lpstr>
      <vt:lpstr>三、循环指令</vt:lpstr>
      <vt:lpstr>PowerPoint 演示文稿</vt:lpstr>
      <vt:lpstr>PowerPoint 演示文稿</vt:lpstr>
      <vt:lpstr>PowerPoint 演示文稿</vt:lpstr>
      <vt:lpstr>PowerPoint 演示文稿</vt:lpstr>
      <vt:lpstr>四、子程序调用和返回指令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二、二分支程序设计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先判断后循环的例子</vt:lpstr>
      <vt:lpstr>PowerPoint 演示文稿</vt:lpstr>
      <vt:lpstr>    循环程序设计根据算法需要可以采用多种寻址方式访问数据。</vt:lpstr>
      <vt:lpstr>PowerPoint 演示文稿</vt:lpstr>
      <vt:lpstr>PowerPoint 演示文稿</vt:lpstr>
      <vt:lpstr>四、多重循环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第5章 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Guoq</dc:creator>
  <cp:lastModifiedBy>Pei Xilong</cp:lastModifiedBy>
  <cp:revision>306</cp:revision>
  <dcterms:created xsi:type="dcterms:W3CDTF">2001-11-18T13:45:26Z</dcterms:created>
  <dcterms:modified xsi:type="dcterms:W3CDTF">2023-06-25T12:27:25Z</dcterms:modified>
</cp:coreProperties>
</file>